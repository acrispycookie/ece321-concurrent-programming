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58" r:id="rId5"/>
    <p:sldId id="260" r:id="rId6"/>
    <p:sldId id="259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92" d="100"/>
          <a:sy n="92" d="100"/>
        </p:scale>
        <p:origin x="131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468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507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78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7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124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709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05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4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73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5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136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7826EAC-0EB7-423B-BF89-84126560B6A3}" type="datetimeFigureOut">
              <a:rPr lang="en-US" smtClean="0"/>
              <a:t>11/30/2024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8DC296FB-853A-4DD6-B517-AD8AB6992D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59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7A0FB-26FB-A62F-F5B3-76AD27185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45034"/>
            <a:ext cx="9144000" cy="967931"/>
          </a:xfrm>
        </p:spPr>
        <p:txBody>
          <a:bodyPr/>
          <a:lstStyle/>
          <a:p>
            <a:r>
              <a:rPr lang="en-US" dirty="0"/>
              <a:t>Assignment 1</a:t>
            </a:r>
          </a:p>
        </p:txBody>
      </p:sp>
    </p:spTree>
    <p:extLst>
      <p:ext uri="{BB962C8B-B14F-4D97-AF65-F5344CB8AC3E}">
        <p14:creationId xmlns:p14="http://schemas.microsoft.com/office/powerpoint/2010/main" val="1311606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FCC78-91AB-00E1-23BE-837571F8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1: Monitor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2622D-3968-315B-19A3-75F05479E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858491" cy="40802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monitor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semaphore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dirty="0" err="1">
                <a:solidFill>
                  <a:srgbClr val="CBA6F7"/>
                </a:solidFill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q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9399B2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616D0-8D7E-14E7-B161-5580C37EB3AB}"/>
              </a:ext>
            </a:extLst>
          </p:cNvPr>
          <p:cNvSpPr txBox="1"/>
          <p:nvPr/>
        </p:nvSpPr>
        <p:spPr>
          <a:xfrm>
            <a:off x="5284448" y="1825623"/>
            <a:ext cx="27955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down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 decrement </a:t>
            </a:r>
            <a:r>
              <a:rPr lang="en-US" dirty="0" err="1">
                <a:solidFill>
                  <a:srgbClr val="CDD6F4"/>
                </a:solidFill>
                <a:latin typeface="Consolas" panose="020B0609020204030204" pitchFamily="49" charset="0"/>
              </a:rPr>
              <a:t>val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by 1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i="1" dirty="0">
                <a:solidFill>
                  <a:srgbClr val="9399B2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q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D3A14-9824-E1DB-1B6F-CB6656EEAB11}"/>
              </a:ext>
            </a:extLst>
          </p:cNvPr>
          <p:cNvSpPr txBox="1"/>
          <p:nvPr/>
        </p:nvSpPr>
        <p:spPr>
          <a:xfrm>
            <a:off x="8688508" y="1825623"/>
            <a:ext cx="32277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i="1" dirty="0">
                <a:solidFill>
                  <a:srgbClr val="6C7086"/>
                </a:solidFill>
                <a:effectLst/>
                <a:latin typeface="Consolas" panose="020B0609020204030204" pitchFamily="49" charset="0"/>
              </a:rPr>
              <a:t>  // Lost up call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4E2D5"/>
                </a:solidFill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increment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by 1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signal</a:t>
            </a:r>
            <a:r>
              <a:rPr lang="en-US" i="1" dirty="0">
                <a:solidFill>
                  <a:srgbClr val="9399B2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q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A8AFA-27DF-830A-533E-FDE6AF42D36C}"/>
              </a:ext>
            </a:extLst>
          </p:cNvPr>
          <p:cNvSpPr txBox="1"/>
          <p:nvPr/>
        </p:nvSpPr>
        <p:spPr>
          <a:xfrm>
            <a:off x="5323241" y="3764615"/>
            <a:ext cx="2795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Αν αφού μειωθεί το </a:t>
            </a:r>
            <a:r>
              <a:rPr lang="en-US" dirty="0" err="1"/>
              <a:t>val</a:t>
            </a:r>
            <a:r>
              <a:rPr lang="el-GR" dirty="0"/>
              <a:t> και εξακολουθεί να είναι αρνητικό πρέπει να περιμένουμε καθώς είτε η τιμή του σηματοφόρου ήταν 0 ή υπήρχαν άλλα νήματα που ήδη περίμεναν.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CDBE2-48F5-971E-63E5-B9F805A06F64}"/>
              </a:ext>
            </a:extLst>
          </p:cNvPr>
          <p:cNvSpPr txBox="1"/>
          <p:nvPr/>
        </p:nvSpPr>
        <p:spPr>
          <a:xfrm>
            <a:off x="8688508" y="4822880"/>
            <a:ext cx="32277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Αν αφού αυξήσουμε την τιμή του σηματοφόρου εξακολουθεί να είναι μικρότερη ή ίση με το 0, σημαίνει ότι υπάρχουν νήματα που περιμένουν και πρέπει να ξυπνίσει το επόμενο.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249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85F95-A115-3EE6-9F6B-23555D780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1: </a:t>
            </a:r>
            <a:r>
              <a:rPr lang="el-GR" dirty="0"/>
              <a:t>Διαφορετικά μοντέλα </a:t>
            </a:r>
            <a:r>
              <a:rPr lang="en-US" dirty="0"/>
              <a:t>monitors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212BB-7D70-25B0-D0DF-FD338855A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Η λύση αυτή λειτουργεί για </a:t>
            </a:r>
            <a:r>
              <a:rPr lang="en-US" u="sng" dirty="0"/>
              <a:t>open</a:t>
            </a:r>
            <a:r>
              <a:rPr lang="el-GR" dirty="0"/>
              <a:t> και για </a:t>
            </a:r>
            <a:r>
              <a:rPr lang="en-US" u="sng" dirty="0"/>
              <a:t>eggshell</a:t>
            </a:r>
            <a:r>
              <a:rPr lang="en-US" dirty="0"/>
              <a:t> monitors. </a:t>
            </a:r>
            <a:r>
              <a:rPr lang="el-GR" dirty="0"/>
              <a:t>Στην χειρότερη περίπτωση του </a:t>
            </a:r>
            <a:r>
              <a:rPr lang="en-US" u="sng" dirty="0"/>
              <a:t>open</a:t>
            </a:r>
            <a:r>
              <a:rPr lang="en-US" dirty="0"/>
              <a:t> monitor </a:t>
            </a:r>
            <a:r>
              <a:rPr lang="el-GR" dirty="0"/>
              <a:t>δεν υπάρχουν προβλήματα με προσπεράσεις καθώς τα </a:t>
            </a:r>
            <a:r>
              <a:rPr lang="en-US" dirty="0"/>
              <a:t>logistics </a:t>
            </a:r>
            <a:r>
              <a:rPr lang="el-GR" dirty="0"/>
              <a:t>λειτουργούν με βάση την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/>
              <a:t> </a:t>
            </a:r>
            <a:r>
              <a:rPr lang="el-GR" dirty="0"/>
              <a:t>και επιπλέον η </a:t>
            </a:r>
            <a:r>
              <a:rPr lang="en-US" dirty="0"/>
              <a:t>wait </a:t>
            </a:r>
            <a:r>
              <a:rPr lang="el-GR" dirty="0"/>
              <a:t>είναι τελευταία εντολή στην συνάρτηση </a:t>
            </a:r>
            <a:r>
              <a:rPr lang="en-US" dirty="0">
                <a:latin typeface="Consolas" panose="020B0609020204030204" pitchFamily="49" charset="0"/>
              </a:rPr>
              <a:t>down</a:t>
            </a:r>
            <a:r>
              <a:rPr lang="en-US" dirty="0"/>
              <a:t>.</a:t>
            </a:r>
          </a:p>
          <a:p>
            <a:r>
              <a:rPr lang="el-GR" dirty="0"/>
              <a:t>Η λύση λειτουργεί για</a:t>
            </a:r>
            <a:r>
              <a:rPr lang="en-US" dirty="0"/>
              <a:t> signal-block </a:t>
            </a:r>
            <a:r>
              <a:rPr lang="el-GR" dirty="0"/>
              <a:t>και </a:t>
            </a:r>
            <a:r>
              <a:rPr lang="en-US" dirty="0"/>
              <a:t>signal-continue </a:t>
            </a:r>
            <a:r>
              <a:rPr lang="el-GR" dirty="0"/>
              <a:t>αφού όλες η μοναδική κλήση </a:t>
            </a:r>
            <a:r>
              <a:rPr lang="en-US" dirty="0">
                <a:latin typeface="Consolas" panose="020B0609020204030204" pitchFamily="49" charset="0"/>
              </a:rPr>
              <a:t>signal</a:t>
            </a:r>
            <a:r>
              <a:rPr lang="el-GR" dirty="0"/>
              <a:t> στην συνάρτηση </a:t>
            </a:r>
            <a:r>
              <a:rPr lang="en-US" dirty="0">
                <a:latin typeface="Consolas" panose="020B0609020204030204" pitchFamily="49" charset="0"/>
              </a:rPr>
              <a:t>up</a:t>
            </a:r>
            <a:r>
              <a:rPr lang="en-US" dirty="0"/>
              <a:t> </a:t>
            </a:r>
            <a:r>
              <a:rPr lang="el-GR" dirty="0"/>
              <a:t>γίνεται στο τέλος.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784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3780-74E1-59CA-34FE-6985D876A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Assignment 2</a:t>
            </a:r>
          </a:p>
        </p:txBody>
      </p:sp>
    </p:spTree>
    <p:extLst>
      <p:ext uri="{BB962C8B-B14F-4D97-AF65-F5344CB8AC3E}">
        <p14:creationId xmlns:p14="http://schemas.microsoft.com/office/powerpoint/2010/main" val="1299257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2D2E9-C366-4296-3152-7DF76877E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2: Monitor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F4F07-28BC-38E0-892D-A2225BB8F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90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F8613-1740-E683-E516-BF71D87AC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101" y="365125"/>
            <a:ext cx="10515600" cy="1325563"/>
          </a:xfrm>
        </p:spPr>
        <p:txBody>
          <a:bodyPr/>
          <a:lstStyle/>
          <a:p>
            <a:r>
              <a:rPr lang="en-US" dirty="0"/>
              <a:t>Another approach: Using a queue for 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D81FF-62EE-823D-A603-20A18ECA32ED}"/>
              </a:ext>
            </a:extLst>
          </p:cNvPr>
          <p:cNvSpPr txBox="1"/>
          <p:nvPr/>
        </p:nvSpPr>
        <p:spPr>
          <a:xfrm>
            <a:off x="676101" y="1690688"/>
            <a:ext cx="3198311" cy="3354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+mj-lt"/>
                <a:ea typeface="+mj-ea"/>
                <a:cs typeface="+mj-cs"/>
              </a:rPr>
              <a:t>Monitor</a:t>
            </a:r>
            <a:r>
              <a:rPr lang="en-US" sz="3200" dirty="0">
                <a:solidFill>
                  <a:srgbClr val="CBA6F7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>
                <a:latin typeface="+mj-lt"/>
                <a:ea typeface="+mj-ea"/>
                <a:cs typeface="+mj-cs"/>
              </a:rPr>
              <a:t>structure</a:t>
            </a:r>
          </a:p>
          <a:p>
            <a:endParaRPr lang="en-US" dirty="0">
              <a:solidFill>
                <a:srgbClr val="CBA6F7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CBA6F7"/>
                </a:solidFill>
                <a:latin typeface="Consolas" panose="020B0609020204030204" pitchFamily="49" charset="0"/>
              </a:rPr>
              <a:t>monitor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waiting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Queue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Job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job_queue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dirty="0" err="1">
                <a:solidFill>
                  <a:srgbClr val="CBA6F7"/>
                </a:solidFill>
                <a:latin typeface="Consolas" panose="020B0609020204030204" pitchFamily="49" charset="0"/>
              </a:rPr>
              <a:t>cond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workers_queue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Job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job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Job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DD6F4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BE7F7A-729C-B143-5FC7-9B0FB6D5E379}"/>
              </a:ext>
            </a:extLst>
          </p:cNvPr>
          <p:cNvSpPr txBox="1"/>
          <p:nvPr/>
        </p:nvSpPr>
        <p:spPr>
          <a:xfrm>
            <a:off x="4529583" y="1856798"/>
            <a:ext cx="395581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Job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job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add job to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job_queue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  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there are workers waiting</a:t>
            </a: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 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signal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workers_queue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B33BC-5C3D-A7F2-B366-D1C98EB9D9B9}"/>
              </a:ext>
            </a:extLst>
          </p:cNvPr>
          <p:cNvSpPr txBox="1"/>
          <p:nvPr/>
        </p:nvSpPr>
        <p:spPr>
          <a:xfrm>
            <a:off x="4529584" y="3523874"/>
            <a:ext cx="772753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F9E2AF"/>
                </a:solidFill>
                <a:latin typeface="Consolas" panose="020B0609020204030204" pitchFamily="49" charset="0"/>
              </a:rPr>
              <a:t>Job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job_queue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is empty </a:t>
            </a:r>
            <a:r>
              <a:rPr lang="en-US" b="0" dirty="0">
                <a:solidFill>
                  <a:srgbClr val="94E2D5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there are other workers waiting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increment waiting by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i="1" dirty="0">
                <a:solidFill>
                  <a:srgbClr val="89B4FA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workers_queue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  decrement waiting by </a:t>
            </a:r>
            <a:r>
              <a:rPr lang="en-US" b="0" dirty="0">
                <a:solidFill>
                  <a:srgbClr val="FAB387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BA6F7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 first item from </a:t>
            </a:r>
            <a:r>
              <a:rPr lang="en-US" b="0" dirty="0" err="1">
                <a:solidFill>
                  <a:srgbClr val="CDD6F4"/>
                </a:solidFill>
                <a:effectLst/>
                <a:latin typeface="Consolas" panose="020B0609020204030204" pitchFamily="49" charset="0"/>
              </a:rPr>
              <a:t>job_queue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399B2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DD6F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042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1F1DC-7AFF-FAB8-9FAB-9F7503C1D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approach: Using a queue for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AF543-6D8F-48A5-39DC-E4A9149D7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a queue for the jobs allows the master to not wait for any acknowledgement from the workers.</a:t>
            </a:r>
          </a:p>
          <a:p>
            <a:r>
              <a:rPr lang="en-US" dirty="0"/>
              <a:t>The worker just puts the next job in a queue and wakes up the next worker if there is one waiting.</a:t>
            </a:r>
          </a:p>
          <a:p>
            <a:r>
              <a:rPr lang="en-US" dirty="0"/>
              <a:t>This solution works for both </a:t>
            </a:r>
            <a:r>
              <a:rPr lang="en-US" u="sng" dirty="0"/>
              <a:t>signal-block</a:t>
            </a:r>
            <a:r>
              <a:rPr lang="en-US" dirty="0"/>
              <a:t> and </a:t>
            </a:r>
            <a:r>
              <a:rPr lang="en-US" u="sng" dirty="0"/>
              <a:t>signal-continue</a:t>
            </a:r>
            <a:r>
              <a:rPr lang="en-US" dirty="0"/>
              <a:t> models of monitors because all signal calls happen in the end of each function.</a:t>
            </a:r>
          </a:p>
          <a:p>
            <a:r>
              <a:rPr lang="en-US" dirty="0"/>
              <a:t>It works for both </a:t>
            </a:r>
            <a:r>
              <a:rPr lang="en-US" u="sng" dirty="0"/>
              <a:t>open</a:t>
            </a:r>
            <a:r>
              <a:rPr lang="en-US" dirty="0"/>
              <a:t> and </a:t>
            </a:r>
            <a:r>
              <a:rPr lang="en-US" u="sng" dirty="0"/>
              <a:t>eggshell</a:t>
            </a:r>
            <a:r>
              <a:rPr lang="en-US" dirty="0"/>
              <a:t> models of monitors because the waiting variable prevents unwanted execution order.</a:t>
            </a: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686973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434</Words>
  <Application>Microsoft Office PowerPoint</Application>
  <PresentationFormat>Widescreen</PresentationFormat>
  <Paragraphs>59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Consolas</vt:lpstr>
      <vt:lpstr>Office Theme</vt:lpstr>
      <vt:lpstr>Assignment 1</vt:lpstr>
      <vt:lpstr>Assignment 1: Monitor structure</vt:lpstr>
      <vt:lpstr>Assignment 1: Διαφορετικά μοντέλα monitors</vt:lpstr>
      <vt:lpstr>Assignment 2</vt:lpstr>
      <vt:lpstr>Assignment 2: Monitor structure</vt:lpstr>
      <vt:lpstr>Another approach: Using a queue for jobs</vt:lpstr>
      <vt:lpstr>Another approach: Using a queue for jobs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</dc:title>
  <dc:creator>Faidra Nika</dc:creator>
  <cp:lastModifiedBy>Faidra Nika</cp:lastModifiedBy>
  <cp:revision>2</cp:revision>
  <dcterms:created xsi:type="dcterms:W3CDTF">2024-11-30T16:59:36Z</dcterms:created>
  <dcterms:modified xsi:type="dcterms:W3CDTF">2024-11-30T20:00:54Z</dcterms:modified>
</cp:coreProperties>
</file>