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305" r:id="rId4"/>
    <p:sldId id="306" r:id="rId5"/>
    <p:sldId id="307" r:id="rId6"/>
    <p:sldId id="308" r:id="rId7"/>
    <p:sldId id="302" r:id="rId8"/>
    <p:sldId id="304" r:id="rId9"/>
    <p:sldId id="303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062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852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826EAC-0EB7-423B-BF89-84126560B6A3}" type="datetimeFigureOut">
              <a:rPr lang="en-US" smtClean="0"/>
              <a:t>12/20/2024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296FB-853A-4DD6-B517-AD8AB6992D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34688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826EAC-0EB7-423B-BF89-84126560B6A3}" type="datetimeFigureOut">
              <a:rPr lang="en-US" smtClean="0"/>
              <a:t>12/20/2024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296FB-853A-4DD6-B517-AD8AB6992D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85072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826EAC-0EB7-423B-BF89-84126560B6A3}" type="datetimeFigureOut">
              <a:rPr lang="en-US" smtClean="0"/>
              <a:t>12/20/2024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296FB-853A-4DD6-B517-AD8AB6992D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878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826EAC-0EB7-423B-BF89-84126560B6A3}" type="datetimeFigureOut">
              <a:rPr lang="en-US" smtClean="0"/>
              <a:t>12/20/2024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296FB-853A-4DD6-B517-AD8AB6992D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90370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826EAC-0EB7-423B-BF89-84126560B6A3}" type="datetimeFigureOut">
              <a:rPr lang="en-US" smtClean="0"/>
              <a:t>12/20/2024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296FB-853A-4DD6-B517-AD8AB6992D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51240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826EAC-0EB7-423B-BF89-84126560B6A3}" type="datetimeFigureOut">
              <a:rPr lang="en-US" smtClean="0"/>
              <a:t>12/20/2024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296FB-853A-4DD6-B517-AD8AB6992D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37096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826EAC-0EB7-423B-BF89-84126560B6A3}" type="datetimeFigureOut">
              <a:rPr lang="en-US" smtClean="0"/>
              <a:t>12/20/2024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296FB-853A-4DD6-B517-AD8AB6992D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53050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826EAC-0EB7-423B-BF89-84126560B6A3}" type="datetimeFigureOut">
              <a:rPr lang="en-US" smtClean="0"/>
              <a:t>12/20/2024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296FB-853A-4DD6-B517-AD8AB6992D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1486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826EAC-0EB7-423B-BF89-84126560B6A3}" type="datetimeFigureOut">
              <a:rPr lang="en-US" smtClean="0"/>
              <a:t>12/20/2024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296FB-853A-4DD6-B517-AD8AB6992D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27736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826EAC-0EB7-423B-BF89-84126560B6A3}" type="datetimeFigureOut">
              <a:rPr lang="en-US" smtClean="0"/>
              <a:t>12/20/2024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296FB-853A-4DD6-B517-AD8AB6992D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6455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826EAC-0EB7-423B-BF89-84126560B6A3}" type="datetimeFigureOut">
              <a:rPr lang="en-US" smtClean="0"/>
              <a:t>12/20/2024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296FB-853A-4DD6-B517-AD8AB6992D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31366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77826EAC-0EB7-423B-BF89-84126560B6A3}" type="datetimeFigureOut">
              <a:rPr lang="en-US" smtClean="0"/>
              <a:t>12/20/2024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8DC296FB-853A-4DD6-B517-AD8AB6992D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35594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37A0FB-26FB-A62F-F5B3-76AD27185E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945034"/>
            <a:ext cx="9144000" cy="967931"/>
          </a:xfrm>
        </p:spPr>
        <p:txBody>
          <a:bodyPr/>
          <a:lstStyle/>
          <a:p>
            <a:r>
              <a:rPr lang="en-US" dirty="0"/>
              <a:t>Assignment 1</a:t>
            </a:r>
          </a:p>
        </p:txBody>
      </p:sp>
    </p:spTree>
    <p:extLst>
      <p:ext uri="{BB962C8B-B14F-4D97-AF65-F5344CB8AC3E}">
        <p14:creationId xmlns:p14="http://schemas.microsoft.com/office/powerpoint/2010/main" val="13116061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9FCC78-91AB-00E1-23BE-837571F810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Assignment 1: </a:t>
            </a:r>
            <a:r>
              <a:rPr lang="en-US" dirty="0" err="1">
                <a:latin typeface="Consolas" panose="020B0609020204030204" pitchFamily="49" charset="0"/>
              </a:rPr>
              <a:t>mycoroutine</a:t>
            </a:r>
            <a:r>
              <a:rPr lang="en-US" b="1" dirty="0"/>
              <a:t> API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5EE017F-317E-3341-7B1D-A7C88F81C2D1}"/>
              </a:ext>
            </a:extLst>
          </p:cNvPr>
          <p:cNvSpPr txBox="1"/>
          <p:nvPr/>
        </p:nvSpPr>
        <p:spPr>
          <a:xfrm>
            <a:off x="566281" y="2274838"/>
            <a:ext cx="11059438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en-US" sz="2400" b="0" dirty="0">
                <a:solidFill>
                  <a:srgbClr val="CBA6F7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400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i="1" dirty="0" err="1">
                <a:solidFill>
                  <a:srgbClr val="89B4FA"/>
                </a:solidFill>
                <a:effectLst/>
                <a:latin typeface="Consolas" panose="020B0609020204030204" pitchFamily="49" charset="0"/>
              </a:rPr>
              <a:t>mycoroutine_init</a:t>
            </a:r>
            <a:r>
              <a:rPr lang="en-US" sz="2400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i="1" dirty="0" err="1">
                <a:solidFill>
                  <a:srgbClr val="F9E2AF"/>
                </a:solidFill>
                <a:effectLst/>
                <a:latin typeface="Consolas" panose="020B0609020204030204" pitchFamily="49" charset="0"/>
              </a:rPr>
              <a:t>co_t</a:t>
            </a:r>
            <a:r>
              <a:rPr lang="en-US" sz="2400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>
                <a:solidFill>
                  <a:srgbClr val="94E2D5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2400" b="0" i="1" dirty="0">
                <a:solidFill>
                  <a:srgbClr val="EBA0AC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2400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sz="2400" b="0" dirty="0">
              <a:solidFill>
                <a:srgbClr val="CDD6F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25000"/>
              </a:lnSpc>
            </a:pPr>
            <a:r>
              <a:rPr lang="en-US" sz="2400" b="0" dirty="0">
                <a:solidFill>
                  <a:srgbClr val="CBA6F7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400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i="1" dirty="0" err="1">
                <a:solidFill>
                  <a:srgbClr val="89B4FA"/>
                </a:solidFill>
                <a:effectLst/>
                <a:latin typeface="Consolas" panose="020B0609020204030204" pitchFamily="49" charset="0"/>
              </a:rPr>
              <a:t>mycoroutine_create</a:t>
            </a:r>
            <a:r>
              <a:rPr lang="en-US" sz="2400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i="1" dirty="0" err="1">
                <a:solidFill>
                  <a:srgbClr val="F9E2AF"/>
                </a:solidFill>
                <a:effectLst/>
                <a:latin typeface="Consolas" panose="020B0609020204030204" pitchFamily="49" charset="0"/>
              </a:rPr>
              <a:t>co_t</a:t>
            </a:r>
            <a:r>
              <a:rPr lang="en-US" sz="2400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>
                <a:solidFill>
                  <a:srgbClr val="94E2D5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2400" b="0" i="1" dirty="0">
                <a:solidFill>
                  <a:srgbClr val="EBA0AC"/>
                </a:solidFill>
                <a:effectLst/>
                <a:latin typeface="Consolas" panose="020B0609020204030204" pitchFamily="49" charset="0"/>
              </a:rPr>
              <a:t>co</a:t>
            </a:r>
            <a:r>
              <a:rPr lang="en-US" sz="2400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sz="2400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>
                <a:solidFill>
                  <a:srgbClr val="CBA6F7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2400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body</a:t>
            </a:r>
            <a:r>
              <a:rPr lang="en-US" sz="2400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)(</a:t>
            </a:r>
            <a:r>
              <a:rPr lang="en-US" sz="2400" b="0" dirty="0">
                <a:solidFill>
                  <a:srgbClr val="CBA6F7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2400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>
                <a:solidFill>
                  <a:srgbClr val="94E2D5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2400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),</a:t>
            </a:r>
            <a:r>
              <a:rPr lang="en-US" sz="2400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>
                <a:solidFill>
                  <a:srgbClr val="CBA6F7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2400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>
                <a:solidFill>
                  <a:srgbClr val="94E2D5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2400" b="0" i="1" dirty="0" err="1">
                <a:solidFill>
                  <a:srgbClr val="EBA0AC"/>
                </a:solidFill>
                <a:effectLst/>
                <a:latin typeface="Consolas" panose="020B0609020204030204" pitchFamily="49" charset="0"/>
              </a:rPr>
              <a:t>arg</a:t>
            </a:r>
            <a:r>
              <a:rPr lang="en-US" sz="2400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sz="2400" b="0" dirty="0">
              <a:solidFill>
                <a:srgbClr val="CDD6F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25000"/>
              </a:lnSpc>
            </a:pPr>
            <a:r>
              <a:rPr lang="en-US" sz="2400" b="0" dirty="0">
                <a:solidFill>
                  <a:srgbClr val="CBA6F7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400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i="1" dirty="0" err="1">
                <a:solidFill>
                  <a:srgbClr val="89B4FA"/>
                </a:solidFill>
                <a:effectLst/>
                <a:latin typeface="Consolas" panose="020B0609020204030204" pitchFamily="49" charset="0"/>
              </a:rPr>
              <a:t>mycoroutine_switchto</a:t>
            </a:r>
            <a:r>
              <a:rPr lang="en-US" sz="2400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i="1" dirty="0" err="1">
                <a:solidFill>
                  <a:srgbClr val="F9E2AF"/>
                </a:solidFill>
                <a:effectLst/>
                <a:latin typeface="Consolas" panose="020B0609020204030204" pitchFamily="49" charset="0"/>
              </a:rPr>
              <a:t>co_t</a:t>
            </a:r>
            <a:r>
              <a:rPr lang="en-US" sz="2400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>
                <a:solidFill>
                  <a:srgbClr val="94E2D5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2400" b="0" i="1" dirty="0">
                <a:solidFill>
                  <a:srgbClr val="EBA0AC"/>
                </a:solidFill>
                <a:effectLst/>
                <a:latin typeface="Consolas" panose="020B0609020204030204" pitchFamily="49" charset="0"/>
              </a:rPr>
              <a:t>co</a:t>
            </a:r>
            <a:r>
              <a:rPr lang="en-US" sz="2400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sz="2400" b="0" dirty="0">
              <a:solidFill>
                <a:srgbClr val="CDD6F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25000"/>
              </a:lnSpc>
            </a:pPr>
            <a:r>
              <a:rPr lang="en-US" sz="2400" b="0" dirty="0">
                <a:solidFill>
                  <a:srgbClr val="CBA6F7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400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i="1" dirty="0" err="1">
                <a:solidFill>
                  <a:srgbClr val="89B4FA"/>
                </a:solidFill>
                <a:effectLst/>
                <a:latin typeface="Consolas" panose="020B0609020204030204" pitchFamily="49" charset="0"/>
              </a:rPr>
              <a:t>mycoroutine_destroy</a:t>
            </a:r>
            <a:r>
              <a:rPr lang="en-US" sz="2400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i="1" dirty="0" err="1">
                <a:solidFill>
                  <a:srgbClr val="F9E2AF"/>
                </a:solidFill>
                <a:effectLst/>
                <a:latin typeface="Consolas" panose="020B0609020204030204" pitchFamily="49" charset="0"/>
              </a:rPr>
              <a:t>co_t</a:t>
            </a:r>
            <a:r>
              <a:rPr lang="en-US" sz="2400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>
                <a:solidFill>
                  <a:srgbClr val="94E2D5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2400" b="0" i="1" dirty="0">
                <a:solidFill>
                  <a:srgbClr val="EBA0AC"/>
                </a:solidFill>
                <a:effectLst/>
                <a:latin typeface="Consolas" panose="020B0609020204030204" pitchFamily="49" charset="0"/>
              </a:rPr>
              <a:t>co</a:t>
            </a:r>
            <a:r>
              <a:rPr lang="en-US" sz="2400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sz="2400" b="0" dirty="0">
              <a:solidFill>
                <a:srgbClr val="CDD6F4"/>
              </a:solidFill>
              <a:effectLst/>
              <a:latin typeface="Consolas" panose="020B0609020204030204" pitchFamily="49" charset="0"/>
            </a:endParaRP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9092494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2E2667-FD48-29B5-D213-399E17B4BD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89337A-027D-1E1A-27B8-D779D54081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Assignment 1: Initializing and destroying coroutines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119962-596A-DD51-1058-6756F954E6CB}"/>
              </a:ext>
            </a:extLst>
          </p:cNvPr>
          <p:cNvSpPr txBox="1"/>
          <p:nvPr/>
        </p:nvSpPr>
        <p:spPr>
          <a:xfrm>
            <a:off x="838200" y="2451100"/>
            <a:ext cx="4490332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 dirty="0">
                <a:solidFill>
                  <a:srgbClr val="CBA6F7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i="1" dirty="0" err="1">
                <a:solidFill>
                  <a:srgbClr val="89B4FA"/>
                </a:solidFill>
                <a:effectLst/>
                <a:latin typeface="Consolas" panose="020B0609020204030204" pitchFamily="49" charset="0"/>
              </a:rPr>
              <a:t>mycoroutine_init</a:t>
            </a:r>
            <a:r>
              <a:rPr lang="en-US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i="1" dirty="0" err="1">
                <a:solidFill>
                  <a:srgbClr val="F9E2AF"/>
                </a:solidFill>
                <a:effectLst/>
                <a:latin typeface="Consolas" panose="020B0609020204030204" pitchFamily="49" charset="0"/>
              </a:rPr>
              <a:t>co_t</a:t>
            </a: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4E2D5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i="1" dirty="0">
                <a:solidFill>
                  <a:srgbClr val="EBA0AC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b="0" dirty="0">
              <a:solidFill>
                <a:srgbClr val="CDD6F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  initialize coroutine list</a:t>
            </a:r>
          </a:p>
          <a:p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  add </a:t>
            </a:r>
            <a:r>
              <a:rPr lang="en-US" i="1" dirty="0">
                <a:solidFill>
                  <a:srgbClr val="EBA0AC"/>
                </a:solidFill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to coroutine list</a:t>
            </a:r>
          </a:p>
          <a:p>
            <a:b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  set current coroutine to </a:t>
            </a:r>
            <a:r>
              <a:rPr lang="en-US" i="1" dirty="0">
                <a:solidFill>
                  <a:srgbClr val="EBA0AC"/>
                </a:solidFill>
                <a:latin typeface="Consolas" panose="020B0609020204030204" pitchFamily="49" charset="0"/>
              </a:rPr>
              <a:t>main</a:t>
            </a:r>
          </a:p>
          <a:p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  set main coroutine to </a:t>
            </a:r>
            <a:r>
              <a:rPr lang="en-US" i="1" dirty="0">
                <a:solidFill>
                  <a:srgbClr val="EBA0AC"/>
                </a:solidFill>
                <a:latin typeface="Consolas" panose="020B0609020204030204" pitchFamily="49" charset="0"/>
              </a:rPr>
              <a:t>main</a:t>
            </a:r>
          </a:p>
          <a:p>
            <a:r>
              <a:rPr lang="en-US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b="0" dirty="0">
              <a:solidFill>
                <a:srgbClr val="CDD6F4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37EAD7C-C695-A768-6B52-459693C8BB18}"/>
              </a:ext>
            </a:extLst>
          </p:cNvPr>
          <p:cNvSpPr txBox="1"/>
          <p:nvPr/>
        </p:nvSpPr>
        <p:spPr>
          <a:xfrm>
            <a:off x="6096000" y="2451100"/>
            <a:ext cx="4743606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 dirty="0">
                <a:solidFill>
                  <a:srgbClr val="CBA6F7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i="1" dirty="0" err="1">
                <a:solidFill>
                  <a:srgbClr val="89B4FA"/>
                </a:solidFill>
                <a:effectLst/>
                <a:latin typeface="Consolas" panose="020B0609020204030204" pitchFamily="49" charset="0"/>
              </a:rPr>
              <a:t>mycoroutine_destroy</a:t>
            </a:r>
            <a:r>
              <a:rPr lang="en-US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i="1" dirty="0" err="1">
                <a:solidFill>
                  <a:srgbClr val="F9E2AF"/>
                </a:solidFill>
                <a:effectLst/>
                <a:latin typeface="Consolas" panose="020B0609020204030204" pitchFamily="49" charset="0"/>
              </a:rPr>
              <a:t>co_t</a:t>
            </a: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4E2D5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i="1" dirty="0">
                <a:solidFill>
                  <a:srgbClr val="EBA0AC"/>
                </a:solidFill>
                <a:effectLst/>
                <a:latin typeface="Consolas" panose="020B0609020204030204" pitchFamily="49" charset="0"/>
              </a:rPr>
              <a:t>co</a:t>
            </a:r>
            <a:r>
              <a:rPr lang="en-US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b="0" dirty="0">
              <a:solidFill>
                <a:srgbClr val="CDD6F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CDD6F4"/>
                </a:solidFill>
                <a:latin typeface="Consolas" panose="020B0609020204030204" pitchFamily="49" charset="0"/>
              </a:rPr>
              <a:t>  </a:t>
            </a:r>
            <a:r>
              <a:rPr lang="en-US" dirty="0">
                <a:solidFill>
                  <a:srgbClr val="CBA6F7"/>
                </a:solidFill>
                <a:latin typeface="Consolas" panose="020B0609020204030204" pitchFamily="49" charset="0"/>
              </a:rPr>
              <a:t>if</a:t>
            </a:r>
            <a:r>
              <a:rPr lang="en-US" dirty="0">
                <a:solidFill>
                  <a:srgbClr val="CDD6F4"/>
                </a:solidFill>
                <a:latin typeface="Consolas" panose="020B0609020204030204" pitchFamily="49" charset="0"/>
              </a:rPr>
              <a:t> </a:t>
            </a:r>
            <a:r>
              <a:rPr lang="en-US" i="1" dirty="0">
                <a:solidFill>
                  <a:srgbClr val="EBA0AC"/>
                </a:solidFill>
                <a:latin typeface="Consolas" panose="020B0609020204030204" pitchFamily="49" charset="0"/>
              </a:rPr>
              <a:t>co</a:t>
            </a:r>
            <a:r>
              <a:rPr lang="en-US" dirty="0">
                <a:solidFill>
                  <a:srgbClr val="CDD6F4"/>
                </a:solidFill>
                <a:latin typeface="Consolas" panose="020B0609020204030204" pitchFamily="49" charset="0"/>
              </a:rPr>
              <a:t> is not in the coroutine list</a:t>
            </a:r>
          </a:p>
          <a:p>
            <a:r>
              <a:rPr lang="en-US" dirty="0">
                <a:solidFill>
                  <a:srgbClr val="CDD6F4"/>
                </a:solidFill>
                <a:latin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CBA6F7"/>
                </a:solidFill>
                <a:latin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CDD6F4"/>
                </a:solidFill>
                <a:latin typeface="Consolas" panose="020B0609020204030204" pitchFamily="49" charset="0"/>
              </a:rPr>
              <a:t> error</a:t>
            </a: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 </a:t>
            </a:r>
          </a:p>
          <a:p>
            <a:endParaRPr lang="en-US" b="0" dirty="0">
              <a:solidFill>
                <a:srgbClr val="CDD6F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CBA6F7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i="1" dirty="0">
                <a:solidFill>
                  <a:srgbClr val="EBA0AC"/>
                </a:solidFill>
                <a:latin typeface="Consolas" panose="020B0609020204030204" pitchFamily="49" charset="0"/>
              </a:rPr>
              <a:t>co</a:t>
            </a: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is the main coroutine</a:t>
            </a:r>
          </a:p>
          <a:p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    destroy the coroutine list</a:t>
            </a:r>
          </a:p>
          <a:p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CBA6F7"/>
                </a:solidFill>
                <a:effectLst/>
                <a:latin typeface="Consolas" panose="020B0609020204030204" pitchFamily="49" charset="0"/>
              </a:rPr>
              <a:t>else</a:t>
            </a:r>
            <a:endParaRPr lang="en-US" b="0" dirty="0">
              <a:solidFill>
                <a:srgbClr val="CDD6F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    remove the </a:t>
            </a:r>
            <a:r>
              <a:rPr lang="en-US" i="1" dirty="0">
                <a:solidFill>
                  <a:srgbClr val="EBA0AC"/>
                </a:solidFill>
                <a:latin typeface="Consolas" panose="020B0609020204030204" pitchFamily="49" charset="0"/>
              </a:rPr>
              <a:t>co</a:t>
            </a: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from the list</a:t>
            </a:r>
          </a:p>
          <a:p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    free related memory</a:t>
            </a:r>
          </a:p>
          <a:p>
            <a:r>
              <a:rPr lang="en-US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b="0" dirty="0">
              <a:solidFill>
                <a:srgbClr val="CDD6F4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311742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2AEFA5-F0B9-3DE7-8E88-4D102DB3F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802964-328F-E7F3-EA18-D813A9BB75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Assignment 1: Initializing the main coroutine and global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989254D-378C-D75E-CF45-52C43082413A}"/>
              </a:ext>
            </a:extLst>
          </p:cNvPr>
          <p:cNvSpPr txBox="1"/>
          <p:nvPr/>
        </p:nvSpPr>
        <p:spPr>
          <a:xfrm>
            <a:off x="3850834" y="3289637"/>
            <a:ext cx="4490332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 dirty="0">
                <a:solidFill>
                  <a:srgbClr val="CBA6F7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i="1" dirty="0" err="1">
                <a:solidFill>
                  <a:srgbClr val="89B4FA"/>
                </a:solidFill>
                <a:effectLst/>
                <a:latin typeface="Consolas" panose="020B0609020204030204" pitchFamily="49" charset="0"/>
              </a:rPr>
              <a:t>mycoroutine_init</a:t>
            </a:r>
            <a:r>
              <a:rPr lang="en-US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i="1" dirty="0" err="1">
                <a:solidFill>
                  <a:srgbClr val="F9E2AF"/>
                </a:solidFill>
                <a:effectLst/>
                <a:latin typeface="Consolas" panose="020B0609020204030204" pitchFamily="49" charset="0"/>
              </a:rPr>
              <a:t>co_t</a:t>
            </a: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4E2D5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i="1" dirty="0">
                <a:solidFill>
                  <a:srgbClr val="EBA0AC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b="0" dirty="0">
              <a:solidFill>
                <a:srgbClr val="CDD6F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  initialize coroutine list</a:t>
            </a:r>
          </a:p>
          <a:p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  add </a:t>
            </a:r>
            <a:r>
              <a:rPr lang="en-US" i="1" dirty="0">
                <a:solidFill>
                  <a:srgbClr val="EBA0AC"/>
                </a:solidFill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to coroutine list</a:t>
            </a:r>
          </a:p>
          <a:p>
            <a:b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  set current coroutine to </a:t>
            </a:r>
            <a:r>
              <a:rPr lang="en-US" i="1" dirty="0">
                <a:solidFill>
                  <a:srgbClr val="EBA0AC"/>
                </a:solidFill>
                <a:latin typeface="Consolas" panose="020B0609020204030204" pitchFamily="49" charset="0"/>
              </a:rPr>
              <a:t>main</a:t>
            </a:r>
          </a:p>
          <a:p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  set main coroutine to </a:t>
            </a:r>
            <a:r>
              <a:rPr lang="en-US" i="1" dirty="0">
                <a:solidFill>
                  <a:srgbClr val="EBA0AC"/>
                </a:solidFill>
                <a:latin typeface="Consolas" panose="020B0609020204030204" pitchFamily="49" charset="0"/>
              </a:rPr>
              <a:t>main</a:t>
            </a:r>
          </a:p>
          <a:p>
            <a:r>
              <a:rPr lang="en-US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b="0" dirty="0">
              <a:solidFill>
                <a:srgbClr val="CDD6F4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B04E2EB-8519-A774-52A6-B3549AC2A7F8}"/>
              </a:ext>
            </a:extLst>
          </p:cNvPr>
          <p:cNvSpPr txBox="1"/>
          <p:nvPr/>
        </p:nvSpPr>
        <p:spPr>
          <a:xfrm>
            <a:off x="3217648" y="1978620"/>
            <a:ext cx="575670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 dirty="0">
                <a:solidFill>
                  <a:srgbClr val="CBA6F7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i="1" dirty="0" err="1">
                <a:solidFill>
                  <a:srgbClr val="F9E2AF"/>
                </a:solidFill>
                <a:effectLst/>
                <a:latin typeface="Consolas" panose="020B0609020204030204" pitchFamily="49" charset="0"/>
              </a:rPr>
              <a:t>list_t</a:t>
            </a: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4E2D5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 err="1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coroutine_list</a:t>
            </a:r>
            <a:r>
              <a:rPr lang="en-US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b="0" dirty="0">
              <a:solidFill>
                <a:srgbClr val="CDD6F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CBA6F7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i="1" dirty="0" err="1">
                <a:solidFill>
                  <a:srgbClr val="F9E2AF"/>
                </a:solidFill>
                <a:effectLst/>
                <a:latin typeface="Consolas" panose="020B0609020204030204" pitchFamily="49" charset="0"/>
              </a:rPr>
              <a:t>co_t</a:t>
            </a: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4E2D5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 err="1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current_context</a:t>
            </a:r>
            <a:r>
              <a:rPr lang="en-US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4E2D5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 err="1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main_context</a:t>
            </a:r>
            <a:r>
              <a:rPr lang="en-US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b="0" dirty="0">
              <a:solidFill>
                <a:srgbClr val="CDD6F4"/>
              </a:solidFill>
              <a:effectLst/>
              <a:latin typeface="Consolas" panose="020B0609020204030204" pitchFamily="49" charset="0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86804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636D36-4C62-A723-7412-1A802BEFFF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B314C2-F9F5-4234-541D-6DE25E8E59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Assignment 1: Creating and destroying coroutines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EE4992-9DA1-A9C2-1BE7-53770122A32F}"/>
              </a:ext>
            </a:extLst>
          </p:cNvPr>
          <p:cNvSpPr txBox="1"/>
          <p:nvPr/>
        </p:nvSpPr>
        <p:spPr>
          <a:xfrm>
            <a:off x="838200" y="1784350"/>
            <a:ext cx="8542723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 dirty="0">
                <a:solidFill>
                  <a:srgbClr val="CBA6F7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i="1" dirty="0" err="1">
                <a:solidFill>
                  <a:srgbClr val="89B4FA"/>
                </a:solidFill>
                <a:effectLst/>
                <a:latin typeface="Consolas" panose="020B0609020204030204" pitchFamily="49" charset="0"/>
              </a:rPr>
              <a:t>mycoroutine_create</a:t>
            </a:r>
            <a:r>
              <a:rPr lang="en-US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i="1" dirty="0" err="1">
                <a:solidFill>
                  <a:srgbClr val="F9E2AF"/>
                </a:solidFill>
                <a:effectLst/>
                <a:latin typeface="Consolas" panose="020B0609020204030204" pitchFamily="49" charset="0"/>
              </a:rPr>
              <a:t>co_t</a:t>
            </a: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4E2D5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i="1" dirty="0">
                <a:solidFill>
                  <a:srgbClr val="EBA0AC"/>
                </a:solidFill>
                <a:effectLst/>
                <a:latin typeface="Consolas" panose="020B0609020204030204" pitchFamily="49" charset="0"/>
              </a:rPr>
              <a:t>co</a:t>
            </a:r>
            <a:r>
              <a:rPr lang="en-US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BA6F7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body</a:t>
            </a:r>
            <a:r>
              <a:rPr lang="en-US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)(</a:t>
            </a:r>
            <a:r>
              <a:rPr lang="en-US" b="0" dirty="0">
                <a:solidFill>
                  <a:srgbClr val="CBA6F7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4E2D5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),</a:t>
            </a: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BA6F7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4E2D5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i="1" dirty="0" err="1">
                <a:solidFill>
                  <a:srgbClr val="EBA0AC"/>
                </a:solidFill>
                <a:effectLst/>
                <a:latin typeface="Consolas" panose="020B0609020204030204" pitchFamily="49" charset="0"/>
              </a:rPr>
              <a:t>arg</a:t>
            </a:r>
            <a:r>
              <a:rPr lang="en-US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b="0" dirty="0">
              <a:solidFill>
                <a:srgbClr val="CDD6F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CBA6F7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i="1" dirty="0">
                <a:solidFill>
                  <a:srgbClr val="EBA0AC"/>
                </a:solidFill>
                <a:latin typeface="Consolas" panose="020B0609020204030204" pitchFamily="49" charset="0"/>
              </a:rPr>
              <a:t>co</a:t>
            </a: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is already on the coroutine list</a:t>
            </a:r>
          </a:p>
          <a:p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CBA6F7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error</a:t>
            </a:r>
          </a:p>
          <a:p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  add </a:t>
            </a:r>
            <a:r>
              <a:rPr lang="en-US" i="1" dirty="0">
                <a:solidFill>
                  <a:srgbClr val="EBA0AC"/>
                </a:solidFill>
                <a:latin typeface="Consolas" panose="020B0609020204030204" pitchFamily="49" charset="0"/>
              </a:rPr>
              <a:t>co</a:t>
            </a: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to the coroutine list</a:t>
            </a:r>
          </a:p>
          <a:p>
            <a:b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  initialize context of </a:t>
            </a:r>
            <a:r>
              <a:rPr lang="en-US" i="1" dirty="0">
                <a:solidFill>
                  <a:srgbClr val="EBA0AC"/>
                </a:solidFill>
                <a:latin typeface="Consolas" panose="020B0609020204030204" pitchFamily="49" charset="0"/>
              </a:rPr>
              <a:t>co</a:t>
            </a:r>
          </a:p>
          <a:p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  allocate memory </a:t>
            </a:r>
            <a:r>
              <a:rPr lang="en-US" b="0" dirty="0">
                <a:solidFill>
                  <a:srgbClr val="CBA6F7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the stack</a:t>
            </a:r>
          </a:p>
          <a:p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  make context with body and </a:t>
            </a:r>
            <a:r>
              <a:rPr lang="en-US" b="0" dirty="0" err="1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arg</a:t>
            </a:r>
            <a:endParaRPr lang="en-US" b="0" dirty="0">
              <a:solidFill>
                <a:srgbClr val="CDD6F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b="0" dirty="0">
              <a:solidFill>
                <a:srgbClr val="CDD6F4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F64FDBE-77EE-CCAA-7FE5-E71AE2338C10}"/>
              </a:ext>
            </a:extLst>
          </p:cNvPr>
          <p:cNvSpPr txBox="1"/>
          <p:nvPr/>
        </p:nvSpPr>
        <p:spPr>
          <a:xfrm>
            <a:off x="6610194" y="2938512"/>
            <a:ext cx="4743606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 dirty="0">
                <a:solidFill>
                  <a:srgbClr val="CBA6F7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i="1" dirty="0" err="1">
                <a:solidFill>
                  <a:srgbClr val="89B4FA"/>
                </a:solidFill>
                <a:effectLst/>
                <a:latin typeface="Consolas" panose="020B0609020204030204" pitchFamily="49" charset="0"/>
              </a:rPr>
              <a:t>mycoroutine_destroy</a:t>
            </a:r>
            <a:r>
              <a:rPr lang="en-US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i="1" dirty="0" err="1">
                <a:solidFill>
                  <a:srgbClr val="F9E2AF"/>
                </a:solidFill>
                <a:effectLst/>
                <a:latin typeface="Consolas" panose="020B0609020204030204" pitchFamily="49" charset="0"/>
              </a:rPr>
              <a:t>co_t</a:t>
            </a: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4E2D5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i="1" dirty="0">
                <a:solidFill>
                  <a:srgbClr val="EBA0AC"/>
                </a:solidFill>
                <a:effectLst/>
                <a:latin typeface="Consolas" panose="020B0609020204030204" pitchFamily="49" charset="0"/>
              </a:rPr>
              <a:t>co</a:t>
            </a:r>
            <a:r>
              <a:rPr lang="en-US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b="0" dirty="0">
              <a:solidFill>
                <a:srgbClr val="CDD6F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CDD6F4"/>
                </a:solidFill>
                <a:latin typeface="Consolas" panose="020B0609020204030204" pitchFamily="49" charset="0"/>
              </a:rPr>
              <a:t>  </a:t>
            </a:r>
            <a:r>
              <a:rPr lang="en-US" dirty="0">
                <a:solidFill>
                  <a:srgbClr val="CBA6F7"/>
                </a:solidFill>
                <a:latin typeface="Consolas" panose="020B0609020204030204" pitchFamily="49" charset="0"/>
              </a:rPr>
              <a:t>if</a:t>
            </a:r>
            <a:r>
              <a:rPr lang="en-US" dirty="0">
                <a:solidFill>
                  <a:srgbClr val="CDD6F4"/>
                </a:solidFill>
                <a:latin typeface="Consolas" panose="020B0609020204030204" pitchFamily="49" charset="0"/>
              </a:rPr>
              <a:t> </a:t>
            </a:r>
            <a:r>
              <a:rPr lang="en-US" i="1" dirty="0">
                <a:solidFill>
                  <a:srgbClr val="EBA0AC"/>
                </a:solidFill>
                <a:latin typeface="Consolas" panose="020B0609020204030204" pitchFamily="49" charset="0"/>
              </a:rPr>
              <a:t>co</a:t>
            </a:r>
            <a:r>
              <a:rPr lang="en-US" dirty="0">
                <a:solidFill>
                  <a:srgbClr val="CDD6F4"/>
                </a:solidFill>
                <a:latin typeface="Consolas" panose="020B0609020204030204" pitchFamily="49" charset="0"/>
              </a:rPr>
              <a:t> is not in the coroutine list</a:t>
            </a:r>
          </a:p>
          <a:p>
            <a:r>
              <a:rPr lang="en-US" dirty="0">
                <a:solidFill>
                  <a:srgbClr val="CDD6F4"/>
                </a:solidFill>
                <a:latin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CBA6F7"/>
                </a:solidFill>
                <a:latin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CDD6F4"/>
                </a:solidFill>
                <a:latin typeface="Consolas" panose="020B0609020204030204" pitchFamily="49" charset="0"/>
              </a:rPr>
              <a:t> error</a:t>
            </a: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 </a:t>
            </a:r>
          </a:p>
          <a:p>
            <a:endParaRPr lang="en-US" b="0" dirty="0">
              <a:solidFill>
                <a:srgbClr val="CDD6F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CBA6F7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i="1" dirty="0">
                <a:solidFill>
                  <a:srgbClr val="EBA0AC"/>
                </a:solidFill>
                <a:latin typeface="Consolas" panose="020B0609020204030204" pitchFamily="49" charset="0"/>
              </a:rPr>
              <a:t>co</a:t>
            </a: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is the main coroutine</a:t>
            </a:r>
          </a:p>
          <a:p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    destroy the coroutine list</a:t>
            </a:r>
          </a:p>
          <a:p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CBA6F7"/>
                </a:solidFill>
                <a:effectLst/>
                <a:latin typeface="Consolas" panose="020B0609020204030204" pitchFamily="49" charset="0"/>
              </a:rPr>
              <a:t>else</a:t>
            </a:r>
            <a:endParaRPr lang="en-US" b="0" dirty="0">
              <a:solidFill>
                <a:srgbClr val="CDD6F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    remove the </a:t>
            </a:r>
            <a:r>
              <a:rPr lang="en-US" i="1" dirty="0">
                <a:solidFill>
                  <a:srgbClr val="EBA0AC"/>
                </a:solidFill>
                <a:latin typeface="Consolas" panose="020B0609020204030204" pitchFamily="49" charset="0"/>
              </a:rPr>
              <a:t>co</a:t>
            </a: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from the list</a:t>
            </a:r>
          </a:p>
          <a:p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    free related memory</a:t>
            </a:r>
          </a:p>
          <a:p>
            <a:r>
              <a:rPr lang="en-US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b="0" dirty="0">
              <a:solidFill>
                <a:srgbClr val="CDD6F4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29971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36125F-9A33-0056-A99E-A375550D85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597B8C-A7FE-EAE7-58B7-A176E012F8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Assignment 1: Switching coroutines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8CA645-AA0E-066D-6069-4E7DF36AE8A6}"/>
              </a:ext>
            </a:extLst>
          </p:cNvPr>
          <p:cNvSpPr txBox="1"/>
          <p:nvPr/>
        </p:nvSpPr>
        <p:spPr>
          <a:xfrm>
            <a:off x="3280966" y="2274838"/>
            <a:ext cx="5630067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 dirty="0">
                <a:solidFill>
                  <a:srgbClr val="CBA6F7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i="1" dirty="0" err="1">
                <a:solidFill>
                  <a:srgbClr val="89B4FA"/>
                </a:solidFill>
                <a:effectLst/>
                <a:latin typeface="Consolas" panose="020B0609020204030204" pitchFamily="49" charset="0"/>
              </a:rPr>
              <a:t>mycoroutine_switchto</a:t>
            </a:r>
            <a:r>
              <a:rPr lang="en-US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i="1" dirty="0" err="1">
                <a:solidFill>
                  <a:srgbClr val="F9E2AF"/>
                </a:solidFill>
                <a:effectLst/>
                <a:latin typeface="Consolas" panose="020B0609020204030204" pitchFamily="49" charset="0"/>
              </a:rPr>
              <a:t>co_t</a:t>
            </a: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4E2D5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i="1" dirty="0">
                <a:solidFill>
                  <a:srgbClr val="EBA0AC"/>
                </a:solidFill>
                <a:effectLst/>
                <a:latin typeface="Consolas" panose="020B0609020204030204" pitchFamily="49" charset="0"/>
              </a:rPr>
              <a:t>co</a:t>
            </a:r>
            <a:r>
              <a:rPr lang="en-US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b="0" dirty="0">
              <a:solidFill>
                <a:srgbClr val="CDD6F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CBA6F7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i="1" dirty="0">
                <a:solidFill>
                  <a:srgbClr val="EBA0AC"/>
                </a:solidFill>
                <a:latin typeface="Consolas" panose="020B0609020204030204" pitchFamily="49" charset="0"/>
              </a:rPr>
              <a:t>co</a:t>
            </a: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is not in the coroutine list</a:t>
            </a:r>
          </a:p>
          <a:p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CBA6F7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error</a:t>
            </a:r>
          </a:p>
          <a:p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  </a:t>
            </a:r>
          </a:p>
          <a:p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  store </a:t>
            </a:r>
            <a:r>
              <a:rPr lang="en-US" b="0" dirty="0" err="1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current_context</a:t>
            </a: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to </a:t>
            </a:r>
            <a:r>
              <a:rPr lang="en-US" b="0" dirty="0" err="1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previous_context</a:t>
            </a:r>
            <a:endParaRPr lang="en-US" b="0" dirty="0">
              <a:solidFill>
                <a:srgbClr val="CDD6F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  set </a:t>
            </a:r>
            <a:r>
              <a:rPr lang="en-US" b="0" dirty="0" err="1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current_context</a:t>
            </a: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to </a:t>
            </a:r>
            <a:r>
              <a:rPr lang="en-US" i="1" dirty="0">
                <a:solidFill>
                  <a:srgbClr val="EBA0AC"/>
                </a:solidFill>
                <a:latin typeface="Consolas" panose="020B0609020204030204" pitchFamily="49" charset="0"/>
              </a:rPr>
              <a:t>co</a:t>
            </a:r>
          </a:p>
          <a:p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  swap context storing the previous context</a:t>
            </a:r>
          </a:p>
          <a:p>
            <a:r>
              <a:rPr lang="en-US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b="0" dirty="0">
              <a:solidFill>
                <a:srgbClr val="CDD6F4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677770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15699E-95F5-27E9-A678-41715CFF2C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44D7D7-01F7-6260-F934-0E5C075E13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945034"/>
            <a:ext cx="9144000" cy="967931"/>
          </a:xfrm>
        </p:spPr>
        <p:txBody>
          <a:bodyPr/>
          <a:lstStyle/>
          <a:p>
            <a:r>
              <a:rPr lang="en-US" dirty="0"/>
              <a:t>Assignment 2</a:t>
            </a:r>
          </a:p>
        </p:txBody>
      </p:sp>
    </p:spTree>
    <p:extLst>
      <p:ext uri="{BB962C8B-B14F-4D97-AF65-F5344CB8AC3E}">
        <p14:creationId xmlns:p14="http://schemas.microsoft.com/office/powerpoint/2010/main" val="23929034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269D36-E3D7-472A-47C7-91D54CAD5A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1591D1-2EF6-DDF1-DA83-B752C54BC0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Assignment 1: </a:t>
            </a:r>
            <a:r>
              <a:rPr lang="en-US" dirty="0" err="1">
                <a:latin typeface="Consolas" panose="020B0609020204030204" pitchFamily="49" charset="0"/>
              </a:rPr>
              <a:t>mythreads</a:t>
            </a:r>
            <a:r>
              <a:rPr lang="en-US" b="1" dirty="0"/>
              <a:t> API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067A69D-53B6-CC74-6974-F5AFE6496B4C}"/>
              </a:ext>
            </a:extLst>
          </p:cNvPr>
          <p:cNvSpPr txBox="1"/>
          <p:nvPr/>
        </p:nvSpPr>
        <p:spPr>
          <a:xfrm>
            <a:off x="396363" y="1487488"/>
            <a:ext cx="11399274" cy="51344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en-US" sz="2400" b="0" dirty="0">
                <a:solidFill>
                  <a:srgbClr val="CBA6F7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400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i="1" dirty="0" err="1">
                <a:solidFill>
                  <a:srgbClr val="89B4FA"/>
                </a:solidFill>
                <a:effectLst/>
                <a:latin typeface="Consolas" panose="020B0609020204030204" pitchFamily="49" charset="0"/>
              </a:rPr>
              <a:t>mythreads_init</a:t>
            </a:r>
            <a:r>
              <a:rPr lang="en-US" sz="2400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sz="2400" b="0" dirty="0">
              <a:solidFill>
                <a:srgbClr val="CDD6F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25000"/>
              </a:lnSpc>
            </a:pPr>
            <a:r>
              <a:rPr lang="en-US" sz="2400" b="0" dirty="0">
                <a:solidFill>
                  <a:srgbClr val="CBA6F7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400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i="1" dirty="0" err="1">
                <a:solidFill>
                  <a:srgbClr val="89B4FA"/>
                </a:solidFill>
                <a:effectLst/>
                <a:latin typeface="Consolas" panose="020B0609020204030204" pitchFamily="49" charset="0"/>
              </a:rPr>
              <a:t>mythreads_create</a:t>
            </a:r>
            <a:r>
              <a:rPr lang="en-US" sz="2400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i="1" dirty="0" err="1">
                <a:solidFill>
                  <a:srgbClr val="F9E2AF"/>
                </a:solidFill>
                <a:effectLst/>
                <a:latin typeface="Consolas" panose="020B0609020204030204" pitchFamily="49" charset="0"/>
              </a:rPr>
              <a:t>mythr_t</a:t>
            </a:r>
            <a:r>
              <a:rPr lang="en-US" sz="2400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>
                <a:solidFill>
                  <a:srgbClr val="94E2D5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2400" b="0" i="1" dirty="0" err="1">
                <a:solidFill>
                  <a:srgbClr val="EBA0AC"/>
                </a:solidFill>
                <a:effectLst/>
                <a:latin typeface="Consolas" panose="020B0609020204030204" pitchFamily="49" charset="0"/>
              </a:rPr>
              <a:t>thr</a:t>
            </a:r>
            <a:r>
              <a:rPr lang="en-US" sz="2400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sz="2400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>
                <a:solidFill>
                  <a:srgbClr val="CBA6F7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2400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body</a:t>
            </a:r>
            <a:r>
              <a:rPr lang="en-US" sz="2400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)(</a:t>
            </a:r>
            <a:r>
              <a:rPr lang="en-US" sz="2400" b="0" dirty="0">
                <a:solidFill>
                  <a:srgbClr val="CBA6F7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2400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>
                <a:solidFill>
                  <a:srgbClr val="94E2D5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2400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),</a:t>
            </a:r>
            <a:r>
              <a:rPr lang="en-US" sz="2400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>
                <a:solidFill>
                  <a:srgbClr val="CBA6F7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2400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>
                <a:solidFill>
                  <a:srgbClr val="94E2D5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2400" b="0" i="1" dirty="0" err="1">
                <a:solidFill>
                  <a:srgbClr val="EBA0AC"/>
                </a:solidFill>
                <a:effectLst/>
                <a:latin typeface="Consolas" panose="020B0609020204030204" pitchFamily="49" charset="0"/>
              </a:rPr>
              <a:t>arg</a:t>
            </a:r>
            <a:r>
              <a:rPr lang="en-US" sz="2400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sz="2400" b="0" dirty="0">
              <a:solidFill>
                <a:srgbClr val="CDD6F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25000"/>
              </a:lnSpc>
            </a:pPr>
            <a:r>
              <a:rPr lang="en-US" sz="2400" b="0" dirty="0">
                <a:solidFill>
                  <a:srgbClr val="CBA6F7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400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i="1" dirty="0" err="1">
                <a:solidFill>
                  <a:srgbClr val="89B4FA"/>
                </a:solidFill>
                <a:effectLst/>
                <a:latin typeface="Consolas" panose="020B0609020204030204" pitchFamily="49" charset="0"/>
              </a:rPr>
              <a:t>mythreads_yield</a:t>
            </a:r>
            <a:r>
              <a:rPr lang="en-US" sz="2400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sz="2400" b="0" dirty="0">
              <a:solidFill>
                <a:srgbClr val="CDD6F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25000"/>
              </a:lnSpc>
            </a:pPr>
            <a:r>
              <a:rPr lang="en-US" sz="2400" b="0" dirty="0">
                <a:solidFill>
                  <a:srgbClr val="CBA6F7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400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i="1" dirty="0" err="1">
                <a:solidFill>
                  <a:srgbClr val="89B4FA"/>
                </a:solidFill>
                <a:effectLst/>
                <a:latin typeface="Consolas" panose="020B0609020204030204" pitchFamily="49" charset="0"/>
              </a:rPr>
              <a:t>mythreads_sleep</a:t>
            </a:r>
            <a:r>
              <a:rPr lang="en-US" sz="2400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dirty="0">
                <a:solidFill>
                  <a:srgbClr val="CBA6F7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400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i="1" dirty="0">
                <a:solidFill>
                  <a:srgbClr val="EBA0AC"/>
                </a:solidFill>
                <a:effectLst/>
                <a:latin typeface="Consolas" panose="020B0609020204030204" pitchFamily="49" charset="0"/>
              </a:rPr>
              <a:t>secs</a:t>
            </a:r>
            <a:r>
              <a:rPr lang="en-US" sz="2400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sz="2400" b="0" dirty="0">
              <a:solidFill>
                <a:srgbClr val="CDD6F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25000"/>
              </a:lnSpc>
            </a:pPr>
            <a:r>
              <a:rPr lang="en-US" sz="2400" b="0" dirty="0">
                <a:solidFill>
                  <a:srgbClr val="CBA6F7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400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i="1" dirty="0" err="1">
                <a:solidFill>
                  <a:srgbClr val="89B4FA"/>
                </a:solidFill>
                <a:effectLst/>
                <a:latin typeface="Consolas" panose="020B0609020204030204" pitchFamily="49" charset="0"/>
              </a:rPr>
              <a:t>mythreads_join</a:t>
            </a:r>
            <a:r>
              <a:rPr lang="en-US" sz="2400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i="1" dirty="0" err="1">
                <a:solidFill>
                  <a:srgbClr val="F9E2AF"/>
                </a:solidFill>
                <a:effectLst/>
                <a:latin typeface="Consolas" panose="020B0609020204030204" pitchFamily="49" charset="0"/>
              </a:rPr>
              <a:t>mythr_t</a:t>
            </a:r>
            <a:r>
              <a:rPr lang="en-US" sz="2400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>
                <a:solidFill>
                  <a:srgbClr val="94E2D5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2400" b="0" i="1" dirty="0" err="1">
                <a:solidFill>
                  <a:srgbClr val="EBA0AC"/>
                </a:solidFill>
                <a:effectLst/>
                <a:latin typeface="Consolas" panose="020B0609020204030204" pitchFamily="49" charset="0"/>
              </a:rPr>
              <a:t>thr</a:t>
            </a:r>
            <a:r>
              <a:rPr lang="en-US" sz="2400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sz="2400" b="0" dirty="0">
              <a:solidFill>
                <a:srgbClr val="CDD6F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25000"/>
              </a:lnSpc>
            </a:pPr>
            <a:r>
              <a:rPr lang="en-US" sz="2400" b="0" dirty="0">
                <a:solidFill>
                  <a:srgbClr val="CBA6F7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400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i="1" dirty="0" err="1">
                <a:solidFill>
                  <a:srgbClr val="89B4FA"/>
                </a:solidFill>
                <a:effectLst/>
                <a:latin typeface="Consolas" panose="020B0609020204030204" pitchFamily="49" charset="0"/>
              </a:rPr>
              <a:t>mythreads_destroy</a:t>
            </a:r>
            <a:r>
              <a:rPr lang="en-US" sz="2400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i="1" dirty="0" err="1">
                <a:solidFill>
                  <a:srgbClr val="F9E2AF"/>
                </a:solidFill>
                <a:effectLst/>
                <a:latin typeface="Consolas" panose="020B0609020204030204" pitchFamily="49" charset="0"/>
              </a:rPr>
              <a:t>mythr_t</a:t>
            </a:r>
            <a:r>
              <a:rPr lang="en-US" sz="2400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>
                <a:solidFill>
                  <a:srgbClr val="94E2D5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2400" b="0" i="1" dirty="0" err="1">
                <a:solidFill>
                  <a:srgbClr val="EBA0AC"/>
                </a:solidFill>
                <a:effectLst/>
                <a:latin typeface="Consolas" panose="020B0609020204030204" pitchFamily="49" charset="0"/>
              </a:rPr>
              <a:t>thr</a:t>
            </a:r>
            <a:r>
              <a:rPr lang="en-US" sz="2400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sz="2400" b="0" dirty="0">
              <a:solidFill>
                <a:srgbClr val="CDD6F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25000"/>
              </a:lnSpc>
            </a:pPr>
            <a:r>
              <a:rPr lang="en-US" sz="2400" b="0" dirty="0">
                <a:solidFill>
                  <a:srgbClr val="CBA6F7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400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i="1" dirty="0" err="1">
                <a:solidFill>
                  <a:srgbClr val="89B4FA"/>
                </a:solidFill>
                <a:effectLst/>
                <a:latin typeface="Consolas" panose="020B0609020204030204" pitchFamily="49" charset="0"/>
              </a:rPr>
              <a:t>mythreads_sem_create</a:t>
            </a:r>
            <a:r>
              <a:rPr lang="en-US" sz="2400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i="1" dirty="0" err="1">
                <a:solidFill>
                  <a:srgbClr val="F9E2AF"/>
                </a:solidFill>
                <a:effectLst/>
                <a:latin typeface="Consolas" panose="020B0609020204030204" pitchFamily="49" charset="0"/>
              </a:rPr>
              <a:t>mysem_t</a:t>
            </a:r>
            <a:r>
              <a:rPr lang="en-US" sz="2400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>
                <a:solidFill>
                  <a:srgbClr val="94E2D5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2400" b="0" i="1" dirty="0">
                <a:solidFill>
                  <a:srgbClr val="EBA0AC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sz="2400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sz="2400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>
                <a:solidFill>
                  <a:srgbClr val="CBA6F7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400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i="1" dirty="0" err="1">
                <a:solidFill>
                  <a:srgbClr val="EBA0AC"/>
                </a:solidFill>
                <a:effectLst/>
                <a:latin typeface="Consolas" panose="020B0609020204030204" pitchFamily="49" charset="0"/>
              </a:rPr>
              <a:t>val</a:t>
            </a:r>
            <a:r>
              <a:rPr lang="en-US" sz="2400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sz="2400" b="0" dirty="0">
              <a:solidFill>
                <a:srgbClr val="CDD6F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25000"/>
              </a:lnSpc>
            </a:pPr>
            <a:r>
              <a:rPr lang="en-US" sz="2400" b="0" dirty="0">
                <a:solidFill>
                  <a:srgbClr val="CBA6F7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400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i="1" dirty="0" err="1">
                <a:solidFill>
                  <a:srgbClr val="89B4FA"/>
                </a:solidFill>
                <a:effectLst/>
                <a:latin typeface="Consolas" panose="020B0609020204030204" pitchFamily="49" charset="0"/>
              </a:rPr>
              <a:t>mythreads_sem_down</a:t>
            </a:r>
            <a:r>
              <a:rPr lang="en-US" sz="2400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i="1" dirty="0" err="1">
                <a:solidFill>
                  <a:srgbClr val="F9E2AF"/>
                </a:solidFill>
                <a:effectLst/>
                <a:latin typeface="Consolas" panose="020B0609020204030204" pitchFamily="49" charset="0"/>
              </a:rPr>
              <a:t>mysem_t</a:t>
            </a:r>
            <a:r>
              <a:rPr lang="en-US" sz="2400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>
                <a:solidFill>
                  <a:srgbClr val="94E2D5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2400" b="0" i="1" dirty="0">
                <a:solidFill>
                  <a:srgbClr val="EBA0AC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sz="2400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sz="2400" b="0" dirty="0">
              <a:solidFill>
                <a:srgbClr val="CDD6F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25000"/>
              </a:lnSpc>
            </a:pPr>
            <a:r>
              <a:rPr lang="en-US" sz="2400" b="0" dirty="0">
                <a:solidFill>
                  <a:srgbClr val="CBA6F7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400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i="1" dirty="0" err="1">
                <a:solidFill>
                  <a:srgbClr val="89B4FA"/>
                </a:solidFill>
                <a:effectLst/>
                <a:latin typeface="Consolas" panose="020B0609020204030204" pitchFamily="49" charset="0"/>
              </a:rPr>
              <a:t>mythreads_sem_up</a:t>
            </a:r>
            <a:r>
              <a:rPr lang="en-US" sz="2400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i="1" dirty="0" err="1">
                <a:solidFill>
                  <a:srgbClr val="F9E2AF"/>
                </a:solidFill>
                <a:effectLst/>
                <a:latin typeface="Consolas" panose="020B0609020204030204" pitchFamily="49" charset="0"/>
              </a:rPr>
              <a:t>mysem_t</a:t>
            </a:r>
            <a:r>
              <a:rPr lang="en-US" sz="2400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>
                <a:solidFill>
                  <a:srgbClr val="94E2D5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2400" b="0" i="1" dirty="0">
                <a:solidFill>
                  <a:srgbClr val="EBA0AC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sz="2400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sz="2400" b="0" dirty="0">
              <a:solidFill>
                <a:srgbClr val="CDD6F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25000"/>
              </a:lnSpc>
            </a:pPr>
            <a:r>
              <a:rPr lang="en-US" sz="2400" b="0" dirty="0">
                <a:solidFill>
                  <a:srgbClr val="CBA6F7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400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i="1" dirty="0" err="1">
                <a:solidFill>
                  <a:srgbClr val="89B4FA"/>
                </a:solidFill>
                <a:effectLst/>
                <a:latin typeface="Consolas" panose="020B0609020204030204" pitchFamily="49" charset="0"/>
              </a:rPr>
              <a:t>mythreads_sem_destroy</a:t>
            </a:r>
            <a:r>
              <a:rPr lang="en-US" sz="2400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i="1" dirty="0" err="1">
                <a:solidFill>
                  <a:srgbClr val="F9E2AF"/>
                </a:solidFill>
                <a:effectLst/>
                <a:latin typeface="Consolas" panose="020B0609020204030204" pitchFamily="49" charset="0"/>
              </a:rPr>
              <a:t>mysem_t</a:t>
            </a:r>
            <a:r>
              <a:rPr lang="en-US" sz="2400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>
                <a:solidFill>
                  <a:srgbClr val="94E2D5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2400" b="0" i="1" dirty="0">
                <a:solidFill>
                  <a:srgbClr val="EBA0AC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sz="2400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sz="2400" b="0" dirty="0">
              <a:solidFill>
                <a:srgbClr val="CDD6F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25000"/>
              </a:lnSpc>
            </a:pPr>
            <a:r>
              <a:rPr lang="en-US" sz="2400" b="0" dirty="0">
                <a:solidFill>
                  <a:srgbClr val="CBA6F7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2400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i="1" dirty="0" err="1">
                <a:solidFill>
                  <a:srgbClr val="89B4FA"/>
                </a:solidFill>
                <a:effectLst/>
                <a:latin typeface="Consolas" panose="020B0609020204030204" pitchFamily="49" charset="0"/>
              </a:rPr>
              <a:t>mythreads_exit</a:t>
            </a:r>
            <a:r>
              <a:rPr lang="en-US" sz="2400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sz="2400" b="0" dirty="0">
              <a:solidFill>
                <a:srgbClr val="CDD6F4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113729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37D399-9C00-E7F1-C1C0-BD4F40BDC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D7B91-040E-C45E-5FAF-C8BA4BF62E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945034"/>
            <a:ext cx="9144000" cy="967931"/>
          </a:xfrm>
        </p:spPr>
        <p:txBody>
          <a:bodyPr/>
          <a:lstStyle/>
          <a:p>
            <a:r>
              <a:rPr lang="en-US" dirty="0"/>
              <a:t>Assignment 3</a:t>
            </a:r>
          </a:p>
        </p:txBody>
      </p:sp>
    </p:spTree>
    <p:extLst>
      <p:ext uri="{BB962C8B-B14F-4D97-AF65-F5344CB8AC3E}">
        <p14:creationId xmlns:p14="http://schemas.microsoft.com/office/powerpoint/2010/main" val="26363474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538D9D"/>
      </a:hlink>
      <a:folHlink>
        <a:srgbClr val="A5738E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3A418E6B-C5F0-4B95-8D77-61E3EF3B5DF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707</TotalTime>
  <Words>525</Words>
  <Application>Microsoft Office PowerPoint</Application>
  <PresentationFormat>Widescreen</PresentationFormat>
  <Paragraphs>74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Consolas</vt:lpstr>
      <vt:lpstr>Office Theme</vt:lpstr>
      <vt:lpstr>Assignment 1</vt:lpstr>
      <vt:lpstr>Assignment 1: mycoroutine API</vt:lpstr>
      <vt:lpstr>Assignment 1: Initializing and destroying coroutines</vt:lpstr>
      <vt:lpstr>Assignment 1: Initializing the main coroutine and global variables</vt:lpstr>
      <vt:lpstr>Assignment 1: Creating and destroying coroutines</vt:lpstr>
      <vt:lpstr>Assignment 1: Switching coroutines</vt:lpstr>
      <vt:lpstr>Assignment 2</vt:lpstr>
      <vt:lpstr>Assignment 1: mythreads API</vt:lpstr>
      <vt:lpstr>Assignment 3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Assignment 1</dc:title>
  <dc:creator>Faidra Nika</dc:creator>
  <cp:lastModifiedBy>Jason Nikas</cp:lastModifiedBy>
  <cp:revision>18</cp:revision>
  <dcterms:created xsi:type="dcterms:W3CDTF">2024-11-30T16:59:36Z</dcterms:created>
  <dcterms:modified xsi:type="dcterms:W3CDTF">2024-12-20T23:30:21Z</dcterms:modified>
</cp:coreProperties>
</file>