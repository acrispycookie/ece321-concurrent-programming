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305" r:id="rId4"/>
    <p:sldId id="306" r:id="rId5"/>
    <p:sldId id="307" r:id="rId6"/>
    <p:sldId id="308" r:id="rId7"/>
    <p:sldId id="310" r:id="rId8"/>
    <p:sldId id="311" r:id="rId9"/>
    <p:sldId id="312" r:id="rId10"/>
    <p:sldId id="302" r:id="rId11"/>
    <p:sldId id="304" r:id="rId12"/>
    <p:sldId id="325" r:id="rId13"/>
    <p:sldId id="314" r:id="rId14"/>
    <p:sldId id="316" r:id="rId15"/>
    <p:sldId id="343" r:id="rId16"/>
    <p:sldId id="326" r:id="rId17"/>
    <p:sldId id="323" r:id="rId18"/>
    <p:sldId id="324" r:id="rId19"/>
    <p:sldId id="338" r:id="rId20"/>
    <p:sldId id="339" r:id="rId21"/>
    <p:sldId id="344" r:id="rId22"/>
    <p:sldId id="347" r:id="rId23"/>
    <p:sldId id="345" r:id="rId24"/>
    <p:sldId id="348" r:id="rId25"/>
    <p:sldId id="349" r:id="rId26"/>
    <p:sldId id="315" r:id="rId27"/>
    <p:sldId id="317" r:id="rId28"/>
    <p:sldId id="318" r:id="rId29"/>
    <p:sldId id="320" r:id="rId30"/>
    <p:sldId id="322" r:id="rId31"/>
    <p:sldId id="321" r:id="rId32"/>
    <p:sldId id="327" r:id="rId33"/>
    <p:sldId id="333" r:id="rId34"/>
    <p:sldId id="334" r:id="rId35"/>
    <p:sldId id="336" r:id="rId36"/>
    <p:sldId id="337" r:id="rId37"/>
    <p:sldId id="340" r:id="rId38"/>
    <p:sldId id="341" r:id="rId39"/>
    <p:sldId id="342" r:id="rId40"/>
    <p:sldId id="346" r:id="rId41"/>
    <p:sldId id="303" r:id="rId42"/>
    <p:sldId id="330" r:id="rId43"/>
    <p:sldId id="332" r:id="rId44"/>
    <p:sldId id="328" r:id="rId45"/>
    <p:sldId id="329" r:id="rId46"/>
    <p:sldId id="331"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490" autoAdjust="0"/>
    <p:restoredTop sz="94660"/>
  </p:normalViewPr>
  <p:slideViewPr>
    <p:cSldViewPr snapToGrid="0">
      <p:cViewPr>
        <p:scale>
          <a:sx n="92" d="100"/>
          <a:sy n="92" d="100"/>
        </p:scale>
        <p:origin x="45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7826EAC-0EB7-423B-BF89-84126560B6A3}" type="datetimeFigureOut">
              <a:rPr lang="en-US" smtClean="0"/>
              <a:t>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C296FB-853A-4DD6-B517-AD8AB6992D97}" type="slidenum">
              <a:rPr lang="en-US" smtClean="0"/>
              <a:t>‹#›</a:t>
            </a:fld>
            <a:endParaRPr lang="en-US"/>
          </a:p>
        </p:txBody>
      </p:sp>
    </p:spTree>
    <p:extLst>
      <p:ext uri="{BB962C8B-B14F-4D97-AF65-F5344CB8AC3E}">
        <p14:creationId xmlns:p14="http://schemas.microsoft.com/office/powerpoint/2010/main" val="673468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826EAC-0EB7-423B-BF89-84126560B6A3}" type="datetimeFigureOut">
              <a:rPr lang="en-US" smtClean="0"/>
              <a:t>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C296FB-853A-4DD6-B517-AD8AB6992D97}" type="slidenum">
              <a:rPr lang="en-US" smtClean="0"/>
              <a:t>‹#›</a:t>
            </a:fld>
            <a:endParaRPr lang="en-US"/>
          </a:p>
        </p:txBody>
      </p:sp>
    </p:spTree>
    <p:extLst>
      <p:ext uri="{BB962C8B-B14F-4D97-AF65-F5344CB8AC3E}">
        <p14:creationId xmlns:p14="http://schemas.microsoft.com/office/powerpoint/2010/main" val="1288507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826EAC-0EB7-423B-BF89-84126560B6A3}" type="datetimeFigureOut">
              <a:rPr lang="en-US" smtClean="0"/>
              <a:t>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C296FB-853A-4DD6-B517-AD8AB6992D97}" type="slidenum">
              <a:rPr lang="en-US" smtClean="0"/>
              <a:t>‹#›</a:t>
            </a:fld>
            <a:endParaRPr lang="en-US"/>
          </a:p>
        </p:txBody>
      </p:sp>
    </p:spTree>
    <p:extLst>
      <p:ext uri="{BB962C8B-B14F-4D97-AF65-F5344CB8AC3E}">
        <p14:creationId xmlns:p14="http://schemas.microsoft.com/office/powerpoint/2010/main" val="417878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7826EAC-0EB7-423B-BF89-84126560B6A3}" type="datetimeFigureOut">
              <a:rPr lang="en-US" smtClean="0"/>
              <a:t>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C296FB-853A-4DD6-B517-AD8AB6992D97}" type="slidenum">
              <a:rPr lang="en-US" smtClean="0"/>
              <a:t>‹#›</a:t>
            </a:fld>
            <a:endParaRPr lang="en-US"/>
          </a:p>
        </p:txBody>
      </p:sp>
    </p:spTree>
    <p:extLst>
      <p:ext uri="{BB962C8B-B14F-4D97-AF65-F5344CB8AC3E}">
        <p14:creationId xmlns:p14="http://schemas.microsoft.com/office/powerpoint/2010/main" val="3759037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826EAC-0EB7-423B-BF89-84126560B6A3}" type="datetimeFigureOut">
              <a:rPr lang="en-US" smtClean="0"/>
              <a:t>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DC296FB-853A-4DD6-B517-AD8AB6992D97}" type="slidenum">
              <a:rPr lang="en-US" smtClean="0"/>
              <a:t>‹#›</a:t>
            </a:fld>
            <a:endParaRPr lang="en-US"/>
          </a:p>
        </p:txBody>
      </p:sp>
    </p:spTree>
    <p:extLst>
      <p:ext uri="{BB962C8B-B14F-4D97-AF65-F5344CB8AC3E}">
        <p14:creationId xmlns:p14="http://schemas.microsoft.com/office/powerpoint/2010/main" val="2865124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7826EAC-0EB7-423B-BF89-84126560B6A3}" type="datetimeFigureOut">
              <a:rPr lang="en-US" smtClean="0"/>
              <a:t>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DC296FB-853A-4DD6-B517-AD8AB6992D97}" type="slidenum">
              <a:rPr lang="en-US" smtClean="0"/>
              <a:t>‹#›</a:t>
            </a:fld>
            <a:endParaRPr lang="en-US"/>
          </a:p>
        </p:txBody>
      </p:sp>
    </p:spTree>
    <p:extLst>
      <p:ext uri="{BB962C8B-B14F-4D97-AF65-F5344CB8AC3E}">
        <p14:creationId xmlns:p14="http://schemas.microsoft.com/office/powerpoint/2010/main" val="1173709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826EAC-0EB7-423B-BF89-84126560B6A3}" type="datetimeFigureOut">
              <a:rPr lang="en-US" smtClean="0"/>
              <a:t>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DC296FB-853A-4DD6-B517-AD8AB6992D97}" type="slidenum">
              <a:rPr lang="en-US" smtClean="0"/>
              <a:t>‹#›</a:t>
            </a:fld>
            <a:endParaRPr lang="en-US"/>
          </a:p>
        </p:txBody>
      </p:sp>
    </p:spTree>
    <p:extLst>
      <p:ext uri="{BB962C8B-B14F-4D97-AF65-F5344CB8AC3E}">
        <p14:creationId xmlns:p14="http://schemas.microsoft.com/office/powerpoint/2010/main" val="1485305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826EAC-0EB7-423B-BF89-84126560B6A3}" type="datetimeFigureOut">
              <a:rPr lang="en-US" smtClean="0"/>
              <a:t>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C296FB-853A-4DD6-B517-AD8AB6992D97}" type="slidenum">
              <a:rPr lang="en-US" smtClean="0"/>
              <a:t>‹#›</a:t>
            </a:fld>
            <a:endParaRPr lang="en-US"/>
          </a:p>
        </p:txBody>
      </p:sp>
    </p:spTree>
    <p:extLst>
      <p:ext uri="{BB962C8B-B14F-4D97-AF65-F5344CB8AC3E}">
        <p14:creationId xmlns:p14="http://schemas.microsoft.com/office/powerpoint/2010/main" val="3079148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826EAC-0EB7-423B-BF89-84126560B6A3}" type="datetimeFigureOut">
              <a:rPr lang="en-US" smtClean="0"/>
              <a:t>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C296FB-853A-4DD6-B517-AD8AB6992D97}" type="slidenum">
              <a:rPr lang="en-US" smtClean="0"/>
              <a:t>‹#›</a:t>
            </a:fld>
            <a:endParaRPr lang="en-US"/>
          </a:p>
        </p:txBody>
      </p:sp>
    </p:spTree>
    <p:extLst>
      <p:ext uri="{BB962C8B-B14F-4D97-AF65-F5344CB8AC3E}">
        <p14:creationId xmlns:p14="http://schemas.microsoft.com/office/powerpoint/2010/main" val="1552773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826EAC-0EB7-423B-BF89-84126560B6A3}" type="datetimeFigureOut">
              <a:rPr lang="en-US" smtClean="0"/>
              <a:t>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C296FB-853A-4DD6-B517-AD8AB6992D97}" type="slidenum">
              <a:rPr lang="en-US" smtClean="0"/>
              <a:t>‹#›</a:t>
            </a:fld>
            <a:endParaRPr lang="en-US"/>
          </a:p>
        </p:txBody>
      </p:sp>
    </p:spTree>
    <p:extLst>
      <p:ext uri="{BB962C8B-B14F-4D97-AF65-F5344CB8AC3E}">
        <p14:creationId xmlns:p14="http://schemas.microsoft.com/office/powerpoint/2010/main" val="1562645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826EAC-0EB7-423B-BF89-84126560B6A3}" type="datetimeFigureOut">
              <a:rPr lang="en-US" smtClean="0"/>
              <a:t>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C296FB-853A-4DD6-B517-AD8AB6992D97}" type="slidenum">
              <a:rPr lang="en-US" smtClean="0"/>
              <a:t>‹#›</a:t>
            </a:fld>
            <a:endParaRPr lang="en-US"/>
          </a:p>
        </p:txBody>
      </p:sp>
    </p:spTree>
    <p:extLst>
      <p:ext uri="{BB962C8B-B14F-4D97-AF65-F5344CB8AC3E}">
        <p14:creationId xmlns:p14="http://schemas.microsoft.com/office/powerpoint/2010/main" val="3933136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77826EAC-0EB7-423B-BF89-84126560B6A3}" type="datetimeFigureOut">
              <a:rPr lang="en-US" smtClean="0"/>
              <a:t>1/9/2025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8DC296FB-853A-4DD6-B517-AD8AB6992D97}" type="slidenum">
              <a:rPr lang="en-US" smtClean="0"/>
              <a:t>‹#›</a:t>
            </a:fld>
            <a:endParaRPr lang="en-US"/>
          </a:p>
        </p:txBody>
      </p:sp>
    </p:spTree>
    <p:extLst>
      <p:ext uri="{BB962C8B-B14F-4D97-AF65-F5344CB8AC3E}">
        <p14:creationId xmlns:p14="http://schemas.microsoft.com/office/powerpoint/2010/main" val="16635594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7A0FB-26FB-A62F-F5B3-76AD27185EEF}"/>
              </a:ext>
            </a:extLst>
          </p:cNvPr>
          <p:cNvSpPr>
            <a:spLocks noGrp="1"/>
          </p:cNvSpPr>
          <p:nvPr>
            <p:ph type="ctrTitle"/>
          </p:nvPr>
        </p:nvSpPr>
        <p:spPr>
          <a:xfrm>
            <a:off x="1524000" y="2945034"/>
            <a:ext cx="9144000" cy="967931"/>
          </a:xfrm>
        </p:spPr>
        <p:txBody>
          <a:bodyPr/>
          <a:lstStyle/>
          <a:p>
            <a:r>
              <a:rPr lang="en-US" dirty="0"/>
              <a:t>Assignment 1</a:t>
            </a:r>
          </a:p>
        </p:txBody>
      </p:sp>
    </p:spTree>
    <p:extLst>
      <p:ext uri="{BB962C8B-B14F-4D97-AF65-F5344CB8AC3E}">
        <p14:creationId xmlns:p14="http://schemas.microsoft.com/office/powerpoint/2010/main" val="1311606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FCC78-91AB-00E1-23BE-837571F81091}"/>
              </a:ext>
            </a:extLst>
          </p:cNvPr>
          <p:cNvSpPr>
            <a:spLocks noGrp="1"/>
          </p:cNvSpPr>
          <p:nvPr>
            <p:ph type="title"/>
          </p:nvPr>
        </p:nvSpPr>
        <p:spPr/>
        <p:txBody>
          <a:bodyPr/>
          <a:lstStyle/>
          <a:p>
            <a:r>
              <a:rPr lang="en-US" b="1" dirty="0"/>
              <a:t>Assignment 1: </a:t>
            </a:r>
            <a:r>
              <a:rPr lang="en-US" dirty="0" err="1">
                <a:latin typeface="Consolas" panose="020B0609020204030204" pitchFamily="49" charset="0"/>
              </a:rPr>
              <a:t>mycoroutine</a:t>
            </a:r>
            <a:r>
              <a:rPr lang="en-US" b="1" dirty="0"/>
              <a:t> </a:t>
            </a:r>
            <a:r>
              <a:rPr lang="en-US" dirty="0"/>
              <a:t>API</a:t>
            </a:r>
          </a:p>
        </p:txBody>
      </p:sp>
      <p:sp>
        <p:nvSpPr>
          <p:cNvPr id="10" name="TextBox 9">
            <a:extLst>
              <a:ext uri="{FF2B5EF4-FFF2-40B4-BE49-F238E27FC236}">
                <a16:creationId xmlns:a16="http://schemas.microsoft.com/office/drawing/2014/main" id="{05EE017F-317E-3341-7B1D-A7C88F81C2D1}"/>
              </a:ext>
            </a:extLst>
          </p:cNvPr>
          <p:cNvSpPr txBox="1"/>
          <p:nvPr/>
        </p:nvSpPr>
        <p:spPr>
          <a:xfrm>
            <a:off x="566281" y="2274838"/>
            <a:ext cx="11059438" cy="2308324"/>
          </a:xfrm>
          <a:prstGeom prst="rect">
            <a:avLst/>
          </a:prstGeom>
          <a:noFill/>
        </p:spPr>
        <p:txBody>
          <a:bodyPr wrap="none" rtlCol="0">
            <a:spAutoFit/>
          </a:bodyPr>
          <a:lstStyle/>
          <a:p>
            <a:pPr>
              <a:lnSpc>
                <a:spcPct val="125000"/>
              </a:lnSpc>
            </a:pPr>
            <a:r>
              <a:rPr lang="en-US" sz="2400" b="0" dirty="0">
                <a:solidFill>
                  <a:srgbClr val="CBA6F7"/>
                </a:solidFill>
                <a:effectLst/>
                <a:latin typeface="Consolas" panose="020B0609020204030204" pitchFamily="49" charset="0"/>
              </a:rPr>
              <a:t>int</a:t>
            </a:r>
            <a:r>
              <a:rPr lang="en-US" sz="2400" b="0" dirty="0">
                <a:solidFill>
                  <a:srgbClr val="CDD6F4"/>
                </a:solidFill>
                <a:effectLst/>
                <a:latin typeface="Consolas" panose="020B0609020204030204" pitchFamily="49" charset="0"/>
              </a:rPr>
              <a:t> </a:t>
            </a:r>
            <a:r>
              <a:rPr lang="en-US" sz="2400" b="0" i="1" dirty="0" err="1">
                <a:solidFill>
                  <a:srgbClr val="89B4FA"/>
                </a:solidFill>
                <a:effectLst/>
                <a:latin typeface="Consolas" panose="020B0609020204030204" pitchFamily="49" charset="0"/>
              </a:rPr>
              <a:t>mycoroutine_init</a:t>
            </a:r>
            <a:r>
              <a:rPr lang="en-US" sz="2400" b="0" dirty="0">
                <a:solidFill>
                  <a:srgbClr val="9399B2"/>
                </a:solidFill>
                <a:effectLst/>
                <a:latin typeface="Consolas" panose="020B0609020204030204" pitchFamily="49" charset="0"/>
              </a:rPr>
              <a:t>(</a:t>
            </a:r>
            <a:r>
              <a:rPr lang="en-US" sz="2400" b="0" i="1" dirty="0" err="1">
                <a:solidFill>
                  <a:srgbClr val="F9E2AF"/>
                </a:solidFill>
                <a:effectLst/>
                <a:latin typeface="Consolas" panose="020B0609020204030204" pitchFamily="49" charset="0"/>
              </a:rPr>
              <a:t>co_t</a:t>
            </a:r>
            <a:r>
              <a:rPr lang="en-US" sz="2400" b="0" dirty="0">
                <a:solidFill>
                  <a:srgbClr val="CDD6F4"/>
                </a:solidFill>
                <a:effectLst/>
                <a:latin typeface="Consolas" panose="020B0609020204030204" pitchFamily="49" charset="0"/>
              </a:rPr>
              <a:t> </a:t>
            </a:r>
            <a:r>
              <a:rPr lang="en-US" sz="2400" b="0" dirty="0">
                <a:solidFill>
                  <a:srgbClr val="94E2D5"/>
                </a:solidFill>
                <a:effectLst/>
                <a:latin typeface="Consolas" panose="020B0609020204030204" pitchFamily="49" charset="0"/>
              </a:rPr>
              <a:t>*</a:t>
            </a:r>
            <a:r>
              <a:rPr lang="en-US" sz="2400" b="0" i="1" dirty="0">
                <a:solidFill>
                  <a:srgbClr val="EBA0AC"/>
                </a:solidFill>
                <a:effectLst/>
                <a:latin typeface="Consolas" panose="020B0609020204030204" pitchFamily="49" charset="0"/>
              </a:rPr>
              <a:t>main</a:t>
            </a:r>
            <a:r>
              <a:rPr lang="en-US" sz="2400" b="0" dirty="0">
                <a:solidFill>
                  <a:srgbClr val="9399B2"/>
                </a:solidFill>
                <a:effectLst/>
                <a:latin typeface="Consolas" panose="020B0609020204030204" pitchFamily="49" charset="0"/>
              </a:rPr>
              <a:t>);</a:t>
            </a:r>
            <a:endParaRPr lang="en-US" sz="2400" b="0" dirty="0">
              <a:solidFill>
                <a:srgbClr val="CDD6F4"/>
              </a:solidFill>
              <a:effectLst/>
              <a:latin typeface="Consolas" panose="020B0609020204030204" pitchFamily="49" charset="0"/>
            </a:endParaRPr>
          </a:p>
          <a:p>
            <a:pPr>
              <a:lnSpc>
                <a:spcPct val="125000"/>
              </a:lnSpc>
            </a:pPr>
            <a:r>
              <a:rPr lang="en-US" sz="2400" b="0" dirty="0">
                <a:solidFill>
                  <a:srgbClr val="CBA6F7"/>
                </a:solidFill>
                <a:effectLst/>
                <a:latin typeface="Consolas" panose="020B0609020204030204" pitchFamily="49" charset="0"/>
              </a:rPr>
              <a:t>int</a:t>
            </a:r>
            <a:r>
              <a:rPr lang="en-US" sz="2400" b="0" dirty="0">
                <a:solidFill>
                  <a:srgbClr val="CDD6F4"/>
                </a:solidFill>
                <a:effectLst/>
                <a:latin typeface="Consolas" panose="020B0609020204030204" pitchFamily="49" charset="0"/>
              </a:rPr>
              <a:t> </a:t>
            </a:r>
            <a:r>
              <a:rPr lang="en-US" sz="2400" b="0" i="1" dirty="0" err="1">
                <a:solidFill>
                  <a:srgbClr val="89B4FA"/>
                </a:solidFill>
                <a:effectLst/>
                <a:latin typeface="Consolas" panose="020B0609020204030204" pitchFamily="49" charset="0"/>
              </a:rPr>
              <a:t>mycoroutine_create</a:t>
            </a:r>
            <a:r>
              <a:rPr lang="en-US" sz="2400" b="0" dirty="0">
                <a:solidFill>
                  <a:srgbClr val="9399B2"/>
                </a:solidFill>
                <a:effectLst/>
                <a:latin typeface="Consolas" panose="020B0609020204030204" pitchFamily="49" charset="0"/>
              </a:rPr>
              <a:t>(</a:t>
            </a:r>
            <a:r>
              <a:rPr lang="en-US" sz="2400" b="0" i="1" dirty="0" err="1">
                <a:solidFill>
                  <a:srgbClr val="F9E2AF"/>
                </a:solidFill>
                <a:effectLst/>
                <a:latin typeface="Consolas" panose="020B0609020204030204" pitchFamily="49" charset="0"/>
              </a:rPr>
              <a:t>co_t</a:t>
            </a:r>
            <a:r>
              <a:rPr lang="en-US" sz="2400" b="0" dirty="0">
                <a:solidFill>
                  <a:srgbClr val="CDD6F4"/>
                </a:solidFill>
                <a:effectLst/>
                <a:latin typeface="Consolas" panose="020B0609020204030204" pitchFamily="49" charset="0"/>
              </a:rPr>
              <a:t> </a:t>
            </a:r>
            <a:r>
              <a:rPr lang="en-US" sz="2400" b="0" dirty="0">
                <a:solidFill>
                  <a:srgbClr val="94E2D5"/>
                </a:solidFill>
                <a:effectLst/>
                <a:latin typeface="Consolas" panose="020B0609020204030204" pitchFamily="49" charset="0"/>
              </a:rPr>
              <a:t>*</a:t>
            </a:r>
            <a:r>
              <a:rPr lang="en-US" sz="2400" b="0" i="1" dirty="0">
                <a:solidFill>
                  <a:srgbClr val="EBA0AC"/>
                </a:solidFill>
                <a:effectLst/>
                <a:latin typeface="Consolas" panose="020B0609020204030204" pitchFamily="49" charset="0"/>
              </a:rPr>
              <a:t>co</a:t>
            </a:r>
            <a:r>
              <a:rPr lang="en-US" sz="2400" b="0" dirty="0">
                <a:solidFill>
                  <a:srgbClr val="9399B2"/>
                </a:solidFill>
                <a:effectLst/>
                <a:latin typeface="Consolas" panose="020B0609020204030204" pitchFamily="49" charset="0"/>
              </a:rPr>
              <a:t>,</a:t>
            </a:r>
            <a:r>
              <a:rPr lang="en-US" sz="2400" b="0" dirty="0">
                <a:solidFill>
                  <a:srgbClr val="CDD6F4"/>
                </a:solidFill>
                <a:effectLst/>
                <a:latin typeface="Consolas" panose="020B0609020204030204" pitchFamily="49" charset="0"/>
              </a:rPr>
              <a:t> </a:t>
            </a:r>
            <a:r>
              <a:rPr lang="en-US" sz="2400" b="0" dirty="0">
                <a:solidFill>
                  <a:srgbClr val="CBA6F7"/>
                </a:solidFill>
                <a:effectLst/>
                <a:latin typeface="Consolas" panose="020B0609020204030204" pitchFamily="49" charset="0"/>
              </a:rPr>
              <a:t>void</a:t>
            </a:r>
            <a:r>
              <a:rPr lang="en-US" sz="2400" b="0" dirty="0">
                <a:solidFill>
                  <a:srgbClr val="9399B2"/>
                </a:solidFill>
                <a:effectLst/>
                <a:latin typeface="Consolas" panose="020B0609020204030204" pitchFamily="49" charset="0"/>
              </a:rPr>
              <a:t>(</a:t>
            </a:r>
            <a:r>
              <a:rPr lang="en-US" sz="2400" b="0" dirty="0">
                <a:solidFill>
                  <a:srgbClr val="CDD6F4"/>
                </a:solidFill>
                <a:effectLst/>
                <a:latin typeface="Consolas" panose="020B0609020204030204" pitchFamily="49" charset="0"/>
              </a:rPr>
              <a:t>body</a:t>
            </a:r>
            <a:r>
              <a:rPr lang="en-US" sz="2400" b="0" dirty="0">
                <a:solidFill>
                  <a:srgbClr val="9399B2"/>
                </a:solidFill>
                <a:effectLst/>
                <a:latin typeface="Consolas" panose="020B0609020204030204" pitchFamily="49" charset="0"/>
              </a:rPr>
              <a:t>)(</a:t>
            </a:r>
            <a:r>
              <a:rPr lang="en-US" sz="2400" b="0" dirty="0">
                <a:solidFill>
                  <a:srgbClr val="CBA6F7"/>
                </a:solidFill>
                <a:effectLst/>
                <a:latin typeface="Consolas" panose="020B0609020204030204" pitchFamily="49" charset="0"/>
              </a:rPr>
              <a:t>void</a:t>
            </a:r>
            <a:r>
              <a:rPr lang="en-US" sz="2400" b="0" dirty="0">
                <a:solidFill>
                  <a:srgbClr val="CDD6F4"/>
                </a:solidFill>
                <a:effectLst/>
                <a:latin typeface="Consolas" panose="020B0609020204030204" pitchFamily="49" charset="0"/>
              </a:rPr>
              <a:t> </a:t>
            </a:r>
            <a:r>
              <a:rPr lang="en-US" sz="2400" b="0" dirty="0">
                <a:solidFill>
                  <a:srgbClr val="94E2D5"/>
                </a:solidFill>
                <a:effectLst/>
                <a:latin typeface="Consolas" panose="020B0609020204030204" pitchFamily="49" charset="0"/>
              </a:rPr>
              <a:t>*</a:t>
            </a:r>
            <a:r>
              <a:rPr lang="en-US" sz="2400" b="0" dirty="0">
                <a:solidFill>
                  <a:srgbClr val="9399B2"/>
                </a:solidFill>
                <a:effectLst/>
                <a:latin typeface="Consolas" panose="020B0609020204030204" pitchFamily="49" charset="0"/>
              </a:rPr>
              <a:t>),</a:t>
            </a:r>
            <a:r>
              <a:rPr lang="en-US" sz="2400" b="0" dirty="0">
                <a:solidFill>
                  <a:srgbClr val="CDD6F4"/>
                </a:solidFill>
                <a:effectLst/>
                <a:latin typeface="Consolas" panose="020B0609020204030204" pitchFamily="49" charset="0"/>
              </a:rPr>
              <a:t> </a:t>
            </a:r>
            <a:r>
              <a:rPr lang="en-US" sz="2400" b="0" dirty="0">
                <a:solidFill>
                  <a:srgbClr val="CBA6F7"/>
                </a:solidFill>
                <a:effectLst/>
                <a:latin typeface="Consolas" panose="020B0609020204030204" pitchFamily="49" charset="0"/>
              </a:rPr>
              <a:t>void</a:t>
            </a:r>
            <a:r>
              <a:rPr lang="en-US" sz="2400" b="0" dirty="0">
                <a:solidFill>
                  <a:srgbClr val="CDD6F4"/>
                </a:solidFill>
                <a:effectLst/>
                <a:latin typeface="Consolas" panose="020B0609020204030204" pitchFamily="49" charset="0"/>
              </a:rPr>
              <a:t> </a:t>
            </a:r>
            <a:r>
              <a:rPr lang="en-US" sz="2400" b="0" dirty="0">
                <a:solidFill>
                  <a:srgbClr val="94E2D5"/>
                </a:solidFill>
                <a:effectLst/>
                <a:latin typeface="Consolas" panose="020B0609020204030204" pitchFamily="49" charset="0"/>
              </a:rPr>
              <a:t>*</a:t>
            </a:r>
            <a:r>
              <a:rPr lang="en-US" sz="2400" b="0" i="1" dirty="0" err="1">
                <a:solidFill>
                  <a:srgbClr val="EBA0AC"/>
                </a:solidFill>
                <a:effectLst/>
                <a:latin typeface="Consolas" panose="020B0609020204030204" pitchFamily="49" charset="0"/>
              </a:rPr>
              <a:t>arg</a:t>
            </a:r>
            <a:r>
              <a:rPr lang="en-US" sz="2400" b="0" dirty="0">
                <a:solidFill>
                  <a:srgbClr val="9399B2"/>
                </a:solidFill>
                <a:effectLst/>
                <a:latin typeface="Consolas" panose="020B0609020204030204" pitchFamily="49" charset="0"/>
              </a:rPr>
              <a:t>);</a:t>
            </a:r>
            <a:endParaRPr lang="en-US" sz="2400" b="0" dirty="0">
              <a:solidFill>
                <a:srgbClr val="CDD6F4"/>
              </a:solidFill>
              <a:effectLst/>
              <a:latin typeface="Consolas" panose="020B0609020204030204" pitchFamily="49" charset="0"/>
            </a:endParaRPr>
          </a:p>
          <a:p>
            <a:pPr>
              <a:lnSpc>
                <a:spcPct val="125000"/>
              </a:lnSpc>
            </a:pPr>
            <a:r>
              <a:rPr lang="en-US" sz="2400" b="0" dirty="0">
                <a:solidFill>
                  <a:srgbClr val="CBA6F7"/>
                </a:solidFill>
                <a:effectLst/>
                <a:latin typeface="Consolas" panose="020B0609020204030204" pitchFamily="49" charset="0"/>
              </a:rPr>
              <a:t>int</a:t>
            </a:r>
            <a:r>
              <a:rPr lang="en-US" sz="2400" b="0" dirty="0">
                <a:solidFill>
                  <a:srgbClr val="CDD6F4"/>
                </a:solidFill>
                <a:effectLst/>
                <a:latin typeface="Consolas" panose="020B0609020204030204" pitchFamily="49" charset="0"/>
              </a:rPr>
              <a:t> </a:t>
            </a:r>
            <a:r>
              <a:rPr lang="en-US" sz="2400" b="0" i="1" dirty="0" err="1">
                <a:solidFill>
                  <a:srgbClr val="89B4FA"/>
                </a:solidFill>
                <a:effectLst/>
                <a:latin typeface="Consolas" panose="020B0609020204030204" pitchFamily="49" charset="0"/>
              </a:rPr>
              <a:t>mycoroutine_switchto</a:t>
            </a:r>
            <a:r>
              <a:rPr lang="en-US" sz="2400" b="0" dirty="0">
                <a:solidFill>
                  <a:srgbClr val="9399B2"/>
                </a:solidFill>
                <a:effectLst/>
                <a:latin typeface="Consolas" panose="020B0609020204030204" pitchFamily="49" charset="0"/>
              </a:rPr>
              <a:t>(</a:t>
            </a:r>
            <a:r>
              <a:rPr lang="en-US" sz="2400" b="0" i="1" dirty="0" err="1">
                <a:solidFill>
                  <a:srgbClr val="F9E2AF"/>
                </a:solidFill>
                <a:effectLst/>
                <a:latin typeface="Consolas" panose="020B0609020204030204" pitchFamily="49" charset="0"/>
              </a:rPr>
              <a:t>co_t</a:t>
            </a:r>
            <a:r>
              <a:rPr lang="en-US" sz="2400" b="0" dirty="0">
                <a:solidFill>
                  <a:srgbClr val="CDD6F4"/>
                </a:solidFill>
                <a:effectLst/>
                <a:latin typeface="Consolas" panose="020B0609020204030204" pitchFamily="49" charset="0"/>
              </a:rPr>
              <a:t> </a:t>
            </a:r>
            <a:r>
              <a:rPr lang="en-US" sz="2400" b="0" dirty="0">
                <a:solidFill>
                  <a:srgbClr val="94E2D5"/>
                </a:solidFill>
                <a:effectLst/>
                <a:latin typeface="Consolas" panose="020B0609020204030204" pitchFamily="49" charset="0"/>
              </a:rPr>
              <a:t>*</a:t>
            </a:r>
            <a:r>
              <a:rPr lang="en-US" sz="2400" b="0" i="1" dirty="0">
                <a:solidFill>
                  <a:srgbClr val="EBA0AC"/>
                </a:solidFill>
                <a:effectLst/>
                <a:latin typeface="Consolas" panose="020B0609020204030204" pitchFamily="49" charset="0"/>
              </a:rPr>
              <a:t>co</a:t>
            </a:r>
            <a:r>
              <a:rPr lang="en-US" sz="2400" b="0" dirty="0">
                <a:solidFill>
                  <a:srgbClr val="9399B2"/>
                </a:solidFill>
                <a:effectLst/>
                <a:latin typeface="Consolas" panose="020B0609020204030204" pitchFamily="49" charset="0"/>
              </a:rPr>
              <a:t>);</a:t>
            </a:r>
            <a:endParaRPr lang="en-US" sz="2400" b="0" dirty="0">
              <a:solidFill>
                <a:srgbClr val="CDD6F4"/>
              </a:solidFill>
              <a:effectLst/>
              <a:latin typeface="Consolas" panose="020B0609020204030204" pitchFamily="49" charset="0"/>
            </a:endParaRPr>
          </a:p>
          <a:p>
            <a:pPr>
              <a:lnSpc>
                <a:spcPct val="125000"/>
              </a:lnSpc>
            </a:pPr>
            <a:r>
              <a:rPr lang="en-US" sz="2400" b="0" dirty="0">
                <a:solidFill>
                  <a:srgbClr val="CBA6F7"/>
                </a:solidFill>
                <a:effectLst/>
                <a:latin typeface="Consolas" panose="020B0609020204030204" pitchFamily="49" charset="0"/>
              </a:rPr>
              <a:t>int</a:t>
            </a:r>
            <a:r>
              <a:rPr lang="en-US" sz="2400" b="0" dirty="0">
                <a:solidFill>
                  <a:srgbClr val="CDD6F4"/>
                </a:solidFill>
                <a:effectLst/>
                <a:latin typeface="Consolas" panose="020B0609020204030204" pitchFamily="49" charset="0"/>
              </a:rPr>
              <a:t> </a:t>
            </a:r>
            <a:r>
              <a:rPr lang="en-US" sz="2400" b="0" i="1" dirty="0" err="1">
                <a:solidFill>
                  <a:srgbClr val="89B4FA"/>
                </a:solidFill>
                <a:effectLst/>
                <a:latin typeface="Consolas" panose="020B0609020204030204" pitchFamily="49" charset="0"/>
              </a:rPr>
              <a:t>mycoroutine_destroy</a:t>
            </a:r>
            <a:r>
              <a:rPr lang="en-US" sz="2400" b="0" dirty="0">
                <a:solidFill>
                  <a:srgbClr val="9399B2"/>
                </a:solidFill>
                <a:effectLst/>
                <a:latin typeface="Consolas" panose="020B0609020204030204" pitchFamily="49" charset="0"/>
              </a:rPr>
              <a:t>(</a:t>
            </a:r>
            <a:r>
              <a:rPr lang="en-US" sz="2400" b="0" i="1" dirty="0" err="1">
                <a:solidFill>
                  <a:srgbClr val="F9E2AF"/>
                </a:solidFill>
                <a:effectLst/>
                <a:latin typeface="Consolas" panose="020B0609020204030204" pitchFamily="49" charset="0"/>
              </a:rPr>
              <a:t>co_t</a:t>
            </a:r>
            <a:r>
              <a:rPr lang="en-US" sz="2400" b="0" dirty="0">
                <a:solidFill>
                  <a:srgbClr val="CDD6F4"/>
                </a:solidFill>
                <a:effectLst/>
                <a:latin typeface="Consolas" panose="020B0609020204030204" pitchFamily="49" charset="0"/>
              </a:rPr>
              <a:t> </a:t>
            </a:r>
            <a:r>
              <a:rPr lang="en-US" sz="2400" b="0" dirty="0">
                <a:solidFill>
                  <a:srgbClr val="94E2D5"/>
                </a:solidFill>
                <a:effectLst/>
                <a:latin typeface="Consolas" panose="020B0609020204030204" pitchFamily="49" charset="0"/>
              </a:rPr>
              <a:t>*</a:t>
            </a:r>
            <a:r>
              <a:rPr lang="en-US" sz="2400" b="0" i="1" dirty="0">
                <a:solidFill>
                  <a:srgbClr val="EBA0AC"/>
                </a:solidFill>
                <a:effectLst/>
                <a:latin typeface="Consolas" panose="020B0609020204030204" pitchFamily="49" charset="0"/>
              </a:rPr>
              <a:t>co</a:t>
            </a:r>
            <a:r>
              <a:rPr lang="en-US" sz="2400" b="0" dirty="0">
                <a:solidFill>
                  <a:srgbClr val="9399B2"/>
                </a:solidFill>
                <a:effectLst/>
                <a:latin typeface="Consolas" panose="020B0609020204030204" pitchFamily="49" charset="0"/>
              </a:rPr>
              <a:t>);</a:t>
            </a:r>
            <a:endParaRPr lang="en-US" sz="2400" b="0" dirty="0">
              <a:solidFill>
                <a:srgbClr val="CDD6F4"/>
              </a:solidFill>
              <a:effectLst/>
              <a:latin typeface="Consolas" panose="020B0609020204030204" pitchFamily="49" charset="0"/>
            </a:endParaRPr>
          </a:p>
          <a:p>
            <a:endParaRPr lang="en-US" sz="2400" dirty="0"/>
          </a:p>
        </p:txBody>
      </p:sp>
    </p:spTree>
    <p:extLst>
      <p:ext uri="{BB962C8B-B14F-4D97-AF65-F5344CB8AC3E}">
        <p14:creationId xmlns:p14="http://schemas.microsoft.com/office/powerpoint/2010/main" val="909249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E2667-FD48-29B5-D213-399E17B4BD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89337A-027D-1E1A-27B8-D779D5408110}"/>
              </a:ext>
            </a:extLst>
          </p:cNvPr>
          <p:cNvSpPr>
            <a:spLocks noGrp="1"/>
          </p:cNvSpPr>
          <p:nvPr>
            <p:ph type="title"/>
          </p:nvPr>
        </p:nvSpPr>
        <p:spPr/>
        <p:txBody>
          <a:bodyPr/>
          <a:lstStyle/>
          <a:p>
            <a:r>
              <a:rPr lang="en-US" b="1" dirty="0"/>
              <a:t>Assignment 1: </a:t>
            </a:r>
            <a:r>
              <a:rPr lang="en-US" dirty="0"/>
              <a:t>Initializing and destroying coroutines</a:t>
            </a:r>
          </a:p>
        </p:txBody>
      </p:sp>
      <p:sp>
        <p:nvSpPr>
          <p:cNvPr id="3" name="TextBox 2">
            <a:extLst>
              <a:ext uri="{FF2B5EF4-FFF2-40B4-BE49-F238E27FC236}">
                <a16:creationId xmlns:a16="http://schemas.microsoft.com/office/drawing/2014/main" id="{55119962-596A-DD51-1058-6756F954E6CB}"/>
              </a:ext>
            </a:extLst>
          </p:cNvPr>
          <p:cNvSpPr txBox="1"/>
          <p:nvPr/>
        </p:nvSpPr>
        <p:spPr>
          <a:xfrm>
            <a:off x="838200" y="1690688"/>
            <a:ext cx="4490332" cy="2031325"/>
          </a:xfrm>
          <a:prstGeom prst="rect">
            <a:avLst/>
          </a:prstGeom>
          <a:noFill/>
        </p:spPr>
        <p:txBody>
          <a:bodyPr wrap="none" rtlCol="0">
            <a:spAutoFit/>
          </a:bodyPr>
          <a:lstStyle/>
          <a:p>
            <a:r>
              <a:rPr lang="en-US" b="0" dirty="0">
                <a:solidFill>
                  <a:srgbClr val="CBA6F7"/>
                </a:solidFill>
                <a:effectLst/>
                <a:latin typeface="Consolas" panose="020B0609020204030204" pitchFamily="49" charset="0"/>
              </a:rPr>
              <a:t>int</a:t>
            </a:r>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mycoroutine_init</a:t>
            </a:r>
            <a:r>
              <a:rPr lang="en-US" b="0" dirty="0">
                <a:solidFill>
                  <a:srgbClr val="9399B2"/>
                </a:solidFill>
                <a:effectLst/>
                <a:latin typeface="Consolas" panose="020B0609020204030204" pitchFamily="49" charset="0"/>
              </a:rPr>
              <a:t>(</a:t>
            </a:r>
            <a:r>
              <a:rPr lang="en-US" b="0" i="1" dirty="0" err="1">
                <a:solidFill>
                  <a:srgbClr val="F9E2AF"/>
                </a:solidFill>
                <a:effectLst/>
                <a:latin typeface="Consolas" panose="020B0609020204030204" pitchFamily="49" charset="0"/>
              </a:rPr>
              <a:t>co_t</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i="1" dirty="0">
                <a:solidFill>
                  <a:srgbClr val="EBA0AC"/>
                </a:solidFill>
                <a:effectLst/>
                <a:latin typeface="Consolas" panose="020B0609020204030204" pitchFamily="49" charset="0"/>
              </a:rPr>
              <a:t>main</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initialize coroutine list</a:t>
            </a:r>
          </a:p>
          <a:p>
            <a:r>
              <a:rPr lang="en-US" b="0" dirty="0">
                <a:solidFill>
                  <a:srgbClr val="CDD6F4"/>
                </a:solidFill>
                <a:effectLst/>
                <a:latin typeface="Consolas" panose="020B0609020204030204" pitchFamily="49" charset="0"/>
              </a:rPr>
              <a:t>  add </a:t>
            </a:r>
            <a:r>
              <a:rPr lang="en-US" i="1" dirty="0">
                <a:solidFill>
                  <a:srgbClr val="EBA0AC"/>
                </a:solidFill>
                <a:latin typeface="Consolas" panose="020B0609020204030204" pitchFamily="49" charset="0"/>
              </a:rPr>
              <a:t>main</a:t>
            </a:r>
            <a:r>
              <a:rPr lang="en-US" b="0" dirty="0">
                <a:solidFill>
                  <a:srgbClr val="CDD6F4"/>
                </a:solidFill>
                <a:effectLst/>
                <a:latin typeface="Consolas" panose="020B0609020204030204" pitchFamily="49" charset="0"/>
              </a:rPr>
              <a:t> to coroutine list</a:t>
            </a:r>
          </a:p>
          <a:p>
            <a:br>
              <a:rPr lang="en-US" b="0" dirty="0">
                <a:solidFill>
                  <a:srgbClr val="CDD6F4"/>
                </a:solidFill>
                <a:effectLst/>
                <a:latin typeface="Consolas" panose="020B0609020204030204" pitchFamily="49" charset="0"/>
              </a:rPr>
            </a:br>
            <a:r>
              <a:rPr lang="en-US" b="0" dirty="0">
                <a:solidFill>
                  <a:srgbClr val="CDD6F4"/>
                </a:solidFill>
                <a:effectLst/>
                <a:latin typeface="Consolas" panose="020B0609020204030204" pitchFamily="49" charset="0"/>
              </a:rPr>
              <a:t>  set current coroutine to </a:t>
            </a:r>
            <a:r>
              <a:rPr lang="en-US" i="1" dirty="0">
                <a:solidFill>
                  <a:srgbClr val="EBA0AC"/>
                </a:solidFill>
                <a:latin typeface="Consolas" panose="020B0609020204030204" pitchFamily="49" charset="0"/>
              </a:rPr>
              <a:t>main</a:t>
            </a:r>
          </a:p>
          <a:p>
            <a:r>
              <a:rPr lang="en-US" b="0" dirty="0">
                <a:solidFill>
                  <a:srgbClr val="CDD6F4"/>
                </a:solidFill>
                <a:effectLst/>
                <a:latin typeface="Consolas" panose="020B0609020204030204" pitchFamily="49" charset="0"/>
              </a:rPr>
              <a:t>  set main coroutine to </a:t>
            </a:r>
            <a:r>
              <a:rPr lang="en-US" i="1" dirty="0">
                <a:solidFill>
                  <a:srgbClr val="EBA0AC"/>
                </a:solidFill>
                <a:latin typeface="Consolas" panose="020B0609020204030204" pitchFamily="49" charset="0"/>
              </a:rPr>
              <a:t>main</a:t>
            </a:r>
          </a:p>
          <a:p>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p:txBody>
      </p:sp>
      <p:sp>
        <p:nvSpPr>
          <p:cNvPr id="4" name="TextBox 3">
            <a:extLst>
              <a:ext uri="{FF2B5EF4-FFF2-40B4-BE49-F238E27FC236}">
                <a16:creationId xmlns:a16="http://schemas.microsoft.com/office/drawing/2014/main" id="{337EAD7C-C695-A768-6B52-459693C8BB18}"/>
              </a:ext>
            </a:extLst>
          </p:cNvPr>
          <p:cNvSpPr txBox="1"/>
          <p:nvPr/>
        </p:nvSpPr>
        <p:spPr>
          <a:xfrm>
            <a:off x="6096000" y="1690688"/>
            <a:ext cx="4743606" cy="2862322"/>
          </a:xfrm>
          <a:prstGeom prst="rect">
            <a:avLst/>
          </a:prstGeom>
          <a:noFill/>
        </p:spPr>
        <p:txBody>
          <a:bodyPr wrap="none" rtlCol="0">
            <a:spAutoFit/>
          </a:bodyPr>
          <a:lstStyle/>
          <a:p>
            <a:r>
              <a:rPr lang="en-US" b="0" dirty="0">
                <a:solidFill>
                  <a:srgbClr val="CBA6F7"/>
                </a:solidFill>
                <a:effectLst/>
                <a:latin typeface="Consolas" panose="020B0609020204030204" pitchFamily="49" charset="0"/>
              </a:rPr>
              <a:t>int</a:t>
            </a:r>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mycoroutine_destroy</a:t>
            </a:r>
            <a:r>
              <a:rPr lang="en-US" b="0" dirty="0">
                <a:solidFill>
                  <a:srgbClr val="9399B2"/>
                </a:solidFill>
                <a:effectLst/>
                <a:latin typeface="Consolas" panose="020B0609020204030204" pitchFamily="49" charset="0"/>
              </a:rPr>
              <a:t>(</a:t>
            </a:r>
            <a:r>
              <a:rPr lang="en-US" b="0" i="1" dirty="0" err="1">
                <a:solidFill>
                  <a:srgbClr val="F9E2AF"/>
                </a:solidFill>
                <a:effectLst/>
                <a:latin typeface="Consolas" panose="020B0609020204030204" pitchFamily="49" charset="0"/>
              </a:rPr>
              <a:t>co_t</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i="1" dirty="0">
                <a:solidFill>
                  <a:srgbClr val="EBA0AC"/>
                </a:solidFill>
                <a:effectLst/>
                <a:latin typeface="Consolas" panose="020B0609020204030204" pitchFamily="49" charset="0"/>
              </a:rPr>
              <a:t>co</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dirty="0">
                <a:solidFill>
                  <a:srgbClr val="CDD6F4"/>
                </a:solidFill>
                <a:latin typeface="Consolas" panose="020B0609020204030204" pitchFamily="49" charset="0"/>
              </a:rPr>
              <a:t>  </a:t>
            </a:r>
            <a:r>
              <a:rPr lang="en-US" dirty="0">
                <a:solidFill>
                  <a:srgbClr val="CBA6F7"/>
                </a:solidFill>
                <a:latin typeface="Consolas" panose="020B0609020204030204" pitchFamily="49" charset="0"/>
              </a:rPr>
              <a:t>if</a:t>
            </a:r>
            <a:r>
              <a:rPr lang="en-US" dirty="0">
                <a:solidFill>
                  <a:srgbClr val="CDD6F4"/>
                </a:solidFill>
                <a:latin typeface="Consolas" panose="020B0609020204030204" pitchFamily="49" charset="0"/>
              </a:rPr>
              <a:t> </a:t>
            </a:r>
            <a:r>
              <a:rPr lang="en-US" i="1" dirty="0">
                <a:solidFill>
                  <a:srgbClr val="EBA0AC"/>
                </a:solidFill>
                <a:latin typeface="Consolas" panose="020B0609020204030204" pitchFamily="49" charset="0"/>
              </a:rPr>
              <a:t>co</a:t>
            </a:r>
            <a:r>
              <a:rPr lang="en-US" dirty="0">
                <a:solidFill>
                  <a:srgbClr val="CDD6F4"/>
                </a:solidFill>
                <a:latin typeface="Consolas" panose="020B0609020204030204" pitchFamily="49" charset="0"/>
              </a:rPr>
              <a:t> is not in the coroutine list</a:t>
            </a:r>
          </a:p>
          <a:p>
            <a:r>
              <a:rPr lang="en-US" dirty="0">
                <a:solidFill>
                  <a:srgbClr val="CDD6F4"/>
                </a:solidFill>
                <a:latin typeface="Consolas" panose="020B0609020204030204" pitchFamily="49" charset="0"/>
              </a:rPr>
              <a:t>    </a:t>
            </a:r>
            <a:r>
              <a:rPr lang="en-US" dirty="0">
                <a:solidFill>
                  <a:srgbClr val="CBA6F7"/>
                </a:solidFill>
                <a:latin typeface="Consolas" panose="020B0609020204030204" pitchFamily="49" charset="0"/>
              </a:rPr>
              <a:t>return</a:t>
            </a:r>
            <a:r>
              <a:rPr lang="en-US" dirty="0">
                <a:solidFill>
                  <a:srgbClr val="CDD6F4"/>
                </a:solidFill>
                <a:latin typeface="Consolas" panose="020B0609020204030204" pitchFamily="49" charset="0"/>
              </a:rPr>
              <a:t> error</a:t>
            </a:r>
            <a:r>
              <a:rPr lang="en-US" b="0" dirty="0">
                <a:solidFill>
                  <a:srgbClr val="CDD6F4"/>
                </a:solidFill>
                <a:effectLst/>
                <a:latin typeface="Consolas" panose="020B0609020204030204" pitchFamily="49" charset="0"/>
              </a:rPr>
              <a:t> </a:t>
            </a:r>
          </a:p>
          <a:p>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if</a:t>
            </a:r>
            <a:r>
              <a:rPr lang="en-US" b="0" dirty="0">
                <a:solidFill>
                  <a:srgbClr val="CDD6F4"/>
                </a:solidFill>
                <a:effectLst/>
                <a:latin typeface="Consolas" panose="020B0609020204030204" pitchFamily="49" charset="0"/>
              </a:rPr>
              <a:t> </a:t>
            </a:r>
            <a:r>
              <a:rPr lang="en-US" i="1" dirty="0">
                <a:solidFill>
                  <a:srgbClr val="EBA0AC"/>
                </a:solidFill>
                <a:latin typeface="Consolas" panose="020B0609020204030204" pitchFamily="49" charset="0"/>
              </a:rPr>
              <a:t>co</a:t>
            </a:r>
            <a:r>
              <a:rPr lang="en-US" b="0" dirty="0">
                <a:solidFill>
                  <a:srgbClr val="CDD6F4"/>
                </a:solidFill>
                <a:effectLst/>
                <a:latin typeface="Consolas" panose="020B0609020204030204" pitchFamily="49" charset="0"/>
              </a:rPr>
              <a:t> is the main coroutine</a:t>
            </a:r>
          </a:p>
          <a:p>
            <a:r>
              <a:rPr lang="en-US" b="0" dirty="0">
                <a:solidFill>
                  <a:srgbClr val="CDD6F4"/>
                </a:solidFill>
                <a:effectLst/>
                <a:latin typeface="Consolas" panose="020B0609020204030204" pitchFamily="49" charset="0"/>
              </a:rPr>
              <a:t>    destroy the coroutine list</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else</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remove the </a:t>
            </a:r>
            <a:r>
              <a:rPr lang="en-US" i="1" dirty="0">
                <a:solidFill>
                  <a:srgbClr val="EBA0AC"/>
                </a:solidFill>
                <a:latin typeface="Consolas" panose="020B0609020204030204" pitchFamily="49" charset="0"/>
              </a:rPr>
              <a:t>co</a:t>
            </a:r>
            <a:r>
              <a:rPr lang="en-US" b="0" dirty="0">
                <a:solidFill>
                  <a:srgbClr val="CDD6F4"/>
                </a:solidFill>
                <a:effectLst/>
                <a:latin typeface="Consolas" panose="020B0609020204030204" pitchFamily="49" charset="0"/>
              </a:rPr>
              <a:t> from the list</a:t>
            </a:r>
          </a:p>
          <a:p>
            <a:r>
              <a:rPr lang="en-US" b="0" dirty="0">
                <a:solidFill>
                  <a:srgbClr val="CDD6F4"/>
                </a:solidFill>
                <a:effectLst/>
                <a:latin typeface="Consolas" panose="020B0609020204030204" pitchFamily="49" charset="0"/>
              </a:rPr>
              <a:t>    free related memory</a:t>
            </a:r>
          </a:p>
          <a:p>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p:txBody>
      </p:sp>
    </p:spTree>
    <p:extLst>
      <p:ext uri="{BB962C8B-B14F-4D97-AF65-F5344CB8AC3E}">
        <p14:creationId xmlns:p14="http://schemas.microsoft.com/office/powerpoint/2010/main" val="2331174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AEFA5-F0B9-3DE7-8E88-4D102DB3FE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802964-328F-E7F3-EA18-D813A9BB75BF}"/>
              </a:ext>
            </a:extLst>
          </p:cNvPr>
          <p:cNvSpPr>
            <a:spLocks noGrp="1"/>
          </p:cNvSpPr>
          <p:nvPr>
            <p:ph type="title"/>
          </p:nvPr>
        </p:nvSpPr>
        <p:spPr/>
        <p:txBody>
          <a:bodyPr>
            <a:normAutofit/>
          </a:bodyPr>
          <a:lstStyle/>
          <a:p>
            <a:r>
              <a:rPr lang="en-US" b="1" dirty="0"/>
              <a:t>Assignment 1: </a:t>
            </a:r>
            <a:r>
              <a:rPr lang="en-US" dirty="0"/>
              <a:t>Initializing the main coroutine and global variables</a:t>
            </a:r>
          </a:p>
        </p:txBody>
      </p:sp>
      <p:sp>
        <p:nvSpPr>
          <p:cNvPr id="5" name="TextBox 4">
            <a:extLst>
              <a:ext uri="{FF2B5EF4-FFF2-40B4-BE49-F238E27FC236}">
                <a16:creationId xmlns:a16="http://schemas.microsoft.com/office/drawing/2014/main" id="{BB04E2EB-8519-A774-52A6-B3549AC2A7F8}"/>
              </a:ext>
            </a:extLst>
          </p:cNvPr>
          <p:cNvSpPr txBox="1"/>
          <p:nvPr/>
        </p:nvSpPr>
        <p:spPr>
          <a:xfrm>
            <a:off x="838200" y="1690688"/>
            <a:ext cx="5756704" cy="2862322"/>
          </a:xfrm>
          <a:prstGeom prst="rect">
            <a:avLst/>
          </a:prstGeom>
          <a:noFill/>
        </p:spPr>
        <p:txBody>
          <a:bodyPr wrap="none" rtlCol="0">
            <a:spAutoFit/>
          </a:bodyPr>
          <a:lstStyle/>
          <a:p>
            <a:r>
              <a:rPr lang="en-US" b="0" dirty="0">
                <a:solidFill>
                  <a:srgbClr val="CBA6F7"/>
                </a:solidFill>
                <a:effectLst/>
                <a:latin typeface="Consolas" panose="020B0609020204030204" pitchFamily="49" charset="0"/>
              </a:rPr>
              <a:t>static</a:t>
            </a:r>
            <a:r>
              <a:rPr lang="en-US" b="0" dirty="0">
                <a:solidFill>
                  <a:srgbClr val="CDD6F4"/>
                </a:solidFill>
                <a:effectLst/>
                <a:latin typeface="Consolas" panose="020B0609020204030204" pitchFamily="49" charset="0"/>
              </a:rPr>
              <a:t> </a:t>
            </a:r>
            <a:r>
              <a:rPr lang="en-US" b="0" i="1" dirty="0" err="1">
                <a:solidFill>
                  <a:srgbClr val="F9E2AF"/>
                </a:solidFill>
                <a:effectLst/>
                <a:latin typeface="Consolas" panose="020B0609020204030204" pitchFamily="49" charset="0"/>
              </a:rPr>
              <a:t>list_t</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dirty="0" err="1">
                <a:solidFill>
                  <a:srgbClr val="CDD6F4"/>
                </a:solidFill>
                <a:effectLst/>
                <a:latin typeface="Consolas" panose="020B0609020204030204" pitchFamily="49" charset="0"/>
              </a:rPr>
              <a:t>coroutine_list</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BA6F7"/>
                </a:solidFill>
                <a:effectLst/>
                <a:latin typeface="Consolas" panose="020B0609020204030204" pitchFamily="49" charset="0"/>
              </a:rPr>
              <a:t>static</a:t>
            </a:r>
            <a:r>
              <a:rPr lang="en-US" b="0" dirty="0">
                <a:solidFill>
                  <a:srgbClr val="CDD6F4"/>
                </a:solidFill>
                <a:effectLst/>
                <a:latin typeface="Consolas" panose="020B0609020204030204" pitchFamily="49" charset="0"/>
              </a:rPr>
              <a:t> </a:t>
            </a:r>
            <a:r>
              <a:rPr lang="en-US" b="0" i="1" dirty="0" err="1">
                <a:solidFill>
                  <a:srgbClr val="F9E2AF"/>
                </a:solidFill>
                <a:effectLst/>
                <a:latin typeface="Consolas" panose="020B0609020204030204" pitchFamily="49" charset="0"/>
              </a:rPr>
              <a:t>co_t</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dirty="0" err="1">
                <a:solidFill>
                  <a:srgbClr val="CDD6F4"/>
                </a:solidFill>
                <a:effectLst/>
                <a:latin typeface="Consolas" panose="020B0609020204030204" pitchFamily="49" charset="0"/>
              </a:rPr>
              <a:t>current_context</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dirty="0" err="1">
                <a:solidFill>
                  <a:srgbClr val="CDD6F4"/>
                </a:solidFill>
                <a:effectLst/>
                <a:latin typeface="Consolas" panose="020B0609020204030204" pitchFamily="49" charset="0"/>
              </a:rPr>
              <a:t>main_context</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endParaRPr lang="en-US" dirty="0"/>
          </a:p>
          <a:p>
            <a:r>
              <a:rPr lang="en-US" b="0" dirty="0">
                <a:solidFill>
                  <a:srgbClr val="CBA6F7"/>
                </a:solidFill>
                <a:effectLst/>
                <a:latin typeface="Consolas" panose="020B0609020204030204" pitchFamily="49" charset="0"/>
              </a:rPr>
              <a:t>int</a:t>
            </a:r>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mycoroutine_init</a:t>
            </a:r>
            <a:r>
              <a:rPr lang="en-US" b="0" dirty="0">
                <a:solidFill>
                  <a:srgbClr val="9399B2"/>
                </a:solidFill>
                <a:effectLst/>
                <a:latin typeface="Consolas" panose="020B0609020204030204" pitchFamily="49" charset="0"/>
              </a:rPr>
              <a:t>(</a:t>
            </a:r>
            <a:r>
              <a:rPr lang="en-US" b="0" i="1" dirty="0" err="1">
                <a:solidFill>
                  <a:srgbClr val="F9E2AF"/>
                </a:solidFill>
                <a:effectLst/>
                <a:latin typeface="Consolas" panose="020B0609020204030204" pitchFamily="49" charset="0"/>
              </a:rPr>
              <a:t>co_t</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i="1" dirty="0">
                <a:solidFill>
                  <a:srgbClr val="EBA0AC"/>
                </a:solidFill>
                <a:effectLst/>
                <a:latin typeface="Consolas" panose="020B0609020204030204" pitchFamily="49" charset="0"/>
              </a:rPr>
              <a:t>main</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initialize coroutine list</a:t>
            </a:r>
          </a:p>
          <a:p>
            <a:r>
              <a:rPr lang="en-US" b="0" dirty="0">
                <a:solidFill>
                  <a:srgbClr val="CDD6F4"/>
                </a:solidFill>
                <a:effectLst/>
                <a:latin typeface="Consolas" panose="020B0609020204030204" pitchFamily="49" charset="0"/>
              </a:rPr>
              <a:t>  add </a:t>
            </a:r>
            <a:r>
              <a:rPr lang="en-US" i="1" dirty="0">
                <a:solidFill>
                  <a:srgbClr val="EBA0AC"/>
                </a:solidFill>
                <a:latin typeface="Consolas" panose="020B0609020204030204" pitchFamily="49" charset="0"/>
              </a:rPr>
              <a:t>main</a:t>
            </a:r>
            <a:r>
              <a:rPr lang="en-US" b="0" dirty="0">
                <a:solidFill>
                  <a:srgbClr val="CDD6F4"/>
                </a:solidFill>
                <a:effectLst/>
                <a:latin typeface="Consolas" panose="020B0609020204030204" pitchFamily="49" charset="0"/>
              </a:rPr>
              <a:t> to coroutine list</a:t>
            </a:r>
          </a:p>
          <a:p>
            <a:br>
              <a:rPr lang="en-US" b="0" dirty="0">
                <a:solidFill>
                  <a:srgbClr val="CDD6F4"/>
                </a:solidFill>
                <a:effectLst/>
                <a:latin typeface="Consolas" panose="020B0609020204030204" pitchFamily="49" charset="0"/>
              </a:rPr>
            </a:br>
            <a:r>
              <a:rPr lang="en-US" b="0" dirty="0">
                <a:solidFill>
                  <a:srgbClr val="CDD6F4"/>
                </a:solidFill>
                <a:effectLst/>
                <a:latin typeface="Consolas" panose="020B0609020204030204" pitchFamily="49" charset="0"/>
              </a:rPr>
              <a:t>  </a:t>
            </a:r>
            <a:r>
              <a:rPr lang="en-US" b="0" dirty="0" err="1">
                <a:solidFill>
                  <a:srgbClr val="CDD6F4"/>
                </a:solidFill>
                <a:effectLst/>
                <a:latin typeface="Consolas" panose="020B0609020204030204" pitchFamily="49" charset="0"/>
              </a:rPr>
              <a:t>current_context</a:t>
            </a:r>
            <a:r>
              <a:rPr lang="en-US" b="0" dirty="0">
                <a:solidFill>
                  <a:srgbClr val="CDD6F4"/>
                </a:solidFill>
                <a:effectLst/>
                <a:latin typeface="Consolas" panose="020B0609020204030204" pitchFamily="49" charset="0"/>
              </a:rPr>
              <a:t> = </a:t>
            </a:r>
            <a:r>
              <a:rPr lang="en-US" i="1" dirty="0">
                <a:solidFill>
                  <a:srgbClr val="EBA0AC"/>
                </a:solidFill>
                <a:latin typeface="Consolas" panose="020B0609020204030204" pitchFamily="49" charset="0"/>
              </a:rPr>
              <a:t>main</a:t>
            </a:r>
          </a:p>
          <a:p>
            <a:r>
              <a:rPr lang="en-US" b="0" dirty="0">
                <a:solidFill>
                  <a:srgbClr val="CDD6F4"/>
                </a:solidFill>
                <a:effectLst/>
                <a:latin typeface="Consolas" panose="020B0609020204030204" pitchFamily="49" charset="0"/>
              </a:rPr>
              <a:t>  </a:t>
            </a:r>
            <a:r>
              <a:rPr lang="en-US" b="0" dirty="0" err="1">
                <a:solidFill>
                  <a:srgbClr val="CDD6F4"/>
                </a:solidFill>
                <a:effectLst/>
                <a:latin typeface="Consolas" panose="020B0609020204030204" pitchFamily="49" charset="0"/>
              </a:rPr>
              <a:t>main_context</a:t>
            </a:r>
            <a:r>
              <a:rPr lang="en-US" b="0" dirty="0">
                <a:solidFill>
                  <a:srgbClr val="CDD6F4"/>
                </a:solidFill>
                <a:effectLst/>
                <a:latin typeface="Consolas" panose="020B0609020204030204" pitchFamily="49" charset="0"/>
              </a:rPr>
              <a:t> = </a:t>
            </a:r>
            <a:r>
              <a:rPr lang="en-US" i="1" dirty="0">
                <a:solidFill>
                  <a:srgbClr val="EBA0AC"/>
                </a:solidFill>
                <a:latin typeface="Consolas" panose="020B0609020204030204" pitchFamily="49" charset="0"/>
              </a:rPr>
              <a:t>main</a:t>
            </a:r>
          </a:p>
          <a:p>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p:txBody>
      </p:sp>
    </p:spTree>
    <p:extLst>
      <p:ext uri="{BB962C8B-B14F-4D97-AF65-F5344CB8AC3E}">
        <p14:creationId xmlns:p14="http://schemas.microsoft.com/office/powerpoint/2010/main" val="2698680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36D36-4C62-A723-7412-1A802BEFFF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B314C2-F9F5-4234-541D-6DE25E8E5913}"/>
              </a:ext>
            </a:extLst>
          </p:cNvPr>
          <p:cNvSpPr>
            <a:spLocks noGrp="1"/>
          </p:cNvSpPr>
          <p:nvPr>
            <p:ph type="title"/>
          </p:nvPr>
        </p:nvSpPr>
        <p:spPr/>
        <p:txBody>
          <a:bodyPr>
            <a:normAutofit/>
          </a:bodyPr>
          <a:lstStyle/>
          <a:p>
            <a:r>
              <a:rPr lang="en-US" b="1" dirty="0"/>
              <a:t>Assignment 1: </a:t>
            </a:r>
            <a:r>
              <a:rPr lang="en-US" dirty="0"/>
              <a:t>Creating and destroying coroutines</a:t>
            </a:r>
          </a:p>
        </p:txBody>
      </p:sp>
      <p:sp>
        <p:nvSpPr>
          <p:cNvPr id="3" name="TextBox 2">
            <a:extLst>
              <a:ext uri="{FF2B5EF4-FFF2-40B4-BE49-F238E27FC236}">
                <a16:creationId xmlns:a16="http://schemas.microsoft.com/office/drawing/2014/main" id="{64EE4992-9DA1-A9C2-1BE7-53770122A32F}"/>
              </a:ext>
            </a:extLst>
          </p:cNvPr>
          <p:cNvSpPr txBox="1"/>
          <p:nvPr/>
        </p:nvSpPr>
        <p:spPr>
          <a:xfrm>
            <a:off x="838200" y="1784350"/>
            <a:ext cx="8542723" cy="2585323"/>
          </a:xfrm>
          <a:prstGeom prst="rect">
            <a:avLst/>
          </a:prstGeom>
          <a:noFill/>
        </p:spPr>
        <p:txBody>
          <a:bodyPr wrap="none" rtlCol="0">
            <a:spAutoFit/>
          </a:bodyPr>
          <a:lstStyle/>
          <a:p>
            <a:r>
              <a:rPr lang="en-US" b="0" dirty="0">
                <a:solidFill>
                  <a:srgbClr val="CBA6F7"/>
                </a:solidFill>
                <a:effectLst/>
                <a:latin typeface="Consolas" panose="020B0609020204030204" pitchFamily="49" charset="0"/>
              </a:rPr>
              <a:t>int</a:t>
            </a:r>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mycoroutine_create</a:t>
            </a:r>
            <a:r>
              <a:rPr lang="en-US" b="0" dirty="0">
                <a:solidFill>
                  <a:srgbClr val="9399B2"/>
                </a:solidFill>
                <a:effectLst/>
                <a:latin typeface="Consolas" panose="020B0609020204030204" pitchFamily="49" charset="0"/>
              </a:rPr>
              <a:t>(</a:t>
            </a:r>
            <a:r>
              <a:rPr lang="en-US" b="0" i="1" dirty="0" err="1">
                <a:solidFill>
                  <a:srgbClr val="F9E2AF"/>
                </a:solidFill>
                <a:effectLst/>
                <a:latin typeface="Consolas" panose="020B0609020204030204" pitchFamily="49" charset="0"/>
              </a:rPr>
              <a:t>co_t</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i="1" dirty="0">
                <a:solidFill>
                  <a:srgbClr val="EBA0AC"/>
                </a:solidFill>
                <a:effectLst/>
                <a:latin typeface="Consolas" panose="020B0609020204030204" pitchFamily="49" charset="0"/>
              </a:rPr>
              <a:t>co</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void</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body</a:t>
            </a:r>
            <a:r>
              <a:rPr lang="en-US" b="0" dirty="0">
                <a:solidFill>
                  <a:srgbClr val="9399B2"/>
                </a:solidFill>
                <a:effectLst/>
                <a:latin typeface="Consolas" panose="020B0609020204030204" pitchFamily="49" charset="0"/>
              </a:rPr>
              <a:t>)(</a:t>
            </a:r>
            <a:r>
              <a:rPr lang="en-US" b="0" dirty="0">
                <a:solidFill>
                  <a:srgbClr val="CBA6F7"/>
                </a:solidFill>
                <a:effectLst/>
                <a:latin typeface="Consolas" panose="020B0609020204030204" pitchFamily="49" charset="0"/>
              </a:rPr>
              <a:t>void</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void</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i="1" dirty="0" err="1">
                <a:solidFill>
                  <a:srgbClr val="EBA0AC"/>
                </a:solidFill>
                <a:effectLst/>
                <a:latin typeface="Consolas" panose="020B0609020204030204" pitchFamily="49" charset="0"/>
              </a:rPr>
              <a:t>arg</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if</a:t>
            </a:r>
            <a:r>
              <a:rPr lang="en-US" b="0" dirty="0">
                <a:solidFill>
                  <a:srgbClr val="CDD6F4"/>
                </a:solidFill>
                <a:effectLst/>
                <a:latin typeface="Consolas" panose="020B0609020204030204" pitchFamily="49" charset="0"/>
              </a:rPr>
              <a:t> </a:t>
            </a:r>
            <a:r>
              <a:rPr lang="en-US" i="1" dirty="0">
                <a:solidFill>
                  <a:srgbClr val="EBA0AC"/>
                </a:solidFill>
                <a:latin typeface="Consolas" panose="020B0609020204030204" pitchFamily="49" charset="0"/>
              </a:rPr>
              <a:t>co</a:t>
            </a:r>
            <a:r>
              <a:rPr lang="en-US" b="0" dirty="0">
                <a:solidFill>
                  <a:srgbClr val="CDD6F4"/>
                </a:solidFill>
                <a:effectLst/>
                <a:latin typeface="Consolas" panose="020B0609020204030204" pitchFamily="49" charset="0"/>
              </a:rPr>
              <a:t> is already on the coroutine list</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return</a:t>
            </a:r>
            <a:r>
              <a:rPr lang="en-US" b="0" dirty="0">
                <a:solidFill>
                  <a:srgbClr val="CDD6F4"/>
                </a:solidFill>
                <a:effectLst/>
                <a:latin typeface="Consolas" panose="020B0609020204030204" pitchFamily="49" charset="0"/>
              </a:rPr>
              <a:t> error</a:t>
            </a:r>
          </a:p>
          <a:p>
            <a:r>
              <a:rPr lang="en-US" b="0" dirty="0">
                <a:solidFill>
                  <a:srgbClr val="CDD6F4"/>
                </a:solidFill>
                <a:effectLst/>
                <a:latin typeface="Consolas" panose="020B0609020204030204" pitchFamily="49" charset="0"/>
              </a:rPr>
              <a:t>  add </a:t>
            </a:r>
            <a:r>
              <a:rPr lang="en-US" i="1" dirty="0">
                <a:solidFill>
                  <a:srgbClr val="EBA0AC"/>
                </a:solidFill>
                <a:latin typeface="Consolas" panose="020B0609020204030204" pitchFamily="49" charset="0"/>
              </a:rPr>
              <a:t>co</a:t>
            </a:r>
            <a:r>
              <a:rPr lang="en-US" b="0" dirty="0">
                <a:solidFill>
                  <a:srgbClr val="CDD6F4"/>
                </a:solidFill>
                <a:effectLst/>
                <a:latin typeface="Consolas" panose="020B0609020204030204" pitchFamily="49" charset="0"/>
              </a:rPr>
              <a:t> to the coroutine list</a:t>
            </a:r>
          </a:p>
          <a:p>
            <a:br>
              <a:rPr lang="en-US" b="0" dirty="0">
                <a:solidFill>
                  <a:srgbClr val="CDD6F4"/>
                </a:solidFill>
                <a:effectLst/>
                <a:latin typeface="Consolas" panose="020B0609020204030204" pitchFamily="49" charset="0"/>
              </a:rPr>
            </a:br>
            <a:r>
              <a:rPr lang="en-US" b="0" dirty="0">
                <a:solidFill>
                  <a:srgbClr val="CDD6F4"/>
                </a:solidFill>
                <a:effectLst/>
                <a:latin typeface="Consolas" panose="020B0609020204030204" pitchFamily="49" charset="0"/>
              </a:rPr>
              <a:t>  </a:t>
            </a:r>
            <a:r>
              <a:rPr lang="en-US" i="1" dirty="0" err="1">
                <a:solidFill>
                  <a:srgbClr val="89B4FA"/>
                </a:solidFill>
                <a:latin typeface="Consolas" panose="020B0609020204030204" pitchFamily="49" charset="0"/>
              </a:rPr>
              <a:t>getcontext</a:t>
            </a:r>
            <a:r>
              <a:rPr lang="en-US" dirty="0">
                <a:solidFill>
                  <a:srgbClr val="9399B2"/>
                </a:solidFill>
                <a:latin typeface="Consolas" panose="020B0609020204030204" pitchFamily="49" charset="0"/>
              </a:rPr>
              <a:t>(</a:t>
            </a:r>
            <a:r>
              <a:rPr lang="en-US" i="1" dirty="0">
                <a:solidFill>
                  <a:srgbClr val="EBA0AC"/>
                </a:solidFill>
                <a:latin typeface="Consolas" panose="020B0609020204030204" pitchFamily="49" charset="0"/>
              </a:rPr>
              <a:t>co</a:t>
            </a:r>
            <a:r>
              <a:rPr lang="en-US" dirty="0">
                <a:solidFill>
                  <a:srgbClr val="9399B2"/>
                </a:solidFill>
                <a:latin typeface="Consolas" panose="020B0609020204030204" pitchFamily="49" charset="0"/>
              </a:rPr>
              <a:t>)</a:t>
            </a:r>
          </a:p>
          <a:p>
            <a:r>
              <a:rPr lang="en-US" b="0" dirty="0">
                <a:solidFill>
                  <a:srgbClr val="CDD6F4"/>
                </a:solidFill>
                <a:effectLst/>
                <a:latin typeface="Consolas" panose="020B0609020204030204" pitchFamily="49" charset="0"/>
              </a:rPr>
              <a:t>  allocate memory </a:t>
            </a:r>
            <a:r>
              <a:rPr lang="en-US" dirty="0">
                <a:solidFill>
                  <a:srgbClr val="CDD6F4"/>
                </a:solidFill>
                <a:latin typeface="Consolas" panose="020B0609020204030204" pitchFamily="49" charset="0"/>
              </a:rPr>
              <a:t>for</a:t>
            </a:r>
            <a:r>
              <a:rPr lang="en-US" b="0" dirty="0">
                <a:solidFill>
                  <a:srgbClr val="CDD6F4"/>
                </a:solidFill>
                <a:effectLst/>
                <a:latin typeface="Consolas" panose="020B0609020204030204" pitchFamily="49" charset="0"/>
              </a:rPr>
              <a:t> the stack</a:t>
            </a:r>
          </a:p>
          <a:p>
            <a:r>
              <a:rPr lang="en-US" b="0" dirty="0">
                <a:solidFill>
                  <a:srgbClr val="CDD6F4"/>
                </a:solidFill>
                <a:effectLst/>
                <a:latin typeface="Consolas" panose="020B0609020204030204" pitchFamily="49" charset="0"/>
              </a:rPr>
              <a:t>  </a:t>
            </a:r>
            <a:r>
              <a:rPr lang="en-US" i="1" dirty="0" err="1">
                <a:solidFill>
                  <a:srgbClr val="89B4FA"/>
                </a:solidFill>
                <a:latin typeface="Consolas" panose="020B0609020204030204" pitchFamily="49" charset="0"/>
              </a:rPr>
              <a:t>makecontext</a:t>
            </a:r>
            <a:r>
              <a:rPr lang="en-US" dirty="0">
                <a:solidFill>
                  <a:srgbClr val="9399B2"/>
                </a:solidFill>
                <a:latin typeface="Consolas" panose="020B0609020204030204" pitchFamily="49" charset="0"/>
              </a:rPr>
              <a:t>(</a:t>
            </a:r>
            <a:r>
              <a:rPr lang="en-US" i="1" dirty="0">
                <a:solidFill>
                  <a:srgbClr val="EBA0AC"/>
                </a:solidFill>
                <a:latin typeface="Consolas" panose="020B0609020204030204" pitchFamily="49" charset="0"/>
              </a:rPr>
              <a:t>co</a:t>
            </a:r>
            <a:r>
              <a:rPr lang="en-US" dirty="0">
                <a:solidFill>
                  <a:srgbClr val="9399B2"/>
                </a:solidFill>
                <a:latin typeface="Consolas" panose="020B0609020204030204" pitchFamily="49" charset="0"/>
              </a:rPr>
              <a:t>,</a:t>
            </a:r>
            <a:r>
              <a:rPr lang="en-US" b="0" dirty="0">
                <a:solidFill>
                  <a:srgbClr val="CDD6F4"/>
                </a:solidFill>
                <a:effectLst/>
                <a:latin typeface="Consolas" panose="020B0609020204030204" pitchFamily="49" charset="0"/>
              </a:rPr>
              <a:t> </a:t>
            </a:r>
            <a:r>
              <a:rPr lang="en-US" i="1" dirty="0">
                <a:solidFill>
                  <a:srgbClr val="EBA0AC"/>
                </a:solidFill>
                <a:latin typeface="Consolas" panose="020B0609020204030204" pitchFamily="49" charset="0"/>
              </a:rPr>
              <a:t>body</a:t>
            </a:r>
            <a:r>
              <a:rPr lang="en-US" dirty="0">
                <a:solidFill>
                  <a:srgbClr val="9399B2"/>
                </a:solidFill>
                <a:latin typeface="Consolas" panose="020B0609020204030204" pitchFamily="49" charset="0"/>
              </a:rPr>
              <a:t>,</a:t>
            </a:r>
            <a:r>
              <a:rPr lang="en-US" b="0" dirty="0">
                <a:solidFill>
                  <a:srgbClr val="CDD6F4"/>
                </a:solidFill>
                <a:effectLst/>
                <a:latin typeface="Consolas" panose="020B0609020204030204" pitchFamily="49" charset="0"/>
              </a:rPr>
              <a:t> </a:t>
            </a:r>
            <a:r>
              <a:rPr lang="en-US" i="1" dirty="0" err="1">
                <a:solidFill>
                  <a:srgbClr val="EBA0AC"/>
                </a:solidFill>
                <a:latin typeface="Consolas" panose="020B0609020204030204" pitchFamily="49" charset="0"/>
              </a:rPr>
              <a:t>arg</a:t>
            </a:r>
            <a:r>
              <a:rPr lang="en-US" dirty="0">
                <a:solidFill>
                  <a:srgbClr val="9399B2"/>
                </a:solidFill>
                <a:latin typeface="Consolas" panose="020B0609020204030204" pitchFamily="49" charset="0"/>
              </a:rPr>
              <a:t>)</a:t>
            </a:r>
          </a:p>
          <a:p>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p:txBody>
      </p:sp>
      <p:sp>
        <p:nvSpPr>
          <p:cNvPr id="4" name="TextBox 3">
            <a:extLst>
              <a:ext uri="{FF2B5EF4-FFF2-40B4-BE49-F238E27FC236}">
                <a16:creationId xmlns:a16="http://schemas.microsoft.com/office/drawing/2014/main" id="{0F64FDBE-77EE-CCAA-7FE5-E71AE2338C10}"/>
              </a:ext>
            </a:extLst>
          </p:cNvPr>
          <p:cNvSpPr txBox="1"/>
          <p:nvPr/>
        </p:nvSpPr>
        <p:spPr>
          <a:xfrm>
            <a:off x="6610194" y="2938512"/>
            <a:ext cx="4743606" cy="2862322"/>
          </a:xfrm>
          <a:prstGeom prst="rect">
            <a:avLst/>
          </a:prstGeom>
          <a:noFill/>
        </p:spPr>
        <p:txBody>
          <a:bodyPr wrap="none" rtlCol="0">
            <a:spAutoFit/>
          </a:bodyPr>
          <a:lstStyle/>
          <a:p>
            <a:r>
              <a:rPr lang="en-US" b="0" dirty="0">
                <a:solidFill>
                  <a:srgbClr val="CBA6F7"/>
                </a:solidFill>
                <a:effectLst/>
                <a:latin typeface="Consolas" panose="020B0609020204030204" pitchFamily="49" charset="0"/>
              </a:rPr>
              <a:t>int</a:t>
            </a:r>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mycoroutine_destroy</a:t>
            </a:r>
            <a:r>
              <a:rPr lang="en-US" b="0" dirty="0">
                <a:solidFill>
                  <a:srgbClr val="9399B2"/>
                </a:solidFill>
                <a:effectLst/>
                <a:latin typeface="Consolas" panose="020B0609020204030204" pitchFamily="49" charset="0"/>
              </a:rPr>
              <a:t>(</a:t>
            </a:r>
            <a:r>
              <a:rPr lang="en-US" b="0" i="1" dirty="0" err="1">
                <a:solidFill>
                  <a:srgbClr val="F9E2AF"/>
                </a:solidFill>
                <a:effectLst/>
                <a:latin typeface="Consolas" panose="020B0609020204030204" pitchFamily="49" charset="0"/>
              </a:rPr>
              <a:t>co_t</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i="1" dirty="0">
                <a:solidFill>
                  <a:srgbClr val="EBA0AC"/>
                </a:solidFill>
                <a:effectLst/>
                <a:latin typeface="Consolas" panose="020B0609020204030204" pitchFamily="49" charset="0"/>
              </a:rPr>
              <a:t>co</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dirty="0">
                <a:solidFill>
                  <a:srgbClr val="CDD6F4"/>
                </a:solidFill>
                <a:latin typeface="Consolas" panose="020B0609020204030204" pitchFamily="49" charset="0"/>
              </a:rPr>
              <a:t>  </a:t>
            </a:r>
            <a:r>
              <a:rPr lang="en-US" dirty="0">
                <a:solidFill>
                  <a:srgbClr val="CBA6F7"/>
                </a:solidFill>
                <a:latin typeface="Consolas" panose="020B0609020204030204" pitchFamily="49" charset="0"/>
              </a:rPr>
              <a:t>if</a:t>
            </a:r>
            <a:r>
              <a:rPr lang="en-US" dirty="0">
                <a:solidFill>
                  <a:srgbClr val="CDD6F4"/>
                </a:solidFill>
                <a:latin typeface="Consolas" panose="020B0609020204030204" pitchFamily="49" charset="0"/>
              </a:rPr>
              <a:t> </a:t>
            </a:r>
            <a:r>
              <a:rPr lang="en-US" i="1" dirty="0">
                <a:solidFill>
                  <a:srgbClr val="EBA0AC"/>
                </a:solidFill>
                <a:latin typeface="Consolas" panose="020B0609020204030204" pitchFamily="49" charset="0"/>
              </a:rPr>
              <a:t>co</a:t>
            </a:r>
            <a:r>
              <a:rPr lang="en-US" dirty="0">
                <a:solidFill>
                  <a:srgbClr val="CDD6F4"/>
                </a:solidFill>
                <a:latin typeface="Consolas" panose="020B0609020204030204" pitchFamily="49" charset="0"/>
              </a:rPr>
              <a:t> is not in the coroutine list</a:t>
            </a:r>
          </a:p>
          <a:p>
            <a:r>
              <a:rPr lang="en-US" dirty="0">
                <a:solidFill>
                  <a:srgbClr val="CDD6F4"/>
                </a:solidFill>
                <a:latin typeface="Consolas" panose="020B0609020204030204" pitchFamily="49" charset="0"/>
              </a:rPr>
              <a:t>    </a:t>
            </a:r>
            <a:r>
              <a:rPr lang="en-US" dirty="0">
                <a:solidFill>
                  <a:srgbClr val="CBA6F7"/>
                </a:solidFill>
                <a:latin typeface="Consolas" panose="020B0609020204030204" pitchFamily="49" charset="0"/>
              </a:rPr>
              <a:t>return</a:t>
            </a:r>
            <a:r>
              <a:rPr lang="en-US" dirty="0">
                <a:solidFill>
                  <a:srgbClr val="CDD6F4"/>
                </a:solidFill>
                <a:latin typeface="Consolas" panose="020B0609020204030204" pitchFamily="49" charset="0"/>
              </a:rPr>
              <a:t> error</a:t>
            </a:r>
            <a:r>
              <a:rPr lang="en-US" b="0" dirty="0">
                <a:solidFill>
                  <a:srgbClr val="CDD6F4"/>
                </a:solidFill>
                <a:effectLst/>
                <a:latin typeface="Consolas" panose="020B0609020204030204" pitchFamily="49" charset="0"/>
              </a:rPr>
              <a:t> </a:t>
            </a:r>
          </a:p>
          <a:p>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if</a:t>
            </a:r>
            <a:r>
              <a:rPr lang="en-US" b="0" dirty="0">
                <a:solidFill>
                  <a:srgbClr val="CDD6F4"/>
                </a:solidFill>
                <a:effectLst/>
                <a:latin typeface="Consolas" panose="020B0609020204030204" pitchFamily="49" charset="0"/>
              </a:rPr>
              <a:t> </a:t>
            </a:r>
            <a:r>
              <a:rPr lang="en-US" i="1" dirty="0">
                <a:solidFill>
                  <a:srgbClr val="EBA0AC"/>
                </a:solidFill>
                <a:latin typeface="Consolas" panose="020B0609020204030204" pitchFamily="49" charset="0"/>
              </a:rPr>
              <a:t>co</a:t>
            </a:r>
            <a:r>
              <a:rPr lang="en-US" b="0" dirty="0">
                <a:solidFill>
                  <a:srgbClr val="CDD6F4"/>
                </a:solidFill>
                <a:effectLst/>
                <a:latin typeface="Consolas" panose="020B0609020204030204" pitchFamily="49" charset="0"/>
              </a:rPr>
              <a:t> is the main coroutine</a:t>
            </a:r>
          </a:p>
          <a:p>
            <a:r>
              <a:rPr lang="en-US" b="0" dirty="0">
                <a:solidFill>
                  <a:srgbClr val="CDD6F4"/>
                </a:solidFill>
                <a:effectLst/>
                <a:latin typeface="Consolas" panose="020B0609020204030204" pitchFamily="49" charset="0"/>
              </a:rPr>
              <a:t>    destroy the coroutine list</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else</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remove the </a:t>
            </a:r>
            <a:r>
              <a:rPr lang="en-US" i="1" dirty="0">
                <a:solidFill>
                  <a:srgbClr val="EBA0AC"/>
                </a:solidFill>
                <a:latin typeface="Consolas" panose="020B0609020204030204" pitchFamily="49" charset="0"/>
              </a:rPr>
              <a:t>co</a:t>
            </a:r>
            <a:r>
              <a:rPr lang="en-US" b="0" dirty="0">
                <a:solidFill>
                  <a:srgbClr val="CDD6F4"/>
                </a:solidFill>
                <a:effectLst/>
                <a:latin typeface="Consolas" panose="020B0609020204030204" pitchFamily="49" charset="0"/>
              </a:rPr>
              <a:t> from the list</a:t>
            </a:r>
          </a:p>
          <a:p>
            <a:r>
              <a:rPr lang="en-US" b="0" dirty="0">
                <a:solidFill>
                  <a:srgbClr val="CDD6F4"/>
                </a:solidFill>
                <a:effectLst/>
                <a:latin typeface="Consolas" panose="020B0609020204030204" pitchFamily="49" charset="0"/>
              </a:rPr>
              <a:t>    free related memory</a:t>
            </a:r>
          </a:p>
          <a:p>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p:txBody>
      </p:sp>
    </p:spTree>
    <p:extLst>
      <p:ext uri="{BB962C8B-B14F-4D97-AF65-F5344CB8AC3E}">
        <p14:creationId xmlns:p14="http://schemas.microsoft.com/office/powerpoint/2010/main" val="772997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6125F-9A33-0056-A99E-A375550D85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97B8C-A7FE-EAE7-58B7-A176E012F85C}"/>
              </a:ext>
            </a:extLst>
          </p:cNvPr>
          <p:cNvSpPr>
            <a:spLocks noGrp="1"/>
          </p:cNvSpPr>
          <p:nvPr>
            <p:ph type="title"/>
          </p:nvPr>
        </p:nvSpPr>
        <p:spPr/>
        <p:txBody>
          <a:bodyPr>
            <a:normAutofit/>
          </a:bodyPr>
          <a:lstStyle/>
          <a:p>
            <a:r>
              <a:rPr lang="en-US" b="1" dirty="0"/>
              <a:t>Assignment 1: </a:t>
            </a:r>
            <a:r>
              <a:rPr lang="en-US" dirty="0"/>
              <a:t>Switching coroutines</a:t>
            </a:r>
          </a:p>
        </p:txBody>
      </p:sp>
      <p:sp>
        <p:nvSpPr>
          <p:cNvPr id="3" name="TextBox 2">
            <a:extLst>
              <a:ext uri="{FF2B5EF4-FFF2-40B4-BE49-F238E27FC236}">
                <a16:creationId xmlns:a16="http://schemas.microsoft.com/office/drawing/2014/main" id="{648CA645-AA0E-066D-6069-4E7DF36AE8A6}"/>
              </a:ext>
            </a:extLst>
          </p:cNvPr>
          <p:cNvSpPr txBox="1"/>
          <p:nvPr/>
        </p:nvSpPr>
        <p:spPr>
          <a:xfrm>
            <a:off x="838200" y="1690688"/>
            <a:ext cx="6389891" cy="2308324"/>
          </a:xfrm>
          <a:prstGeom prst="rect">
            <a:avLst/>
          </a:prstGeom>
          <a:noFill/>
        </p:spPr>
        <p:txBody>
          <a:bodyPr wrap="none" rtlCol="0">
            <a:spAutoFit/>
          </a:bodyPr>
          <a:lstStyle/>
          <a:p>
            <a:r>
              <a:rPr lang="en-US" b="0" dirty="0">
                <a:solidFill>
                  <a:srgbClr val="CBA6F7"/>
                </a:solidFill>
                <a:effectLst/>
                <a:latin typeface="Consolas" panose="020B0609020204030204" pitchFamily="49" charset="0"/>
              </a:rPr>
              <a:t>int</a:t>
            </a:r>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mycoroutine_switchto</a:t>
            </a:r>
            <a:r>
              <a:rPr lang="en-US" b="0" dirty="0">
                <a:solidFill>
                  <a:srgbClr val="9399B2"/>
                </a:solidFill>
                <a:effectLst/>
                <a:latin typeface="Consolas" panose="020B0609020204030204" pitchFamily="49" charset="0"/>
              </a:rPr>
              <a:t>(</a:t>
            </a:r>
            <a:r>
              <a:rPr lang="en-US" b="0" i="1" dirty="0" err="1">
                <a:solidFill>
                  <a:srgbClr val="F9E2AF"/>
                </a:solidFill>
                <a:effectLst/>
                <a:latin typeface="Consolas" panose="020B0609020204030204" pitchFamily="49" charset="0"/>
              </a:rPr>
              <a:t>co_t</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i="1" dirty="0">
                <a:solidFill>
                  <a:srgbClr val="EBA0AC"/>
                </a:solidFill>
                <a:effectLst/>
                <a:latin typeface="Consolas" panose="020B0609020204030204" pitchFamily="49" charset="0"/>
              </a:rPr>
              <a:t>co</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if</a:t>
            </a:r>
            <a:r>
              <a:rPr lang="en-US" b="0" dirty="0">
                <a:solidFill>
                  <a:srgbClr val="CDD6F4"/>
                </a:solidFill>
                <a:effectLst/>
                <a:latin typeface="Consolas" panose="020B0609020204030204" pitchFamily="49" charset="0"/>
              </a:rPr>
              <a:t> </a:t>
            </a:r>
            <a:r>
              <a:rPr lang="en-US" i="1" dirty="0">
                <a:solidFill>
                  <a:srgbClr val="EBA0AC"/>
                </a:solidFill>
                <a:latin typeface="Consolas" panose="020B0609020204030204" pitchFamily="49" charset="0"/>
              </a:rPr>
              <a:t>co</a:t>
            </a:r>
            <a:r>
              <a:rPr lang="en-US" b="0" dirty="0">
                <a:solidFill>
                  <a:srgbClr val="CDD6F4"/>
                </a:solidFill>
                <a:effectLst/>
                <a:latin typeface="Consolas" panose="020B0609020204030204" pitchFamily="49" charset="0"/>
              </a:rPr>
              <a:t> is not in the coroutine list</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return</a:t>
            </a:r>
            <a:r>
              <a:rPr lang="en-US" b="0" dirty="0">
                <a:solidFill>
                  <a:srgbClr val="CDD6F4"/>
                </a:solidFill>
                <a:effectLst/>
                <a:latin typeface="Consolas" panose="020B0609020204030204" pitchFamily="49" charset="0"/>
              </a:rPr>
              <a:t> error</a:t>
            </a:r>
          </a:p>
          <a:p>
            <a:r>
              <a:rPr lang="en-US" b="0" dirty="0">
                <a:solidFill>
                  <a:srgbClr val="CDD6F4"/>
                </a:solidFill>
                <a:effectLst/>
                <a:latin typeface="Consolas" panose="020B0609020204030204" pitchFamily="49" charset="0"/>
              </a:rPr>
              <a:t>  </a:t>
            </a:r>
          </a:p>
          <a:p>
            <a:r>
              <a:rPr lang="en-US" b="0" dirty="0">
                <a:solidFill>
                  <a:srgbClr val="CDD6F4"/>
                </a:solidFill>
                <a:effectLst/>
                <a:latin typeface="Consolas" panose="020B0609020204030204" pitchFamily="49" charset="0"/>
              </a:rPr>
              <a:t>  </a:t>
            </a:r>
            <a:r>
              <a:rPr lang="en-US" dirty="0" err="1">
                <a:solidFill>
                  <a:srgbClr val="CDD6F4"/>
                </a:solidFill>
                <a:latin typeface="Consolas" panose="020B0609020204030204" pitchFamily="49" charset="0"/>
              </a:rPr>
              <a:t>previous_context</a:t>
            </a:r>
            <a:r>
              <a:rPr lang="en-US" dirty="0">
                <a:solidFill>
                  <a:srgbClr val="CDD6F4"/>
                </a:solidFill>
                <a:latin typeface="Consolas" panose="020B0609020204030204" pitchFamily="49" charset="0"/>
              </a:rPr>
              <a:t> </a:t>
            </a:r>
            <a:r>
              <a:rPr lang="en-US" b="0" dirty="0">
                <a:solidFill>
                  <a:srgbClr val="CDD6F4"/>
                </a:solidFill>
                <a:effectLst/>
                <a:latin typeface="Consolas" panose="020B0609020204030204" pitchFamily="49" charset="0"/>
              </a:rPr>
              <a:t>= </a:t>
            </a:r>
            <a:r>
              <a:rPr lang="en-US" b="0" dirty="0" err="1">
                <a:solidFill>
                  <a:srgbClr val="CDD6F4"/>
                </a:solidFill>
                <a:effectLst/>
                <a:latin typeface="Consolas" panose="020B0609020204030204" pitchFamily="49" charset="0"/>
              </a:rPr>
              <a:t>current_context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dirty="0" err="1">
                <a:solidFill>
                  <a:srgbClr val="CDD6F4"/>
                </a:solidFill>
                <a:effectLst/>
                <a:latin typeface="Consolas" panose="020B0609020204030204" pitchFamily="49" charset="0"/>
              </a:rPr>
              <a:t>current_context</a:t>
            </a:r>
            <a:r>
              <a:rPr lang="en-US" b="0" dirty="0">
                <a:solidFill>
                  <a:srgbClr val="CDD6F4"/>
                </a:solidFill>
                <a:effectLst/>
                <a:latin typeface="Consolas" panose="020B0609020204030204" pitchFamily="49" charset="0"/>
              </a:rPr>
              <a:t> = </a:t>
            </a:r>
            <a:r>
              <a:rPr lang="en-US" i="1" dirty="0">
                <a:solidFill>
                  <a:srgbClr val="EBA0AC"/>
                </a:solidFill>
                <a:latin typeface="Consolas" panose="020B0609020204030204" pitchFamily="49" charset="0"/>
              </a:rPr>
              <a:t>co</a:t>
            </a:r>
          </a:p>
          <a:p>
            <a:r>
              <a:rPr lang="en-US" b="0" dirty="0">
                <a:solidFill>
                  <a:srgbClr val="CDD6F4"/>
                </a:solidFill>
                <a:effectLst/>
                <a:latin typeface="Consolas" panose="020B0609020204030204" pitchFamily="49" charset="0"/>
              </a:rPr>
              <a:t>  </a:t>
            </a:r>
            <a:r>
              <a:rPr lang="en-US" i="1" dirty="0" err="1">
                <a:solidFill>
                  <a:srgbClr val="89B4FA"/>
                </a:solidFill>
                <a:latin typeface="Consolas" panose="020B0609020204030204" pitchFamily="49" charset="0"/>
              </a:rPr>
              <a:t>swapcontext</a:t>
            </a:r>
            <a:r>
              <a:rPr lang="en-US" dirty="0">
                <a:solidFill>
                  <a:srgbClr val="9399B2"/>
                </a:solidFill>
                <a:latin typeface="Consolas" panose="020B0609020204030204" pitchFamily="49" charset="0"/>
              </a:rPr>
              <a:t>(</a:t>
            </a:r>
            <a:r>
              <a:rPr lang="en-US" b="0" dirty="0" err="1">
                <a:solidFill>
                  <a:srgbClr val="CDD6F4"/>
                </a:solidFill>
                <a:effectLst/>
                <a:latin typeface="Consolas" panose="020B0609020204030204" pitchFamily="49" charset="0"/>
              </a:rPr>
              <a:t>previous_context</a:t>
            </a:r>
            <a:r>
              <a:rPr lang="en-US" b="0" dirty="0">
                <a:solidFill>
                  <a:srgbClr val="CDD6F4"/>
                </a:solidFill>
                <a:effectLst/>
                <a:latin typeface="Consolas" panose="020B0609020204030204" pitchFamily="49" charset="0"/>
              </a:rPr>
              <a:t>, </a:t>
            </a:r>
            <a:r>
              <a:rPr lang="en-US" b="0" dirty="0" err="1">
                <a:solidFill>
                  <a:srgbClr val="CDD6F4"/>
                </a:solidFill>
                <a:effectLst/>
                <a:latin typeface="Consolas" panose="020B0609020204030204" pitchFamily="49" charset="0"/>
              </a:rPr>
              <a:t>current_context</a:t>
            </a:r>
            <a:r>
              <a:rPr lang="en-US" dirty="0">
                <a:solidFill>
                  <a:srgbClr val="9399B2"/>
                </a:solidFill>
                <a:latin typeface="Consolas" panose="020B0609020204030204" pitchFamily="49" charset="0"/>
              </a:rPr>
              <a:t>)</a:t>
            </a:r>
            <a:r>
              <a:rPr lang="en-US" b="0" dirty="0">
                <a:solidFill>
                  <a:srgbClr val="CDD6F4"/>
                </a:solidFill>
                <a:effectLst/>
                <a:latin typeface="Consolas" panose="020B0609020204030204" pitchFamily="49" charset="0"/>
              </a:rPr>
              <a:t> </a:t>
            </a:r>
          </a:p>
          <a:p>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p:txBody>
      </p:sp>
    </p:spTree>
    <p:extLst>
      <p:ext uri="{BB962C8B-B14F-4D97-AF65-F5344CB8AC3E}">
        <p14:creationId xmlns:p14="http://schemas.microsoft.com/office/powerpoint/2010/main" val="667777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C986C-6A12-2303-26D8-A7E92F1DC6D6}"/>
              </a:ext>
            </a:extLst>
          </p:cNvPr>
          <p:cNvSpPr>
            <a:spLocks noGrp="1"/>
          </p:cNvSpPr>
          <p:nvPr>
            <p:ph type="title"/>
          </p:nvPr>
        </p:nvSpPr>
        <p:spPr/>
        <p:txBody>
          <a:bodyPr/>
          <a:lstStyle/>
          <a:p>
            <a:r>
              <a:rPr lang="en-US" b="1" dirty="0"/>
              <a:t>Assignment 1: </a:t>
            </a:r>
            <a:r>
              <a:rPr lang="en-US" dirty="0"/>
              <a:t>Testing coroutines</a:t>
            </a:r>
          </a:p>
        </p:txBody>
      </p:sp>
      <p:sp>
        <p:nvSpPr>
          <p:cNvPr id="3" name="Content Placeholder 2">
            <a:extLst>
              <a:ext uri="{FF2B5EF4-FFF2-40B4-BE49-F238E27FC236}">
                <a16:creationId xmlns:a16="http://schemas.microsoft.com/office/drawing/2014/main" id="{E1FB1894-CEB6-9516-7392-93B694949BAA}"/>
              </a:ext>
            </a:extLst>
          </p:cNvPr>
          <p:cNvSpPr>
            <a:spLocks noGrp="1"/>
          </p:cNvSpPr>
          <p:nvPr>
            <p:ph idx="1"/>
          </p:nvPr>
        </p:nvSpPr>
        <p:spPr/>
        <p:txBody>
          <a:bodyPr/>
          <a:lstStyle/>
          <a:p>
            <a:r>
              <a:rPr lang="en-US" dirty="0"/>
              <a:t>In order to test our coroutines implementation we modified our implementation of assignment 1.1 . We removed busy waiting and added manual context switching between the writing and reading thread each time the pipe is full or empty respectively.</a:t>
            </a:r>
          </a:p>
          <a:p>
            <a:r>
              <a:rPr lang="en-US" dirty="0"/>
              <a:t>After the 2 threads are done copying the context is switched back to the main context which destroys the coroutines and exits.</a:t>
            </a:r>
          </a:p>
        </p:txBody>
      </p:sp>
    </p:spTree>
    <p:extLst>
      <p:ext uri="{BB962C8B-B14F-4D97-AF65-F5344CB8AC3E}">
        <p14:creationId xmlns:p14="http://schemas.microsoft.com/office/powerpoint/2010/main" val="3018435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55DB4-4D42-1FA1-1604-88671CD9EC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7D1A0A-4F38-A065-C303-6B622A2BF270}"/>
              </a:ext>
            </a:extLst>
          </p:cNvPr>
          <p:cNvSpPr>
            <a:spLocks noGrp="1"/>
          </p:cNvSpPr>
          <p:nvPr>
            <p:ph type="title"/>
          </p:nvPr>
        </p:nvSpPr>
        <p:spPr/>
        <p:txBody>
          <a:bodyPr/>
          <a:lstStyle/>
          <a:p>
            <a:r>
              <a:rPr lang="en-US" b="1" dirty="0"/>
              <a:t>Assignment 1: </a:t>
            </a:r>
            <a:r>
              <a:rPr lang="en-US" dirty="0" err="1">
                <a:latin typeface="Consolas" panose="020B0609020204030204" pitchFamily="49" charset="0"/>
              </a:rPr>
              <a:t>pipe_write</a:t>
            </a:r>
            <a:r>
              <a:rPr lang="en-US" dirty="0"/>
              <a:t> function</a:t>
            </a:r>
            <a:endParaRPr lang="en-US" dirty="0">
              <a:latin typeface="Consolas" panose="020B0609020204030204" pitchFamily="49" charset="0"/>
            </a:endParaRPr>
          </a:p>
        </p:txBody>
      </p:sp>
      <p:sp>
        <p:nvSpPr>
          <p:cNvPr id="5" name="TextBox 4">
            <a:extLst>
              <a:ext uri="{FF2B5EF4-FFF2-40B4-BE49-F238E27FC236}">
                <a16:creationId xmlns:a16="http://schemas.microsoft.com/office/drawing/2014/main" id="{76208E8E-E52A-5503-9E9D-EA3AF894CC6D}"/>
              </a:ext>
            </a:extLst>
          </p:cNvPr>
          <p:cNvSpPr txBox="1"/>
          <p:nvPr/>
        </p:nvSpPr>
        <p:spPr>
          <a:xfrm>
            <a:off x="838200" y="1690688"/>
            <a:ext cx="7607300" cy="3139321"/>
          </a:xfrm>
          <a:prstGeom prst="rect">
            <a:avLst/>
          </a:prstGeom>
          <a:noFill/>
        </p:spPr>
        <p:txBody>
          <a:bodyPr wrap="square">
            <a:spAutoFit/>
          </a:bodyPr>
          <a:lstStyle/>
          <a:p>
            <a:r>
              <a:rPr lang="en-US" b="0" dirty="0">
                <a:solidFill>
                  <a:srgbClr val="CBA6F7"/>
                </a:solidFill>
                <a:effectLst/>
                <a:latin typeface="Consolas" panose="020B0609020204030204" pitchFamily="49" charset="0"/>
              </a:rPr>
              <a:t>int</a:t>
            </a:r>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pipe_write</a:t>
            </a:r>
            <a:r>
              <a:rPr lang="en-US" b="0" dirty="0">
                <a:solidFill>
                  <a:srgbClr val="9399B2"/>
                </a:solidFill>
                <a:effectLst/>
                <a:latin typeface="Consolas" panose="020B0609020204030204" pitchFamily="49" charset="0"/>
              </a:rPr>
              <a:t>(</a:t>
            </a:r>
            <a:r>
              <a:rPr lang="en-US" b="0" dirty="0">
                <a:solidFill>
                  <a:srgbClr val="CBA6F7"/>
                </a:solidFill>
                <a:effectLst/>
                <a:latin typeface="Consolas" panose="020B0609020204030204" pitchFamily="49" charset="0"/>
              </a:rPr>
              <a:t>unsigned</a:t>
            </a:r>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int</a:t>
            </a:r>
            <a:r>
              <a:rPr lang="en-US" b="0" dirty="0">
                <a:solidFill>
                  <a:srgbClr val="CDD6F4"/>
                </a:solidFill>
                <a:effectLst/>
                <a:latin typeface="Consolas" panose="020B0609020204030204" pitchFamily="49" charset="0"/>
              </a:rPr>
              <a:t> </a:t>
            </a:r>
            <a:r>
              <a:rPr lang="en-US" b="0" i="1" dirty="0">
                <a:solidFill>
                  <a:srgbClr val="EBA0AC"/>
                </a:solidFill>
                <a:effectLst/>
                <a:latin typeface="Consolas" panose="020B0609020204030204" pitchFamily="49" charset="0"/>
              </a:rPr>
              <a:t>p</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char</a:t>
            </a:r>
            <a:r>
              <a:rPr lang="en-US" b="0" dirty="0">
                <a:solidFill>
                  <a:srgbClr val="CDD6F4"/>
                </a:solidFill>
                <a:effectLst/>
                <a:latin typeface="Consolas" panose="020B0609020204030204" pitchFamily="49" charset="0"/>
              </a:rPr>
              <a:t> </a:t>
            </a:r>
            <a:r>
              <a:rPr lang="en-US" b="0" i="1" dirty="0">
                <a:solidFill>
                  <a:srgbClr val="EBA0AC"/>
                </a:solidFill>
                <a:effectLst/>
                <a:latin typeface="Consolas" panose="020B0609020204030204" pitchFamily="49" charset="0"/>
              </a:rPr>
              <a:t>c</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i="1" dirty="0" err="1">
                <a:solidFill>
                  <a:srgbClr val="F9E2AF"/>
                </a:solidFill>
                <a:effectLst/>
                <a:latin typeface="Consolas" panose="020B0609020204030204" pitchFamily="49" charset="0"/>
              </a:rPr>
              <a:t>co_t</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i="1" dirty="0" err="1">
                <a:solidFill>
                  <a:srgbClr val="EBA0AC"/>
                </a:solidFill>
                <a:effectLst/>
                <a:latin typeface="Consolas" panose="020B0609020204030204" pitchFamily="49" charset="0"/>
              </a:rPr>
              <a:t>read_thread</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if</a:t>
            </a:r>
            <a:r>
              <a:rPr lang="en-US" b="0" dirty="0">
                <a:solidFill>
                  <a:srgbClr val="CDD6F4"/>
                </a:solidFill>
                <a:effectLst/>
                <a:latin typeface="Consolas" panose="020B0609020204030204" pitchFamily="49" charset="0"/>
              </a:rPr>
              <a:t> pipe does not exist or is not open </a:t>
            </a:r>
            <a:r>
              <a:rPr lang="en-US" b="0" dirty="0">
                <a:solidFill>
                  <a:srgbClr val="CBA6F7"/>
                </a:solidFill>
                <a:effectLst/>
                <a:latin typeface="Consolas" panose="020B0609020204030204" pitchFamily="49" charset="0"/>
              </a:rPr>
              <a:t>for</a:t>
            </a:r>
            <a:r>
              <a:rPr lang="en-US" b="0" dirty="0">
                <a:solidFill>
                  <a:srgbClr val="CDD6F4"/>
                </a:solidFill>
                <a:effectLst/>
                <a:latin typeface="Consolas" panose="020B0609020204030204" pitchFamily="49" charset="0"/>
              </a:rPr>
              <a:t> writing</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return</a:t>
            </a:r>
            <a:r>
              <a:rPr lang="en-US" b="0" dirty="0">
                <a:solidFill>
                  <a:srgbClr val="CDD6F4"/>
                </a:solidFill>
                <a:effectLst/>
                <a:latin typeface="Consolas" panose="020B0609020204030204" pitchFamily="49" charset="0"/>
              </a:rPr>
              <a:t> error</a:t>
            </a:r>
          </a:p>
          <a:p>
            <a:br>
              <a:rPr lang="en-US" b="0" dirty="0">
                <a:solidFill>
                  <a:srgbClr val="CDD6F4"/>
                </a:solidFill>
                <a:effectLst/>
                <a:latin typeface="Consolas" panose="020B0609020204030204" pitchFamily="49" charset="0"/>
              </a:rPr>
            </a:br>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if</a:t>
            </a:r>
            <a:r>
              <a:rPr lang="en-US" b="0" dirty="0">
                <a:solidFill>
                  <a:srgbClr val="CDD6F4"/>
                </a:solidFill>
                <a:effectLst/>
                <a:latin typeface="Consolas" panose="020B0609020204030204" pitchFamily="49" charset="0"/>
              </a:rPr>
              <a:t> </a:t>
            </a:r>
            <a:r>
              <a:rPr lang="en-US" dirty="0">
                <a:solidFill>
                  <a:srgbClr val="CDD6F4"/>
                </a:solidFill>
                <a:latin typeface="Consolas" panose="020B0609020204030204" pitchFamily="49" charset="0"/>
              </a:rPr>
              <a:t>pipe's</a:t>
            </a:r>
            <a:r>
              <a:rPr lang="en-US" b="0" dirty="0">
                <a:solidFill>
                  <a:srgbClr val="CDD6F4"/>
                </a:solidFill>
                <a:effectLst/>
                <a:latin typeface="Consolas" panose="020B0609020204030204" pitchFamily="49" charset="0"/>
              </a:rPr>
              <a:t> buffer is full</a:t>
            </a:r>
          </a:p>
          <a:p>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mycoroutine_switchto</a:t>
            </a:r>
            <a:r>
              <a:rPr lang="en-US" b="0" dirty="0">
                <a:solidFill>
                  <a:srgbClr val="9399B2"/>
                </a:solidFill>
                <a:effectLst/>
                <a:latin typeface="Consolas" panose="020B0609020204030204" pitchFamily="49" charset="0"/>
              </a:rPr>
              <a:t>(</a:t>
            </a:r>
            <a:r>
              <a:rPr lang="en-US" b="0" dirty="0" err="1">
                <a:solidFill>
                  <a:srgbClr val="CDD6F4"/>
                </a:solidFill>
                <a:effectLst/>
                <a:latin typeface="Consolas" panose="020B0609020204030204" pitchFamily="49" charset="0"/>
              </a:rPr>
              <a:t>read_thread</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br>
              <a:rPr lang="en-US" b="0" dirty="0">
                <a:solidFill>
                  <a:srgbClr val="CDD6F4"/>
                </a:solidFill>
                <a:effectLst/>
                <a:latin typeface="Consolas" panose="020B0609020204030204" pitchFamily="49" charset="0"/>
              </a:rPr>
            </a:br>
            <a:r>
              <a:rPr lang="en-US" b="0" dirty="0">
                <a:solidFill>
                  <a:srgbClr val="CDD6F4"/>
                </a:solidFill>
                <a:effectLst/>
                <a:latin typeface="Consolas" panose="020B0609020204030204" pitchFamily="49" charset="0"/>
              </a:rPr>
              <a:t>    add character to buffer</a:t>
            </a:r>
          </a:p>
          <a:p>
            <a:r>
              <a:rPr lang="en-US" b="0" dirty="0">
                <a:solidFill>
                  <a:srgbClr val="CDD6F4"/>
                </a:solidFill>
                <a:effectLst/>
                <a:latin typeface="Consolas" panose="020B0609020204030204" pitchFamily="49" charset="0"/>
              </a:rPr>
              <a:t>    update write pointer</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return</a:t>
            </a:r>
            <a:r>
              <a:rPr lang="en-US" b="0" dirty="0">
                <a:solidFill>
                  <a:srgbClr val="CDD6F4"/>
                </a:solidFill>
                <a:effectLst/>
                <a:latin typeface="Consolas" panose="020B0609020204030204" pitchFamily="49" charset="0"/>
              </a:rPr>
              <a:t> </a:t>
            </a:r>
            <a:r>
              <a:rPr lang="en-US" b="0" dirty="0">
                <a:solidFill>
                  <a:srgbClr val="FAB387"/>
                </a:solidFill>
                <a:effectLst/>
                <a:latin typeface="Consolas" panose="020B0609020204030204" pitchFamily="49" charset="0"/>
              </a:rPr>
              <a:t>1</a:t>
            </a:r>
            <a:endParaRPr lang="en-US" b="0" dirty="0">
              <a:solidFill>
                <a:srgbClr val="CDD6F4"/>
              </a:solidFill>
              <a:effectLst/>
              <a:latin typeface="Consolas" panose="020B0609020204030204" pitchFamily="49" charset="0"/>
            </a:endParaRPr>
          </a:p>
          <a:p>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p:txBody>
      </p:sp>
    </p:spTree>
    <p:extLst>
      <p:ext uri="{BB962C8B-B14F-4D97-AF65-F5344CB8AC3E}">
        <p14:creationId xmlns:p14="http://schemas.microsoft.com/office/powerpoint/2010/main" val="1853637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37B8A-37FB-D58B-5BC6-C34633B573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FC5EC2-4F71-7E31-1588-C5B5F768D107}"/>
              </a:ext>
            </a:extLst>
          </p:cNvPr>
          <p:cNvSpPr>
            <a:spLocks noGrp="1"/>
          </p:cNvSpPr>
          <p:nvPr>
            <p:ph type="title"/>
          </p:nvPr>
        </p:nvSpPr>
        <p:spPr/>
        <p:txBody>
          <a:bodyPr/>
          <a:lstStyle/>
          <a:p>
            <a:r>
              <a:rPr lang="en-US" b="1" dirty="0"/>
              <a:t>Assignment 1: </a:t>
            </a:r>
            <a:r>
              <a:rPr lang="en-US" dirty="0" err="1">
                <a:latin typeface="Consolas" panose="020B0609020204030204" pitchFamily="49" charset="0"/>
              </a:rPr>
              <a:t>pipe_read</a:t>
            </a:r>
            <a:r>
              <a:rPr lang="en-US" dirty="0"/>
              <a:t> function</a:t>
            </a:r>
            <a:endParaRPr lang="en-US" dirty="0">
              <a:latin typeface="Consolas" panose="020B0609020204030204" pitchFamily="49" charset="0"/>
            </a:endParaRPr>
          </a:p>
        </p:txBody>
      </p:sp>
      <p:sp>
        <p:nvSpPr>
          <p:cNvPr id="5" name="TextBox 4">
            <a:extLst>
              <a:ext uri="{FF2B5EF4-FFF2-40B4-BE49-F238E27FC236}">
                <a16:creationId xmlns:a16="http://schemas.microsoft.com/office/drawing/2014/main" id="{AFE75637-B847-3F97-2C3E-A7017852EC2B}"/>
              </a:ext>
            </a:extLst>
          </p:cNvPr>
          <p:cNvSpPr txBox="1"/>
          <p:nvPr/>
        </p:nvSpPr>
        <p:spPr>
          <a:xfrm>
            <a:off x="838200" y="1690688"/>
            <a:ext cx="7810500" cy="4247317"/>
          </a:xfrm>
          <a:prstGeom prst="rect">
            <a:avLst/>
          </a:prstGeom>
          <a:noFill/>
        </p:spPr>
        <p:txBody>
          <a:bodyPr wrap="square">
            <a:spAutoFit/>
          </a:bodyPr>
          <a:lstStyle/>
          <a:p>
            <a:r>
              <a:rPr lang="en-US" b="0" dirty="0">
                <a:solidFill>
                  <a:srgbClr val="CBA6F7"/>
                </a:solidFill>
                <a:effectLst/>
                <a:latin typeface="Consolas" panose="020B0609020204030204" pitchFamily="49" charset="0"/>
              </a:rPr>
              <a:t>int</a:t>
            </a:r>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pipe_read</a:t>
            </a:r>
            <a:r>
              <a:rPr lang="en-US" b="0" dirty="0">
                <a:solidFill>
                  <a:srgbClr val="9399B2"/>
                </a:solidFill>
                <a:effectLst/>
                <a:latin typeface="Consolas" panose="020B0609020204030204" pitchFamily="49" charset="0"/>
              </a:rPr>
              <a:t>(</a:t>
            </a:r>
            <a:r>
              <a:rPr lang="en-US" b="0" dirty="0">
                <a:solidFill>
                  <a:srgbClr val="CBA6F7"/>
                </a:solidFill>
                <a:effectLst/>
                <a:latin typeface="Consolas" panose="020B0609020204030204" pitchFamily="49" charset="0"/>
              </a:rPr>
              <a:t>unsigned</a:t>
            </a:r>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int</a:t>
            </a:r>
            <a:r>
              <a:rPr lang="en-US" b="0" dirty="0">
                <a:solidFill>
                  <a:srgbClr val="CDD6F4"/>
                </a:solidFill>
                <a:effectLst/>
                <a:latin typeface="Consolas" panose="020B0609020204030204" pitchFamily="49" charset="0"/>
              </a:rPr>
              <a:t> </a:t>
            </a:r>
            <a:r>
              <a:rPr lang="en-US" b="0" i="1" dirty="0">
                <a:solidFill>
                  <a:srgbClr val="EBA0AC"/>
                </a:solidFill>
                <a:effectLst/>
                <a:latin typeface="Consolas" panose="020B0609020204030204" pitchFamily="49" charset="0"/>
              </a:rPr>
              <a:t>p</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char</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i="1" dirty="0">
                <a:solidFill>
                  <a:srgbClr val="EBA0AC"/>
                </a:solidFill>
                <a:effectLst/>
                <a:latin typeface="Consolas" panose="020B0609020204030204" pitchFamily="49" charset="0"/>
              </a:rPr>
              <a:t>c</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i="1" dirty="0" err="1">
                <a:solidFill>
                  <a:srgbClr val="F9E2AF"/>
                </a:solidFill>
                <a:effectLst/>
                <a:latin typeface="Consolas" panose="020B0609020204030204" pitchFamily="49" charset="0"/>
              </a:rPr>
              <a:t>co_t</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i="1" dirty="0" err="1">
                <a:solidFill>
                  <a:srgbClr val="EBA0AC"/>
                </a:solidFill>
                <a:effectLst/>
                <a:latin typeface="Consolas" panose="020B0609020204030204" pitchFamily="49" charset="0"/>
              </a:rPr>
              <a:t>write_thread</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if</a:t>
            </a:r>
            <a:r>
              <a:rPr lang="en-US" b="0" dirty="0">
                <a:solidFill>
                  <a:srgbClr val="CDD6F4"/>
                </a:solidFill>
                <a:effectLst/>
                <a:latin typeface="Consolas" panose="020B0609020204030204" pitchFamily="49" charset="0"/>
              </a:rPr>
              <a:t> pipe does not exist</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return</a:t>
            </a:r>
            <a:r>
              <a:rPr lang="en-US" b="0" dirty="0">
                <a:solidFill>
                  <a:srgbClr val="CDD6F4"/>
                </a:solidFill>
                <a:effectLst/>
                <a:latin typeface="Consolas" panose="020B0609020204030204" pitchFamily="49" charset="0"/>
              </a:rPr>
              <a:t> error</a:t>
            </a:r>
          </a:p>
          <a:p>
            <a:br>
              <a:rPr lang="en-US" b="0" dirty="0">
                <a:solidFill>
                  <a:srgbClr val="CDD6F4"/>
                </a:solidFill>
                <a:effectLst/>
                <a:latin typeface="Consolas" panose="020B0609020204030204" pitchFamily="49" charset="0"/>
              </a:rPr>
            </a:br>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if</a:t>
            </a:r>
            <a:r>
              <a:rPr lang="en-US" b="0" dirty="0">
                <a:solidFill>
                  <a:srgbClr val="CDD6F4"/>
                </a:solidFill>
                <a:effectLst/>
                <a:latin typeface="Consolas" panose="020B0609020204030204" pitchFamily="49" charset="0"/>
              </a:rPr>
              <a:t> the pipe is open </a:t>
            </a:r>
            <a:r>
              <a:rPr lang="en-US" b="0" dirty="0">
                <a:solidFill>
                  <a:srgbClr val="CBA6F7"/>
                </a:solidFill>
                <a:effectLst/>
                <a:latin typeface="Consolas" panose="020B0609020204030204" pitchFamily="49" charset="0"/>
              </a:rPr>
              <a:t>for</a:t>
            </a:r>
            <a:r>
              <a:rPr lang="en-US" b="0" dirty="0">
                <a:solidFill>
                  <a:srgbClr val="CDD6F4"/>
                </a:solidFill>
                <a:effectLst/>
                <a:latin typeface="Consolas" panose="020B0609020204030204" pitchFamily="49" charset="0"/>
              </a:rPr>
              <a:t> writing and empty</a:t>
            </a:r>
          </a:p>
          <a:p>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mycoroutine_switchto</a:t>
            </a:r>
            <a:r>
              <a:rPr lang="en-US" b="0" dirty="0">
                <a:solidFill>
                  <a:srgbClr val="9399B2"/>
                </a:solidFill>
                <a:effectLst/>
                <a:latin typeface="Consolas" panose="020B0609020204030204" pitchFamily="49" charset="0"/>
              </a:rPr>
              <a:t>(</a:t>
            </a:r>
            <a:r>
              <a:rPr lang="en-US" b="0" dirty="0" err="1">
                <a:solidFill>
                  <a:srgbClr val="CDD6F4"/>
                </a:solidFill>
                <a:effectLst/>
                <a:latin typeface="Consolas" panose="020B0609020204030204" pitchFamily="49" charset="0"/>
              </a:rPr>
              <a:t>write_thread</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br>
              <a:rPr lang="en-US" b="0" dirty="0">
                <a:solidFill>
                  <a:srgbClr val="CDD6F4"/>
                </a:solidFill>
                <a:effectLst/>
                <a:latin typeface="Consolas" panose="020B0609020204030204" pitchFamily="49" charset="0"/>
              </a:rPr>
            </a:br>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if</a:t>
            </a:r>
            <a:r>
              <a:rPr lang="en-US" b="0" dirty="0">
                <a:solidFill>
                  <a:srgbClr val="CDD6F4"/>
                </a:solidFill>
                <a:effectLst/>
                <a:latin typeface="Consolas" panose="020B0609020204030204" pitchFamily="49" charset="0"/>
              </a:rPr>
              <a:t> the pipe is closed </a:t>
            </a:r>
            <a:r>
              <a:rPr lang="en-US" b="0" dirty="0">
                <a:solidFill>
                  <a:srgbClr val="CBA6F7"/>
                </a:solidFill>
                <a:effectLst/>
                <a:latin typeface="Consolas" panose="020B0609020204030204" pitchFamily="49" charset="0"/>
              </a:rPr>
              <a:t>for</a:t>
            </a:r>
            <a:r>
              <a:rPr lang="en-US" b="0" dirty="0">
                <a:solidFill>
                  <a:srgbClr val="CDD6F4"/>
                </a:solidFill>
                <a:effectLst/>
                <a:latin typeface="Consolas" panose="020B0609020204030204" pitchFamily="49" charset="0"/>
              </a:rPr>
              <a:t> writing and empty</a:t>
            </a:r>
          </a:p>
          <a:p>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pipe_remove</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p</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return</a:t>
            </a:r>
            <a:r>
              <a:rPr lang="en-US" b="0" dirty="0">
                <a:solidFill>
                  <a:srgbClr val="CDD6F4"/>
                </a:solidFill>
                <a:effectLst/>
                <a:latin typeface="Consolas" panose="020B0609020204030204" pitchFamily="49" charset="0"/>
              </a:rPr>
              <a:t> </a:t>
            </a:r>
            <a:r>
              <a:rPr lang="en-US" b="0" dirty="0">
                <a:solidFill>
                  <a:srgbClr val="FAB387"/>
                </a:solidFill>
                <a:effectLst/>
                <a:latin typeface="Consolas" panose="020B0609020204030204" pitchFamily="49" charset="0"/>
              </a:rPr>
              <a:t>0</a:t>
            </a:r>
            <a:endParaRPr lang="en-US" b="0" dirty="0">
              <a:solidFill>
                <a:srgbClr val="CDD6F4"/>
              </a:solidFill>
              <a:effectLst/>
              <a:latin typeface="Consolas" panose="020B0609020204030204" pitchFamily="49" charset="0"/>
            </a:endParaRPr>
          </a:p>
          <a:p>
            <a:br>
              <a:rPr lang="en-US" b="0" dirty="0">
                <a:solidFill>
                  <a:srgbClr val="CDD6F4"/>
                </a:solidFill>
                <a:effectLst/>
                <a:latin typeface="Consolas" panose="020B0609020204030204" pitchFamily="49" charset="0"/>
              </a:rPr>
            </a:br>
            <a:r>
              <a:rPr lang="en-US" b="0" dirty="0">
                <a:solidFill>
                  <a:srgbClr val="CDD6F4"/>
                </a:solidFill>
                <a:effectLst/>
                <a:latin typeface="Consolas" panose="020B0609020204030204" pitchFamily="49" charset="0"/>
              </a:rPr>
              <a:t>    set c to the next value of the buffer</a:t>
            </a:r>
          </a:p>
          <a:p>
            <a:r>
              <a:rPr lang="en-US" b="0" dirty="0">
                <a:solidFill>
                  <a:srgbClr val="CDD6F4"/>
                </a:solidFill>
                <a:effectLst/>
                <a:latin typeface="Consolas" panose="020B0609020204030204" pitchFamily="49" charset="0"/>
              </a:rPr>
              <a:t>    update the read pointer</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return</a:t>
            </a:r>
            <a:r>
              <a:rPr lang="en-US" b="0" dirty="0">
                <a:solidFill>
                  <a:srgbClr val="CDD6F4"/>
                </a:solidFill>
                <a:effectLst/>
                <a:latin typeface="Consolas" panose="020B0609020204030204" pitchFamily="49" charset="0"/>
              </a:rPr>
              <a:t> </a:t>
            </a:r>
            <a:r>
              <a:rPr lang="en-US" b="0" dirty="0">
                <a:solidFill>
                  <a:srgbClr val="FAB387"/>
                </a:solidFill>
                <a:effectLst/>
                <a:latin typeface="Consolas" panose="020B0609020204030204" pitchFamily="49" charset="0"/>
              </a:rPr>
              <a:t>1</a:t>
            </a:r>
            <a:endParaRPr lang="en-US" b="0" dirty="0">
              <a:solidFill>
                <a:srgbClr val="CDD6F4"/>
              </a:solidFill>
              <a:effectLst/>
              <a:latin typeface="Consolas" panose="020B0609020204030204" pitchFamily="49" charset="0"/>
            </a:endParaRPr>
          </a:p>
          <a:p>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p:txBody>
      </p:sp>
    </p:spTree>
    <p:extLst>
      <p:ext uri="{BB962C8B-B14F-4D97-AF65-F5344CB8AC3E}">
        <p14:creationId xmlns:p14="http://schemas.microsoft.com/office/powerpoint/2010/main" val="1431629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5699E-95F5-27E9-A678-41715CFF2C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44D7D7-01F7-6260-F934-0E5C075E133A}"/>
              </a:ext>
            </a:extLst>
          </p:cNvPr>
          <p:cNvSpPr>
            <a:spLocks noGrp="1"/>
          </p:cNvSpPr>
          <p:nvPr>
            <p:ph type="ctrTitle"/>
          </p:nvPr>
        </p:nvSpPr>
        <p:spPr>
          <a:xfrm>
            <a:off x="1524000" y="2945034"/>
            <a:ext cx="9144000" cy="967931"/>
          </a:xfrm>
        </p:spPr>
        <p:txBody>
          <a:bodyPr/>
          <a:lstStyle/>
          <a:p>
            <a:r>
              <a:rPr lang="en-US" dirty="0"/>
              <a:t>Assignment 2</a:t>
            </a:r>
          </a:p>
        </p:txBody>
      </p:sp>
    </p:spTree>
    <p:extLst>
      <p:ext uri="{BB962C8B-B14F-4D97-AF65-F5344CB8AC3E}">
        <p14:creationId xmlns:p14="http://schemas.microsoft.com/office/powerpoint/2010/main" val="2392903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69D36-E3D7-472A-47C7-91D54CAD5A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1591D1-2EF6-DDF1-DA83-B752C54BC093}"/>
              </a:ext>
            </a:extLst>
          </p:cNvPr>
          <p:cNvSpPr>
            <a:spLocks noGrp="1"/>
          </p:cNvSpPr>
          <p:nvPr>
            <p:ph type="title"/>
          </p:nvPr>
        </p:nvSpPr>
        <p:spPr/>
        <p:txBody>
          <a:bodyPr/>
          <a:lstStyle/>
          <a:p>
            <a:r>
              <a:rPr lang="en-US" b="1" dirty="0"/>
              <a:t>Assignment 2: </a:t>
            </a:r>
            <a:r>
              <a:rPr lang="en-US" dirty="0" err="1">
                <a:latin typeface="Consolas" panose="020B0609020204030204" pitchFamily="49" charset="0"/>
              </a:rPr>
              <a:t>mythreads</a:t>
            </a:r>
            <a:r>
              <a:rPr lang="en-US" b="1" dirty="0"/>
              <a:t> </a:t>
            </a:r>
            <a:r>
              <a:rPr lang="en-US" dirty="0"/>
              <a:t>API</a:t>
            </a:r>
          </a:p>
        </p:txBody>
      </p:sp>
      <p:sp>
        <p:nvSpPr>
          <p:cNvPr id="10" name="TextBox 9">
            <a:extLst>
              <a:ext uri="{FF2B5EF4-FFF2-40B4-BE49-F238E27FC236}">
                <a16:creationId xmlns:a16="http://schemas.microsoft.com/office/drawing/2014/main" id="{D067A69D-53B6-CC74-6974-F5AFE6496B4C}"/>
              </a:ext>
            </a:extLst>
          </p:cNvPr>
          <p:cNvSpPr txBox="1"/>
          <p:nvPr/>
        </p:nvSpPr>
        <p:spPr>
          <a:xfrm>
            <a:off x="838200" y="1690688"/>
            <a:ext cx="9494907" cy="4294061"/>
          </a:xfrm>
          <a:prstGeom prst="rect">
            <a:avLst/>
          </a:prstGeom>
          <a:noFill/>
        </p:spPr>
        <p:txBody>
          <a:bodyPr wrap="none" rtlCol="0">
            <a:spAutoFit/>
          </a:bodyPr>
          <a:lstStyle/>
          <a:p>
            <a:pPr>
              <a:lnSpc>
                <a:spcPct val="125000"/>
              </a:lnSpc>
            </a:pPr>
            <a:r>
              <a:rPr lang="en-US" sz="2000" b="0" dirty="0">
                <a:solidFill>
                  <a:srgbClr val="CBA6F7"/>
                </a:solidFill>
                <a:effectLst/>
                <a:latin typeface="Consolas" panose="020B0609020204030204" pitchFamily="49" charset="0"/>
              </a:rPr>
              <a:t>int</a:t>
            </a:r>
            <a:r>
              <a:rPr lang="en-US" sz="2000" b="0" dirty="0">
                <a:solidFill>
                  <a:srgbClr val="CDD6F4"/>
                </a:solidFill>
                <a:effectLst/>
                <a:latin typeface="Consolas" panose="020B0609020204030204" pitchFamily="49" charset="0"/>
              </a:rPr>
              <a:t> </a:t>
            </a:r>
            <a:r>
              <a:rPr lang="en-US" sz="2000" b="0" i="1" dirty="0" err="1">
                <a:solidFill>
                  <a:srgbClr val="89B4FA"/>
                </a:solidFill>
                <a:effectLst/>
                <a:latin typeface="Consolas" panose="020B0609020204030204" pitchFamily="49" charset="0"/>
              </a:rPr>
              <a:t>mythreads_init</a:t>
            </a:r>
            <a:r>
              <a:rPr lang="en-US" sz="2000" b="0" dirty="0">
                <a:solidFill>
                  <a:srgbClr val="9399B2"/>
                </a:solidFill>
                <a:effectLst/>
                <a:latin typeface="Consolas" panose="020B0609020204030204" pitchFamily="49" charset="0"/>
              </a:rPr>
              <a:t>();</a:t>
            </a:r>
            <a:endParaRPr lang="en-US" sz="2000" b="0" dirty="0">
              <a:solidFill>
                <a:srgbClr val="CDD6F4"/>
              </a:solidFill>
              <a:effectLst/>
              <a:latin typeface="Consolas" panose="020B0609020204030204" pitchFamily="49" charset="0"/>
            </a:endParaRPr>
          </a:p>
          <a:p>
            <a:pPr>
              <a:lnSpc>
                <a:spcPct val="125000"/>
              </a:lnSpc>
            </a:pPr>
            <a:r>
              <a:rPr lang="en-US" sz="2000" b="0" dirty="0">
                <a:solidFill>
                  <a:srgbClr val="CBA6F7"/>
                </a:solidFill>
                <a:effectLst/>
                <a:latin typeface="Consolas" panose="020B0609020204030204" pitchFamily="49" charset="0"/>
              </a:rPr>
              <a:t>int</a:t>
            </a:r>
            <a:r>
              <a:rPr lang="en-US" sz="2000" b="0" dirty="0">
                <a:solidFill>
                  <a:srgbClr val="CDD6F4"/>
                </a:solidFill>
                <a:effectLst/>
                <a:latin typeface="Consolas" panose="020B0609020204030204" pitchFamily="49" charset="0"/>
              </a:rPr>
              <a:t> </a:t>
            </a:r>
            <a:r>
              <a:rPr lang="en-US" sz="2000" b="0" i="1" dirty="0" err="1">
                <a:solidFill>
                  <a:srgbClr val="89B4FA"/>
                </a:solidFill>
                <a:effectLst/>
                <a:latin typeface="Consolas" panose="020B0609020204030204" pitchFamily="49" charset="0"/>
              </a:rPr>
              <a:t>mythreads_create</a:t>
            </a:r>
            <a:r>
              <a:rPr lang="en-US" sz="2000" b="0" dirty="0">
                <a:solidFill>
                  <a:srgbClr val="9399B2"/>
                </a:solidFill>
                <a:effectLst/>
                <a:latin typeface="Consolas" panose="020B0609020204030204" pitchFamily="49" charset="0"/>
              </a:rPr>
              <a:t>(</a:t>
            </a:r>
            <a:r>
              <a:rPr lang="en-US" sz="2000" b="0" i="1" dirty="0" err="1">
                <a:solidFill>
                  <a:srgbClr val="F9E2AF"/>
                </a:solidFill>
                <a:effectLst/>
                <a:latin typeface="Consolas" panose="020B0609020204030204" pitchFamily="49" charset="0"/>
              </a:rPr>
              <a:t>mythr_t</a:t>
            </a:r>
            <a:r>
              <a:rPr lang="en-US" sz="2000" b="0" dirty="0">
                <a:solidFill>
                  <a:srgbClr val="CDD6F4"/>
                </a:solidFill>
                <a:effectLst/>
                <a:latin typeface="Consolas" panose="020B0609020204030204" pitchFamily="49" charset="0"/>
              </a:rPr>
              <a:t> </a:t>
            </a:r>
            <a:r>
              <a:rPr lang="en-US" sz="2000" b="0" dirty="0">
                <a:solidFill>
                  <a:srgbClr val="94E2D5"/>
                </a:solidFill>
                <a:effectLst/>
                <a:latin typeface="Consolas" panose="020B0609020204030204" pitchFamily="49" charset="0"/>
              </a:rPr>
              <a:t>*</a:t>
            </a:r>
            <a:r>
              <a:rPr lang="en-US" sz="2000" b="0" i="1" dirty="0" err="1">
                <a:solidFill>
                  <a:srgbClr val="EBA0AC"/>
                </a:solidFill>
                <a:effectLst/>
                <a:latin typeface="Consolas" panose="020B0609020204030204" pitchFamily="49" charset="0"/>
              </a:rPr>
              <a:t>thr</a:t>
            </a:r>
            <a:r>
              <a:rPr lang="en-US" sz="2000" b="0" dirty="0">
                <a:solidFill>
                  <a:srgbClr val="9399B2"/>
                </a:solidFill>
                <a:effectLst/>
                <a:latin typeface="Consolas" panose="020B0609020204030204" pitchFamily="49" charset="0"/>
              </a:rPr>
              <a:t>,</a:t>
            </a:r>
            <a:r>
              <a:rPr lang="en-US" sz="2000" b="0" dirty="0">
                <a:solidFill>
                  <a:srgbClr val="CDD6F4"/>
                </a:solidFill>
                <a:effectLst/>
                <a:latin typeface="Consolas" panose="020B0609020204030204" pitchFamily="49" charset="0"/>
              </a:rPr>
              <a:t> </a:t>
            </a:r>
            <a:r>
              <a:rPr lang="en-US" sz="2000" b="0" dirty="0">
                <a:solidFill>
                  <a:srgbClr val="CBA6F7"/>
                </a:solidFill>
                <a:effectLst/>
                <a:latin typeface="Consolas" panose="020B0609020204030204" pitchFamily="49" charset="0"/>
              </a:rPr>
              <a:t>void</a:t>
            </a:r>
            <a:r>
              <a:rPr lang="en-US" sz="2000" b="0" dirty="0">
                <a:solidFill>
                  <a:srgbClr val="9399B2"/>
                </a:solidFill>
                <a:effectLst/>
                <a:latin typeface="Consolas" panose="020B0609020204030204" pitchFamily="49" charset="0"/>
              </a:rPr>
              <a:t>(</a:t>
            </a:r>
            <a:r>
              <a:rPr lang="en-US" sz="2000" b="0" dirty="0">
                <a:solidFill>
                  <a:srgbClr val="CDD6F4"/>
                </a:solidFill>
                <a:effectLst/>
                <a:latin typeface="Consolas" panose="020B0609020204030204" pitchFamily="49" charset="0"/>
              </a:rPr>
              <a:t>body</a:t>
            </a:r>
            <a:r>
              <a:rPr lang="en-US" sz="2000" b="0" dirty="0">
                <a:solidFill>
                  <a:srgbClr val="9399B2"/>
                </a:solidFill>
                <a:effectLst/>
                <a:latin typeface="Consolas" panose="020B0609020204030204" pitchFamily="49" charset="0"/>
              </a:rPr>
              <a:t>)(</a:t>
            </a:r>
            <a:r>
              <a:rPr lang="en-US" sz="2000" b="0" dirty="0">
                <a:solidFill>
                  <a:srgbClr val="CBA6F7"/>
                </a:solidFill>
                <a:effectLst/>
                <a:latin typeface="Consolas" panose="020B0609020204030204" pitchFamily="49" charset="0"/>
              </a:rPr>
              <a:t>void</a:t>
            </a:r>
            <a:r>
              <a:rPr lang="en-US" sz="2000" b="0" dirty="0">
                <a:solidFill>
                  <a:srgbClr val="CDD6F4"/>
                </a:solidFill>
                <a:effectLst/>
                <a:latin typeface="Consolas" panose="020B0609020204030204" pitchFamily="49" charset="0"/>
              </a:rPr>
              <a:t> </a:t>
            </a:r>
            <a:r>
              <a:rPr lang="en-US" sz="2000" b="0" dirty="0">
                <a:solidFill>
                  <a:srgbClr val="94E2D5"/>
                </a:solidFill>
                <a:effectLst/>
                <a:latin typeface="Consolas" panose="020B0609020204030204" pitchFamily="49" charset="0"/>
              </a:rPr>
              <a:t>*</a:t>
            </a:r>
            <a:r>
              <a:rPr lang="en-US" sz="2000" b="0" dirty="0">
                <a:solidFill>
                  <a:srgbClr val="9399B2"/>
                </a:solidFill>
                <a:effectLst/>
                <a:latin typeface="Consolas" panose="020B0609020204030204" pitchFamily="49" charset="0"/>
              </a:rPr>
              <a:t>),</a:t>
            </a:r>
            <a:r>
              <a:rPr lang="en-US" sz="2000" b="0" dirty="0">
                <a:solidFill>
                  <a:srgbClr val="CDD6F4"/>
                </a:solidFill>
                <a:effectLst/>
                <a:latin typeface="Consolas" panose="020B0609020204030204" pitchFamily="49" charset="0"/>
              </a:rPr>
              <a:t> </a:t>
            </a:r>
            <a:r>
              <a:rPr lang="en-US" sz="2000" b="0" dirty="0">
                <a:solidFill>
                  <a:srgbClr val="CBA6F7"/>
                </a:solidFill>
                <a:effectLst/>
                <a:latin typeface="Consolas" panose="020B0609020204030204" pitchFamily="49" charset="0"/>
              </a:rPr>
              <a:t>void</a:t>
            </a:r>
            <a:r>
              <a:rPr lang="en-US" sz="2000" b="0" dirty="0">
                <a:solidFill>
                  <a:srgbClr val="CDD6F4"/>
                </a:solidFill>
                <a:effectLst/>
                <a:latin typeface="Consolas" panose="020B0609020204030204" pitchFamily="49" charset="0"/>
              </a:rPr>
              <a:t> </a:t>
            </a:r>
            <a:r>
              <a:rPr lang="en-US" sz="2000" b="0" dirty="0">
                <a:solidFill>
                  <a:srgbClr val="94E2D5"/>
                </a:solidFill>
                <a:effectLst/>
                <a:latin typeface="Consolas" panose="020B0609020204030204" pitchFamily="49" charset="0"/>
              </a:rPr>
              <a:t>*</a:t>
            </a:r>
            <a:r>
              <a:rPr lang="en-US" sz="2000" b="0" i="1" dirty="0" err="1">
                <a:solidFill>
                  <a:srgbClr val="EBA0AC"/>
                </a:solidFill>
                <a:effectLst/>
                <a:latin typeface="Consolas" panose="020B0609020204030204" pitchFamily="49" charset="0"/>
              </a:rPr>
              <a:t>arg</a:t>
            </a:r>
            <a:r>
              <a:rPr lang="en-US" sz="2000" b="0" dirty="0">
                <a:solidFill>
                  <a:srgbClr val="9399B2"/>
                </a:solidFill>
                <a:effectLst/>
                <a:latin typeface="Consolas" panose="020B0609020204030204" pitchFamily="49" charset="0"/>
              </a:rPr>
              <a:t>);</a:t>
            </a:r>
            <a:endParaRPr lang="en-US" sz="2000" b="0" dirty="0">
              <a:solidFill>
                <a:srgbClr val="CDD6F4"/>
              </a:solidFill>
              <a:effectLst/>
              <a:latin typeface="Consolas" panose="020B0609020204030204" pitchFamily="49" charset="0"/>
            </a:endParaRPr>
          </a:p>
          <a:p>
            <a:pPr>
              <a:lnSpc>
                <a:spcPct val="125000"/>
              </a:lnSpc>
            </a:pPr>
            <a:r>
              <a:rPr lang="en-US" sz="2000" b="0" dirty="0">
                <a:solidFill>
                  <a:srgbClr val="CBA6F7"/>
                </a:solidFill>
                <a:effectLst/>
                <a:latin typeface="Consolas" panose="020B0609020204030204" pitchFamily="49" charset="0"/>
              </a:rPr>
              <a:t>int</a:t>
            </a:r>
            <a:r>
              <a:rPr lang="en-US" sz="2000" b="0" dirty="0">
                <a:solidFill>
                  <a:srgbClr val="CDD6F4"/>
                </a:solidFill>
                <a:effectLst/>
                <a:latin typeface="Consolas" panose="020B0609020204030204" pitchFamily="49" charset="0"/>
              </a:rPr>
              <a:t> </a:t>
            </a:r>
            <a:r>
              <a:rPr lang="en-US" sz="2000" b="0" i="1" dirty="0" err="1">
                <a:solidFill>
                  <a:srgbClr val="89B4FA"/>
                </a:solidFill>
                <a:effectLst/>
                <a:latin typeface="Consolas" panose="020B0609020204030204" pitchFamily="49" charset="0"/>
              </a:rPr>
              <a:t>mythreads_yield</a:t>
            </a:r>
            <a:r>
              <a:rPr lang="en-US" sz="2000" b="0" dirty="0">
                <a:solidFill>
                  <a:srgbClr val="9399B2"/>
                </a:solidFill>
                <a:effectLst/>
                <a:latin typeface="Consolas" panose="020B0609020204030204" pitchFamily="49" charset="0"/>
              </a:rPr>
              <a:t>();</a:t>
            </a:r>
            <a:endParaRPr lang="en-US" sz="2000" b="0" dirty="0">
              <a:solidFill>
                <a:srgbClr val="CDD6F4"/>
              </a:solidFill>
              <a:effectLst/>
              <a:latin typeface="Consolas" panose="020B0609020204030204" pitchFamily="49" charset="0"/>
            </a:endParaRPr>
          </a:p>
          <a:p>
            <a:pPr>
              <a:lnSpc>
                <a:spcPct val="125000"/>
              </a:lnSpc>
            </a:pPr>
            <a:r>
              <a:rPr lang="en-US" sz="2000" b="0" dirty="0">
                <a:solidFill>
                  <a:srgbClr val="CBA6F7"/>
                </a:solidFill>
                <a:effectLst/>
                <a:latin typeface="Consolas" panose="020B0609020204030204" pitchFamily="49" charset="0"/>
              </a:rPr>
              <a:t>int</a:t>
            </a:r>
            <a:r>
              <a:rPr lang="en-US" sz="2000" b="0" dirty="0">
                <a:solidFill>
                  <a:srgbClr val="CDD6F4"/>
                </a:solidFill>
                <a:effectLst/>
                <a:latin typeface="Consolas" panose="020B0609020204030204" pitchFamily="49" charset="0"/>
              </a:rPr>
              <a:t> </a:t>
            </a:r>
            <a:r>
              <a:rPr lang="en-US" sz="2000" b="0" i="1" dirty="0" err="1">
                <a:solidFill>
                  <a:srgbClr val="89B4FA"/>
                </a:solidFill>
                <a:effectLst/>
                <a:latin typeface="Consolas" panose="020B0609020204030204" pitchFamily="49" charset="0"/>
              </a:rPr>
              <a:t>mythreads_sleep</a:t>
            </a:r>
            <a:r>
              <a:rPr lang="en-US" sz="2000" b="0" dirty="0">
                <a:solidFill>
                  <a:srgbClr val="9399B2"/>
                </a:solidFill>
                <a:effectLst/>
                <a:latin typeface="Consolas" panose="020B0609020204030204" pitchFamily="49" charset="0"/>
              </a:rPr>
              <a:t>(</a:t>
            </a:r>
            <a:r>
              <a:rPr lang="en-US" sz="2000" b="0" dirty="0">
                <a:solidFill>
                  <a:srgbClr val="CBA6F7"/>
                </a:solidFill>
                <a:effectLst/>
                <a:latin typeface="Consolas" panose="020B0609020204030204" pitchFamily="49" charset="0"/>
              </a:rPr>
              <a:t>int</a:t>
            </a:r>
            <a:r>
              <a:rPr lang="en-US" sz="2000" b="0" dirty="0">
                <a:solidFill>
                  <a:srgbClr val="CDD6F4"/>
                </a:solidFill>
                <a:effectLst/>
                <a:latin typeface="Consolas" panose="020B0609020204030204" pitchFamily="49" charset="0"/>
              </a:rPr>
              <a:t> </a:t>
            </a:r>
            <a:r>
              <a:rPr lang="en-US" sz="2000" b="0" i="1" dirty="0">
                <a:solidFill>
                  <a:srgbClr val="EBA0AC"/>
                </a:solidFill>
                <a:effectLst/>
                <a:latin typeface="Consolas" panose="020B0609020204030204" pitchFamily="49" charset="0"/>
              </a:rPr>
              <a:t>secs</a:t>
            </a:r>
            <a:r>
              <a:rPr lang="en-US" sz="2000" b="0" dirty="0">
                <a:solidFill>
                  <a:srgbClr val="9399B2"/>
                </a:solidFill>
                <a:effectLst/>
                <a:latin typeface="Consolas" panose="020B0609020204030204" pitchFamily="49" charset="0"/>
              </a:rPr>
              <a:t>);</a:t>
            </a:r>
            <a:endParaRPr lang="en-US" sz="2000" b="0" dirty="0">
              <a:solidFill>
                <a:srgbClr val="CDD6F4"/>
              </a:solidFill>
              <a:effectLst/>
              <a:latin typeface="Consolas" panose="020B0609020204030204" pitchFamily="49" charset="0"/>
            </a:endParaRPr>
          </a:p>
          <a:p>
            <a:pPr>
              <a:lnSpc>
                <a:spcPct val="125000"/>
              </a:lnSpc>
            </a:pPr>
            <a:r>
              <a:rPr lang="en-US" sz="2000" b="0" dirty="0">
                <a:solidFill>
                  <a:srgbClr val="CBA6F7"/>
                </a:solidFill>
                <a:effectLst/>
                <a:latin typeface="Consolas" panose="020B0609020204030204" pitchFamily="49" charset="0"/>
              </a:rPr>
              <a:t>int</a:t>
            </a:r>
            <a:r>
              <a:rPr lang="en-US" sz="2000" b="0" dirty="0">
                <a:solidFill>
                  <a:srgbClr val="CDD6F4"/>
                </a:solidFill>
                <a:effectLst/>
                <a:latin typeface="Consolas" panose="020B0609020204030204" pitchFamily="49" charset="0"/>
              </a:rPr>
              <a:t> </a:t>
            </a:r>
            <a:r>
              <a:rPr lang="en-US" sz="2000" b="0" i="1" dirty="0" err="1">
                <a:solidFill>
                  <a:srgbClr val="89B4FA"/>
                </a:solidFill>
                <a:effectLst/>
                <a:latin typeface="Consolas" panose="020B0609020204030204" pitchFamily="49" charset="0"/>
              </a:rPr>
              <a:t>mythreads_join</a:t>
            </a:r>
            <a:r>
              <a:rPr lang="en-US" sz="2000" b="0" dirty="0">
                <a:solidFill>
                  <a:srgbClr val="9399B2"/>
                </a:solidFill>
                <a:effectLst/>
                <a:latin typeface="Consolas" panose="020B0609020204030204" pitchFamily="49" charset="0"/>
              </a:rPr>
              <a:t>(</a:t>
            </a:r>
            <a:r>
              <a:rPr lang="en-US" sz="2000" b="0" i="1" dirty="0" err="1">
                <a:solidFill>
                  <a:srgbClr val="F9E2AF"/>
                </a:solidFill>
                <a:effectLst/>
                <a:latin typeface="Consolas" panose="020B0609020204030204" pitchFamily="49" charset="0"/>
              </a:rPr>
              <a:t>mythr_t</a:t>
            </a:r>
            <a:r>
              <a:rPr lang="en-US" sz="2000" b="0" dirty="0">
                <a:solidFill>
                  <a:srgbClr val="CDD6F4"/>
                </a:solidFill>
                <a:effectLst/>
                <a:latin typeface="Consolas" panose="020B0609020204030204" pitchFamily="49" charset="0"/>
              </a:rPr>
              <a:t> </a:t>
            </a:r>
            <a:r>
              <a:rPr lang="en-US" sz="2000" b="0" dirty="0">
                <a:solidFill>
                  <a:srgbClr val="94E2D5"/>
                </a:solidFill>
                <a:effectLst/>
                <a:latin typeface="Consolas" panose="020B0609020204030204" pitchFamily="49" charset="0"/>
              </a:rPr>
              <a:t>*</a:t>
            </a:r>
            <a:r>
              <a:rPr lang="en-US" sz="2000" b="0" i="1" dirty="0" err="1">
                <a:solidFill>
                  <a:srgbClr val="EBA0AC"/>
                </a:solidFill>
                <a:effectLst/>
                <a:latin typeface="Consolas" panose="020B0609020204030204" pitchFamily="49" charset="0"/>
              </a:rPr>
              <a:t>thr</a:t>
            </a:r>
            <a:r>
              <a:rPr lang="en-US" sz="2000" b="0" dirty="0">
                <a:solidFill>
                  <a:srgbClr val="9399B2"/>
                </a:solidFill>
                <a:effectLst/>
                <a:latin typeface="Consolas" panose="020B0609020204030204" pitchFamily="49" charset="0"/>
              </a:rPr>
              <a:t>);</a:t>
            </a:r>
            <a:endParaRPr lang="en-US" sz="2000" b="0" dirty="0">
              <a:solidFill>
                <a:srgbClr val="CDD6F4"/>
              </a:solidFill>
              <a:effectLst/>
              <a:latin typeface="Consolas" panose="020B0609020204030204" pitchFamily="49" charset="0"/>
            </a:endParaRPr>
          </a:p>
          <a:p>
            <a:pPr>
              <a:lnSpc>
                <a:spcPct val="125000"/>
              </a:lnSpc>
            </a:pPr>
            <a:r>
              <a:rPr lang="en-US" sz="2000" b="0" dirty="0">
                <a:solidFill>
                  <a:srgbClr val="CBA6F7"/>
                </a:solidFill>
                <a:effectLst/>
                <a:latin typeface="Consolas" panose="020B0609020204030204" pitchFamily="49" charset="0"/>
              </a:rPr>
              <a:t>int</a:t>
            </a:r>
            <a:r>
              <a:rPr lang="en-US" sz="2000" b="0" dirty="0">
                <a:solidFill>
                  <a:srgbClr val="CDD6F4"/>
                </a:solidFill>
                <a:effectLst/>
                <a:latin typeface="Consolas" panose="020B0609020204030204" pitchFamily="49" charset="0"/>
              </a:rPr>
              <a:t> </a:t>
            </a:r>
            <a:r>
              <a:rPr lang="en-US" sz="2000" b="0" i="1" dirty="0" err="1">
                <a:solidFill>
                  <a:srgbClr val="89B4FA"/>
                </a:solidFill>
                <a:effectLst/>
                <a:latin typeface="Consolas" panose="020B0609020204030204" pitchFamily="49" charset="0"/>
              </a:rPr>
              <a:t>mythreads_destroy</a:t>
            </a:r>
            <a:r>
              <a:rPr lang="en-US" sz="2000" b="0" dirty="0">
                <a:solidFill>
                  <a:srgbClr val="9399B2"/>
                </a:solidFill>
                <a:effectLst/>
                <a:latin typeface="Consolas" panose="020B0609020204030204" pitchFamily="49" charset="0"/>
              </a:rPr>
              <a:t>(</a:t>
            </a:r>
            <a:r>
              <a:rPr lang="en-US" sz="2000" b="0" i="1" dirty="0" err="1">
                <a:solidFill>
                  <a:srgbClr val="F9E2AF"/>
                </a:solidFill>
                <a:effectLst/>
                <a:latin typeface="Consolas" panose="020B0609020204030204" pitchFamily="49" charset="0"/>
              </a:rPr>
              <a:t>mythr_t</a:t>
            </a:r>
            <a:r>
              <a:rPr lang="en-US" sz="2000" b="0" dirty="0">
                <a:solidFill>
                  <a:srgbClr val="CDD6F4"/>
                </a:solidFill>
                <a:effectLst/>
                <a:latin typeface="Consolas" panose="020B0609020204030204" pitchFamily="49" charset="0"/>
              </a:rPr>
              <a:t> </a:t>
            </a:r>
            <a:r>
              <a:rPr lang="en-US" sz="2000" b="0" dirty="0">
                <a:solidFill>
                  <a:srgbClr val="94E2D5"/>
                </a:solidFill>
                <a:effectLst/>
                <a:latin typeface="Consolas" panose="020B0609020204030204" pitchFamily="49" charset="0"/>
              </a:rPr>
              <a:t>*</a:t>
            </a:r>
            <a:r>
              <a:rPr lang="en-US" sz="2000" b="0" i="1" dirty="0" err="1">
                <a:solidFill>
                  <a:srgbClr val="EBA0AC"/>
                </a:solidFill>
                <a:effectLst/>
                <a:latin typeface="Consolas" panose="020B0609020204030204" pitchFamily="49" charset="0"/>
              </a:rPr>
              <a:t>thr</a:t>
            </a:r>
            <a:r>
              <a:rPr lang="en-US" sz="2000" b="0" dirty="0">
                <a:solidFill>
                  <a:srgbClr val="9399B2"/>
                </a:solidFill>
                <a:effectLst/>
                <a:latin typeface="Consolas" panose="020B0609020204030204" pitchFamily="49" charset="0"/>
              </a:rPr>
              <a:t>);</a:t>
            </a:r>
            <a:endParaRPr lang="en-US" sz="2000" b="0" dirty="0">
              <a:solidFill>
                <a:srgbClr val="CDD6F4"/>
              </a:solidFill>
              <a:effectLst/>
              <a:latin typeface="Consolas" panose="020B0609020204030204" pitchFamily="49" charset="0"/>
            </a:endParaRPr>
          </a:p>
          <a:p>
            <a:pPr>
              <a:lnSpc>
                <a:spcPct val="125000"/>
              </a:lnSpc>
            </a:pPr>
            <a:r>
              <a:rPr lang="en-US" sz="2000" b="0" dirty="0">
                <a:solidFill>
                  <a:srgbClr val="CBA6F7"/>
                </a:solidFill>
                <a:effectLst/>
                <a:latin typeface="Consolas" panose="020B0609020204030204" pitchFamily="49" charset="0"/>
              </a:rPr>
              <a:t>int</a:t>
            </a:r>
            <a:r>
              <a:rPr lang="en-US" sz="2000" b="0" dirty="0">
                <a:solidFill>
                  <a:srgbClr val="CDD6F4"/>
                </a:solidFill>
                <a:effectLst/>
                <a:latin typeface="Consolas" panose="020B0609020204030204" pitchFamily="49" charset="0"/>
              </a:rPr>
              <a:t> </a:t>
            </a:r>
            <a:r>
              <a:rPr lang="en-US" sz="2000" b="0" i="1" dirty="0" err="1">
                <a:solidFill>
                  <a:srgbClr val="89B4FA"/>
                </a:solidFill>
                <a:effectLst/>
                <a:latin typeface="Consolas" panose="020B0609020204030204" pitchFamily="49" charset="0"/>
              </a:rPr>
              <a:t>mythreads_sem_create</a:t>
            </a:r>
            <a:r>
              <a:rPr lang="en-US" sz="2000" b="0" dirty="0">
                <a:solidFill>
                  <a:srgbClr val="9399B2"/>
                </a:solidFill>
                <a:effectLst/>
                <a:latin typeface="Consolas" panose="020B0609020204030204" pitchFamily="49" charset="0"/>
              </a:rPr>
              <a:t>(</a:t>
            </a:r>
            <a:r>
              <a:rPr lang="en-US" sz="2000" b="0" i="1" dirty="0" err="1">
                <a:solidFill>
                  <a:srgbClr val="F9E2AF"/>
                </a:solidFill>
                <a:effectLst/>
                <a:latin typeface="Consolas" panose="020B0609020204030204" pitchFamily="49" charset="0"/>
              </a:rPr>
              <a:t>mysem_t</a:t>
            </a:r>
            <a:r>
              <a:rPr lang="en-US" sz="2000" b="0" dirty="0">
                <a:solidFill>
                  <a:srgbClr val="CDD6F4"/>
                </a:solidFill>
                <a:effectLst/>
                <a:latin typeface="Consolas" panose="020B0609020204030204" pitchFamily="49" charset="0"/>
              </a:rPr>
              <a:t> </a:t>
            </a:r>
            <a:r>
              <a:rPr lang="en-US" sz="2000" b="0" dirty="0">
                <a:solidFill>
                  <a:srgbClr val="94E2D5"/>
                </a:solidFill>
                <a:effectLst/>
                <a:latin typeface="Consolas" panose="020B0609020204030204" pitchFamily="49" charset="0"/>
              </a:rPr>
              <a:t>*</a:t>
            </a:r>
            <a:r>
              <a:rPr lang="en-US" sz="2000" b="0" i="1" dirty="0">
                <a:solidFill>
                  <a:srgbClr val="EBA0AC"/>
                </a:solidFill>
                <a:effectLst/>
                <a:latin typeface="Consolas" panose="020B0609020204030204" pitchFamily="49" charset="0"/>
              </a:rPr>
              <a:t>s</a:t>
            </a:r>
            <a:r>
              <a:rPr lang="en-US" sz="2000" b="0" dirty="0">
                <a:solidFill>
                  <a:srgbClr val="9399B2"/>
                </a:solidFill>
                <a:effectLst/>
                <a:latin typeface="Consolas" panose="020B0609020204030204" pitchFamily="49" charset="0"/>
              </a:rPr>
              <a:t>,</a:t>
            </a:r>
            <a:r>
              <a:rPr lang="en-US" sz="2000" b="0" dirty="0">
                <a:solidFill>
                  <a:srgbClr val="CDD6F4"/>
                </a:solidFill>
                <a:effectLst/>
                <a:latin typeface="Consolas" panose="020B0609020204030204" pitchFamily="49" charset="0"/>
              </a:rPr>
              <a:t> </a:t>
            </a:r>
            <a:r>
              <a:rPr lang="en-US" sz="2000" b="0" dirty="0">
                <a:solidFill>
                  <a:srgbClr val="CBA6F7"/>
                </a:solidFill>
                <a:effectLst/>
                <a:latin typeface="Consolas" panose="020B0609020204030204" pitchFamily="49" charset="0"/>
              </a:rPr>
              <a:t>int</a:t>
            </a:r>
            <a:r>
              <a:rPr lang="en-US" sz="2000" b="0" dirty="0">
                <a:solidFill>
                  <a:srgbClr val="CDD6F4"/>
                </a:solidFill>
                <a:effectLst/>
                <a:latin typeface="Consolas" panose="020B0609020204030204" pitchFamily="49" charset="0"/>
              </a:rPr>
              <a:t> </a:t>
            </a:r>
            <a:r>
              <a:rPr lang="en-US" sz="2000" b="0" i="1" dirty="0" err="1">
                <a:solidFill>
                  <a:srgbClr val="EBA0AC"/>
                </a:solidFill>
                <a:effectLst/>
                <a:latin typeface="Consolas" panose="020B0609020204030204" pitchFamily="49" charset="0"/>
              </a:rPr>
              <a:t>val</a:t>
            </a:r>
            <a:r>
              <a:rPr lang="en-US" sz="2000" b="0" dirty="0">
                <a:solidFill>
                  <a:srgbClr val="9399B2"/>
                </a:solidFill>
                <a:effectLst/>
                <a:latin typeface="Consolas" panose="020B0609020204030204" pitchFamily="49" charset="0"/>
              </a:rPr>
              <a:t>);</a:t>
            </a:r>
            <a:endParaRPr lang="en-US" sz="2000" b="0" dirty="0">
              <a:solidFill>
                <a:srgbClr val="CDD6F4"/>
              </a:solidFill>
              <a:effectLst/>
              <a:latin typeface="Consolas" panose="020B0609020204030204" pitchFamily="49" charset="0"/>
            </a:endParaRPr>
          </a:p>
          <a:p>
            <a:pPr>
              <a:lnSpc>
                <a:spcPct val="125000"/>
              </a:lnSpc>
            </a:pPr>
            <a:r>
              <a:rPr lang="en-US" sz="2000" b="0" dirty="0">
                <a:solidFill>
                  <a:srgbClr val="CBA6F7"/>
                </a:solidFill>
                <a:effectLst/>
                <a:latin typeface="Consolas" panose="020B0609020204030204" pitchFamily="49" charset="0"/>
              </a:rPr>
              <a:t>int</a:t>
            </a:r>
            <a:r>
              <a:rPr lang="en-US" sz="2000" b="0" dirty="0">
                <a:solidFill>
                  <a:srgbClr val="CDD6F4"/>
                </a:solidFill>
                <a:effectLst/>
                <a:latin typeface="Consolas" panose="020B0609020204030204" pitchFamily="49" charset="0"/>
              </a:rPr>
              <a:t> </a:t>
            </a:r>
            <a:r>
              <a:rPr lang="en-US" sz="2000" b="0" i="1" dirty="0" err="1">
                <a:solidFill>
                  <a:srgbClr val="89B4FA"/>
                </a:solidFill>
                <a:effectLst/>
                <a:latin typeface="Consolas" panose="020B0609020204030204" pitchFamily="49" charset="0"/>
              </a:rPr>
              <a:t>mythreads_sem_down</a:t>
            </a:r>
            <a:r>
              <a:rPr lang="en-US" sz="2000" b="0" dirty="0">
                <a:solidFill>
                  <a:srgbClr val="9399B2"/>
                </a:solidFill>
                <a:effectLst/>
                <a:latin typeface="Consolas" panose="020B0609020204030204" pitchFamily="49" charset="0"/>
              </a:rPr>
              <a:t>(</a:t>
            </a:r>
            <a:r>
              <a:rPr lang="en-US" sz="2000" b="0" i="1" dirty="0" err="1">
                <a:solidFill>
                  <a:srgbClr val="F9E2AF"/>
                </a:solidFill>
                <a:effectLst/>
                <a:latin typeface="Consolas" panose="020B0609020204030204" pitchFamily="49" charset="0"/>
              </a:rPr>
              <a:t>mysem_t</a:t>
            </a:r>
            <a:r>
              <a:rPr lang="en-US" sz="2000" b="0" dirty="0">
                <a:solidFill>
                  <a:srgbClr val="CDD6F4"/>
                </a:solidFill>
                <a:effectLst/>
                <a:latin typeface="Consolas" panose="020B0609020204030204" pitchFamily="49" charset="0"/>
              </a:rPr>
              <a:t> </a:t>
            </a:r>
            <a:r>
              <a:rPr lang="en-US" sz="2000" b="0" dirty="0">
                <a:solidFill>
                  <a:srgbClr val="94E2D5"/>
                </a:solidFill>
                <a:effectLst/>
                <a:latin typeface="Consolas" panose="020B0609020204030204" pitchFamily="49" charset="0"/>
              </a:rPr>
              <a:t>*</a:t>
            </a:r>
            <a:r>
              <a:rPr lang="en-US" sz="2000" b="0" i="1" dirty="0">
                <a:solidFill>
                  <a:srgbClr val="EBA0AC"/>
                </a:solidFill>
                <a:effectLst/>
                <a:latin typeface="Consolas" panose="020B0609020204030204" pitchFamily="49" charset="0"/>
              </a:rPr>
              <a:t>s</a:t>
            </a:r>
            <a:r>
              <a:rPr lang="en-US" sz="2000" b="0" dirty="0">
                <a:solidFill>
                  <a:srgbClr val="9399B2"/>
                </a:solidFill>
                <a:effectLst/>
                <a:latin typeface="Consolas" panose="020B0609020204030204" pitchFamily="49" charset="0"/>
              </a:rPr>
              <a:t>);</a:t>
            </a:r>
            <a:endParaRPr lang="en-US" sz="2000" b="0" dirty="0">
              <a:solidFill>
                <a:srgbClr val="CDD6F4"/>
              </a:solidFill>
              <a:effectLst/>
              <a:latin typeface="Consolas" panose="020B0609020204030204" pitchFamily="49" charset="0"/>
            </a:endParaRPr>
          </a:p>
          <a:p>
            <a:pPr>
              <a:lnSpc>
                <a:spcPct val="125000"/>
              </a:lnSpc>
            </a:pPr>
            <a:r>
              <a:rPr lang="en-US" sz="2000" b="0" dirty="0">
                <a:solidFill>
                  <a:srgbClr val="CBA6F7"/>
                </a:solidFill>
                <a:effectLst/>
                <a:latin typeface="Consolas" panose="020B0609020204030204" pitchFamily="49" charset="0"/>
              </a:rPr>
              <a:t>int</a:t>
            </a:r>
            <a:r>
              <a:rPr lang="en-US" sz="2000" b="0" dirty="0">
                <a:solidFill>
                  <a:srgbClr val="CDD6F4"/>
                </a:solidFill>
                <a:effectLst/>
                <a:latin typeface="Consolas" panose="020B0609020204030204" pitchFamily="49" charset="0"/>
              </a:rPr>
              <a:t> </a:t>
            </a:r>
            <a:r>
              <a:rPr lang="en-US" sz="2000" b="0" i="1" dirty="0" err="1">
                <a:solidFill>
                  <a:srgbClr val="89B4FA"/>
                </a:solidFill>
                <a:effectLst/>
                <a:latin typeface="Consolas" panose="020B0609020204030204" pitchFamily="49" charset="0"/>
              </a:rPr>
              <a:t>mythreads_sem_up</a:t>
            </a:r>
            <a:r>
              <a:rPr lang="en-US" sz="2000" b="0" dirty="0">
                <a:solidFill>
                  <a:srgbClr val="9399B2"/>
                </a:solidFill>
                <a:effectLst/>
                <a:latin typeface="Consolas" panose="020B0609020204030204" pitchFamily="49" charset="0"/>
              </a:rPr>
              <a:t>(</a:t>
            </a:r>
            <a:r>
              <a:rPr lang="en-US" sz="2000" b="0" i="1" dirty="0" err="1">
                <a:solidFill>
                  <a:srgbClr val="F9E2AF"/>
                </a:solidFill>
                <a:effectLst/>
                <a:latin typeface="Consolas" panose="020B0609020204030204" pitchFamily="49" charset="0"/>
              </a:rPr>
              <a:t>mysem_t</a:t>
            </a:r>
            <a:r>
              <a:rPr lang="en-US" sz="2000" b="0" dirty="0">
                <a:solidFill>
                  <a:srgbClr val="CDD6F4"/>
                </a:solidFill>
                <a:effectLst/>
                <a:latin typeface="Consolas" panose="020B0609020204030204" pitchFamily="49" charset="0"/>
              </a:rPr>
              <a:t> </a:t>
            </a:r>
            <a:r>
              <a:rPr lang="en-US" sz="2000" b="0" dirty="0">
                <a:solidFill>
                  <a:srgbClr val="94E2D5"/>
                </a:solidFill>
                <a:effectLst/>
                <a:latin typeface="Consolas" panose="020B0609020204030204" pitchFamily="49" charset="0"/>
              </a:rPr>
              <a:t>*</a:t>
            </a:r>
            <a:r>
              <a:rPr lang="en-US" sz="2000" b="0" i="1" dirty="0">
                <a:solidFill>
                  <a:srgbClr val="EBA0AC"/>
                </a:solidFill>
                <a:effectLst/>
                <a:latin typeface="Consolas" panose="020B0609020204030204" pitchFamily="49" charset="0"/>
              </a:rPr>
              <a:t>s</a:t>
            </a:r>
            <a:r>
              <a:rPr lang="en-US" sz="2000" b="0" dirty="0">
                <a:solidFill>
                  <a:srgbClr val="9399B2"/>
                </a:solidFill>
                <a:effectLst/>
                <a:latin typeface="Consolas" panose="020B0609020204030204" pitchFamily="49" charset="0"/>
              </a:rPr>
              <a:t>);</a:t>
            </a:r>
            <a:endParaRPr lang="en-US" sz="2000" b="0" dirty="0">
              <a:solidFill>
                <a:srgbClr val="CDD6F4"/>
              </a:solidFill>
              <a:effectLst/>
              <a:latin typeface="Consolas" panose="020B0609020204030204" pitchFamily="49" charset="0"/>
            </a:endParaRPr>
          </a:p>
          <a:p>
            <a:pPr>
              <a:lnSpc>
                <a:spcPct val="125000"/>
              </a:lnSpc>
            </a:pPr>
            <a:r>
              <a:rPr lang="en-US" sz="2000" b="0" dirty="0">
                <a:solidFill>
                  <a:srgbClr val="CBA6F7"/>
                </a:solidFill>
                <a:effectLst/>
                <a:latin typeface="Consolas" panose="020B0609020204030204" pitchFamily="49" charset="0"/>
              </a:rPr>
              <a:t>int</a:t>
            </a:r>
            <a:r>
              <a:rPr lang="en-US" sz="2000" b="0" dirty="0">
                <a:solidFill>
                  <a:srgbClr val="CDD6F4"/>
                </a:solidFill>
                <a:effectLst/>
                <a:latin typeface="Consolas" panose="020B0609020204030204" pitchFamily="49" charset="0"/>
              </a:rPr>
              <a:t> </a:t>
            </a:r>
            <a:r>
              <a:rPr lang="en-US" sz="2000" b="0" i="1" dirty="0" err="1">
                <a:solidFill>
                  <a:srgbClr val="89B4FA"/>
                </a:solidFill>
                <a:effectLst/>
                <a:latin typeface="Consolas" panose="020B0609020204030204" pitchFamily="49" charset="0"/>
              </a:rPr>
              <a:t>mythreads_sem_destroy</a:t>
            </a:r>
            <a:r>
              <a:rPr lang="en-US" sz="2000" b="0" dirty="0">
                <a:solidFill>
                  <a:srgbClr val="9399B2"/>
                </a:solidFill>
                <a:effectLst/>
                <a:latin typeface="Consolas" panose="020B0609020204030204" pitchFamily="49" charset="0"/>
              </a:rPr>
              <a:t>(</a:t>
            </a:r>
            <a:r>
              <a:rPr lang="en-US" sz="2000" b="0" i="1" dirty="0" err="1">
                <a:solidFill>
                  <a:srgbClr val="F9E2AF"/>
                </a:solidFill>
                <a:effectLst/>
                <a:latin typeface="Consolas" panose="020B0609020204030204" pitchFamily="49" charset="0"/>
              </a:rPr>
              <a:t>mysem_t</a:t>
            </a:r>
            <a:r>
              <a:rPr lang="en-US" sz="2000" b="0" dirty="0">
                <a:solidFill>
                  <a:srgbClr val="CDD6F4"/>
                </a:solidFill>
                <a:effectLst/>
                <a:latin typeface="Consolas" panose="020B0609020204030204" pitchFamily="49" charset="0"/>
              </a:rPr>
              <a:t> </a:t>
            </a:r>
            <a:r>
              <a:rPr lang="en-US" sz="2000" b="0" dirty="0">
                <a:solidFill>
                  <a:srgbClr val="94E2D5"/>
                </a:solidFill>
                <a:effectLst/>
                <a:latin typeface="Consolas" panose="020B0609020204030204" pitchFamily="49" charset="0"/>
              </a:rPr>
              <a:t>*</a:t>
            </a:r>
            <a:r>
              <a:rPr lang="en-US" sz="2000" b="0" i="1" dirty="0">
                <a:solidFill>
                  <a:srgbClr val="EBA0AC"/>
                </a:solidFill>
                <a:effectLst/>
                <a:latin typeface="Consolas" panose="020B0609020204030204" pitchFamily="49" charset="0"/>
              </a:rPr>
              <a:t>s</a:t>
            </a:r>
            <a:r>
              <a:rPr lang="en-US" sz="2000" b="0" dirty="0">
                <a:solidFill>
                  <a:srgbClr val="9399B2"/>
                </a:solidFill>
                <a:effectLst/>
                <a:latin typeface="Consolas" panose="020B0609020204030204" pitchFamily="49" charset="0"/>
              </a:rPr>
              <a:t>);</a:t>
            </a:r>
            <a:endParaRPr lang="en-US" sz="2000" b="0" dirty="0">
              <a:solidFill>
                <a:srgbClr val="CDD6F4"/>
              </a:solidFill>
              <a:effectLst/>
              <a:latin typeface="Consolas" panose="020B0609020204030204" pitchFamily="49" charset="0"/>
            </a:endParaRPr>
          </a:p>
          <a:p>
            <a:pPr>
              <a:lnSpc>
                <a:spcPct val="125000"/>
              </a:lnSpc>
            </a:pPr>
            <a:r>
              <a:rPr lang="en-US" sz="2000" b="0" dirty="0">
                <a:solidFill>
                  <a:srgbClr val="CBA6F7"/>
                </a:solidFill>
                <a:effectLst/>
                <a:latin typeface="Consolas" panose="020B0609020204030204" pitchFamily="49" charset="0"/>
              </a:rPr>
              <a:t>void</a:t>
            </a:r>
            <a:r>
              <a:rPr lang="en-US" sz="2000" b="0" dirty="0">
                <a:solidFill>
                  <a:srgbClr val="CDD6F4"/>
                </a:solidFill>
                <a:effectLst/>
                <a:latin typeface="Consolas" panose="020B0609020204030204" pitchFamily="49" charset="0"/>
              </a:rPr>
              <a:t> </a:t>
            </a:r>
            <a:r>
              <a:rPr lang="en-US" sz="2000" b="0" i="1" dirty="0" err="1">
                <a:solidFill>
                  <a:srgbClr val="89B4FA"/>
                </a:solidFill>
                <a:effectLst/>
                <a:latin typeface="Consolas" panose="020B0609020204030204" pitchFamily="49" charset="0"/>
              </a:rPr>
              <a:t>mythreads_exit</a:t>
            </a:r>
            <a:r>
              <a:rPr lang="en-US" sz="2000" b="0" dirty="0">
                <a:solidFill>
                  <a:srgbClr val="9399B2"/>
                </a:solidFill>
                <a:effectLst/>
                <a:latin typeface="Consolas" panose="020B0609020204030204" pitchFamily="49" charset="0"/>
              </a:rPr>
              <a:t>();</a:t>
            </a:r>
            <a:endParaRPr lang="en-US" sz="2000" b="0" dirty="0">
              <a:solidFill>
                <a:srgbClr val="CDD6F4"/>
              </a:solidFill>
              <a:effectLst/>
              <a:latin typeface="Consolas" panose="020B0609020204030204" pitchFamily="49" charset="0"/>
            </a:endParaRPr>
          </a:p>
        </p:txBody>
      </p:sp>
    </p:spTree>
    <p:extLst>
      <p:ext uri="{BB962C8B-B14F-4D97-AF65-F5344CB8AC3E}">
        <p14:creationId xmlns:p14="http://schemas.microsoft.com/office/powerpoint/2010/main" val="28113729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EB1BC-3A13-F7CE-8E85-0184F84229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DB8719-1380-DBA6-76D7-956CF6F1124B}"/>
              </a:ext>
            </a:extLst>
          </p:cNvPr>
          <p:cNvSpPr>
            <a:spLocks noGrp="1"/>
          </p:cNvSpPr>
          <p:nvPr>
            <p:ph type="title"/>
          </p:nvPr>
        </p:nvSpPr>
        <p:spPr/>
        <p:txBody>
          <a:bodyPr/>
          <a:lstStyle/>
          <a:p>
            <a:r>
              <a:rPr lang="en-US" b="1" dirty="0"/>
              <a:t>Assignment 2: </a:t>
            </a:r>
            <a:r>
              <a:rPr lang="en-US" dirty="0" err="1">
                <a:latin typeface="Consolas" panose="020B0609020204030204" pitchFamily="49" charset="0"/>
              </a:rPr>
              <a:t>mythreads</a:t>
            </a:r>
            <a:r>
              <a:rPr lang="en-US" b="1" dirty="0"/>
              <a:t> </a:t>
            </a:r>
            <a:r>
              <a:rPr lang="en-US" dirty="0"/>
              <a:t>API</a:t>
            </a:r>
          </a:p>
        </p:txBody>
      </p:sp>
      <p:sp>
        <p:nvSpPr>
          <p:cNvPr id="10" name="TextBox 9">
            <a:extLst>
              <a:ext uri="{FF2B5EF4-FFF2-40B4-BE49-F238E27FC236}">
                <a16:creationId xmlns:a16="http://schemas.microsoft.com/office/drawing/2014/main" id="{5E5634FB-4F65-EEB3-BECA-F6B7E773E246}"/>
              </a:ext>
            </a:extLst>
          </p:cNvPr>
          <p:cNvSpPr txBox="1"/>
          <p:nvPr/>
        </p:nvSpPr>
        <p:spPr>
          <a:xfrm>
            <a:off x="838200" y="1690062"/>
            <a:ext cx="4698722" cy="3477875"/>
          </a:xfrm>
          <a:prstGeom prst="rect">
            <a:avLst/>
          </a:prstGeom>
          <a:noFill/>
        </p:spPr>
        <p:txBody>
          <a:bodyPr wrap="none" rtlCol="0">
            <a:spAutoFit/>
          </a:bodyPr>
          <a:lstStyle/>
          <a:p>
            <a:r>
              <a:rPr lang="en-US" sz="2000" b="0" dirty="0">
                <a:solidFill>
                  <a:srgbClr val="CBA6F7"/>
                </a:solidFill>
                <a:effectLst/>
                <a:latin typeface="Consolas" panose="020B0609020204030204" pitchFamily="49" charset="0"/>
              </a:rPr>
              <a:t>typedef</a:t>
            </a:r>
            <a:r>
              <a:rPr lang="en-US" sz="2000" b="0" dirty="0">
                <a:solidFill>
                  <a:srgbClr val="CDD6F4"/>
                </a:solidFill>
                <a:effectLst/>
                <a:latin typeface="Consolas" panose="020B0609020204030204" pitchFamily="49" charset="0"/>
              </a:rPr>
              <a:t> </a:t>
            </a:r>
            <a:r>
              <a:rPr lang="en-US" sz="2000" b="0" dirty="0">
                <a:solidFill>
                  <a:srgbClr val="CBA6F7"/>
                </a:solidFill>
                <a:effectLst/>
                <a:latin typeface="Consolas" panose="020B0609020204030204" pitchFamily="49" charset="0"/>
              </a:rPr>
              <a:t>struct</a:t>
            </a:r>
            <a:r>
              <a:rPr lang="en-US" sz="2000" b="0" dirty="0">
                <a:solidFill>
                  <a:srgbClr val="CDD6F4"/>
                </a:solidFill>
                <a:effectLst/>
                <a:latin typeface="Consolas" panose="020B0609020204030204" pitchFamily="49" charset="0"/>
              </a:rPr>
              <a:t> </a:t>
            </a:r>
            <a:r>
              <a:rPr lang="en-US" sz="2000" b="0" dirty="0" err="1">
                <a:solidFill>
                  <a:srgbClr val="CDD6F4"/>
                </a:solidFill>
                <a:effectLst/>
                <a:latin typeface="Consolas" panose="020B0609020204030204" pitchFamily="49" charset="0"/>
              </a:rPr>
              <a:t>thread_runnable</a:t>
            </a:r>
            <a:r>
              <a:rPr lang="en-US" sz="2000" b="0" dirty="0">
                <a:solidFill>
                  <a:srgbClr val="CDD6F4"/>
                </a:solidFill>
                <a:effectLst/>
                <a:latin typeface="Consolas" panose="020B0609020204030204" pitchFamily="49" charset="0"/>
              </a:rPr>
              <a:t> </a:t>
            </a:r>
            <a:r>
              <a:rPr lang="en-US" sz="2000" b="0" dirty="0">
                <a:solidFill>
                  <a:srgbClr val="9399B2"/>
                </a:solidFill>
                <a:effectLst/>
                <a:latin typeface="Consolas" panose="020B0609020204030204" pitchFamily="49" charset="0"/>
              </a:rPr>
              <a:t>{</a:t>
            </a:r>
            <a:endParaRPr lang="en-US" sz="2000" b="0" dirty="0">
              <a:solidFill>
                <a:srgbClr val="CDD6F4"/>
              </a:solidFill>
              <a:effectLst/>
              <a:latin typeface="Consolas" panose="020B0609020204030204" pitchFamily="49" charset="0"/>
            </a:endParaRPr>
          </a:p>
          <a:p>
            <a:r>
              <a:rPr lang="en-US" sz="2000" b="0" dirty="0">
                <a:solidFill>
                  <a:srgbClr val="CDD6F4"/>
                </a:solidFill>
                <a:effectLst/>
                <a:latin typeface="Consolas" panose="020B0609020204030204" pitchFamily="49" charset="0"/>
              </a:rPr>
              <a:t>    </a:t>
            </a:r>
            <a:r>
              <a:rPr lang="en-US" sz="2000" b="0" dirty="0">
                <a:solidFill>
                  <a:srgbClr val="CBA6F7"/>
                </a:solidFill>
                <a:effectLst/>
                <a:latin typeface="Consolas" panose="020B0609020204030204" pitchFamily="49" charset="0"/>
              </a:rPr>
              <a:t>void</a:t>
            </a:r>
            <a:r>
              <a:rPr lang="en-US" sz="2000" b="0" dirty="0">
                <a:solidFill>
                  <a:srgbClr val="CDD6F4"/>
                </a:solidFill>
                <a:effectLst/>
                <a:latin typeface="Consolas" panose="020B0609020204030204" pitchFamily="49" charset="0"/>
              </a:rPr>
              <a:t> </a:t>
            </a:r>
            <a:r>
              <a:rPr lang="en-US" sz="2000" b="0" dirty="0">
                <a:solidFill>
                  <a:srgbClr val="9399B2"/>
                </a:solidFill>
                <a:effectLst/>
                <a:latin typeface="Consolas" panose="020B0609020204030204" pitchFamily="49" charset="0"/>
              </a:rPr>
              <a:t>(</a:t>
            </a:r>
            <a:r>
              <a:rPr lang="en-US" sz="2000" b="0" dirty="0">
                <a:solidFill>
                  <a:srgbClr val="94E2D5"/>
                </a:solidFill>
                <a:effectLst/>
                <a:latin typeface="Consolas" panose="020B0609020204030204" pitchFamily="49" charset="0"/>
              </a:rPr>
              <a:t>*</a:t>
            </a:r>
            <a:r>
              <a:rPr lang="en-US" sz="2000" b="0" dirty="0">
                <a:solidFill>
                  <a:srgbClr val="CDD6F4"/>
                </a:solidFill>
                <a:effectLst/>
                <a:latin typeface="Consolas" panose="020B0609020204030204" pitchFamily="49" charset="0"/>
              </a:rPr>
              <a:t>body</a:t>
            </a:r>
            <a:r>
              <a:rPr lang="en-US" sz="2000" b="0" dirty="0">
                <a:solidFill>
                  <a:srgbClr val="9399B2"/>
                </a:solidFill>
                <a:effectLst/>
                <a:latin typeface="Consolas" panose="020B0609020204030204" pitchFamily="49" charset="0"/>
              </a:rPr>
              <a:t>)</a:t>
            </a:r>
            <a:r>
              <a:rPr lang="en-US" sz="2000" b="0" dirty="0">
                <a:solidFill>
                  <a:srgbClr val="CDD6F4"/>
                </a:solidFill>
                <a:effectLst/>
                <a:latin typeface="Consolas" panose="020B0609020204030204" pitchFamily="49" charset="0"/>
              </a:rPr>
              <a:t> </a:t>
            </a:r>
            <a:r>
              <a:rPr lang="en-US" sz="2000" b="0" dirty="0">
                <a:solidFill>
                  <a:srgbClr val="9399B2"/>
                </a:solidFill>
                <a:effectLst/>
                <a:latin typeface="Consolas" panose="020B0609020204030204" pitchFamily="49" charset="0"/>
              </a:rPr>
              <a:t>(</a:t>
            </a:r>
            <a:r>
              <a:rPr lang="en-US" sz="2000" b="0" dirty="0">
                <a:solidFill>
                  <a:srgbClr val="CBA6F7"/>
                </a:solidFill>
                <a:effectLst/>
                <a:latin typeface="Consolas" panose="020B0609020204030204" pitchFamily="49" charset="0"/>
              </a:rPr>
              <a:t>void</a:t>
            </a:r>
            <a:r>
              <a:rPr lang="en-US" sz="2000" b="0" dirty="0">
                <a:solidFill>
                  <a:srgbClr val="CDD6F4"/>
                </a:solidFill>
                <a:effectLst/>
                <a:latin typeface="Consolas" panose="020B0609020204030204" pitchFamily="49" charset="0"/>
              </a:rPr>
              <a:t> </a:t>
            </a:r>
            <a:r>
              <a:rPr lang="en-US" sz="2000" b="0" dirty="0">
                <a:solidFill>
                  <a:srgbClr val="94E2D5"/>
                </a:solidFill>
                <a:effectLst/>
                <a:latin typeface="Consolas" panose="020B0609020204030204" pitchFamily="49" charset="0"/>
              </a:rPr>
              <a:t>*</a:t>
            </a:r>
            <a:r>
              <a:rPr lang="en-US" sz="2000" b="0" dirty="0">
                <a:solidFill>
                  <a:srgbClr val="9399B2"/>
                </a:solidFill>
                <a:effectLst/>
                <a:latin typeface="Consolas" panose="020B0609020204030204" pitchFamily="49" charset="0"/>
              </a:rPr>
              <a:t>);</a:t>
            </a:r>
            <a:endParaRPr lang="en-US" sz="2000" b="0" dirty="0">
              <a:solidFill>
                <a:srgbClr val="CDD6F4"/>
              </a:solidFill>
              <a:effectLst/>
              <a:latin typeface="Consolas" panose="020B0609020204030204" pitchFamily="49" charset="0"/>
            </a:endParaRPr>
          </a:p>
          <a:p>
            <a:r>
              <a:rPr lang="en-US" sz="2000" b="0" dirty="0">
                <a:solidFill>
                  <a:srgbClr val="CDD6F4"/>
                </a:solidFill>
                <a:effectLst/>
                <a:latin typeface="Consolas" panose="020B0609020204030204" pitchFamily="49" charset="0"/>
              </a:rPr>
              <a:t>    </a:t>
            </a:r>
            <a:r>
              <a:rPr lang="en-US" sz="2000" b="0" dirty="0">
                <a:solidFill>
                  <a:srgbClr val="CBA6F7"/>
                </a:solidFill>
                <a:effectLst/>
                <a:latin typeface="Consolas" panose="020B0609020204030204" pitchFamily="49" charset="0"/>
              </a:rPr>
              <a:t>void</a:t>
            </a:r>
            <a:r>
              <a:rPr lang="en-US" sz="2000" b="0" dirty="0">
                <a:solidFill>
                  <a:srgbClr val="CDD6F4"/>
                </a:solidFill>
                <a:effectLst/>
                <a:latin typeface="Consolas" panose="020B0609020204030204" pitchFamily="49" charset="0"/>
              </a:rPr>
              <a:t> </a:t>
            </a:r>
            <a:r>
              <a:rPr lang="en-US" sz="2000" b="0" dirty="0">
                <a:solidFill>
                  <a:srgbClr val="94E2D5"/>
                </a:solidFill>
                <a:effectLst/>
                <a:latin typeface="Consolas" panose="020B0609020204030204" pitchFamily="49" charset="0"/>
              </a:rPr>
              <a:t>*</a:t>
            </a:r>
            <a:r>
              <a:rPr lang="en-US" sz="2000" b="0" dirty="0" err="1">
                <a:solidFill>
                  <a:srgbClr val="CDD6F4"/>
                </a:solidFill>
                <a:effectLst/>
                <a:latin typeface="Consolas" panose="020B0609020204030204" pitchFamily="49" charset="0"/>
              </a:rPr>
              <a:t>arg</a:t>
            </a:r>
            <a:r>
              <a:rPr lang="en-US" sz="2000" b="0" dirty="0">
                <a:solidFill>
                  <a:srgbClr val="9399B2"/>
                </a:solidFill>
                <a:effectLst/>
                <a:latin typeface="Consolas" panose="020B0609020204030204" pitchFamily="49" charset="0"/>
              </a:rPr>
              <a:t>;</a:t>
            </a:r>
            <a:endParaRPr lang="en-US" sz="2000" b="0" dirty="0">
              <a:solidFill>
                <a:srgbClr val="CDD6F4"/>
              </a:solidFill>
              <a:effectLst/>
              <a:latin typeface="Consolas" panose="020B0609020204030204" pitchFamily="49" charset="0"/>
            </a:endParaRPr>
          </a:p>
          <a:p>
            <a:r>
              <a:rPr lang="en-US" sz="2000" b="0" dirty="0">
                <a:solidFill>
                  <a:srgbClr val="9399B2"/>
                </a:solidFill>
                <a:effectLst/>
                <a:latin typeface="Consolas" panose="020B0609020204030204" pitchFamily="49" charset="0"/>
              </a:rPr>
              <a:t>}</a:t>
            </a:r>
            <a:r>
              <a:rPr lang="en-US" sz="2000" b="0" dirty="0">
                <a:solidFill>
                  <a:srgbClr val="CDD6F4"/>
                </a:solidFill>
                <a:effectLst/>
                <a:latin typeface="Consolas" panose="020B0609020204030204" pitchFamily="49" charset="0"/>
              </a:rPr>
              <a:t> </a:t>
            </a:r>
            <a:r>
              <a:rPr lang="en-US" sz="2000" b="0" i="1" dirty="0" err="1">
                <a:solidFill>
                  <a:srgbClr val="F9E2AF"/>
                </a:solidFill>
                <a:effectLst/>
                <a:latin typeface="Consolas" panose="020B0609020204030204" pitchFamily="49" charset="0"/>
              </a:rPr>
              <a:t>thread_runnable_t</a:t>
            </a:r>
            <a:r>
              <a:rPr lang="en-US" sz="2000" b="0" dirty="0">
                <a:solidFill>
                  <a:srgbClr val="9399B2"/>
                </a:solidFill>
                <a:effectLst/>
                <a:latin typeface="Consolas" panose="020B0609020204030204" pitchFamily="49" charset="0"/>
              </a:rPr>
              <a:t>;</a:t>
            </a:r>
            <a:endParaRPr lang="en-US" sz="2000" b="0" dirty="0">
              <a:solidFill>
                <a:srgbClr val="CDD6F4"/>
              </a:solidFill>
              <a:effectLst/>
              <a:latin typeface="Consolas" panose="020B0609020204030204" pitchFamily="49" charset="0"/>
            </a:endParaRPr>
          </a:p>
          <a:p>
            <a:br>
              <a:rPr lang="en-US" sz="2000" b="0" dirty="0">
                <a:solidFill>
                  <a:srgbClr val="CDD6F4"/>
                </a:solidFill>
                <a:effectLst/>
                <a:latin typeface="Consolas" panose="020B0609020204030204" pitchFamily="49" charset="0"/>
              </a:rPr>
            </a:br>
            <a:r>
              <a:rPr lang="en-US" sz="2000" b="0" dirty="0" err="1">
                <a:solidFill>
                  <a:srgbClr val="CBA6F7"/>
                </a:solidFill>
                <a:effectLst/>
                <a:latin typeface="Consolas" panose="020B0609020204030204" pitchFamily="49" charset="0"/>
              </a:rPr>
              <a:t>enum</a:t>
            </a:r>
            <a:r>
              <a:rPr lang="en-US" sz="2000" b="0" dirty="0">
                <a:solidFill>
                  <a:srgbClr val="CDD6F4"/>
                </a:solidFill>
                <a:effectLst/>
                <a:latin typeface="Consolas" panose="020B0609020204030204" pitchFamily="49" charset="0"/>
              </a:rPr>
              <a:t> </a:t>
            </a:r>
            <a:r>
              <a:rPr lang="en-US" sz="2000" b="0" dirty="0" err="1">
                <a:solidFill>
                  <a:srgbClr val="CDD6F4"/>
                </a:solidFill>
                <a:effectLst/>
                <a:latin typeface="Consolas" panose="020B0609020204030204" pitchFamily="49" charset="0"/>
              </a:rPr>
              <a:t>thread_state</a:t>
            </a:r>
            <a:r>
              <a:rPr lang="en-US" sz="2000" b="0" dirty="0">
                <a:solidFill>
                  <a:srgbClr val="CDD6F4"/>
                </a:solidFill>
                <a:effectLst/>
                <a:latin typeface="Consolas" panose="020B0609020204030204" pitchFamily="49" charset="0"/>
              </a:rPr>
              <a:t> </a:t>
            </a:r>
            <a:r>
              <a:rPr lang="en-US" sz="2000" b="0" dirty="0">
                <a:solidFill>
                  <a:srgbClr val="9399B2"/>
                </a:solidFill>
                <a:effectLst/>
                <a:latin typeface="Consolas" panose="020B0609020204030204" pitchFamily="49" charset="0"/>
              </a:rPr>
              <a:t>{</a:t>
            </a:r>
            <a:endParaRPr lang="en-US" sz="2000" b="0" dirty="0">
              <a:solidFill>
                <a:srgbClr val="CDD6F4"/>
              </a:solidFill>
              <a:effectLst/>
              <a:latin typeface="Consolas" panose="020B0609020204030204" pitchFamily="49" charset="0"/>
            </a:endParaRPr>
          </a:p>
          <a:p>
            <a:r>
              <a:rPr lang="en-US" sz="2000" b="0" dirty="0">
                <a:solidFill>
                  <a:srgbClr val="CDD6F4"/>
                </a:solidFill>
                <a:effectLst/>
                <a:latin typeface="Consolas" panose="020B0609020204030204" pitchFamily="49" charset="0"/>
              </a:rPr>
              <a:t>    READY</a:t>
            </a:r>
            <a:r>
              <a:rPr lang="en-US" sz="2000" b="0" dirty="0">
                <a:solidFill>
                  <a:srgbClr val="9399B2"/>
                </a:solidFill>
                <a:effectLst/>
                <a:latin typeface="Consolas" panose="020B0609020204030204" pitchFamily="49" charset="0"/>
              </a:rPr>
              <a:t>,</a:t>
            </a:r>
            <a:endParaRPr lang="en-US" sz="2000" b="0" dirty="0">
              <a:solidFill>
                <a:srgbClr val="CDD6F4"/>
              </a:solidFill>
              <a:effectLst/>
              <a:latin typeface="Consolas" panose="020B0609020204030204" pitchFamily="49" charset="0"/>
            </a:endParaRPr>
          </a:p>
          <a:p>
            <a:r>
              <a:rPr lang="en-US" sz="2000" b="0" dirty="0">
                <a:solidFill>
                  <a:srgbClr val="CDD6F4"/>
                </a:solidFill>
                <a:effectLst/>
                <a:latin typeface="Consolas" panose="020B0609020204030204" pitchFamily="49" charset="0"/>
              </a:rPr>
              <a:t>    SLEEPING</a:t>
            </a:r>
            <a:r>
              <a:rPr lang="en-US" sz="2000" b="0" dirty="0">
                <a:solidFill>
                  <a:srgbClr val="9399B2"/>
                </a:solidFill>
                <a:effectLst/>
                <a:latin typeface="Consolas" panose="020B0609020204030204" pitchFamily="49" charset="0"/>
              </a:rPr>
              <a:t>,</a:t>
            </a:r>
            <a:endParaRPr lang="en-US" sz="2000" b="0" dirty="0">
              <a:solidFill>
                <a:srgbClr val="CDD6F4"/>
              </a:solidFill>
              <a:effectLst/>
              <a:latin typeface="Consolas" panose="020B0609020204030204" pitchFamily="49" charset="0"/>
            </a:endParaRPr>
          </a:p>
          <a:p>
            <a:r>
              <a:rPr lang="en-US" sz="2000" b="0" dirty="0">
                <a:solidFill>
                  <a:srgbClr val="CDD6F4"/>
                </a:solidFill>
                <a:effectLst/>
                <a:latin typeface="Consolas" panose="020B0609020204030204" pitchFamily="49" charset="0"/>
              </a:rPr>
              <a:t>    BLOCKED</a:t>
            </a:r>
            <a:r>
              <a:rPr lang="en-US" sz="2000" b="0" dirty="0">
                <a:solidFill>
                  <a:srgbClr val="9399B2"/>
                </a:solidFill>
                <a:effectLst/>
                <a:latin typeface="Consolas" panose="020B0609020204030204" pitchFamily="49" charset="0"/>
              </a:rPr>
              <a:t>,</a:t>
            </a:r>
            <a:endParaRPr lang="en-US" sz="2000" b="0" dirty="0">
              <a:solidFill>
                <a:srgbClr val="CDD6F4"/>
              </a:solidFill>
              <a:effectLst/>
              <a:latin typeface="Consolas" panose="020B0609020204030204" pitchFamily="49" charset="0"/>
            </a:endParaRPr>
          </a:p>
          <a:p>
            <a:r>
              <a:rPr lang="en-US" sz="2000" b="0" dirty="0">
                <a:solidFill>
                  <a:srgbClr val="CDD6F4"/>
                </a:solidFill>
                <a:effectLst/>
                <a:latin typeface="Consolas" panose="020B0609020204030204" pitchFamily="49" charset="0"/>
              </a:rPr>
              <a:t>    TERMINATED</a:t>
            </a:r>
          </a:p>
          <a:p>
            <a:r>
              <a:rPr lang="en-US" sz="2000" b="0" dirty="0">
                <a:solidFill>
                  <a:srgbClr val="9399B2"/>
                </a:solidFill>
                <a:effectLst/>
                <a:latin typeface="Consolas" panose="020B0609020204030204" pitchFamily="49" charset="0"/>
              </a:rPr>
              <a:t>};</a:t>
            </a:r>
            <a:endParaRPr lang="en-US" sz="2000" b="0" dirty="0">
              <a:solidFill>
                <a:srgbClr val="CDD6F4"/>
              </a:solidFill>
              <a:effectLst/>
              <a:latin typeface="Consolas" panose="020B0609020204030204" pitchFamily="49" charset="0"/>
            </a:endParaRPr>
          </a:p>
        </p:txBody>
      </p:sp>
      <p:sp>
        <p:nvSpPr>
          <p:cNvPr id="3" name="TextBox 2">
            <a:extLst>
              <a:ext uri="{FF2B5EF4-FFF2-40B4-BE49-F238E27FC236}">
                <a16:creationId xmlns:a16="http://schemas.microsoft.com/office/drawing/2014/main" id="{89AE92DB-CD69-55B5-6D8D-6B21BD470541}"/>
              </a:ext>
            </a:extLst>
          </p:cNvPr>
          <p:cNvSpPr txBox="1"/>
          <p:nvPr/>
        </p:nvSpPr>
        <p:spPr>
          <a:xfrm>
            <a:off x="6736830" y="1690062"/>
            <a:ext cx="4616970" cy="2308324"/>
          </a:xfrm>
          <a:prstGeom prst="rect">
            <a:avLst/>
          </a:prstGeom>
          <a:noFill/>
        </p:spPr>
        <p:txBody>
          <a:bodyPr wrap="none" rtlCol="0">
            <a:spAutoFit/>
          </a:bodyPr>
          <a:lstStyle/>
          <a:p>
            <a:r>
              <a:rPr lang="en-US" sz="1800" b="0" dirty="0">
                <a:solidFill>
                  <a:srgbClr val="CBA6F7"/>
                </a:solidFill>
                <a:effectLst/>
                <a:latin typeface="Consolas" panose="020B0609020204030204" pitchFamily="49" charset="0"/>
              </a:rPr>
              <a:t>typedef</a:t>
            </a:r>
            <a:r>
              <a:rPr lang="en-US" sz="1800" b="0" dirty="0">
                <a:solidFill>
                  <a:srgbClr val="CDD6F4"/>
                </a:solidFill>
                <a:effectLst/>
                <a:latin typeface="Consolas" panose="020B0609020204030204" pitchFamily="49" charset="0"/>
              </a:rPr>
              <a:t> </a:t>
            </a:r>
            <a:r>
              <a:rPr lang="en-US" sz="1800" b="0" dirty="0">
                <a:solidFill>
                  <a:srgbClr val="CBA6F7"/>
                </a:solidFill>
                <a:effectLst/>
                <a:latin typeface="Consolas" panose="020B0609020204030204" pitchFamily="49" charset="0"/>
              </a:rPr>
              <a:t>struct</a:t>
            </a:r>
            <a:r>
              <a:rPr lang="en-US" sz="1800" b="0" dirty="0">
                <a:solidFill>
                  <a:srgbClr val="CDD6F4"/>
                </a:solidFill>
                <a:effectLst/>
                <a:latin typeface="Consolas" panose="020B0609020204030204" pitchFamily="49" charset="0"/>
              </a:rPr>
              <a:t> </a:t>
            </a:r>
            <a:r>
              <a:rPr lang="en-US" sz="1800" b="0" dirty="0" err="1">
                <a:solidFill>
                  <a:srgbClr val="CDD6F4"/>
                </a:solidFill>
                <a:effectLst/>
                <a:latin typeface="Consolas" panose="020B0609020204030204" pitchFamily="49" charset="0"/>
              </a:rPr>
              <a:t>mythread</a:t>
            </a:r>
            <a:r>
              <a:rPr lang="en-US" sz="1800" b="0" dirty="0">
                <a:solidFill>
                  <a:srgbClr val="CDD6F4"/>
                </a:solidFill>
                <a:effectLst/>
                <a:latin typeface="Consolas" panose="020B0609020204030204" pitchFamily="49" charset="0"/>
              </a:rPr>
              <a:t> </a:t>
            </a:r>
            <a:r>
              <a:rPr lang="en-US" sz="1800" b="0" dirty="0">
                <a:solidFill>
                  <a:srgbClr val="9399B2"/>
                </a:solidFill>
                <a:effectLst/>
                <a:latin typeface="Consolas" panose="020B0609020204030204" pitchFamily="49" charset="0"/>
              </a:rPr>
              <a:t>{</a:t>
            </a:r>
            <a:endParaRPr lang="en-US" sz="1800" b="0" dirty="0">
              <a:solidFill>
                <a:srgbClr val="CDD6F4"/>
              </a:solidFill>
              <a:effectLst/>
              <a:latin typeface="Consolas" panose="020B0609020204030204" pitchFamily="49" charset="0"/>
            </a:endParaRPr>
          </a:p>
          <a:p>
            <a:r>
              <a:rPr lang="en-US" sz="1800" b="0" dirty="0">
                <a:solidFill>
                  <a:srgbClr val="CDD6F4"/>
                </a:solidFill>
                <a:effectLst/>
                <a:latin typeface="Consolas" panose="020B0609020204030204" pitchFamily="49" charset="0"/>
              </a:rPr>
              <a:t>    </a:t>
            </a:r>
            <a:r>
              <a:rPr lang="en-US" sz="1800" b="0" i="1" dirty="0" err="1">
                <a:solidFill>
                  <a:srgbClr val="F9E2AF"/>
                </a:solidFill>
                <a:effectLst/>
                <a:latin typeface="Consolas" panose="020B0609020204030204" pitchFamily="49" charset="0"/>
              </a:rPr>
              <a:t>thread_runnable_t</a:t>
            </a:r>
            <a:r>
              <a:rPr lang="en-US" sz="1800" b="0" dirty="0">
                <a:solidFill>
                  <a:srgbClr val="CDD6F4"/>
                </a:solidFill>
                <a:effectLst/>
                <a:latin typeface="Consolas" panose="020B0609020204030204" pitchFamily="49" charset="0"/>
              </a:rPr>
              <a:t> runnable</a:t>
            </a:r>
            <a:r>
              <a:rPr lang="en-US" sz="1800" b="0" dirty="0">
                <a:solidFill>
                  <a:srgbClr val="9399B2"/>
                </a:solidFill>
                <a:effectLst/>
                <a:latin typeface="Consolas" panose="020B0609020204030204" pitchFamily="49" charset="0"/>
              </a:rPr>
              <a:t>;</a:t>
            </a:r>
            <a:endParaRPr lang="en-US" sz="1800" b="0" dirty="0">
              <a:solidFill>
                <a:srgbClr val="CDD6F4"/>
              </a:solidFill>
              <a:effectLst/>
              <a:latin typeface="Consolas" panose="020B0609020204030204" pitchFamily="49" charset="0"/>
            </a:endParaRPr>
          </a:p>
          <a:p>
            <a:r>
              <a:rPr lang="en-US" sz="1800" b="0" dirty="0">
                <a:solidFill>
                  <a:srgbClr val="CDD6F4"/>
                </a:solidFill>
                <a:effectLst/>
                <a:latin typeface="Consolas" panose="020B0609020204030204" pitchFamily="49" charset="0"/>
              </a:rPr>
              <a:t>    </a:t>
            </a:r>
            <a:r>
              <a:rPr lang="en-US" sz="1800" b="0" i="1" dirty="0" err="1">
                <a:solidFill>
                  <a:srgbClr val="F9E2AF"/>
                </a:solidFill>
                <a:effectLst/>
                <a:latin typeface="Consolas" panose="020B0609020204030204" pitchFamily="49" charset="0"/>
              </a:rPr>
              <a:t>co_t</a:t>
            </a:r>
            <a:r>
              <a:rPr lang="en-US" sz="1800" b="0" dirty="0">
                <a:solidFill>
                  <a:srgbClr val="CDD6F4"/>
                </a:solidFill>
                <a:effectLst/>
                <a:latin typeface="Consolas" panose="020B0609020204030204" pitchFamily="49" charset="0"/>
              </a:rPr>
              <a:t> co</a:t>
            </a:r>
            <a:r>
              <a:rPr lang="en-US" sz="1800" b="0" dirty="0">
                <a:solidFill>
                  <a:srgbClr val="9399B2"/>
                </a:solidFill>
                <a:effectLst/>
                <a:latin typeface="Consolas" panose="020B0609020204030204" pitchFamily="49" charset="0"/>
              </a:rPr>
              <a:t>;</a:t>
            </a:r>
            <a:endParaRPr lang="en-US" sz="1800" b="0" dirty="0">
              <a:solidFill>
                <a:srgbClr val="CDD6F4"/>
              </a:solidFill>
              <a:effectLst/>
              <a:latin typeface="Consolas" panose="020B0609020204030204" pitchFamily="49" charset="0"/>
            </a:endParaRPr>
          </a:p>
          <a:p>
            <a:r>
              <a:rPr lang="en-US" sz="1800" b="0" dirty="0">
                <a:solidFill>
                  <a:srgbClr val="CDD6F4"/>
                </a:solidFill>
                <a:effectLst/>
                <a:latin typeface="Consolas" panose="020B0609020204030204" pitchFamily="49" charset="0"/>
              </a:rPr>
              <a:t>    </a:t>
            </a:r>
            <a:r>
              <a:rPr lang="en-US" sz="1800" b="0" dirty="0" err="1">
                <a:solidFill>
                  <a:srgbClr val="CBA6F7"/>
                </a:solidFill>
                <a:effectLst/>
                <a:latin typeface="Consolas" panose="020B0609020204030204" pitchFamily="49" charset="0"/>
              </a:rPr>
              <a:t>enum</a:t>
            </a:r>
            <a:r>
              <a:rPr lang="en-US" sz="1800" b="0" dirty="0">
                <a:solidFill>
                  <a:srgbClr val="CDD6F4"/>
                </a:solidFill>
                <a:effectLst/>
                <a:latin typeface="Consolas" panose="020B0609020204030204" pitchFamily="49" charset="0"/>
              </a:rPr>
              <a:t> </a:t>
            </a:r>
            <a:r>
              <a:rPr lang="en-US" sz="1800" b="0" dirty="0" err="1">
                <a:solidFill>
                  <a:srgbClr val="CDD6F4"/>
                </a:solidFill>
                <a:effectLst/>
                <a:latin typeface="Consolas" panose="020B0609020204030204" pitchFamily="49" charset="0"/>
              </a:rPr>
              <a:t>thread_state</a:t>
            </a:r>
            <a:r>
              <a:rPr lang="en-US" sz="1800" b="0" dirty="0">
                <a:solidFill>
                  <a:srgbClr val="CDD6F4"/>
                </a:solidFill>
                <a:effectLst/>
                <a:latin typeface="Consolas" panose="020B0609020204030204" pitchFamily="49" charset="0"/>
              </a:rPr>
              <a:t> state</a:t>
            </a:r>
            <a:r>
              <a:rPr lang="en-US" sz="1800" b="0" dirty="0">
                <a:solidFill>
                  <a:srgbClr val="9399B2"/>
                </a:solidFill>
                <a:effectLst/>
                <a:latin typeface="Consolas" panose="020B0609020204030204" pitchFamily="49" charset="0"/>
              </a:rPr>
              <a:t>;</a:t>
            </a:r>
            <a:endParaRPr lang="en-US" sz="1800" b="0" dirty="0">
              <a:solidFill>
                <a:srgbClr val="CDD6F4"/>
              </a:solidFill>
              <a:effectLst/>
              <a:latin typeface="Consolas" panose="020B0609020204030204" pitchFamily="49" charset="0"/>
            </a:endParaRPr>
          </a:p>
          <a:p>
            <a:r>
              <a:rPr lang="en-US" sz="1800" b="0" dirty="0">
                <a:solidFill>
                  <a:srgbClr val="CDD6F4"/>
                </a:solidFill>
                <a:effectLst/>
                <a:latin typeface="Consolas" panose="020B0609020204030204" pitchFamily="49" charset="0"/>
              </a:rPr>
              <a:t>    </a:t>
            </a:r>
            <a:r>
              <a:rPr lang="en-US" sz="1800" b="0" dirty="0">
                <a:solidFill>
                  <a:srgbClr val="CBA6F7"/>
                </a:solidFill>
                <a:effectLst/>
                <a:latin typeface="Consolas" panose="020B0609020204030204" pitchFamily="49" charset="0"/>
              </a:rPr>
              <a:t>unsigned</a:t>
            </a:r>
            <a:r>
              <a:rPr lang="en-US" sz="1800" b="0" dirty="0">
                <a:solidFill>
                  <a:srgbClr val="CDD6F4"/>
                </a:solidFill>
                <a:effectLst/>
                <a:latin typeface="Consolas" panose="020B0609020204030204" pitchFamily="49" charset="0"/>
              </a:rPr>
              <a:t> </a:t>
            </a:r>
            <a:r>
              <a:rPr lang="en-US" sz="1800" b="0" dirty="0">
                <a:solidFill>
                  <a:srgbClr val="CBA6F7"/>
                </a:solidFill>
                <a:effectLst/>
                <a:latin typeface="Consolas" panose="020B0609020204030204" pitchFamily="49" charset="0"/>
              </a:rPr>
              <a:t>long</a:t>
            </a:r>
            <a:r>
              <a:rPr lang="en-US" sz="1800" b="0" dirty="0">
                <a:solidFill>
                  <a:srgbClr val="CDD6F4"/>
                </a:solidFill>
                <a:effectLst/>
                <a:latin typeface="Consolas" panose="020B0609020204030204" pitchFamily="49" charset="0"/>
              </a:rPr>
              <a:t> </a:t>
            </a:r>
            <a:r>
              <a:rPr lang="en-US" sz="1800" b="0" dirty="0" err="1">
                <a:solidFill>
                  <a:srgbClr val="CBA6F7"/>
                </a:solidFill>
                <a:effectLst/>
                <a:latin typeface="Consolas" panose="020B0609020204030204" pitchFamily="49" charset="0"/>
              </a:rPr>
              <a:t>long</a:t>
            </a:r>
            <a:r>
              <a:rPr lang="en-US" sz="1800" b="0" dirty="0">
                <a:solidFill>
                  <a:srgbClr val="CDD6F4"/>
                </a:solidFill>
                <a:effectLst/>
                <a:latin typeface="Consolas" panose="020B0609020204030204" pitchFamily="49" charset="0"/>
              </a:rPr>
              <a:t> </a:t>
            </a:r>
            <a:r>
              <a:rPr lang="en-US" sz="1800" b="0" dirty="0" err="1">
                <a:solidFill>
                  <a:srgbClr val="CDD6F4"/>
                </a:solidFill>
                <a:effectLst/>
                <a:latin typeface="Consolas" panose="020B0609020204030204" pitchFamily="49" charset="0"/>
              </a:rPr>
              <a:t>sleep_until</a:t>
            </a:r>
            <a:r>
              <a:rPr lang="en-US" sz="1800" b="0" dirty="0">
                <a:solidFill>
                  <a:srgbClr val="9399B2"/>
                </a:solidFill>
                <a:effectLst/>
                <a:latin typeface="Consolas" panose="020B0609020204030204" pitchFamily="49" charset="0"/>
              </a:rPr>
              <a:t>;</a:t>
            </a:r>
            <a:endParaRPr lang="en-US" sz="1800" b="0" dirty="0">
              <a:solidFill>
                <a:srgbClr val="CDD6F4"/>
              </a:solidFill>
              <a:effectLst/>
              <a:latin typeface="Consolas" panose="020B0609020204030204" pitchFamily="49" charset="0"/>
            </a:endParaRPr>
          </a:p>
          <a:p>
            <a:r>
              <a:rPr lang="en-US" sz="1800" b="0" dirty="0">
                <a:solidFill>
                  <a:srgbClr val="CDD6F4"/>
                </a:solidFill>
                <a:effectLst/>
                <a:latin typeface="Consolas" panose="020B0609020204030204" pitchFamily="49" charset="0"/>
              </a:rPr>
              <a:t>    </a:t>
            </a:r>
            <a:r>
              <a:rPr lang="en-US" sz="1800" b="0" dirty="0">
                <a:solidFill>
                  <a:srgbClr val="CBA6F7"/>
                </a:solidFill>
                <a:effectLst/>
                <a:latin typeface="Consolas" panose="020B0609020204030204" pitchFamily="49" charset="0"/>
              </a:rPr>
              <a:t>struct</a:t>
            </a:r>
            <a:r>
              <a:rPr lang="en-US" sz="1800" b="0" dirty="0">
                <a:solidFill>
                  <a:srgbClr val="CDD6F4"/>
                </a:solidFill>
                <a:effectLst/>
                <a:latin typeface="Consolas" panose="020B0609020204030204" pitchFamily="49" charset="0"/>
              </a:rPr>
              <a:t> </a:t>
            </a:r>
            <a:r>
              <a:rPr lang="en-US" sz="1800" b="0" dirty="0" err="1">
                <a:solidFill>
                  <a:srgbClr val="CDD6F4"/>
                </a:solidFill>
                <a:effectLst/>
                <a:latin typeface="Consolas" panose="020B0609020204030204" pitchFamily="49" charset="0"/>
              </a:rPr>
              <a:t>mythread</a:t>
            </a:r>
            <a:r>
              <a:rPr lang="en-US" sz="1800" b="0" dirty="0">
                <a:solidFill>
                  <a:srgbClr val="CDD6F4"/>
                </a:solidFill>
                <a:effectLst/>
                <a:latin typeface="Consolas" panose="020B0609020204030204" pitchFamily="49" charset="0"/>
              </a:rPr>
              <a:t> </a:t>
            </a:r>
            <a:r>
              <a:rPr lang="en-US" sz="1800" b="0" dirty="0">
                <a:solidFill>
                  <a:srgbClr val="94E2D5"/>
                </a:solidFill>
                <a:effectLst/>
                <a:latin typeface="Consolas" panose="020B0609020204030204" pitchFamily="49" charset="0"/>
              </a:rPr>
              <a:t>*</a:t>
            </a:r>
            <a:r>
              <a:rPr lang="en-US" sz="1800" b="0" dirty="0" err="1">
                <a:solidFill>
                  <a:srgbClr val="CDD6F4"/>
                </a:solidFill>
                <a:effectLst/>
                <a:latin typeface="Consolas" panose="020B0609020204030204" pitchFamily="49" charset="0"/>
              </a:rPr>
              <a:t>joining_on</a:t>
            </a:r>
            <a:r>
              <a:rPr lang="en-US" sz="1800" b="0" dirty="0">
                <a:solidFill>
                  <a:srgbClr val="9399B2"/>
                </a:solidFill>
                <a:effectLst/>
                <a:latin typeface="Consolas" panose="020B0609020204030204" pitchFamily="49" charset="0"/>
              </a:rPr>
              <a:t>;</a:t>
            </a:r>
            <a:endParaRPr lang="en-US" sz="1800" b="0" dirty="0">
              <a:solidFill>
                <a:srgbClr val="CDD6F4"/>
              </a:solidFill>
              <a:effectLst/>
              <a:latin typeface="Consolas" panose="020B0609020204030204" pitchFamily="49" charset="0"/>
            </a:endParaRPr>
          </a:p>
          <a:p>
            <a:r>
              <a:rPr lang="en-US" sz="1800" b="0" dirty="0">
                <a:solidFill>
                  <a:srgbClr val="9399B2"/>
                </a:solidFill>
                <a:effectLst/>
                <a:latin typeface="Consolas" panose="020B0609020204030204" pitchFamily="49" charset="0"/>
              </a:rPr>
              <a:t>}</a:t>
            </a:r>
            <a:r>
              <a:rPr lang="en-US" sz="1800" b="0" dirty="0">
                <a:solidFill>
                  <a:srgbClr val="CDD6F4"/>
                </a:solidFill>
                <a:effectLst/>
                <a:latin typeface="Consolas" panose="020B0609020204030204" pitchFamily="49" charset="0"/>
              </a:rPr>
              <a:t> </a:t>
            </a:r>
            <a:r>
              <a:rPr lang="en-US" sz="1800" b="0" i="1" dirty="0" err="1">
                <a:solidFill>
                  <a:srgbClr val="F9E2AF"/>
                </a:solidFill>
                <a:effectLst/>
                <a:latin typeface="Consolas" panose="020B0609020204030204" pitchFamily="49" charset="0"/>
              </a:rPr>
              <a:t>mythr_t</a:t>
            </a:r>
            <a:r>
              <a:rPr lang="en-US" sz="1800" b="0" dirty="0">
                <a:solidFill>
                  <a:srgbClr val="9399B2"/>
                </a:solidFill>
                <a:effectLst/>
                <a:latin typeface="Consolas" panose="020B0609020204030204" pitchFamily="49" charset="0"/>
              </a:rPr>
              <a:t>;</a:t>
            </a:r>
            <a:endParaRPr lang="en-US" sz="1800" b="0" dirty="0">
              <a:solidFill>
                <a:srgbClr val="CDD6F4"/>
              </a:solidFill>
              <a:effectLst/>
              <a:latin typeface="Consolas" panose="020B0609020204030204" pitchFamily="49" charset="0"/>
            </a:endParaRPr>
          </a:p>
          <a:p>
            <a:endParaRPr lang="en-US" dirty="0"/>
          </a:p>
        </p:txBody>
      </p:sp>
    </p:spTree>
    <p:extLst>
      <p:ext uri="{BB962C8B-B14F-4D97-AF65-F5344CB8AC3E}">
        <p14:creationId xmlns:p14="http://schemas.microsoft.com/office/powerpoint/2010/main" val="3177443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602AF-61F5-E9A7-2D0F-AB09D09BC7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9AD395-A546-A469-095F-689B9D6F9BA3}"/>
              </a:ext>
            </a:extLst>
          </p:cNvPr>
          <p:cNvSpPr>
            <a:spLocks noGrp="1"/>
          </p:cNvSpPr>
          <p:nvPr>
            <p:ph type="title"/>
          </p:nvPr>
        </p:nvSpPr>
        <p:spPr/>
        <p:txBody>
          <a:bodyPr/>
          <a:lstStyle/>
          <a:p>
            <a:r>
              <a:rPr lang="en-US" b="1" dirty="0"/>
              <a:t>Assignment 2: </a:t>
            </a:r>
            <a:r>
              <a:rPr lang="en-US" dirty="0" err="1">
                <a:latin typeface="Consolas" panose="020B0609020204030204" pitchFamily="49" charset="0"/>
              </a:rPr>
              <a:t>mythreads</a:t>
            </a:r>
            <a:r>
              <a:rPr lang="en-US" b="1" dirty="0"/>
              <a:t> </a:t>
            </a:r>
            <a:r>
              <a:rPr lang="en-US" dirty="0"/>
              <a:t>internal functions</a:t>
            </a:r>
          </a:p>
        </p:txBody>
      </p:sp>
      <p:sp>
        <p:nvSpPr>
          <p:cNvPr id="10" name="TextBox 9">
            <a:extLst>
              <a:ext uri="{FF2B5EF4-FFF2-40B4-BE49-F238E27FC236}">
                <a16:creationId xmlns:a16="http://schemas.microsoft.com/office/drawing/2014/main" id="{C03655B2-BC4F-86DB-2A66-1B5B36094772}"/>
              </a:ext>
            </a:extLst>
          </p:cNvPr>
          <p:cNvSpPr txBox="1"/>
          <p:nvPr/>
        </p:nvSpPr>
        <p:spPr>
          <a:xfrm>
            <a:off x="78968" y="1690688"/>
            <a:ext cx="12034064" cy="3785652"/>
          </a:xfrm>
          <a:prstGeom prst="rect">
            <a:avLst/>
          </a:prstGeom>
          <a:noFill/>
        </p:spPr>
        <p:txBody>
          <a:bodyPr wrap="none" rtlCol="0">
            <a:spAutoFit/>
          </a:bodyPr>
          <a:lstStyle/>
          <a:p>
            <a:r>
              <a:rPr lang="en-US" sz="2000" b="0" dirty="0">
                <a:effectLst/>
                <a:latin typeface="+mj-lt"/>
              </a:rPr>
              <a:t>Scheduler related functions:</a:t>
            </a:r>
          </a:p>
          <a:p>
            <a:r>
              <a:rPr lang="en-US" sz="2000" b="0" dirty="0">
                <a:solidFill>
                  <a:srgbClr val="CBA6F7"/>
                </a:solidFill>
                <a:effectLst/>
                <a:latin typeface="Consolas" panose="020B0609020204030204" pitchFamily="49" charset="0"/>
              </a:rPr>
              <a:t>void</a:t>
            </a:r>
            <a:r>
              <a:rPr lang="en-US" sz="2000" b="0" dirty="0">
                <a:solidFill>
                  <a:srgbClr val="CDD6F4"/>
                </a:solidFill>
                <a:effectLst/>
                <a:latin typeface="Consolas" panose="020B0609020204030204" pitchFamily="49" charset="0"/>
              </a:rPr>
              <a:t> </a:t>
            </a:r>
            <a:r>
              <a:rPr lang="en-US" sz="2000" b="0" i="1" dirty="0" err="1">
                <a:solidFill>
                  <a:srgbClr val="89B4FA"/>
                </a:solidFill>
                <a:effectLst/>
                <a:latin typeface="Consolas" panose="020B0609020204030204" pitchFamily="49" charset="0"/>
              </a:rPr>
              <a:t>run_scheduler</a:t>
            </a:r>
            <a:r>
              <a:rPr lang="en-US" sz="2000" b="0" dirty="0">
                <a:solidFill>
                  <a:srgbClr val="9399B2"/>
                </a:solidFill>
                <a:effectLst/>
                <a:latin typeface="Consolas" panose="020B0609020204030204" pitchFamily="49" charset="0"/>
              </a:rPr>
              <a:t>(</a:t>
            </a:r>
            <a:r>
              <a:rPr lang="en-US" sz="2000" b="0" dirty="0" err="1">
                <a:solidFill>
                  <a:srgbClr val="CBA6F7"/>
                </a:solidFill>
                <a:effectLst/>
                <a:latin typeface="Consolas" panose="020B0609020204030204" pitchFamily="49" charset="0"/>
              </a:rPr>
              <a:t>enum</a:t>
            </a:r>
            <a:r>
              <a:rPr lang="en-US" sz="2000" b="0" dirty="0">
                <a:solidFill>
                  <a:srgbClr val="CDD6F4"/>
                </a:solidFill>
                <a:effectLst/>
                <a:latin typeface="Consolas" panose="020B0609020204030204" pitchFamily="49" charset="0"/>
              </a:rPr>
              <a:t> </a:t>
            </a:r>
            <a:r>
              <a:rPr lang="en-US" sz="2000" b="0" i="1" dirty="0" err="1">
                <a:solidFill>
                  <a:srgbClr val="F9E2AF"/>
                </a:solidFill>
                <a:effectLst/>
                <a:latin typeface="Consolas" panose="020B0609020204030204" pitchFamily="49" charset="0"/>
              </a:rPr>
              <a:t>thread_state</a:t>
            </a:r>
            <a:r>
              <a:rPr lang="en-US" sz="2000" b="0" dirty="0">
                <a:solidFill>
                  <a:srgbClr val="CDD6F4"/>
                </a:solidFill>
                <a:effectLst/>
                <a:latin typeface="Consolas" panose="020B0609020204030204" pitchFamily="49" charset="0"/>
              </a:rPr>
              <a:t> </a:t>
            </a:r>
            <a:r>
              <a:rPr lang="en-US" sz="2000" b="0" i="1" dirty="0">
                <a:solidFill>
                  <a:srgbClr val="EBA0AC"/>
                </a:solidFill>
                <a:effectLst/>
                <a:latin typeface="Consolas" panose="020B0609020204030204" pitchFamily="49" charset="0"/>
              </a:rPr>
              <a:t>state</a:t>
            </a:r>
            <a:r>
              <a:rPr lang="en-US" sz="2000" b="0" dirty="0">
                <a:solidFill>
                  <a:srgbClr val="9399B2"/>
                </a:solidFill>
                <a:effectLst/>
                <a:latin typeface="Consolas" panose="020B0609020204030204" pitchFamily="49" charset="0"/>
              </a:rPr>
              <a:t>);</a:t>
            </a:r>
            <a:r>
              <a:rPr lang="en-US" sz="2000" b="0" dirty="0">
                <a:solidFill>
                  <a:srgbClr val="CDD6F4"/>
                </a:solidFill>
                <a:effectLst/>
                <a:latin typeface="Consolas" panose="020B0609020204030204" pitchFamily="49" charset="0"/>
              </a:rPr>
              <a:t> </a:t>
            </a:r>
          </a:p>
          <a:p>
            <a:r>
              <a:rPr lang="en-US" sz="2000" b="0" dirty="0">
                <a:solidFill>
                  <a:srgbClr val="CBA6F7"/>
                </a:solidFill>
                <a:effectLst/>
                <a:latin typeface="Consolas" panose="020B0609020204030204" pitchFamily="49" charset="0"/>
              </a:rPr>
              <a:t>void</a:t>
            </a:r>
            <a:r>
              <a:rPr lang="en-US" sz="2000" b="0" dirty="0">
                <a:solidFill>
                  <a:srgbClr val="CDD6F4"/>
                </a:solidFill>
                <a:effectLst/>
                <a:latin typeface="Consolas" panose="020B0609020204030204" pitchFamily="49" charset="0"/>
              </a:rPr>
              <a:t> </a:t>
            </a:r>
            <a:r>
              <a:rPr lang="en-US" sz="2000" b="0" i="1" dirty="0" err="1">
                <a:solidFill>
                  <a:srgbClr val="89B4FA"/>
                </a:solidFill>
                <a:effectLst/>
                <a:latin typeface="Consolas" panose="020B0609020204030204" pitchFamily="49" charset="0"/>
              </a:rPr>
              <a:t>reload_states</a:t>
            </a:r>
            <a:r>
              <a:rPr lang="en-US" sz="2000" b="0" dirty="0">
                <a:solidFill>
                  <a:srgbClr val="9399B2"/>
                </a:solidFill>
                <a:effectLst/>
                <a:latin typeface="Consolas" panose="020B0609020204030204" pitchFamily="49" charset="0"/>
              </a:rPr>
              <a:t>(</a:t>
            </a:r>
            <a:r>
              <a:rPr lang="en-US" sz="2000" b="0" dirty="0" err="1">
                <a:solidFill>
                  <a:srgbClr val="CBA6F7"/>
                </a:solidFill>
                <a:effectLst/>
                <a:latin typeface="Consolas" panose="020B0609020204030204" pitchFamily="49" charset="0"/>
              </a:rPr>
              <a:t>enum</a:t>
            </a:r>
            <a:r>
              <a:rPr lang="en-US" sz="2000" b="0" dirty="0">
                <a:solidFill>
                  <a:srgbClr val="CDD6F4"/>
                </a:solidFill>
                <a:effectLst/>
                <a:latin typeface="Consolas" panose="020B0609020204030204" pitchFamily="49" charset="0"/>
              </a:rPr>
              <a:t> </a:t>
            </a:r>
            <a:r>
              <a:rPr lang="en-US" sz="2000" b="0" i="1" dirty="0" err="1">
                <a:solidFill>
                  <a:srgbClr val="F9E2AF"/>
                </a:solidFill>
                <a:effectLst/>
                <a:latin typeface="Consolas" panose="020B0609020204030204" pitchFamily="49" charset="0"/>
              </a:rPr>
              <a:t>thread_state</a:t>
            </a:r>
            <a:r>
              <a:rPr lang="en-US" sz="2000" b="0" dirty="0">
                <a:solidFill>
                  <a:srgbClr val="CDD6F4"/>
                </a:solidFill>
                <a:effectLst/>
                <a:latin typeface="Consolas" panose="020B0609020204030204" pitchFamily="49" charset="0"/>
              </a:rPr>
              <a:t> </a:t>
            </a:r>
            <a:r>
              <a:rPr lang="en-US" sz="2000" b="0" i="1" dirty="0">
                <a:solidFill>
                  <a:srgbClr val="EBA0AC"/>
                </a:solidFill>
                <a:effectLst/>
                <a:latin typeface="Consolas" panose="020B0609020204030204" pitchFamily="49" charset="0"/>
              </a:rPr>
              <a:t>state</a:t>
            </a:r>
            <a:r>
              <a:rPr lang="en-US" sz="2000" b="0" dirty="0">
                <a:solidFill>
                  <a:srgbClr val="9399B2"/>
                </a:solidFill>
                <a:effectLst/>
                <a:latin typeface="Consolas" panose="020B0609020204030204" pitchFamily="49" charset="0"/>
              </a:rPr>
              <a:t>);</a:t>
            </a:r>
            <a:endParaRPr lang="en-US" sz="2000" b="0" dirty="0">
              <a:solidFill>
                <a:srgbClr val="CDD6F4"/>
              </a:solidFill>
              <a:effectLst/>
              <a:latin typeface="Consolas" panose="020B0609020204030204" pitchFamily="49" charset="0"/>
            </a:endParaRPr>
          </a:p>
          <a:p>
            <a:r>
              <a:rPr lang="en-US" sz="2000" b="0" i="1" dirty="0" err="1">
                <a:solidFill>
                  <a:srgbClr val="F9E2AF"/>
                </a:solidFill>
                <a:effectLst/>
                <a:latin typeface="Consolas" panose="020B0609020204030204" pitchFamily="49" charset="0"/>
              </a:rPr>
              <a:t>mythr_t</a:t>
            </a:r>
            <a:r>
              <a:rPr lang="en-US" sz="2000" b="0" dirty="0">
                <a:solidFill>
                  <a:srgbClr val="CDD6F4"/>
                </a:solidFill>
                <a:effectLst/>
                <a:latin typeface="Consolas" panose="020B0609020204030204" pitchFamily="49" charset="0"/>
              </a:rPr>
              <a:t> </a:t>
            </a:r>
            <a:r>
              <a:rPr lang="en-US" sz="2000" b="0" dirty="0">
                <a:solidFill>
                  <a:srgbClr val="94E2D5"/>
                </a:solidFill>
                <a:effectLst/>
                <a:latin typeface="Consolas" panose="020B0609020204030204" pitchFamily="49" charset="0"/>
              </a:rPr>
              <a:t>*</a:t>
            </a:r>
            <a:r>
              <a:rPr lang="en-US" sz="2000" b="0" i="1" dirty="0" err="1">
                <a:solidFill>
                  <a:srgbClr val="89B4FA"/>
                </a:solidFill>
                <a:effectLst/>
                <a:latin typeface="Consolas" panose="020B0609020204030204" pitchFamily="49" charset="0"/>
              </a:rPr>
              <a:t>search_threads</a:t>
            </a:r>
            <a:r>
              <a:rPr lang="en-US" sz="2000" b="0" dirty="0">
                <a:solidFill>
                  <a:srgbClr val="9399B2"/>
                </a:solidFill>
                <a:effectLst/>
                <a:latin typeface="Consolas" panose="020B0609020204030204" pitchFamily="49" charset="0"/>
              </a:rPr>
              <a:t>(</a:t>
            </a:r>
            <a:r>
              <a:rPr lang="en-US" sz="2000" b="0" i="1" dirty="0">
                <a:solidFill>
                  <a:srgbClr val="89B4FA"/>
                </a:solidFill>
                <a:effectLst/>
                <a:latin typeface="Consolas" panose="020B0609020204030204" pitchFamily="49" charset="0"/>
              </a:rPr>
              <a:t>bool</a:t>
            </a:r>
            <a:r>
              <a:rPr lang="en-US" sz="2000" b="0" dirty="0">
                <a:solidFill>
                  <a:srgbClr val="CDD6F4"/>
                </a:solidFill>
                <a:effectLst/>
                <a:latin typeface="Consolas" panose="020B0609020204030204" pitchFamily="49" charset="0"/>
              </a:rPr>
              <a:t> </a:t>
            </a:r>
            <a:r>
              <a:rPr lang="en-US" sz="2000" b="0" i="1" dirty="0" err="1">
                <a:solidFill>
                  <a:srgbClr val="EBA0AC"/>
                </a:solidFill>
                <a:effectLst/>
                <a:latin typeface="Consolas" panose="020B0609020204030204" pitchFamily="49" charset="0"/>
              </a:rPr>
              <a:t>running_thread_sleeping</a:t>
            </a:r>
            <a:r>
              <a:rPr lang="en-US" sz="2000" b="0" dirty="0">
                <a:solidFill>
                  <a:srgbClr val="9399B2"/>
                </a:solidFill>
                <a:effectLst/>
                <a:latin typeface="Consolas" panose="020B0609020204030204" pitchFamily="49" charset="0"/>
              </a:rPr>
              <a:t>,</a:t>
            </a:r>
            <a:r>
              <a:rPr lang="en-US" sz="2000" b="0" dirty="0">
                <a:solidFill>
                  <a:srgbClr val="CDD6F4"/>
                </a:solidFill>
                <a:effectLst/>
                <a:latin typeface="Consolas" panose="020B0609020204030204" pitchFamily="49" charset="0"/>
              </a:rPr>
              <a:t> </a:t>
            </a:r>
            <a:r>
              <a:rPr lang="en-US" sz="2000" b="0" i="1" dirty="0" err="1">
                <a:solidFill>
                  <a:srgbClr val="F9E2AF"/>
                </a:solidFill>
                <a:effectLst/>
                <a:latin typeface="Consolas" panose="020B0609020204030204" pitchFamily="49" charset="0"/>
              </a:rPr>
              <a:t>mythr_t</a:t>
            </a:r>
            <a:r>
              <a:rPr lang="en-US" sz="2000" b="0" dirty="0">
                <a:solidFill>
                  <a:srgbClr val="CDD6F4"/>
                </a:solidFill>
                <a:effectLst/>
                <a:latin typeface="Consolas" panose="020B0609020204030204" pitchFamily="49" charset="0"/>
              </a:rPr>
              <a:t> </a:t>
            </a:r>
            <a:r>
              <a:rPr lang="en-US" sz="2000" b="0" dirty="0">
                <a:solidFill>
                  <a:srgbClr val="94E2D5"/>
                </a:solidFill>
                <a:effectLst/>
                <a:latin typeface="Consolas" panose="020B0609020204030204" pitchFamily="49" charset="0"/>
              </a:rPr>
              <a:t>**</a:t>
            </a:r>
            <a:r>
              <a:rPr lang="en-US" sz="2000" b="0" i="1" dirty="0" err="1">
                <a:solidFill>
                  <a:srgbClr val="EBA0AC"/>
                </a:solidFill>
                <a:effectLst/>
                <a:latin typeface="Consolas" panose="020B0609020204030204" pitchFamily="49" charset="0"/>
              </a:rPr>
              <a:t>earliest_thread</a:t>
            </a:r>
            <a:r>
              <a:rPr lang="en-US" sz="2000" b="0" dirty="0">
                <a:solidFill>
                  <a:srgbClr val="9399B2"/>
                </a:solidFill>
                <a:effectLst/>
                <a:latin typeface="Consolas" panose="020B0609020204030204" pitchFamily="49" charset="0"/>
              </a:rPr>
              <a:t>);</a:t>
            </a:r>
            <a:endParaRPr lang="en-US" sz="2000" b="0" dirty="0">
              <a:solidFill>
                <a:srgbClr val="CDD6F4"/>
              </a:solidFill>
              <a:effectLst/>
              <a:latin typeface="Consolas" panose="020B0609020204030204" pitchFamily="49" charset="0"/>
            </a:endParaRPr>
          </a:p>
          <a:p>
            <a:r>
              <a:rPr lang="en-US" sz="2000" b="0" dirty="0">
                <a:solidFill>
                  <a:srgbClr val="CBA6F7"/>
                </a:solidFill>
                <a:effectLst/>
                <a:latin typeface="Consolas" panose="020B0609020204030204" pitchFamily="49" charset="0"/>
              </a:rPr>
              <a:t>void</a:t>
            </a:r>
            <a:r>
              <a:rPr lang="en-US" sz="2000" b="0" dirty="0">
                <a:solidFill>
                  <a:srgbClr val="CDD6F4"/>
                </a:solidFill>
                <a:effectLst/>
                <a:latin typeface="Consolas" panose="020B0609020204030204" pitchFamily="49" charset="0"/>
              </a:rPr>
              <a:t> </a:t>
            </a:r>
            <a:r>
              <a:rPr lang="en-US" sz="2000" b="0" i="1" dirty="0" err="1">
                <a:solidFill>
                  <a:srgbClr val="89B4FA"/>
                </a:solidFill>
                <a:effectLst/>
                <a:latin typeface="Consolas" panose="020B0609020204030204" pitchFamily="49" charset="0"/>
              </a:rPr>
              <a:t>switch_thread</a:t>
            </a:r>
            <a:r>
              <a:rPr lang="en-US" sz="2000" b="0" dirty="0">
                <a:solidFill>
                  <a:srgbClr val="9399B2"/>
                </a:solidFill>
                <a:effectLst/>
                <a:latin typeface="Consolas" panose="020B0609020204030204" pitchFamily="49" charset="0"/>
              </a:rPr>
              <a:t>(</a:t>
            </a:r>
            <a:r>
              <a:rPr lang="en-US" sz="2000" b="0" dirty="0" err="1">
                <a:solidFill>
                  <a:srgbClr val="CBA6F7"/>
                </a:solidFill>
                <a:effectLst/>
                <a:latin typeface="Consolas" panose="020B0609020204030204" pitchFamily="49" charset="0"/>
              </a:rPr>
              <a:t>enum</a:t>
            </a:r>
            <a:r>
              <a:rPr lang="en-US" sz="2000" b="0" dirty="0">
                <a:solidFill>
                  <a:srgbClr val="CDD6F4"/>
                </a:solidFill>
                <a:effectLst/>
                <a:latin typeface="Consolas" panose="020B0609020204030204" pitchFamily="49" charset="0"/>
              </a:rPr>
              <a:t> </a:t>
            </a:r>
            <a:r>
              <a:rPr lang="en-US" sz="2000" b="0" i="1" dirty="0" err="1">
                <a:solidFill>
                  <a:srgbClr val="F9E2AF"/>
                </a:solidFill>
                <a:effectLst/>
                <a:latin typeface="Consolas" panose="020B0609020204030204" pitchFamily="49" charset="0"/>
              </a:rPr>
              <a:t>thread_state</a:t>
            </a:r>
            <a:r>
              <a:rPr lang="en-US" sz="2000" b="0" dirty="0">
                <a:solidFill>
                  <a:srgbClr val="CDD6F4"/>
                </a:solidFill>
                <a:effectLst/>
                <a:latin typeface="Consolas" panose="020B0609020204030204" pitchFamily="49" charset="0"/>
              </a:rPr>
              <a:t> </a:t>
            </a:r>
            <a:r>
              <a:rPr lang="en-US" sz="2000" b="0" i="1" dirty="0" err="1">
                <a:solidFill>
                  <a:srgbClr val="EBA0AC"/>
                </a:solidFill>
                <a:effectLst/>
                <a:latin typeface="Consolas" panose="020B0609020204030204" pitchFamily="49" charset="0"/>
              </a:rPr>
              <a:t>running_next_state</a:t>
            </a:r>
            <a:r>
              <a:rPr lang="en-US" sz="2000" b="0" dirty="0">
                <a:solidFill>
                  <a:srgbClr val="9399B2"/>
                </a:solidFill>
                <a:effectLst/>
                <a:latin typeface="Consolas" panose="020B0609020204030204" pitchFamily="49" charset="0"/>
              </a:rPr>
              <a:t>,</a:t>
            </a:r>
            <a:r>
              <a:rPr lang="en-US" sz="2000" b="0" dirty="0">
                <a:solidFill>
                  <a:srgbClr val="CDD6F4"/>
                </a:solidFill>
                <a:effectLst/>
                <a:latin typeface="Consolas" panose="020B0609020204030204" pitchFamily="49" charset="0"/>
              </a:rPr>
              <a:t> </a:t>
            </a:r>
            <a:r>
              <a:rPr lang="en-US" sz="2000" b="0" i="1" dirty="0" err="1">
                <a:solidFill>
                  <a:srgbClr val="F9E2AF"/>
                </a:solidFill>
                <a:effectLst/>
                <a:latin typeface="Consolas" panose="020B0609020204030204" pitchFamily="49" charset="0"/>
              </a:rPr>
              <a:t>mythr_t</a:t>
            </a:r>
            <a:r>
              <a:rPr lang="en-US" sz="2000" b="0" dirty="0">
                <a:solidFill>
                  <a:srgbClr val="CDD6F4"/>
                </a:solidFill>
                <a:effectLst/>
                <a:latin typeface="Consolas" panose="020B0609020204030204" pitchFamily="49" charset="0"/>
              </a:rPr>
              <a:t> </a:t>
            </a:r>
            <a:r>
              <a:rPr lang="en-US" sz="2000" b="0" dirty="0">
                <a:solidFill>
                  <a:srgbClr val="94E2D5"/>
                </a:solidFill>
                <a:effectLst/>
                <a:latin typeface="Consolas" panose="020B0609020204030204" pitchFamily="49" charset="0"/>
              </a:rPr>
              <a:t>*</a:t>
            </a:r>
            <a:r>
              <a:rPr lang="en-US" sz="2000" b="0" i="1" dirty="0" err="1">
                <a:solidFill>
                  <a:srgbClr val="EBA0AC"/>
                </a:solidFill>
                <a:effectLst/>
                <a:latin typeface="Consolas" panose="020B0609020204030204" pitchFamily="49" charset="0"/>
              </a:rPr>
              <a:t>next_thread_node</a:t>
            </a:r>
            <a:r>
              <a:rPr lang="en-US" sz="2000" b="0" dirty="0">
                <a:solidFill>
                  <a:srgbClr val="9399B2"/>
                </a:solidFill>
                <a:effectLst/>
                <a:latin typeface="Consolas" panose="020B0609020204030204" pitchFamily="49" charset="0"/>
              </a:rPr>
              <a:t>);</a:t>
            </a:r>
            <a:endParaRPr lang="en-US" sz="2000" b="0" dirty="0">
              <a:solidFill>
                <a:srgbClr val="CDD6F4"/>
              </a:solidFill>
              <a:effectLst/>
              <a:latin typeface="Consolas" panose="020B0609020204030204" pitchFamily="49" charset="0"/>
            </a:endParaRPr>
          </a:p>
          <a:p>
            <a:endParaRPr lang="en-US" sz="2000" b="0" dirty="0">
              <a:solidFill>
                <a:srgbClr val="CBA6F7"/>
              </a:solidFill>
              <a:effectLst/>
              <a:latin typeface="Consolas" panose="020B0609020204030204" pitchFamily="49" charset="0"/>
            </a:endParaRPr>
          </a:p>
          <a:p>
            <a:endParaRPr lang="en-US" sz="2000" dirty="0">
              <a:solidFill>
                <a:srgbClr val="CBA6F7"/>
              </a:solidFill>
              <a:latin typeface="Consolas" panose="020B0609020204030204" pitchFamily="49" charset="0"/>
            </a:endParaRPr>
          </a:p>
          <a:p>
            <a:r>
              <a:rPr lang="en-US" sz="2000" b="0" dirty="0">
                <a:effectLst/>
                <a:latin typeface="+mj-lt"/>
              </a:rPr>
              <a:t>Utility functions:</a:t>
            </a:r>
          </a:p>
          <a:p>
            <a:r>
              <a:rPr lang="en-US" sz="2000" b="0" dirty="0">
                <a:solidFill>
                  <a:srgbClr val="CBA6F7"/>
                </a:solidFill>
                <a:effectLst/>
                <a:latin typeface="Consolas" panose="020B0609020204030204" pitchFamily="49" charset="0"/>
              </a:rPr>
              <a:t>void</a:t>
            </a:r>
            <a:r>
              <a:rPr lang="en-US" sz="2000" b="0" dirty="0">
                <a:solidFill>
                  <a:srgbClr val="CDD6F4"/>
                </a:solidFill>
                <a:effectLst/>
                <a:latin typeface="Consolas" panose="020B0609020204030204" pitchFamily="49" charset="0"/>
              </a:rPr>
              <a:t> </a:t>
            </a:r>
            <a:r>
              <a:rPr lang="en-US" sz="2000" b="0" i="1" dirty="0" err="1">
                <a:solidFill>
                  <a:srgbClr val="89B4FA"/>
                </a:solidFill>
                <a:effectLst/>
                <a:latin typeface="Consolas" panose="020B0609020204030204" pitchFamily="49" charset="0"/>
              </a:rPr>
              <a:t>run_thread</a:t>
            </a:r>
            <a:r>
              <a:rPr lang="en-US" sz="2000" b="0" dirty="0">
                <a:solidFill>
                  <a:srgbClr val="9399B2"/>
                </a:solidFill>
                <a:effectLst/>
                <a:latin typeface="Consolas" panose="020B0609020204030204" pitchFamily="49" charset="0"/>
              </a:rPr>
              <a:t>(</a:t>
            </a:r>
            <a:r>
              <a:rPr lang="en-US" sz="2000" b="0" dirty="0">
                <a:solidFill>
                  <a:srgbClr val="CBA6F7"/>
                </a:solidFill>
                <a:effectLst/>
                <a:latin typeface="Consolas" panose="020B0609020204030204" pitchFamily="49" charset="0"/>
              </a:rPr>
              <a:t>void</a:t>
            </a:r>
            <a:r>
              <a:rPr lang="en-US" sz="2000" b="0" dirty="0">
                <a:solidFill>
                  <a:srgbClr val="CDD6F4"/>
                </a:solidFill>
                <a:effectLst/>
                <a:latin typeface="Consolas" panose="020B0609020204030204" pitchFamily="49" charset="0"/>
              </a:rPr>
              <a:t> </a:t>
            </a:r>
            <a:r>
              <a:rPr lang="en-US" sz="2000" b="0" dirty="0">
                <a:solidFill>
                  <a:srgbClr val="94E2D5"/>
                </a:solidFill>
                <a:effectLst/>
                <a:latin typeface="Consolas" panose="020B0609020204030204" pitchFamily="49" charset="0"/>
              </a:rPr>
              <a:t>*</a:t>
            </a:r>
            <a:r>
              <a:rPr lang="en-US" sz="2000" b="0" i="1" dirty="0" err="1">
                <a:solidFill>
                  <a:srgbClr val="EBA0AC"/>
                </a:solidFill>
                <a:effectLst/>
                <a:latin typeface="Consolas" panose="020B0609020204030204" pitchFamily="49" charset="0"/>
              </a:rPr>
              <a:t>arg</a:t>
            </a:r>
            <a:r>
              <a:rPr lang="en-US" sz="2000" b="0" dirty="0">
                <a:solidFill>
                  <a:srgbClr val="9399B2"/>
                </a:solidFill>
                <a:effectLst/>
                <a:latin typeface="Consolas" panose="020B0609020204030204" pitchFamily="49" charset="0"/>
              </a:rPr>
              <a:t>);</a:t>
            </a:r>
            <a:endParaRPr lang="en-US" sz="2000" b="0" dirty="0">
              <a:solidFill>
                <a:srgbClr val="CDD6F4"/>
              </a:solidFill>
              <a:effectLst/>
              <a:latin typeface="Consolas" panose="020B0609020204030204" pitchFamily="49" charset="0"/>
            </a:endParaRPr>
          </a:p>
          <a:p>
            <a:r>
              <a:rPr lang="en-US" sz="2000" b="0" dirty="0">
                <a:solidFill>
                  <a:srgbClr val="CBA6F7"/>
                </a:solidFill>
                <a:effectLst/>
                <a:latin typeface="Consolas" panose="020B0609020204030204" pitchFamily="49" charset="0"/>
              </a:rPr>
              <a:t>void</a:t>
            </a:r>
            <a:r>
              <a:rPr lang="en-US" sz="2000" b="0" dirty="0">
                <a:solidFill>
                  <a:srgbClr val="CDD6F4"/>
                </a:solidFill>
                <a:effectLst/>
                <a:latin typeface="Consolas" panose="020B0609020204030204" pitchFamily="49" charset="0"/>
              </a:rPr>
              <a:t> </a:t>
            </a:r>
            <a:r>
              <a:rPr lang="en-US" sz="2000" b="0" i="1" dirty="0" err="1">
                <a:solidFill>
                  <a:srgbClr val="89B4FA"/>
                </a:solidFill>
                <a:effectLst/>
                <a:latin typeface="Consolas" panose="020B0609020204030204" pitchFamily="49" charset="0"/>
              </a:rPr>
              <a:t>alarm_op</a:t>
            </a:r>
            <a:r>
              <a:rPr lang="en-US" sz="2000" b="0" dirty="0">
                <a:solidFill>
                  <a:srgbClr val="9399B2"/>
                </a:solidFill>
                <a:effectLst/>
                <a:latin typeface="Consolas" panose="020B0609020204030204" pitchFamily="49" charset="0"/>
              </a:rPr>
              <a:t>(</a:t>
            </a:r>
            <a:r>
              <a:rPr lang="en-US" sz="2000" b="0" dirty="0" err="1">
                <a:solidFill>
                  <a:srgbClr val="CBA6F7"/>
                </a:solidFill>
                <a:effectLst/>
                <a:latin typeface="Consolas" panose="020B0609020204030204" pitchFamily="49" charset="0"/>
              </a:rPr>
              <a:t>enum</a:t>
            </a:r>
            <a:r>
              <a:rPr lang="en-US" sz="2000" b="0" dirty="0">
                <a:solidFill>
                  <a:srgbClr val="CDD6F4"/>
                </a:solidFill>
                <a:effectLst/>
                <a:latin typeface="Consolas" panose="020B0609020204030204" pitchFamily="49" charset="0"/>
              </a:rPr>
              <a:t> </a:t>
            </a:r>
            <a:r>
              <a:rPr lang="en-US" sz="2000" b="0" i="1" dirty="0" err="1">
                <a:solidFill>
                  <a:srgbClr val="F9E2AF"/>
                </a:solidFill>
                <a:effectLst/>
                <a:latin typeface="Consolas" panose="020B0609020204030204" pitchFamily="49" charset="0"/>
              </a:rPr>
              <a:t>alarm_op</a:t>
            </a:r>
            <a:r>
              <a:rPr lang="en-US" sz="2000" b="0" dirty="0">
                <a:solidFill>
                  <a:srgbClr val="CDD6F4"/>
                </a:solidFill>
                <a:effectLst/>
                <a:latin typeface="Consolas" panose="020B0609020204030204" pitchFamily="49" charset="0"/>
              </a:rPr>
              <a:t> </a:t>
            </a:r>
            <a:r>
              <a:rPr lang="en-US" sz="2000" b="0" i="1" dirty="0">
                <a:solidFill>
                  <a:srgbClr val="EBA0AC"/>
                </a:solidFill>
                <a:effectLst/>
                <a:latin typeface="Consolas" panose="020B0609020204030204" pitchFamily="49" charset="0"/>
              </a:rPr>
              <a:t>operation</a:t>
            </a:r>
            <a:r>
              <a:rPr lang="en-US" sz="2000" b="0" dirty="0">
                <a:solidFill>
                  <a:srgbClr val="9399B2"/>
                </a:solidFill>
                <a:effectLst/>
                <a:latin typeface="Consolas" panose="020B0609020204030204" pitchFamily="49" charset="0"/>
              </a:rPr>
              <a:t>,</a:t>
            </a:r>
            <a:r>
              <a:rPr lang="en-US" sz="2000" b="0" dirty="0">
                <a:solidFill>
                  <a:srgbClr val="CDD6F4"/>
                </a:solidFill>
                <a:effectLst/>
                <a:latin typeface="Consolas" panose="020B0609020204030204" pitchFamily="49" charset="0"/>
              </a:rPr>
              <a:t> </a:t>
            </a:r>
            <a:r>
              <a:rPr lang="en-US" sz="2000" b="0" dirty="0">
                <a:solidFill>
                  <a:srgbClr val="CBA6F7"/>
                </a:solidFill>
                <a:effectLst/>
                <a:latin typeface="Consolas" panose="020B0609020204030204" pitchFamily="49" charset="0"/>
              </a:rPr>
              <a:t>struct</a:t>
            </a:r>
            <a:r>
              <a:rPr lang="en-US" sz="2000" b="0" dirty="0">
                <a:solidFill>
                  <a:srgbClr val="CDD6F4"/>
                </a:solidFill>
                <a:effectLst/>
                <a:latin typeface="Consolas" panose="020B0609020204030204" pitchFamily="49" charset="0"/>
              </a:rPr>
              <a:t> </a:t>
            </a:r>
            <a:r>
              <a:rPr lang="en-US" sz="2000" b="0" i="1" dirty="0" err="1">
                <a:solidFill>
                  <a:srgbClr val="F9E2AF"/>
                </a:solidFill>
                <a:effectLst/>
                <a:latin typeface="Consolas" panose="020B0609020204030204" pitchFamily="49" charset="0"/>
              </a:rPr>
              <a:t>itimerval</a:t>
            </a:r>
            <a:r>
              <a:rPr lang="en-US" sz="2000" b="0" dirty="0">
                <a:solidFill>
                  <a:srgbClr val="CDD6F4"/>
                </a:solidFill>
                <a:effectLst/>
                <a:latin typeface="Consolas" panose="020B0609020204030204" pitchFamily="49" charset="0"/>
              </a:rPr>
              <a:t> </a:t>
            </a:r>
            <a:r>
              <a:rPr lang="en-US" sz="2000" b="0" dirty="0">
                <a:solidFill>
                  <a:srgbClr val="94E2D5"/>
                </a:solidFill>
                <a:effectLst/>
                <a:latin typeface="Consolas" panose="020B0609020204030204" pitchFamily="49" charset="0"/>
              </a:rPr>
              <a:t>*</a:t>
            </a:r>
            <a:r>
              <a:rPr lang="en-US" sz="2000" b="0" i="1" dirty="0">
                <a:solidFill>
                  <a:srgbClr val="EBA0AC"/>
                </a:solidFill>
                <a:effectLst/>
                <a:latin typeface="Consolas" panose="020B0609020204030204" pitchFamily="49" charset="0"/>
              </a:rPr>
              <a:t>previous</a:t>
            </a:r>
            <a:r>
              <a:rPr lang="en-US" sz="2000" b="0" dirty="0">
                <a:solidFill>
                  <a:srgbClr val="9399B2"/>
                </a:solidFill>
                <a:effectLst/>
                <a:latin typeface="Consolas" panose="020B0609020204030204" pitchFamily="49" charset="0"/>
              </a:rPr>
              <a:t>);</a:t>
            </a:r>
            <a:endParaRPr lang="en-US" sz="2000" b="0" dirty="0">
              <a:solidFill>
                <a:srgbClr val="CDD6F4"/>
              </a:solidFill>
              <a:effectLst/>
              <a:latin typeface="Consolas" panose="020B0609020204030204" pitchFamily="49" charset="0"/>
            </a:endParaRPr>
          </a:p>
          <a:p>
            <a:r>
              <a:rPr lang="en-US" sz="2000" b="0" dirty="0">
                <a:solidFill>
                  <a:srgbClr val="CBA6F7"/>
                </a:solidFill>
                <a:effectLst/>
                <a:latin typeface="Consolas" panose="020B0609020204030204" pitchFamily="49" charset="0"/>
              </a:rPr>
              <a:t>void</a:t>
            </a:r>
            <a:r>
              <a:rPr lang="en-US" sz="2000" b="0" dirty="0">
                <a:solidFill>
                  <a:srgbClr val="CDD6F4"/>
                </a:solidFill>
                <a:effectLst/>
                <a:latin typeface="Consolas" panose="020B0609020204030204" pitchFamily="49" charset="0"/>
              </a:rPr>
              <a:t> </a:t>
            </a:r>
            <a:r>
              <a:rPr lang="en-US" sz="2000" b="0" i="1" dirty="0" err="1">
                <a:solidFill>
                  <a:srgbClr val="89B4FA"/>
                </a:solidFill>
                <a:effectLst/>
                <a:latin typeface="Consolas" panose="020B0609020204030204" pitchFamily="49" charset="0"/>
              </a:rPr>
              <a:t>sleep_until</a:t>
            </a:r>
            <a:r>
              <a:rPr lang="en-US" sz="2000" b="0" dirty="0">
                <a:solidFill>
                  <a:srgbClr val="9399B2"/>
                </a:solidFill>
                <a:effectLst/>
                <a:latin typeface="Consolas" panose="020B0609020204030204" pitchFamily="49" charset="0"/>
              </a:rPr>
              <a:t>(</a:t>
            </a:r>
            <a:r>
              <a:rPr lang="en-US" sz="2000" b="0" dirty="0">
                <a:solidFill>
                  <a:srgbClr val="CBA6F7"/>
                </a:solidFill>
                <a:effectLst/>
                <a:latin typeface="Consolas" panose="020B0609020204030204" pitchFamily="49" charset="0"/>
              </a:rPr>
              <a:t>unsigned</a:t>
            </a:r>
            <a:r>
              <a:rPr lang="en-US" sz="2000" b="0" dirty="0">
                <a:solidFill>
                  <a:srgbClr val="CDD6F4"/>
                </a:solidFill>
                <a:effectLst/>
                <a:latin typeface="Consolas" panose="020B0609020204030204" pitchFamily="49" charset="0"/>
              </a:rPr>
              <a:t> </a:t>
            </a:r>
            <a:r>
              <a:rPr lang="en-US" sz="2000" b="0" dirty="0">
                <a:solidFill>
                  <a:srgbClr val="CBA6F7"/>
                </a:solidFill>
                <a:effectLst/>
                <a:latin typeface="Consolas" panose="020B0609020204030204" pitchFamily="49" charset="0"/>
              </a:rPr>
              <a:t>long</a:t>
            </a:r>
            <a:r>
              <a:rPr lang="en-US" sz="2000" b="0" dirty="0">
                <a:solidFill>
                  <a:srgbClr val="CDD6F4"/>
                </a:solidFill>
                <a:effectLst/>
                <a:latin typeface="Consolas" panose="020B0609020204030204" pitchFamily="49" charset="0"/>
              </a:rPr>
              <a:t> </a:t>
            </a:r>
            <a:r>
              <a:rPr lang="en-US" sz="2000" b="0" dirty="0" err="1">
                <a:solidFill>
                  <a:srgbClr val="CBA6F7"/>
                </a:solidFill>
                <a:effectLst/>
                <a:latin typeface="Consolas" panose="020B0609020204030204" pitchFamily="49" charset="0"/>
              </a:rPr>
              <a:t>long</a:t>
            </a:r>
            <a:r>
              <a:rPr lang="en-US" sz="2000" b="0" dirty="0">
                <a:solidFill>
                  <a:srgbClr val="CDD6F4"/>
                </a:solidFill>
                <a:effectLst/>
                <a:latin typeface="Consolas" panose="020B0609020204030204" pitchFamily="49" charset="0"/>
              </a:rPr>
              <a:t> </a:t>
            </a:r>
            <a:r>
              <a:rPr lang="en-US" sz="2000" b="0" i="1" dirty="0">
                <a:solidFill>
                  <a:srgbClr val="EBA0AC"/>
                </a:solidFill>
                <a:effectLst/>
                <a:latin typeface="Consolas" panose="020B0609020204030204" pitchFamily="49" charset="0"/>
              </a:rPr>
              <a:t>timestamp</a:t>
            </a:r>
            <a:r>
              <a:rPr lang="en-US" sz="2000" b="0" dirty="0">
                <a:solidFill>
                  <a:srgbClr val="9399B2"/>
                </a:solidFill>
                <a:effectLst/>
                <a:latin typeface="Consolas" panose="020B0609020204030204" pitchFamily="49" charset="0"/>
              </a:rPr>
              <a:t>);</a:t>
            </a:r>
            <a:endParaRPr lang="en-US" sz="2000" b="0" dirty="0">
              <a:solidFill>
                <a:srgbClr val="CDD6F4"/>
              </a:solidFill>
              <a:effectLst/>
              <a:latin typeface="Consolas" panose="020B0609020204030204" pitchFamily="49" charset="0"/>
            </a:endParaRPr>
          </a:p>
          <a:p>
            <a:r>
              <a:rPr lang="en-US" sz="2000" b="0" dirty="0">
                <a:solidFill>
                  <a:srgbClr val="CBA6F7"/>
                </a:solidFill>
                <a:effectLst/>
                <a:latin typeface="Consolas" panose="020B0609020204030204" pitchFamily="49" charset="0"/>
              </a:rPr>
              <a:t>void</a:t>
            </a:r>
            <a:r>
              <a:rPr lang="en-US" sz="2000" b="0" dirty="0">
                <a:solidFill>
                  <a:srgbClr val="CDD6F4"/>
                </a:solidFill>
                <a:effectLst/>
                <a:latin typeface="Consolas" panose="020B0609020204030204" pitchFamily="49" charset="0"/>
              </a:rPr>
              <a:t> </a:t>
            </a:r>
            <a:r>
              <a:rPr lang="en-US" sz="2000" b="0" i="1" dirty="0" err="1">
                <a:solidFill>
                  <a:srgbClr val="89B4FA"/>
                </a:solidFill>
                <a:effectLst/>
                <a:latin typeface="Consolas" panose="020B0609020204030204" pitchFamily="49" charset="0"/>
              </a:rPr>
              <a:t>thread_timeout_handler</a:t>
            </a:r>
            <a:r>
              <a:rPr lang="en-US" sz="2000" b="0" dirty="0">
                <a:solidFill>
                  <a:srgbClr val="9399B2"/>
                </a:solidFill>
                <a:effectLst/>
                <a:latin typeface="Consolas" panose="020B0609020204030204" pitchFamily="49" charset="0"/>
              </a:rPr>
              <a:t>(</a:t>
            </a:r>
            <a:r>
              <a:rPr lang="en-US" sz="2000" b="0" dirty="0">
                <a:solidFill>
                  <a:srgbClr val="CBA6F7"/>
                </a:solidFill>
                <a:effectLst/>
                <a:latin typeface="Consolas" panose="020B0609020204030204" pitchFamily="49" charset="0"/>
              </a:rPr>
              <a:t>int</a:t>
            </a:r>
            <a:r>
              <a:rPr lang="en-US" sz="2000" b="0" dirty="0">
                <a:solidFill>
                  <a:srgbClr val="CDD6F4"/>
                </a:solidFill>
                <a:effectLst/>
                <a:latin typeface="Consolas" panose="020B0609020204030204" pitchFamily="49" charset="0"/>
              </a:rPr>
              <a:t> </a:t>
            </a:r>
            <a:r>
              <a:rPr lang="en-US" sz="2000" b="0" i="1" dirty="0">
                <a:solidFill>
                  <a:srgbClr val="EBA0AC"/>
                </a:solidFill>
                <a:effectLst/>
                <a:latin typeface="Consolas" panose="020B0609020204030204" pitchFamily="49" charset="0"/>
              </a:rPr>
              <a:t>signum</a:t>
            </a:r>
            <a:r>
              <a:rPr lang="en-US" sz="2000" b="0" dirty="0">
                <a:solidFill>
                  <a:srgbClr val="9399B2"/>
                </a:solidFill>
                <a:effectLst/>
                <a:latin typeface="Consolas" panose="020B0609020204030204" pitchFamily="49" charset="0"/>
              </a:rPr>
              <a:t>);</a:t>
            </a:r>
            <a:endParaRPr lang="en-US" sz="2000" b="0" dirty="0">
              <a:solidFill>
                <a:srgbClr val="CDD6F4"/>
              </a:solidFill>
              <a:effectLst/>
              <a:latin typeface="Consolas" panose="020B0609020204030204" pitchFamily="49" charset="0"/>
            </a:endParaRPr>
          </a:p>
        </p:txBody>
      </p:sp>
    </p:spTree>
    <p:extLst>
      <p:ext uri="{BB962C8B-B14F-4D97-AF65-F5344CB8AC3E}">
        <p14:creationId xmlns:p14="http://schemas.microsoft.com/office/powerpoint/2010/main" val="42046139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9AFCB-5B9B-1504-F8E0-4ABE12C9F5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A09CFF-F04B-AB6C-C977-222D355E9B89}"/>
              </a:ext>
            </a:extLst>
          </p:cNvPr>
          <p:cNvSpPr>
            <a:spLocks noGrp="1"/>
          </p:cNvSpPr>
          <p:nvPr>
            <p:ph type="title"/>
          </p:nvPr>
        </p:nvSpPr>
        <p:spPr/>
        <p:txBody>
          <a:bodyPr/>
          <a:lstStyle/>
          <a:p>
            <a:r>
              <a:rPr lang="en-US" b="1" dirty="0"/>
              <a:t>Assignment 2: </a:t>
            </a:r>
            <a:r>
              <a:rPr lang="en-US" dirty="0"/>
              <a:t>Avoiding race conditions</a:t>
            </a:r>
          </a:p>
        </p:txBody>
      </p:sp>
      <p:sp>
        <p:nvSpPr>
          <p:cNvPr id="5" name="TextBox 4">
            <a:extLst>
              <a:ext uri="{FF2B5EF4-FFF2-40B4-BE49-F238E27FC236}">
                <a16:creationId xmlns:a16="http://schemas.microsoft.com/office/drawing/2014/main" id="{4C1CE8AC-7F6D-3212-8118-3696944A1BC0}"/>
              </a:ext>
            </a:extLst>
          </p:cNvPr>
          <p:cNvSpPr txBox="1"/>
          <p:nvPr/>
        </p:nvSpPr>
        <p:spPr>
          <a:xfrm>
            <a:off x="838200" y="1690688"/>
            <a:ext cx="10515600" cy="4524315"/>
          </a:xfrm>
          <a:prstGeom prst="rect">
            <a:avLst/>
          </a:prstGeom>
          <a:noFill/>
        </p:spPr>
        <p:txBody>
          <a:bodyPr wrap="square" rtlCol="0">
            <a:spAutoFit/>
          </a:bodyPr>
          <a:lstStyle/>
          <a:p>
            <a:r>
              <a:rPr lang="en-US" sz="2400" dirty="0"/>
              <a:t>When certain functions of the library are called by different threads race conditions may occur (i.e. the scheduler function). In this case race conditions exist only because of the automatic switching that is controlled by an alarm. To prevent this, all functions that can cause a race condition run without consuming time from the alarm. This resembles the OS behavior when running atomic operations. After the operation has been completed the alarm is reactivated with the user’s remaining time. </a:t>
            </a:r>
          </a:p>
          <a:p>
            <a:endParaRPr lang="en-US" sz="2400" dirty="0"/>
          </a:p>
          <a:p>
            <a:r>
              <a:rPr lang="en-US" sz="2400" dirty="0"/>
              <a:t>When switching context between different threads an interruption by the alarm could cause unexpected behavior and that’s why before swapping the context the alarm is disabled. The new context has the responsibility to reenable the alarm and this is achieved by the functions described later.</a:t>
            </a:r>
          </a:p>
        </p:txBody>
      </p:sp>
    </p:spTree>
    <p:extLst>
      <p:ext uri="{BB962C8B-B14F-4D97-AF65-F5344CB8AC3E}">
        <p14:creationId xmlns:p14="http://schemas.microsoft.com/office/powerpoint/2010/main" val="2388797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957A3-A89B-FB99-2C21-D6CC621BD1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1DC228-8183-3653-5DB2-C502898519BC}"/>
              </a:ext>
            </a:extLst>
          </p:cNvPr>
          <p:cNvSpPr>
            <a:spLocks noGrp="1"/>
          </p:cNvSpPr>
          <p:nvPr>
            <p:ph type="title"/>
          </p:nvPr>
        </p:nvSpPr>
        <p:spPr/>
        <p:txBody>
          <a:bodyPr/>
          <a:lstStyle/>
          <a:p>
            <a:r>
              <a:rPr lang="en-US" b="1" dirty="0"/>
              <a:t>Assignment 2: </a:t>
            </a:r>
            <a:r>
              <a:rPr lang="en-US" dirty="0"/>
              <a:t>Sleeping mechanism</a:t>
            </a:r>
          </a:p>
        </p:txBody>
      </p:sp>
      <p:sp>
        <p:nvSpPr>
          <p:cNvPr id="5" name="TextBox 4">
            <a:extLst>
              <a:ext uri="{FF2B5EF4-FFF2-40B4-BE49-F238E27FC236}">
                <a16:creationId xmlns:a16="http://schemas.microsoft.com/office/drawing/2014/main" id="{BA66F457-CCB0-D1D0-F018-C310087A4048}"/>
              </a:ext>
            </a:extLst>
          </p:cNvPr>
          <p:cNvSpPr txBox="1"/>
          <p:nvPr/>
        </p:nvSpPr>
        <p:spPr>
          <a:xfrm>
            <a:off x="838200" y="1690688"/>
            <a:ext cx="10515600" cy="3046988"/>
          </a:xfrm>
          <a:prstGeom prst="rect">
            <a:avLst/>
          </a:prstGeom>
          <a:noFill/>
        </p:spPr>
        <p:txBody>
          <a:bodyPr wrap="square" rtlCol="0">
            <a:spAutoFit/>
          </a:bodyPr>
          <a:lstStyle/>
          <a:p>
            <a:r>
              <a:rPr lang="en-US" sz="2400" dirty="0"/>
              <a:t>Our sleep mechanism relies on timestamps that denote when a thread is in the SLEEPING state. Threads marked as SLEEPING are excluded from CPU scheduling until their state changes. The scheduler is responsible for updating the states of these threads. </a:t>
            </a:r>
          </a:p>
          <a:p>
            <a:endParaRPr lang="en-US" sz="2400" dirty="0"/>
          </a:p>
          <a:p>
            <a:r>
              <a:rPr lang="en-US" sz="2400" dirty="0"/>
              <a:t>If all active threads are in the SLEEPING state, the scheduler invokes a system sleep call. This sleep call lasts for the minimum amount needed for the next thread to wake up.</a:t>
            </a:r>
          </a:p>
        </p:txBody>
      </p:sp>
    </p:spTree>
    <p:extLst>
      <p:ext uri="{BB962C8B-B14F-4D97-AF65-F5344CB8AC3E}">
        <p14:creationId xmlns:p14="http://schemas.microsoft.com/office/powerpoint/2010/main" val="27063568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A70C6-D1F9-BA81-1C98-876F041DF4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78CC5E-85F6-121A-6D44-D611E7E015AA}"/>
              </a:ext>
            </a:extLst>
          </p:cNvPr>
          <p:cNvSpPr>
            <a:spLocks noGrp="1"/>
          </p:cNvSpPr>
          <p:nvPr>
            <p:ph type="title"/>
          </p:nvPr>
        </p:nvSpPr>
        <p:spPr/>
        <p:txBody>
          <a:bodyPr/>
          <a:lstStyle/>
          <a:p>
            <a:r>
              <a:rPr lang="en-US" b="1" dirty="0"/>
              <a:t>Assignment 2: </a:t>
            </a:r>
            <a:r>
              <a:rPr lang="en-US" dirty="0"/>
              <a:t>The scheduler</a:t>
            </a:r>
          </a:p>
        </p:txBody>
      </p:sp>
      <p:sp>
        <p:nvSpPr>
          <p:cNvPr id="5" name="TextBox 4">
            <a:extLst>
              <a:ext uri="{FF2B5EF4-FFF2-40B4-BE49-F238E27FC236}">
                <a16:creationId xmlns:a16="http://schemas.microsoft.com/office/drawing/2014/main" id="{894A8E3E-918C-116E-34E1-751C054490B0}"/>
              </a:ext>
            </a:extLst>
          </p:cNvPr>
          <p:cNvSpPr txBox="1"/>
          <p:nvPr/>
        </p:nvSpPr>
        <p:spPr>
          <a:xfrm>
            <a:off x="838200" y="1690688"/>
            <a:ext cx="10515600" cy="1938992"/>
          </a:xfrm>
          <a:prstGeom prst="rect">
            <a:avLst/>
          </a:prstGeom>
          <a:noFill/>
        </p:spPr>
        <p:txBody>
          <a:bodyPr wrap="square" rtlCol="0">
            <a:spAutoFit/>
          </a:bodyPr>
          <a:lstStyle/>
          <a:p>
            <a:r>
              <a:rPr lang="en-US" sz="2400" dirty="0"/>
              <a:t>The scheduler’s job is to determine if switching to another thread is needed based on the state of the previously running thread and finding which thread needs to run after. The logic of the scheduler is broken into 2 parts:</a:t>
            </a:r>
          </a:p>
          <a:p>
            <a:pPr marL="342900" indent="-342900">
              <a:buFont typeface="+mj-lt"/>
              <a:buAutoNum type="arabicPeriod"/>
            </a:pPr>
            <a:r>
              <a:rPr lang="en-US" sz="2400" dirty="0"/>
              <a:t>Only one thread currently exists</a:t>
            </a:r>
          </a:p>
          <a:p>
            <a:pPr marL="342900" indent="-342900">
              <a:buFont typeface="+mj-lt"/>
              <a:buAutoNum type="arabicPeriod"/>
            </a:pPr>
            <a:r>
              <a:rPr lang="en-US" sz="2400" dirty="0"/>
              <a:t>More than one threads currently exist</a:t>
            </a:r>
          </a:p>
        </p:txBody>
      </p:sp>
    </p:spTree>
    <p:extLst>
      <p:ext uri="{BB962C8B-B14F-4D97-AF65-F5344CB8AC3E}">
        <p14:creationId xmlns:p14="http://schemas.microsoft.com/office/powerpoint/2010/main" val="9245882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C2A6E-7DF9-3982-F6F7-FD2208A5D2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827DF5-9A20-41EE-91C2-99CCAE5FE62F}"/>
              </a:ext>
            </a:extLst>
          </p:cNvPr>
          <p:cNvSpPr>
            <a:spLocks noGrp="1"/>
          </p:cNvSpPr>
          <p:nvPr>
            <p:ph type="title"/>
          </p:nvPr>
        </p:nvSpPr>
        <p:spPr/>
        <p:txBody>
          <a:bodyPr/>
          <a:lstStyle/>
          <a:p>
            <a:r>
              <a:rPr lang="en-US" b="1" dirty="0"/>
              <a:t>Assignment 2: </a:t>
            </a:r>
            <a:r>
              <a:rPr lang="en-US" dirty="0"/>
              <a:t>The scheduler</a:t>
            </a:r>
          </a:p>
        </p:txBody>
      </p:sp>
      <p:sp>
        <p:nvSpPr>
          <p:cNvPr id="5" name="TextBox 4">
            <a:extLst>
              <a:ext uri="{FF2B5EF4-FFF2-40B4-BE49-F238E27FC236}">
                <a16:creationId xmlns:a16="http://schemas.microsoft.com/office/drawing/2014/main" id="{946F76CF-C549-C2A5-BF46-FAFDAC70203B}"/>
              </a:ext>
            </a:extLst>
          </p:cNvPr>
          <p:cNvSpPr txBox="1"/>
          <p:nvPr/>
        </p:nvSpPr>
        <p:spPr>
          <a:xfrm>
            <a:off x="838200" y="1405041"/>
            <a:ext cx="8738995" cy="369332"/>
          </a:xfrm>
          <a:prstGeom prst="rect">
            <a:avLst/>
          </a:prstGeom>
          <a:noFill/>
        </p:spPr>
        <p:txBody>
          <a:bodyPr wrap="square" rtlCol="0">
            <a:spAutoFit/>
          </a:bodyPr>
          <a:lstStyle/>
          <a:p>
            <a:r>
              <a:rPr lang="en-US" dirty="0"/>
              <a:t>On the first case when only one thread exists the logic of the scheduler is shown below</a:t>
            </a:r>
          </a:p>
        </p:txBody>
      </p:sp>
      <p:pic>
        <p:nvPicPr>
          <p:cNvPr id="11" name="Picture 10">
            <a:extLst>
              <a:ext uri="{FF2B5EF4-FFF2-40B4-BE49-F238E27FC236}">
                <a16:creationId xmlns:a16="http://schemas.microsoft.com/office/drawing/2014/main" id="{A3E66422-78AB-72E1-BC65-EAE434F11392}"/>
              </a:ext>
            </a:extLst>
          </p:cNvPr>
          <p:cNvPicPr>
            <a:picLocks noChangeAspect="1"/>
          </p:cNvPicPr>
          <p:nvPr/>
        </p:nvPicPr>
        <p:blipFill>
          <a:blip r:embed="rId2"/>
          <a:stretch>
            <a:fillRect/>
          </a:stretch>
        </p:blipFill>
        <p:spPr>
          <a:xfrm>
            <a:off x="2000250" y="2404959"/>
            <a:ext cx="8191500" cy="3048000"/>
          </a:xfrm>
          <a:prstGeom prst="rect">
            <a:avLst/>
          </a:prstGeom>
        </p:spPr>
      </p:pic>
    </p:spTree>
    <p:extLst>
      <p:ext uri="{BB962C8B-B14F-4D97-AF65-F5344CB8AC3E}">
        <p14:creationId xmlns:p14="http://schemas.microsoft.com/office/powerpoint/2010/main" val="39723447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0BBB3-8922-EAB3-B860-893490A4B7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B4BC0-AE25-508E-E665-9886CE7C600F}"/>
              </a:ext>
            </a:extLst>
          </p:cNvPr>
          <p:cNvSpPr>
            <a:spLocks noGrp="1"/>
          </p:cNvSpPr>
          <p:nvPr>
            <p:ph type="title"/>
          </p:nvPr>
        </p:nvSpPr>
        <p:spPr/>
        <p:txBody>
          <a:bodyPr/>
          <a:lstStyle/>
          <a:p>
            <a:r>
              <a:rPr lang="en-US" b="1" dirty="0"/>
              <a:t>Assignment 2: </a:t>
            </a:r>
            <a:r>
              <a:rPr lang="en-US" dirty="0"/>
              <a:t>The scheduler</a:t>
            </a:r>
          </a:p>
        </p:txBody>
      </p:sp>
      <p:sp>
        <p:nvSpPr>
          <p:cNvPr id="5" name="TextBox 4">
            <a:extLst>
              <a:ext uri="{FF2B5EF4-FFF2-40B4-BE49-F238E27FC236}">
                <a16:creationId xmlns:a16="http://schemas.microsoft.com/office/drawing/2014/main" id="{A3316C2B-391A-59CE-DBE5-D3C8EA94A4E1}"/>
              </a:ext>
            </a:extLst>
          </p:cNvPr>
          <p:cNvSpPr txBox="1"/>
          <p:nvPr/>
        </p:nvSpPr>
        <p:spPr>
          <a:xfrm>
            <a:off x="838200" y="1405041"/>
            <a:ext cx="8738995" cy="369332"/>
          </a:xfrm>
          <a:prstGeom prst="rect">
            <a:avLst/>
          </a:prstGeom>
          <a:noFill/>
        </p:spPr>
        <p:txBody>
          <a:bodyPr wrap="square" rtlCol="0">
            <a:spAutoFit/>
          </a:bodyPr>
          <a:lstStyle/>
          <a:p>
            <a:r>
              <a:rPr lang="en-US" dirty="0"/>
              <a:t>When multiple threads exist the logic of the scheduler is the following</a:t>
            </a:r>
          </a:p>
        </p:txBody>
      </p:sp>
      <p:pic>
        <p:nvPicPr>
          <p:cNvPr id="7" name="Picture 6">
            <a:extLst>
              <a:ext uri="{FF2B5EF4-FFF2-40B4-BE49-F238E27FC236}">
                <a16:creationId xmlns:a16="http://schemas.microsoft.com/office/drawing/2014/main" id="{57418CA5-EC31-2428-7B95-81535CA7CFED}"/>
              </a:ext>
            </a:extLst>
          </p:cNvPr>
          <p:cNvPicPr>
            <a:picLocks noChangeAspect="1"/>
          </p:cNvPicPr>
          <p:nvPr/>
        </p:nvPicPr>
        <p:blipFill>
          <a:blip r:embed="rId2"/>
          <a:stretch>
            <a:fillRect/>
          </a:stretch>
        </p:blipFill>
        <p:spPr>
          <a:xfrm>
            <a:off x="2985637" y="1774373"/>
            <a:ext cx="6220725" cy="4780742"/>
          </a:xfrm>
          <a:prstGeom prst="rect">
            <a:avLst/>
          </a:prstGeom>
        </p:spPr>
      </p:pic>
    </p:spTree>
    <p:extLst>
      <p:ext uri="{BB962C8B-B14F-4D97-AF65-F5344CB8AC3E}">
        <p14:creationId xmlns:p14="http://schemas.microsoft.com/office/powerpoint/2010/main" val="37674133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669A2-FC16-AC16-F1E3-5363634586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195881-C050-0600-D1A9-DE24902A5836}"/>
              </a:ext>
            </a:extLst>
          </p:cNvPr>
          <p:cNvSpPr>
            <a:spLocks noGrp="1"/>
          </p:cNvSpPr>
          <p:nvPr>
            <p:ph type="title"/>
          </p:nvPr>
        </p:nvSpPr>
        <p:spPr/>
        <p:txBody>
          <a:bodyPr/>
          <a:lstStyle/>
          <a:p>
            <a:r>
              <a:rPr lang="en-US" b="1" dirty="0"/>
              <a:t>Assignment 2: </a:t>
            </a:r>
            <a:r>
              <a:rPr lang="en-US" dirty="0"/>
              <a:t>The scheduler</a:t>
            </a:r>
          </a:p>
        </p:txBody>
      </p:sp>
      <p:sp>
        <p:nvSpPr>
          <p:cNvPr id="5" name="TextBox 4">
            <a:extLst>
              <a:ext uri="{FF2B5EF4-FFF2-40B4-BE49-F238E27FC236}">
                <a16:creationId xmlns:a16="http://schemas.microsoft.com/office/drawing/2014/main" id="{B2D19BBE-0A59-1CE4-4881-29D253285F46}"/>
              </a:ext>
            </a:extLst>
          </p:cNvPr>
          <p:cNvSpPr txBox="1"/>
          <p:nvPr/>
        </p:nvSpPr>
        <p:spPr>
          <a:xfrm>
            <a:off x="838200" y="1875354"/>
            <a:ext cx="7125393" cy="4247317"/>
          </a:xfrm>
          <a:prstGeom prst="rect">
            <a:avLst/>
          </a:prstGeom>
          <a:noFill/>
        </p:spPr>
        <p:txBody>
          <a:bodyPr wrap="square" rtlCol="0">
            <a:spAutoFit/>
          </a:bodyPr>
          <a:lstStyle/>
          <a:p>
            <a:r>
              <a:rPr lang="en-US" b="0" dirty="0">
                <a:solidFill>
                  <a:srgbClr val="CBA6F7"/>
                </a:solidFill>
                <a:effectLst/>
                <a:latin typeface="Consolas" panose="020B0609020204030204" pitchFamily="49" charset="0"/>
              </a:rPr>
              <a:t>void</a:t>
            </a:r>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run_scheduler</a:t>
            </a:r>
            <a:r>
              <a:rPr lang="en-US" b="0" dirty="0">
                <a:solidFill>
                  <a:srgbClr val="9399B2"/>
                </a:solidFill>
                <a:effectLst/>
                <a:latin typeface="Consolas" panose="020B0609020204030204" pitchFamily="49" charset="0"/>
              </a:rPr>
              <a:t>(</a:t>
            </a:r>
            <a:r>
              <a:rPr lang="en-US" b="0" dirty="0" err="1">
                <a:solidFill>
                  <a:srgbClr val="CBA6F7"/>
                </a:solidFill>
                <a:effectLst/>
                <a:latin typeface="Consolas" panose="020B0609020204030204" pitchFamily="49" charset="0"/>
              </a:rPr>
              <a:t>enum</a:t>
            </a:r>
            <a:r>
              <a:rPr lang="en-US" b="0" dirty="0">
                <a:solidFill>
                  <a:srgbClr val="CDD6F4"/>
                </a:solidFill>
                <a:effectLst/>
                <a:latin typeface="Consolas" panose="020B0609020204030204" pitchFamily="49" charset="0"/>
              </a:rPr>
              <a:t> </a:t>
            </a:r>
            <a:r>
              <a:rPr lang="en-US" dirty="0" err="1">
                <a:solidFill>
                  <a:srgbClr val="F9E2AF"/>
                </a:solidFill>
                <a:latin typeface="Consolas" panose="020B0609020204030204" pitchFamily="49" charset="0"/>
              </a:rPr>
              <a:t>thread_state</a:t>
            </a:r>
            <a:r>
              <a:rPr lang="en-US" b="0" dirty="0">
                <a:solidFill>
                  <a:srgbClr val="CDD6F4"/>
                </a:solidFill>
                <a:effectLst/>
                <a:latin typeface="Consolas" panose="020B0609020204030204" pitchFamily="49" charset="0"/>
              </a:rPr>
              <a:t> </a:t>
            </a:r>
            <a:r>
              <a:rPr lang="en-US" b="0" i="1" dirty="0">
                <a:solidFill>
                  <a:srgbClr val="EBA0AC"/>
                </a:solidFill>
                <a:effectLst/>
                <a:latin typeface="Consolas" panose="020B0609020204030204" pitchFamily="49" charset="0"/>
              </a:rPr>
              <a:t>state</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disable alarm</a:t>
            </a:r>
          </a:p>
          <a:p>
            <a:br>
              <a:rPr lang="en-US" b="0" dirty="0">
                <a:solidFill>
                  <a:srgbClr val="CDD6F4"/>
                </a:solidFill>
                <a:effectLst/>
                <a:latin typeface="Consolas" panose="020B0609020204030204" pitchFamily="49" charset="0"/>
              </a:rPr>
            </a:br>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if</a:t>
            </a:r>
            <a:r>
              <a:rPr lang="en-US" b="0" dirty="0">
                <a:solidFill>
                  <a:srgbClr val="CDD6F4"/>
                </a:solidFill>
                <a:effectLst/>
                <a:latin typeface="Consolas" panose="020B0609020204030204" pitchFamily="49" charset="0"/>
              </a:rPr>
              <a:t> only one thread exists </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switch</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r>
              <a:rPr lang="en-US" i="1" dirty="0">
                <a:solidFill>
                  <a:srgbClr val="EBA0AC"/>
                </a:solidFill>
                <a:latin typeface="Consolas" panose="020B0609020204030204" pitchFamily="49" charset="0"/>
              </a:rPr>
              <a:t>state</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case</a:t>
            </a:r>
            <a:r>
              <a:rPr lang="en-US" b="0" dirty="0">
                <a:solidFill>
                  <a:srgbClr val="CDD6F4"/>
                </a:solidFill>
                <a:effectLst/>
                <a:latin typeface="Consolas" panose="020B0609020204030204" pitchFamily="49" charset="0"/>
              </a:rPr>
              <a:t> TERMINATED</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case</a:t>
            </a:r>
            <a:r>
              <a:rPr lang="en-US" b="0" dirty="0">
                <a:solidFill>
                  <a:srgbClr val="CDD6F4"/>
                </a:solidFill>
                <a:effectLst/>
                <a:latin typeface="Consolas" panose="020B0609020204030204" pitchFamily="49" charset="0"/>
              </a:rPr>
              <a:t> READY</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return</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case</a:t>
            </a:r>
            <a:r>
              <a:rPr lang="en-US" b="0" dirty="0">
                <a:solidFill>
                  <a:srgbClr val="CDD6F4"/>
                </a:solidFill>
                <a:effectLst/>
                <a:latin typeface="Consolas" panose="020B0609020204030204" pitchFamily="49" charset="0"/>
              </a:rPr>
              <a:t> BLOCKED</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exit because deadlock has been detected</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case</a:t>
            </a:r>
            <a:r>
              <a:rPr lang="en-US" b="0" dirty="0">
                <a:solidFill>
                  <a:srgbClr val="CDD6F4"/>
                </a:solidFill>
                <a:effectLst/>
                <a:latin typeface="Consolas" panose="020B0609020204030204" pitchFamily="49" charset="0"/>
              </a:rPr>
              <a:t> SLEEPING</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sleep until the given timestamp</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return</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p>
          <a:p>
            <a:r>
              <a:rPr lang="en-US" b="0" dirty="0">
                <a:solidFill>
                  <a:srgbClr val="CDD6F4"/>
                </a:solidFill>
                <a:effectLst/>
                <a:latin typeface="Consolas" panose="020B0609020204030204" pitchFamily="49" charset="0"/>
              </a:rPr>
              <a:t>   </a:t>
            </a:r>
          </a:p>
        </p:txBody>
      </p:sp>
      <p:sp>
        <p:nvSpPr>
          <p:cNvPr id="3" name="TextBox 2">
            <a:extLst>
              <a:ext uri="{FF2B5EF4-FFF2-40B4-BE49-F238E27FC236}">
                <a16:creationId xmlns:a16="http://schemas.microsoft.com/office/drawing/2014/main" id="{BCA97D38-A417-5365-EC5D-04345E7F6397}"/>
              </a:ext>
            </a:extLst>
          </p:cNvPr>
          <p:cNvSpPr txBox="1"/>
          <p:nvPr/>
        </p:nvSpPr>
        <p:spPr>
          <a:xfrm>
            <a:off x="838200" y="1506022"/>
            <a:ext cx="4917372" cy="369332"/>
          </a:xfrm>
          <a:prstGeom prst="rect">
            <a:avLst/>
          </a:prstGeom>
          <a:noFill/>
        </p:spPr>
        <p:txBody>
          <a:bodyPr wrap="none" rtlCol="0">
            <a:spAutoFit/>
          </a:bodyPr>
          <a:lstStyle/>
          <a:p>
            <a:r>
              <a:rPr lang="en-US" dirty="0"/>
              <a:t>This is the first case when only one thread exists</a:t>
            </a:r>
          </a:p>
        </p:txBody>
      </p:sp>
    </p:spTree>
    <p:extLst>
      <p:ext uri="{BB962C8B-B14F-4D97-AF65-F5344CB8AC3E}">
        <p14:creationId xmlns:p14="http://schemas.microsoft.com/office/powerpoint/2010/main" val="24357942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999F2-42FE-DDFC-6FEA-FB31CD11F3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7AB7D6-B99F-56BB-63D6-EBF1AB3F28F3}"/>
              </a:ext>
            </a:extLst>
          </p:cNvPr>
          <p:cNvSpPr>
            <a:spLocks noGrp="1"/>
          </p:cNvSpPr>
          <p:nvPr>
            <p:ph type="title"/>
          </p:nvPr>
        </p:nvSpPr>
        <p:spPr/>
        <p:txBody>
          <a:bodyPr/>
          <a:lstStyle/>
          <a:p>
            <a:r>
              <a:rPr lang="en-US" b="1" dirty="0"/>
              <a:t>Assignment 2: </a:t>
            </a:r>
            <a:r>
              <a:rPr lang="en-US" dirty="0"/>
              <a:t>The scheduler</a:t>
            </a:r>
          </a:p>
        </p:txBody>
      </p:sp>
      <p:sp>
        <p:nvSpPr>
          <p:cNvPr id="5" name="TextBox 4">
            <a:extLst>
              <a:ext uri="{FF2B5EF4-FFF2-40B4-BE49-F238E27FC236}">
                <a16:creationId xmlns:a16="http://schemas.microsoft.com/office/drawing/2014/main" id="{42934AB1-BDE8-5816-626C-4BACEEDB3775}"/>
              </a:ext>
            </a:extLst>
          </p:cNvPr>
          <p:cNvSpPr txBox="1"/>
          <p:nvPr/>
        </p:nvSpPr>
        <p:spPr>
          <a:xfrm>
            <a:off x="838200" y="1875354"/>
            <a:ext cx="7608224" cy="4524315"/>
          </a:xfrm>
          <a:prstGeom prst="rect">
            <a:avLst/>
          </a:prstGeom>
          <a:noFill/>
        </p:spPr>
        <p:txBody>
          <a:bodyPr wrap="square" rtlCol="0">
            <a:spAutoFit/>
          </a:bodyPr>
          <a:lstStyle/>
          <a:p>
            <a:r>
              <a:rPr lang="en-US" sz="1200" b="0" dirty="0">
                <a:solidFill>
                  <a:srgbClr val="CDD6F4"/>
                </a:solidFill>
                <a:effectLst/>
                <a:latin typeface="Consolas" panose="020B0609020204030204" pitchFamily="49" charset="0"/>
              </a:rPr>
              <a:t>    reload states</a:t>
            </a:r>
          </a:p>
          <a:p>
            <a:r>
              <a:rPr lang="en-US" sz="1200" b="0" dirty="0">
                <a:solidFill>
                  <a:srgbClr val="CDD6F4"/>
                </a:solidFill>
                <a:effectLst/>
                <a:latin typeface="Consolas" panose="020B0609020204030204" pitchFamily="49" charset="0"/>
              </a:rPr>
              <a:t>    find any ready thread</a:t>
            </a:r>
          </a:p>
          <a:p>
            <a:r>
              <a:rPr lang="en-US" sz="1200" b="0" dirty="0">
                <a:solidFill>
                  <a:srgbClr val="CDD6F4"/>
                </a:solidFill>
                <a:effectLst/>
                <a:latin typeface="Consolas" panose="020B0609020204030204" pitchFamily="49" charset="0"/>
              </a:rPr>
              <a:t>    find the thread that needs to wake up the earliest</a:t>
            </a:r>
          </a:p>
          <a:p>
            <a:br>
              <a:rPr lang="en-US" sz="1200" b="0" dirty="0">
                <a:solidFill>
                  <a:srgbClr val="CDD6F4"/>
                </a:solidFill>
                <a:effectLst/>
                <a:latin typeface="Consolas" panose="020B0609020204030204" pitchFamily="49" charset="0"/>
              </a:rPr>
            </a:br>
            <a:r>
              <a:rPr lang="en-US" sz="1200" b="0" dirty="0">
                <a:solidFill>
                  <a:srgbClr val="CDD6F4"/>
                </a:solidFill>
                <a:effectLst/>
                <a:latin typeface="Consolas" panose="020B0609020204030204" pitchFamily="49" charset="0"/>
              </a:rPr>
              <a:t>    </a:t>
            </a:r>
            <a:r>
              <a:rPr lang="en-US" sz="1200" b="0" dirty="0">
                <a:solidFill>
                  <a:srgbClr val="CBA6F7"/>
                </a:solidFill>
                <a:effectLst/>
                <a:latin typeface="Consolas" panose="020B0609020204030204" pitchFamily="49" charset="0"/>
              </a:rPr>
              <a:t>if</a:t>
            </a:r>
            <a:r>
              <a:rPr lang="en-US" sz="1200" b="0" dirty="0">
                <a:solidFill>
                  <a:srgbClr val="CDD6F4"/>
                </a:solidFill>
                <a:effectLst/>
                <a:latin typeface="Consolas" panose="020B0609020204030204" pitchFamily="49" charset="0"/>
              </a:rPr>
              <a:t> there is a ready thread</a:t>
            </a:r>
          </a:p>
          <a:p>
            <a:r>
              <a:rPr lang="en-US" sz="1200" b="0" dirty="0">
                <a:solidFill>
                  <a:srgbClr val="CDD6F4"/>
                </a:solidFill>
                <a:effectLst/>
                <a:latin typeface="Consolas" panose="020B0609020204030204" pitchFamily="49" charset="0"/>
              </a:rPr>
              <a:t>        </a:t>
            </a:r>
            <a:r>
              <a:rPr lang="en-US" sz="1200" dirty="0">
                <a:solidFill>
                  <a:srgbClr val="CDD6F4"/>
                </a:solidFill>
                <a:latin typeface="Consolas" panose="020B0609020204030204" pitchFamily="49" charset="0"/>
              </a:rPr>
              <a:t>switch</a:t>
            </a:r>
            <a:r>
              <a:rPr lang="en-US" sz="1200" b="0" dirty="0">
                <a:solidFill>
                  <a:srgbClr val="CDD6F4"/>
                </a:solidFill>
                <a:effectLst/>
                <a:latin typeface="Consolas" panose="020B0609020204030204" pitchFamily="49" charset="0"/>
              </a:rPr>
              <a:t> to ready thread</a:t>
            </a:r>
          </a:p>
          <a:p>
            <a:r>
              <a:rPr lang="en-US" sz="1200" b="0" dirty="0">
                <a:solidFill>
                  <a:srgbClr val="CDD6F4"/>
                </a:solidFill>
                <a:effectLst/>
                <a:latin typeface="Consolas" panose="020B0609020204030204" pitchFamily="49" charset="0"/>
              </a:rPr>
              <a:t>        </a:t>
            </a:r>
            <a:r>
              <a:rPr lang="en-US" sz="1200" b="0" dirty="0">
                <a:solidFill>
                  <a:srgbClr val="CBA6F7"/>
                </a:solidFill>
                <a:effectLst/>
                <a:latin typeface="Consolas" panose="020B0609020204030204" pitchFamily="49" charset="0"/>
              </a:rPr>
              <a:t>return</a:t>
            </a:r>
            <a:endParaRPr lang="en-US" sz="1200" b="0" dirty="0">
              <a:solidFill>
                <a:srgbClr val="CDD6F4"/>
              </a:solidFill>
              <a:effectLst/>
              <a:latin typeface="Consolas" panose="020B0609020204030204" pitchFamily="49" charset="0"/>
            </a:endParaRPr>
          </a:p>
          <a:p>
            <a:br>
              <a:rPr lang="en-US" sz="1200" b="0" dirty="0">
                <a:solidFill>
                  <a:srgbClr val="CDD6F4"/>
                </a:solidFill>
                <a:effectLst/>
                <a:latin typeface="Consolas" panose="020B0609020204030204" pitchFamily="49" charset="0"/>
              </a:rPr>
            </a:br>
            <a:r>
              <a:rPr lang="en-US" sz="1200" b="0" dirty="0">
                <a:solidFill>
                  <a:srgbClr val="CDD6F4"/>
                </a:solidFill>
                <a:effectLst/>
                <a:latin typeface="Consolas" panose="020B0609020204030204" pitchFamily="49" charset="0"/>
              </a:rPr>
              <a:t>    </a:t>
            </a:r>
            <a:r>
              <a:rPr lang="en-US" sz="1200" b="0" dirty="0">
                <a:solidFill>
                  <a:srgbClr val="CBA6F7"/>
                </a:solidFill>
                <a:effectLst/>
                <a:latin typeface="Consolas" panose="020B0609020204030204" pitchFamily="49" charset="0"/>
              </a:rPr>
              <a:t>switch</a:t>
            </a:r>
            <a:r>
              <a:rPr lang="en-US" sz="1200" b="0" dirty="0">
                <a:solidFill>
                  <a:srgbClr val="CDD6F4"/>
                </a:solidFill>
                <a:effectLst/>
                <a:latin typeface="Consolas" panose="020B0609020204030204" pitchFamily="49" charset="0"/>
              </a:rPr>
              <a:t> </a:t>
            </a:r>
            <a:r>
              <a:rPr lang="en-US" sz="1200" b="0" dirty="0">
                <a:solidFill>
                  <a:srgbClr val="9399B2"/>
                </a:solidFill>
                <a:effectLst/>
                <a:latin typeface="Consolas" panose="020B0609020204030204" pitchFamily="49" charset="0"/>
              </a:rPr>
              <a:t>(</a:t>
            </a:r>
            <a:r>
              <a:rPr lang="en-US" sz="1200" i="1" dirty="0">
                <a:solidFill>
                  <a:srgbClr val="EBA0AC"/>
                </a:solidFill>
                <a:latin typeface="Consolas" panose="020B0609020204030204" pitchFamily="49" charset="0"/>
              </a:rPr>
              <a:t>state</a:t>
            </a:r>
            <a:r>
              <a:rPr lang="en-US" sz="1200" b="0" dirty="0">
                <a:solidFill>
                  <a:srgbClr val="9399B2"/>
                </a:solidFill>
                <a:effectLst/>
                <a:latin typeface="Consolas" panose="020B0609020204030204" pitchFamily="49" charset="0"/>
              </a:rPr>
              <a:t>)</a:t>
            </a:r>
            <a:endParaRPr lang="en-US" sz="1200" b="0" dirty="0">
              <a:solidFill>
                <a:srgbClr val="CDD6F4"/>
              </a:solidFill>
              <a:effectLst/>
              <a:latin typeface="Consolas" panose="020B0609020204030204" pitchFamily="49" charset="0"/>
            </a:endParaRPr>
          </a:p>
          <a:p>
            <a:r>
              <a:rPr lang="en-US" sz="1200" b="0" dirty="0">
                <a:solidFill>
                  <a:srgbClr val="CDD6F4"/>
                </a:solidFill>
                <a:effectLst/>
                <a:latin typeface="Consolas" panose="020B0609020204030204" pitchFamily="49" charset="0"/>
              </a:rPr>
              <a:t>        </a:t>
            </a:r>
            <a:r>
              <a:rPr lang="en-US" sz="1200" b="0" dirty="0">
                <a:solidFill>
                  <a:srgbClr val="CBA6F7"/>
                </a:solidFill>
                <a:effectLst/>
                <a:latin typeface="Consolas" panose="020B0609020204030204" pitchFamily="49" charset="0"/>
              </a:rPr>
              <a:t>case</a:t>
            </a:r>
            <a:r>
              <a:rPr lang="en-US" sz="1200" b="0" dirty="0">
                <a:solidFill>
                  <a:srgbClr val="CDD6F4"/>
                </a:solidFill>
                <a:effectLst/>
                <a:latin typeface="Consolas" panose="020B0609020204030204" pitchFamily="49" charset="0"/>
              </a:rPr>
              <a:t> READY</a:t>
            </a:r>
            <a:r>
              <a:rPr lang="en-US" sz="1200" b="0" dirty="0">
                <a:solidFill>
                  <a:srgbClr val="9399B2"/>
                </a:solidFill>
                <a:effectLst/>
                <a:latin typeface="Consolas" panose="020B0609020204030204" pitchFamily="49" charset="0"/>
              </a:rPr>
              <a:t>:</a:t>
            </a:r>
            <a:endParaRPr lang="en-US" sz="1200" b="0" dirty="0">
              <a:solidFill>
                <a:srgbClr val="CDD6F4"/>
              </a:solidFill>
              <a:effectLst/>
              <a:latin typeface="Consolas" panose="020B0609020204030204" pitchFamily="49" charset="0"/>
            </a:endParaRPr>
          </a:p>
          <a:p>
            <a:r>
              <a:rPr lang="en-US" sz="1200" b="0" dirty="0">
                <a:solidFill>
                  <a:srgbClr val="CDD6F4"/>
                </a:solidFill>
                <a:effectLst/>
                <a:latin typeface="Consolas" panose="020B0609020204030204" pitchFamily="49" charset="0"/>
              </a:rPr>
              <a:t>            reset alarm</a:t>
            </a:r>
          </a:p>
          <a:p>
            <a:r>
              <a:rPr lang="en-US" sz="1200" b="0" dirty="0">
                <a:solidFill>
                  <a:srgbClr val="CDD6F4"/>
                </a:solidFill>
                <a:effectLst/>
                <a:latin typeface="Consolas" panose="020B0609020204030204" pitchFamily="49" charset="0"/>
              </a:rPr>
              <a:t>            </a:t>
            </a:r>
            <a:r>
              <a:rPr lang="en-US" sz="1200" b="0" dirty="0">
                <a:solidFill>
                  <a:srgbClr val="CBA6F7"/>
                </a:solidFill>
                <a:effectLst/>
                <a:latin typeface="Consolas" panose="020B0609020204030204" pitchFamily="49" charset="0"/>
              </a:rPr>
              <a:t>return</a:t>
            </a:r>
            <a:endParaRPr lang="en-US" sz="1200" b="0" dirty="0">
              <a:solidFill>
                <a:srgbClr val="CDD6F4"/>
              </a:solidFill>
              <a:effectLst/>
              <a:latin typeface="Consolas" panose="020B0609020204030204" pitchFamily="49" charset="0"/>
            </a:endParaRPr>
          </a:p>
          <a:p>
            <a:r>
              <a:rPr lang="en-US" sz="1200" b="0" dirty="0">
                <a:solidFill>
                  <a:srgbClr val="CDD6F4"/>
                </a:solidFill>
                <a:effectLst/>
                <a:latin typeface="Consolas" panose="020B0609020204030204" pitchFamily="49" charset="0"/>
              </a:rPr>
              <a:t>        </a:t>
            </a:r>
            <a:r>
              <a:rPr lang="en-US" sz="1200" b="0" dirty="0">
                <a:solidFill>
                  <a:srgbClr val="CBA6F7"/>
                </a:solidFill>
                <a:effectLst/>
                <a:latin typeface="Consolas" panose="020B0609020204030204" pitchFamily="49" charset="0"/>
              </a:rPr>
              <a:t>case</a:t>
            </a:r>
            <a:r>
              <a:rPr lang="en-US" sz="1200" b="0" dirty="0">
                <a:solidFill>
                  <a:srgbClr val="CDD6F4"/>
                </a:solidFill>
                <a:effectLst/>
                <a:latin typeface="Consolas" panose="020B0609020204030204" pitchFamily="49" charset="0"/>
              </a:rPr>
              <a:t> SLEEPING</a:t>
            </a:r>
            <a:r>
              <a:rPr lang="en-US" sz="1200" b="0" dirty="0">
                <a:solidFill>
                  <a:srgbClr val="9399B2"/>
                </a:solidFill>
                <a:effectLst/>
                <a:latin typeface="Consolas" panose="020B0609020204030204" pitchFamily="49" charset="0"/>
              </a:rPr>
              <a:t>:</a:t>
            </a:r>
            <a:endParaRPr lang="en-US" sz="1200" b="0" dirty="0">
              <a:solidFill>
                <a:srgbClr val="CDD6F4"/>
              </a:solidFill>
              <a:effectLst/>
              <a:latin typeface="Consolas" panose="020B0609020204030204" pitchFamily="49" charset="0"/>
            </a:endParaRPr>
          </a:p>
          <a:p>
            <a:r>
              <a:rPr lang="en-US" sz="1200" b="0" dirty="0">
                <a:solidFill>
                  <a:srgbClr val="CDD6F4"/>
                </a:solidFill>
                <a:effectLst/>
                <a:latin typeface="Consolas" panose="020B0609020204030204" pitchFamily="49" charset="0"/>
              </a:rPr>
              <a:t>            sleep until the next thread needs to wake up</a:t>
            </a:r>
          </a:p>
          <a:p>
            <a:r>
              <a:rPr lang="en-US" sz="1200" b="0" dirty="0">
                <a:solidFill>
                  <a:srgbClr val="CDD6F4"/>
                </a:solidFill>
                <a:effectLst/>
                <a:latin typeface="Consolas" panose="020B0609020204030204" pitchFamily="49" charset="0"/>
              </a:rPr>
              <a:t>            </a:t>
            </a:r>
            <a:r>
              <a:rPr lang="en-US" sz="1200" dirty="0">
                <a:solidFill>
                  <a:srgbClr val="CDD6F4"/>
                </a:solidFill>
                <a:latin typeface="Consolas" panose="020B0609020204030204" pitchFamily="49" charset="0"/>
              </a:rPr>
              <a:t>switch</a:t>
            </a:r>
            <a:r>
              <a:rPr lang="en-US" sz="1200" b="0" dirty="0">
                <a:solidFill>
                  <a:srgbClr val="CDD6F4"/>
                </a:solidFill>
                <a:effectLst/>
                <a:latin typeface="Consolas" panose="020B0609020204030204" pitchFamily="49" charset="0"/>
              </a:rPr>
              <a:t> to next thread</a:t>
            </a:r>
          </a:p>
          <a:p>
            <a:r>
              <a:rPr lang="en-US" sz="1200" b="0" dirty="0">
                <a:solidFill>
                  <a:srgbClr val="CDD6F4"/>
                </a:solidFill>
                <a:effectLst/>
                <a:latin typeface="Consolas" panose="020B0609020204030204" pitchFamily="49" charset="0"/>
              </a:rPr>
              <a:t>            </a:t>
            </a:r>
            <a:r>
              <a:rPr lang="en-US" sz="1200" b="0" dirty="0">
                <a:solidFill>
                  <a:srgbClr val="CBA6F7"/>
                </a:solidFill>
                <a:effectLst/>
                <a:latin typeface="Consolas" panose="020B0609020204030204" pitchFamily="49" charset="0"/>
              </a:rPr>
              <a:t>return</a:t>
            </a:r>
            <a:endParaRPr lang="en-US" sz="1200" b="0" dirty="0">
              <a:solidFill>
                <a:srgbClr val="CDD6F4"/>
              </a:solidFill>
              <a:effectLst/>
              <a:latin typeface="Consolas" panose="020B0609020204030204" pitchFamily="49" charset="0"/>
            </a:endParaRPr>
          </a:p>
          <a:p>
            <a:r>
              <a:rPr lang="en-US" sz="1200" b="0" dirty="0">
                <a:solidFill>
                  <a:srgbClr val="CDD6F4"/>
                </a:solidFill>
                <a:effectLst/>
                <a:latin typeface="Consolas" panose="020B0609020204030204" pitchFamily="49" charset="0"/>
              </a:rPr>
              <a:t>        </a:t>
            </a:r>
            <a:r>
              <a:rPr lang="en-US" sz="1200" b="0" dirty="0">
                <a:solidFill>
                  <a:srgbClr val="CBA6F7"/>
                </a:solidFill>
                <a:effectLst/>
                <a:latin typeface="Consolas" panose="020B0609020204030204" pitchFamily="49" charset="0"/>
              </a:rPr>
              <a:t>case</a:t>
            </a:r>
            <a:r>
              <a:rPr lang="en-US" sz="1200" b="0" dirty="0">
                <a:solidFill>
                  <a:srgbClr val="CDD6F4"/>
                </a:solidFill>
                <a:effectLst/>
                <a:latin typeface="Consolas" panose="020B0609020204030204" pitchFamily="49" charset="0"/>
              </a:rPr>
              <a:t> TERMINATED</a:t>
            </a:r>
            <a:r>
              <a:rPr lang="en-US" sz="1200" b="0" dirty="0">
                <a:solidFill>
                  <a:srgbClr val="9399B2"/>
                </a:solidFill>
                <a:effectLst/>
                <a:latin typeface="Consolas" panose="020B0609020204030204" pitchFamily="49" charset="0"/>
              </a:rPr>
              <a:t>:</a:t>
            </a:r>
            <a:endParaRPr lang="en-US" sz="1200" b="0" dirty="0">
              <a:solidFill>
                <a:srgbClr val="CDD6F4"/>
              </a:solidFill>
              <a:effectLst/>
              <a:latin typeface="Consolas" panose="020B0609020204030204" pitchFamily="49" charset="0"/>
            </a:endParaRPr>
          </a:p>
          <a:p>
            <a:r>
              <a:rPr lang="en-US" sz="1200" b="0" dirty="0">
                <a:solidFill>
                  <a:srgbClr val="CDD6F4"/>
                </a:solidFill>
                <a:effectLst/>
                <a:latin typeface="Consolas" panose="020B0609020204030204" pitchFamily="49" charset="0"/>
              </a:rPr>
              <a:t>        </a:t>
            </a:r>
            <a:r>
              <a:rPr lang="en-US" sz="1200" b="0" dirty="0">
                <a:solidFill>
                  <a:srgbClr val="CBA6F7"/>
                </a:solidFill>
                <a:effectLst/>
                <a:latin typeface="Consolas" panose="020B0609020204030204" pitchFamily="49" charset="0"/>
              </a:rPr>
              <a:t>case</a:t>
            </a:r>
            <a:r>
              <a:rPr lang="en-US" sz="1200" b="0" dirty="0">
                <a:solidFill>
                  <a:srgbClr val="CDD6F4"/>
                </a:solidFill>
                <a:effectLst/>
                <a:latin typeface="Consolas" panose="020B0609020204030204" pitchFamily="49" charset="0"/>
              </a:rPr>
              <a:t> BLOCKED</a:t>
            </a:r>
            <a:r>
              <a:rPr lang="en-US" sz="1200" b="0" dirty="0">
                <a:solidFill>
                  <a:srgbClr val="9399B2"/>
                </a:solidFill>
                <a:effectLst/>
                <a:latin typeface="Consolas" panose="020B0609020204030204" pitchFamily="49" charset="0"/>
              </a:rPr>
              <a:t>:</a:t>
            </a:r>
            <a:endParaRPr lang="en-US" sz="1200" b="0" dirty="0">
              <a:solidFill>
                <a:srgbClr val="CDD6F4"/>
              </a:solidFill>
              <a:effectLst/>
              <a:latin typeface="Consolas" panose="020B0609020204030204" pitchFamily="49" charset="0"/>
            </a:endParaRPr>
          </a:p>
          <a:p>
            <a:r>
              <a:rPr lang="en-US" sz="1200" b="0" dirty="0">
                <a:solidFill>
                  <a:srgbClr val="CDD6F4"/>
                </a:solidFill>
                <a:effectLst/>
                <a:latin typeface="Consolas" panose="020B0609020204030204" pitchFamily="49" charset="0"/>
              </a:rPr>
              <a:t>            </a:t>
            </a:r>
            <a:r>
              <a:rPr lang="en-US" sz="1200" b="0" dirty="0">
                <a:solidFill>
                  <a:srgbClr val="CBA6F7"/>
                </a:solidFill>
                <a:effectLst/>
                <a:latin typeface="Consolas" panose="020B0609020204030204" pitchFamily="49" charset="0"/>
              </a:rPr>
              <a:t>if</a:t>
            </a:r>
            <a:r>
              <a:rPr lang="en-US" sz="1200" b="0" dirty="0">
                <a:solidFill>
                  <a:srgbClr val="CDD6F4"/>
                </a:solidFill>
                <a:effectLst/>
                <a:latin typeface="Consolas" panose="020B0609020204030204" pitchFamily="49" charset="0"/>
              </a:rPr>
              <a:t> no thread is sleeping</a:t>
            </a:r>
          </a:p>
          <a:p>
            <a:r>
              <a:rPr lang="en-US" sz="1200" b="0" dirty="0">
                <a:solidFill>
                  <a:srgbClr val="CDD6F4"/>
                </a:solidFill>
                <a:effectLst/>
                <a:latin typeface="Consolas" panose="020B0609020204030204" pitchFamily="49" charset="0"/>
              </a:rPr>
              <a:t>                exit because deadlock has been detected</a:t>
            </a:r>
          </a:p>
          <a:p>
            <a:r>
              <a:rPr lang="en-US" sz="1200" b="0" dirty="0">
                <a:solidFill>
                  <a:srgbClr val="CDD6F4"/>
                </a:solidFill>
                <a:effectLst/>
                <a:latin typeface="Consolas" panose="020B0609020204030204" pitchFamily="49" charset="0"/>
              </a:rPr>
              <a:t>            </a:t>
            </a:r>
          </a:p>
          <a:p>
            <a:r>
              <a:rPr lang="en-US" sz="1200" b="0" dirty="0">
                <a:solidFill>
                  <a:srgbClr val="CDD6F4"/>
                </a:solidFill>
                <a:effectLst/>
                <a:latin typeface="Consolas" panose="020B0609020204030204" pitchFamily="49" charset="0"/>
              </a:rPr>
              <a:t>            sleep until the next thread needs to wake up</a:t>
            </a:r>
          </a:p>
          <a:p>
            <a:r>
              <a:rPr lang="en-US" sz="1200" b="0" dirty="0">
                <a:solidFill>
                  <a:srgbClr val="CDD6F4"/>
                </a:solidFill>
                <a:effectLst/>
                <a:latin typeface="Consolas" panose="020B0609020204030204" pitchFamily="49" charset="0"/>
              </a:rPr>
              <a:t>            </a:t>
            </a:r>
            <a:r>
              <a:rPr lang="en-US" sz="1200" dirty="0">
                <a:solidFill>
                  <a:srgbClr val="CDD6F4"/>
                </a:solidFill>
                <a:latin typeface="Consolas" panose="020B0609020204030204" pitchFamily="49" charset="0"/>
              </a:rPr>
              <a:t>switch</a:t>
            </a:r>
            <a:r>
              <a:rPr lang="en-US" sz="1200" b="0" dirty="0">
                <a:solidFill>
                  <a:srgbClr val="CDD6F4"/>
                </a:solidFill>
                <a:effectLst/>
                <a:latin typeface="Consolas" panose="020B0609020204030204" pitchFamily="49" charset="0"/>
              </a:rPr>
              <a:t> to next thread</a:t>
            </a:r>
          </a:p>
          <a:p>
            <a:r>
              <a:rPr lang="en-US" sz="1200" b="0" dirty="0">
                <a:solidFill>
                  <a:srgbClr val="CDD6F4"/>
                </a:solidFill>
                <a:effectLst/>
                <a:latin typeface="Consolas" panose="020B0609020204030204" pitchFamily="49" charset="0"/>
              </a:rPr>
              <a:t>}</a:t>
            </a:r>
          </a:p>
        </p:txBody>
      </p:sp>
      <p:sp>
        <p:nvSpPr>
          <p:cNvPr id="3" name="TextBox 2">
            <a:extLst>
              <a:ext uri="{FF2B5EF4-FFF2-40B4-BE49-F238E27FC236}">
                <a16:creationId xmlns:a16="http://schemas.microsoft.com/office/drawing/2014/main" id="{42B14DF6-FF37-EA46-8630-FFCAEA3D6DB5}"/>
              </a:ext>
            </a:extLst>
          </p:cNvPr>
          <p:cNvSpPr txBox="1"/>
          <p:nvPr/>
        </p:nvSpPr>
        <p:spPr>
          <a:xfrm>
            <a:off x="838200" y="1506022"/>
            <a:ext cx="5254772" cy="369332"/>
          </a:xfrm>
          <a:prstGeom prst="rect">
            <a:avLst/>
          </a:prstGeom>
          <a:noFill/>
        </p:spPr>
        <p:txBody>
          <a:bodyPr wrap="none" rtlCol="0">
            <a:spAutoFit/>
          </a:bodyPr>
          <a:lstStyle/>
          <a:p>
            <a:r>
              <a:rPr lang="en-US" dirty="0"/>
              <a:t>This is the general case when multiple threads exist</a:t>
            </a:r>
          </a:p>
        </p:txBody>
      </p:sp>
    </p:spTree>
    <p:extLst>
      <p:ext uri="{BB962C8B-B14F-4D97-AF65-F5344CB8AC3E}">
        <p14:creationId xmlns:p14="http://schemas.microsoft.com/office/powerpoint/2010/main" val="22696072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DA42D-1696-E929-9F5C-661C8F63F7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CF3BBE-4D9E-9137-2062-AD334A760741}"/>
              </a:ext>
            </a:extLst>
          </p:cNvPr>
          <p:cNvSpPr>
            <a:spLocks noGrp="1"/>
          </p:cNvSpPr>
          <p:nvPr>
            <p:ph type="title"/>
          </p:nvPr>
        </p:nvSpPr>
        <p:spPr/>
        <p:txBody>
          <a:bodyPr/>
          <a:lstStyle/>
          <a:p>
            <a:r>
              <a:rPr lang="en-US" b="1" dirty="0"/>
              <a:t>Assignment 2: </a:t>
            </a:r>
            <a:r>
              <a:rPr lang="en-US" dirty="0"/>
              <a:t>Storing threads</a:t>
            </a:r>
          </a:p>
        </p:txBody>
      </p:sp>
      <p:sp>
        <p:nvSpPr>
          <p:cNvPr id="3" name="TextBox 2">
            <a:extLst>
              <a:ext uri="{FF2B5EF4-FFF2-40B4-BE49-F238E27FC236}">
                <a16:creationId xmlns:a16="http://schemas.microsoft.com/office/drawing/2014/main" id="{02C962FE-C00D-B895-F7FE-3B89ED4F0234}"/>
              </a:ext>
            </a:extLst>
          </p:cNvPr>
          <p:cNvSpPr txBox="1"/>
          <p:nvPr/>
        </p:nvSpPr>
        <p:spPr>
          <a:xfrm>
            <a:off x="838200" y="1690688"/>
            <a:ext cx="10232967" cy="3785652"/>
          </a:xfrm>
          <a:prstGeom prst="rect">
            <a:avLst/>
          </a:prstGeom>
          <a:noFill/>
        </p:spPr>
        <p:txBody>
          <a:bodyPr wrap="square" rtlCol="0">
            <a:spAutoFit/>
          </a:bodyPr>
          <a:lstStyle/>
          <a:p>
            <a:r>
              <a:rPr lang="en-US" sz="2400" dirty="0"/>
              <a:t>In the initial iteration of the library design, all threads were stored in an array. This array stored each thread as an entry, which the scheduler iterated through to identify the next thread to assign to the CPU. </a:t>
            </a:r>
          </a:p>
          <a:p>
            <a:endParaRPr lang="en-US" sz="2400" dirty="0"/>
          </a:p>
          <a:p>
            <a:r>
              <a:rPr lang="en-US" sz="2400" dirty="0"/>
              <a:t>This caused a problem when removing threads where we needed to move the last element to the index of the removed thread. But each time a thread is removed we essentially change the order (and priority) of all the threads. This could lead to many unexpected </a:t>
            </a:r>
            <a:r>
              <a:rPr lang="en-US" sz="2400" dirty="0" err="1"/>
              <a:t>behaviours</a:t>
            </a:r>
            <a:r>
              <a:rPr lang="en-US" sz="2400" dirty="0"/>
              <a:t> and can even be exploited by users in order to give certain threads better priority than other. To solve this we switched from using arrays to linked lists.</a:t>
            </a:r>
          </a:p>
        </p:txBody>
      </p:sp>
    </p:spTree>
    <p:extLst>
      <p:ext uri="{BB962C8B-B14F-4D97-AF65-F5344CB8AC3E}">
        <p14:creationId xmlns:p14="http://schemas.microsoft.com/office/powerpoint/2010/main" val="19935965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9DF79-9966-1E1D-D76C-D2834BDB35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BF87D5-7175-9143-D7C9-74A116C90655}"/>
              </a:ext>
            </a:extLst>
          </p:cNvPr>
          <p:cNvSpPr>
            <a:spLocks noGrp="1"/>
          </p:cNvSpPr>
          <p:nvPr>
            <p:ph type="title"/>
          </p:nvPr>
        </p:nvSpPr>
        <p:spPr/>
        <p:txBody>
          <a:bodyPr/>
          <a:lstStyle/>
          <a:p>
            <a:r>
              <a:rPr lang="en-US" b="1" dirty="0"/>
              <a:t>Assignment 2: </a:t>
            </a:r>
            <a:r>
              <a:rPr lang="en-US" dirty="0"/>
              <a:t>Storing threads</a:t>
            </a:r>
          </a:p>
        </p:txBody>
      </p:sp>
      <p:pic>
        <p:nvPicPr>
          <p:cNvPr id="9" name="Graphic 8">
            <a:extLst>
              <a:ext uri="{FF2B5EF4-FFF2-40B4-BE49-F238E27FC236}">
                <a16:creationId xmlns:a16="http://schemas.microsoft.com/office/drawing/2014/main" id="{378BE0A9-0C99-48B4-CAE7-C8E0A0B4E85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05250" y="1690688"/>
            <a:ext cx="4381500" cy="3810000"/>
          </a:xfrm>
          <a:prstGeom prst="rect">
            <a:avLst/>
          </a:prstGeom>
        </p:spPr>
      </p:pic>
    </p:spTree>
    <p:extLst>
      <p:ext uri="{BB962C8B-B14F-4D97-AF65-F5344CB8AC3E}">
        <p14:creationId xmlns:p14="http://schemas.microsoft.com/office/powerpoint/2010/main" val="20749271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F895B-4C8B-C3A2-ACC3-5E087ECCB5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FF401-7F1A-A342-19AE-AE8F73BDD317}"/>
              </a:ext>
            </a:extLst>
          </p:cNvPr>
          <p:cNvSpPr>
            <a:spLocks noGrp="1"/>
          </p:cNvSpPr>
          <p:nvPr>
            <p:ph type="title"/>
          </p:nvPr>
        </p:nvSpPr>
        <p:spPr/>
        <p:txBody>
          <a:bodyPr/>
          <a:lstStyle/>
          <a:p>
            <a:r>
              <a:rPr lang="en-US" b="1" dirty="0"/>
              <a:t>Assignment 2: </a:t>
            </a:r>
            <a:r>
              <a:rPr lang="en-US" dirty="0"/>
              <a:t>Thread slice</a:t>
            </a:r>
          </a:p>
        </p:txBody>
      </p:sp>
      <p:sp>
        <p:nvSpPr>
          <p:cNvPr id="3" name="TextBox 2">
            <a:extLst>
              <a:ext uri="{FF2B5EF4-FFF2-40B4-BE49-F238E27FC236}">
                <a16:creationId xmlns:a16="http://schemas.microsoft.com/office/drawing/2014/main" id="{388BB7E2-0CFB-A3D6-4A6A-BB433BA4E4B8}"/>
              </a:ext>
            </a:extLst>
          </p:cNvPr>
          <p:cNvSpPr txBox="1"/>
          <p:nvPr/>
        </p:nvSpPr>
        <p:spPr>
          <a:xfrm>
            <a:off x="838200" y="1690688"/>
            <a:ext cx="10683239" cy="1200329"/>
          </a:xfrm>
          <a:prstGeom prst="rect">
            <a:avLst/>
          </a:prstGeom>
          <a:noFill/>
        </p:spPr>
        <p:txBody>
          <a:bodyPr wrap="square" rtlCol="0">
            <a:spAutoFit/>
          </a:bodyPr>
          <a:lstStyle/>
          <a:p>
            <a:r>
              <a:rPr lang="en-US" dirty="0"/>
              <a:t>After we got everything working we wanted to find out what the best time slice is. We used the assignment 1 of project 1 and we ran some tests with a range of slices in order to determine the best option. The runtime of this project with an input of some kilobytes turns out to be a linear function of the time slice. This is visible in the following graph:</a:t>
            </a:r>
          </a:p>
        </p:txBody>
      </p:sp>
    </p:spTree>
    <p:extLst>
      <p:ext uri="{BB962C8B-B14F-4D97-AF65-F5344CB8AC3E}">
        <p14:creationId xmlns:p14="http://schemas.microsoft.com/office/powerpoint/2010/main" val="12093735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3DD3E-B79A-DC61-B7C0-E3B08382C7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ADDFA6-3F1F-6704-7E65-02C9810CA0DD}"/>
              </a:ext>
            </a:extLst>
          </p:cNvPr>
          <p:cNvSpPr>
            <a:spLocks noGrp="1"/>
          </p:cNvSpPr>
          <p:nvPr>
            <p:ph type="title"/>
          </p:nvPr>
        </p:nvSpPr>
        <p:spPr/>
        <p:txBody>
          <a:bodyPr/>
          <a:lstStyle/>
          <a:p>
            <a:r>
              <a:rPr lang="en-US" b="1" dirty="0"/>
              <a:t>Assignment 2: </a:t>
            </a:r>
            <a:r>
              <a:rPr lang="en-US" dirty="0"/>
              <a:t>Thread slice</a:t>
            </a:r>
          </a:p>
        </p:txBody>
      </p:sp>
      <p:pic>
        <p:nvPicPr>
          <p:cNvPr id="4" name="Picture 3" descr="A graph with blue lines&#10;&#10;Description automatically generated">
            <a:extLst>
              <a:ext uri="{FF2B5EF4-FFF2-40B4-BE49-F238E27FC236}">
                <a16:creationId xmlns:a16="http://schemas.microsoft.com/office/drawing/2014/main" id="{C445C6A3-F136-6B6A-9EC9-5C5B2439B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690688"/>
            <a:ext cx="10515600" cy="5093569"/>
          </a:xfrm>
          <a:prstGeom prst="rect">
            <a:avLst/>
          </a:prstGeom>
        </p:spPr>
      </p:pic>
    </p:spTree>
    <p:extLst>
      <p:ext uri="{BB962C8B-B14F-4D97-AF65-F5344CB8AC3E}">
        <p14:creationId xmlns:p14="http://schemas.microsoft.com/office/powerpoint/2010/main" val="3983114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D8E78-B439-E1CB-3BB4-ED3CFB1418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66C1D7-B8FF-B0DA-69E9-F5EF7847F6B5}"/>
              </a:ext>
            </a:extLst>
          </p:cNvPr>
          <p:cNvSpPr>
            <a:spLocks noGrp="1"/>
          </p:cNvSpPr>
          <p:nvPr>
            <p:ph type="title"/>
          </p:nvPr>
        </p:nvSpPr>
        <p:spPr/>
        <p:txBody>
          <a:bodyPr/>
          <a:lstStyle/>
          <a:p>
            <a:r>
              <a:rPr lang="en-US" b="1" dirty="0"/>
              <a:t>Assignment 2: </a:t>
            </a:r>
            <a:r>
              <a:rPr lang="en-US" dirty="0"/>
              <a:t>Thread slice</a:t>
            </a:r>
          </a:p>
        </p:txBody>
      </p:sp>
      <p:sp>
        <p:nvSpPr>
          <p:cNvPr id="3" name="TextBox 2">
            <a:extLst>
              <a:ext uri="{FF2B5EF4-FFF2-40B4-BE49-F238E27FC236}">
                <a16:creationId xmlns:a16="http://schemas.microsoft.com/office/drawing/2014/main" id="{556B9461-22A3-3498-768D-2AF0430B42D6}"/>
              </a:ext>
            </a:extLst>
          </p:cNvPr>
          <p:cNvSpPr txBox="1"/>
          <p:nvPr/>
        </p:nvSpPr>
        <p:spPr>
          <a:xfrm>
            <a:off x="838200" y="1690688"/>
            <a:ext cx="10683239" cy="1200329"/>
          </a:xfrm>
          <a:prstGeom prst="rect">
            <a:avLst/>
          </a:prstGeom>
          <a:noFill/>
        </p:spPr>
        <p:txBody>
          <a:bodyPr wrap="square" rtlCol="0">
            <a:spAutoFit/>
          </a:bodyPr>
          <a:lstStyle/>
          <a:p>
            <a:r>
              <a:rPr lang="en-US" dirty="0"/>
              <a:t>An interesting part of this graph is at the start of the axis where the slice becomes really small. While we would expect a lower time slice to give us better execution time instead the execution rises really quickly. This is because in such small time slices even the quickest atomic system calls may not have enough time to run so many threads cannot make progress in every slice they are given.</a:t>
            </a:r>
          </a:p>
        </p:txBody>
      </p:sp>
      <p:pic>
        <p:nvPicPr>
          <p:cNvPr id="5" name="Picture 4" descr="A graph with a line going up&#10;&#10;Description automatically generated">
            <a:extLst>
              <a:ext uri="{FF2B5EF4-FFF2-40B4-BE49-F238E27FC236}">
                <a16:creationId xmlns:a16="http://schemas.microsoft.com/office/drawing/2014/main" id="{DA3AB050-3773-1BFF-8F74-C05F1543C2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495490"/>
            <a:ext cx="4810345" cy="2635160"/>
          </a:xfrm>
          <a:prstGeom prst="rect">
            <a:avLst/>
          </a:prstGeom>
        </p:spPr>
      </p:pic>
      <p:sp>
        <p:nvSpPr>
          <p:cNvPr id="6" name="TextBox 5">
            <a:extLst>
              <a:ext uri="{FF2B5EF4-FFF2-40B4-BE49-F238E27FC236}">
                <a16:creationId xmlns:a16="http://schemas.microsoft.com/office/drawing/2014/main" id="{B6E4ABFC-0799-CF5C-D6C5-025D438D94D8}"/>
              </a:ext>
            </a:extLst>
          </p:cNvPr>
          <p:cNvSpPr txBox="1"/>
          <p:nvPr/>
        </p:nvSpPr>
        <p:spPr>
          <a:xfrm>
            <a:off x="6543457" y="3495490"/>
            <a:ext cx="5090205" cy="1200329"/>
          </a:xfrm>
          <a:prstGeom prst="rect">
            <a:avLst/>
          </a:prstGeom>
          <a:noFill/>
        </p:spPr>
        <p:txBody>
          <a:bodyPr wrap="square" rtlCol="0">
            <a:spAutoFit/>
          </a:bodyPr>
          <a:lstStyle/>
          <a:p>
            <a:r>
              <a:rPr lang="en-US" dirty="0"/>
              <a:t>When the slice is 1</a:t>
            </a:r>
            <a:r>
              <a:rPr lang="el-GR" dirty="0"/>
              <a:t>μ</a:t>
            </a:r>
            <a:r>
              <a:rPr lang="en-US" dirty="0"/>
              <a:t>s the execution time becomes ~70 seconds which is equivalent to the performance we would get if we set the time slice to 40.000</a:t>
            </a:r>
            <a:r>
              <a:rPr lang="el-GR" dirty="0"/>
              <a:t>μ</a:t>
            </a:r>
            <a:r>
              <a:rPr lang="en-US" dirty="0"/>
              <a:t>s </a:t>
            </a:r>
            <a:r>
              <a:rPr lang="en-US"/>
              <a:t>(40ms)!</a:t>
            </a:r>
            <a:endParaRPr lang="en-US" dirty="0"/>
          </a:p>
        </p:txBody>
      </p:sp>
    </p:spTree>
    <p:extLst>
      <p:ext uri="{BB962C8B-B14F-4D97-AF65-F5344CB8AC3E}">
        <p14:creationId xmlns:p14="http://schemas.microsoft.com/office/powerpoint/2010/main" val="11983784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51078-DFF7-6A05-2FB9-0A60A38073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379B8C-E615-59D0-1FE9-67F626127F01}"/>
              </a:ext>
            </a:extLst>
          </p:cNvPr>
          <p:cNvSpPr>
            <a:spLocks noGrp="1"/>
          </p:cNvSpPr>
          <p:nvPr>
            <p:ph type="title"/>
          </p:nvPr>
        </p:nvSpPr>
        <p:spPr/>
        <p:txBody>
          <a:bodyPr/>
          <a:lstStyle/>
          <a:p>
            <a:r>
              <a:rPr lang="en-US" b="1" dirty="0"/>
              <a:t>Assignment 2: </a:t>
            </a:r>
            <a:r>
              <a:rPr lang="en-US" dirty="0"/>
              <a:t>Scheduler related functions</a:t>
            </a:r>
          </a:p>
        </p:txBody>
      </p:sp>
      <p:sp>
        <p:nvSpPr>
          <p:cNvPr id="3" name="TextBox 2">
            <a:extLst>
              <a:ext uri="{FF2B5EF4-FFF2-40B4-BE49-F238E27FC236}">
                <a16:creationId xmlns:a16="http://schemas.microsoft.com/office/drawing/2014/main" id="{33096D62-162A-042A-13B9-FC770199CCE3}"/>
              </a:ext>
            </a:extLst>
          </p:cNvPr>
          <p:cNvSpPr txBox="1"/>
          <p:nvPr/>
        </p:nvSpPr>
        <p:spPr>
          <a:xfrm>
            <a:off x="838200" y="1720840"/>
            <a:ext cx="11202106" cy="3416320"/>
          </a:xfrm>
          <a:prstGeom prst="rect">
            <a:avLst/>
          </a:prstGeom>
          <a:noFill/>
        </p:spPr>
        <p:txBody>
          <a:bodyPr wrap="none" rtlCol="0">
            <a:spAutoFit/>
          </a:bodyPr>
          <a:lstStyle/>
          <a:p>
            <a:r>
              <a:rPr lang="en-US" b="0" dirty="0">
                <a:solidFill>
                  <a:srgbClr val="CBA6F7"/>
                </a:solidFill>
                <a:effectLst/>
                <a:latin typeface="Consolas" panose="020B0609020204030204" pitchFamily="49" charset="0"/>
              </a:rPr>
              <a:t>void</a:t>
            </a:r>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reload_states</a:t>
            </a:r>
            <a:r>
              <a:rPr lang="en-US" b="0" dirty="0">
                <a:solidFill>
                  <a:srgbClr val="9399B2"/>
                </a:solidFill>
                <a:effectLst/>
                <a:latin typeface="Consolas" panose="020B0609020204030204" pitchFamily="49" charset="0"/>
              </a:rPr>
              <a:t>(</a:t>
            </a:r>
            <a:r>
              <a:rPr lang="en-US" b="0" dirty="0" err="1">
                <a:solidFill>
                  <a:srgbClr val="CBA6F7"/>
                </a:solidFill>
                <a:effectLst/>
                <a:latin typeface="Consolas" panose="020B0609020204030204" pitchFamily="49" charset="0"/>
              </a:rPr>
              <a:t>enum</a:t>
            </a:r>
            <a:r>
              <a:rPr lang="en-US" b="0" dirty="0">
                <a:solidFill>
                  <a:srgbClr val="CDD6F4"/>
                </a:solidFill>
                <a:effectLst/>
                <a:latin typeface="Consolas" panose="020B0609020204030204" pitchFamily="49" charset="0"/>
              </a:rPr>
              <a:t> </a:t>
            </a:r>
            <a:r>
              <a:rPr lang="en-US" b="0" i="1" dirty="0" err="1">
                <a:solidFill>
                  <a:srgbClr val="F9E2AF"/>
                </a:solidFill>
                <a:effectLst/>
                <a:latin typeface="Consolas" panose="020B0609020204030204" pitchFamily="49" charset="0"/>
              </a:rPr>
              <a:t>thread_state_t</a:t>
            </a:r>
            <a:r>
              <a:rPr lang="en-US" b="0" dirty="0">
                <a:solidFill>
                  <a:srgbClr val="CDD6F4"/>
                </a:solidFill>
                <a:effectLst/>
                <a:latin typeface="Consolas" panose="020B0609020204030204" pitchFamily="49" charset="0"/>
              </a:rPr>
              <a:t> </a:t>
            </a:r>
            <a:r>
              <a:rPr lang="en-US" b="0" i="1" dirty="0" err="1">
                <a:solidFill>
                  <a:srgbClr val="EBA0AC"/>
                </a:solidFill>
                <a:effectLst/>
                <a:latin typeface="Consolas" panose="020B0609020204030204" pitchFamily="49" charset="0"/>
              </a:rPr>
              <a:t>running_next_state</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i="1" dirty="0" err="1">
                <a:solidFill>
                  <a:srgbClr val="F9E2AF"/>
                </a:solidFill>
                <a:effectLst/>
                <a:latin typeface="Consolas" panose="020B0609020204030204" pitchFamily="49" charset="0"/>
              </a:rPr>
              <a:t>node_t</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dirty="0" err="1">
                <a:solidFill>
                  <a:srgbClr val="CDD6F4"/>
                </a:solidFill>
                <a:effectLst/>
                <a:latin typeface="Consolas" panose="020B0609020204030204" pitchFamily="49" charset="0"/>
              </a:rPr>
              <a:t>running_node</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list_find</a:t>
            </a:r>
            <a:r>
              <a:rPr lang="en-US" b="0" dirty="0">
                <a:solidFill>
                  <a:srgbClr val="9399B2"/>
                </a:solidFill>
                <a:effectLst/>
                <a:latin typeface="Consolas" panose="020B0609020204030204" pitchFamily="49" charset="0"/>
              </a:rPr>
              <a:t>(</a:t>
            </a:r>
            <a:r>
              <a:rPr lang="en-US" b="0" dirty="0" err="1">
                <a:solidFill>
                  <a:srgbClr val="CDD6F4"/>
                </a:solidFill>
                <a:effectLst/>
                <a:latin typeface="Consolas" panose="020B0609020204030204" pitchFamily="49" charset="0"/>
              </a:rPr>
              <a:t>thrs</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err="1">
                <a:solidFill>
                  <a:srgbClr val="CDD6F4"/>
                </a:solidFill>
                <a:effectLst/>
                <a:latin typeface="Consolas" panose="020B0609020204030204" pitchFamily="49" charset="0"/>
              </a:rPr>
              <a:t>running_thr</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F38BA8"/>
                </a:solidFill>
                <a:effectLst/>
                <a:latin typeface="Consolas" panose="020B0609020204030204" pitchFamily="49" charset="0"/>
              </a:rPr>
              <a:t>NULL</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br>
              <a:rPr lang="en-US" b="0" dirty="0">
                <a:solidFill>
                  <a:srgbClr val="CDD6F4"/>
                </a:solidFill>
                <a:effectLst/>
                <a:latin typeface="Consolas" panose="020B0609020204030204" pitchFamily="49" charset="0"/>
              </a:rPr>
            </a:br>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for</a:t>
            </a:r>
            <a:r>
              <a:rPr lang="en-US" b="0" dirty="0">
                <a:solidFill>
                  <a:srgbClr val="CDD6F4"/>
                </a:solidFill>
                <a:effectLst/>
                <a:latin typeface="Consolas" panose="020B0609020204030204" pitchFamily="49" charset="0"/>
              </a:rPr>
              <a:t> all threads starting from the currently running thread</a:t>
            </a:r>
          </a:p>
          <a:p>
            <a:r>
              <a:rPr lang="en-US" b="0" dirty="0">
                <a:solidFill>
                  <a:srgbClr val="CDD6F4"/>
                </a:solidFill>
                <a:effectLst/>
                <a:latin typeface="Consolas" panose="020B0609020204030204" pitchFamily="49" charset="0"/>
              </a:rPr>
              <a:t>        </a:t>
            </a:r>
            <a:r>
              <a:rPr lang="en-US" b="0" dirty="0" err="1">
                <a:solidFill>
                  <a:srgbClr val="CDD6F4"/>
                </a:solidFill>
                <a:effectLst/>
                <a:latin typeface="Consolas" panose="020B0609020204030204" pitchFamily="49" charset="0"/>
              </a:rPr>
              <a:t>sleep_expired</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dirty="0">
                <a:solidFill>
                  <a:srgbClr val="CDD6F4"/>
                </a:solidFill>
                <a:effectLst/>
                <a:latin typeface="Consolas" panose="020B0609020204030204" pitchFamily="49" charset="0"/>
              </a:rPr>
              <a:t> thread is sleeping </a:t>
            </a:r>
          </a:p>
          <a:p>
            <a:r>
              <a:rPr lang="en-US" b="0" dirty="0">
                <a:solidFill>
                  <a:srgbClr val="CDD6F4"/>
                </a:solidFill>
                <a:effectLst/>
                <a:latin typeface="Consolas" panose="020B0609020204030204" pitchFamily="49" charset="0"/>
              </a:rPr>
              <a:t>                        and sleep timestamp has expired</a:t>
            </a:r>
          </a:p>
          <a:p>
            <a:r>
              <a:rPr lang="en-US" b="0" dirty="0">
                <a:solidFill>
                  <a:srgbClr val="CDD6F4"/>
                </a:solidFill>
                <a:effectLst/>
                <a:latin typeface="Consolas" panose="020B0609020204030204" pitchFamily="49" charset="0"/>
              </a:rPr>
              <a:t>        </a:t>
            </a:r>
            <a:r>
              <a:rPr lang="en-US" b="0" dirty="0" err="1">
                <a:solidFill>
                  <a:srgbClr val="CDD6F4"/>
                </a:solidFill>
                <a:effectLst/>
                <a:latin typeface="Consolas" panose="020B0609020204030204" pitchFamily="49" charset="0"/>
              </a:rPr>
              <a:t>joining_thread_terminated</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dirty="0">
                <a:solidFill>
                  <a:srgbClr val="CDD6F4"/>
                </a:solidFill>
                <a:effectLst/>
                <a:latin typeface="Consolas" panose="020B0609020204030204" pitchFamily="49" charset="0"/>
              </a:rPr>
              <a:t> thread is blocked </a:t>
            </a:r>
          </a:p>
          <a:p>
            <a:r>
              <a:rPr lang="en-US" b="0" dirty="0">
                <a:solidFill>
                  <a:srgbClr val="CDD6F4"/>
                </a:solidFill>
                <a:effectLst/>
                <a:latin typeface="Consolas" panose="020B0609020204030204" pitchFamily="49" charset="0"/>
              </a:rPr>
              <a:t>                                    and the thread that it is joining on has terminated</a:t>
            </a:r>
          </a:p>
          <a:p>
            <a:br>
              <a:rPr lang="en-US" b="0" dirty="0">
                <a:solidFill>
                  <a:srgbClr val="CDD6F4"/>
                </a:solidFill>
                <a:effectLst/>
                <a:latin typeface="Consolas" panose="020B0609020204030204" pitchFamily="49" charset="0"/>
              </a:rPr>
            </a:br>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if</a:t>
            </a:r>
            <a:r>
              <a:rPr lang="en-US" b="0" dirty="0">
                <a:solidFill>
                  <a:srgbClr val="CDD6F4"/>
                </a:solidFill>
                <a:effectLst/>
                <a:latin typeface="Consolas" panose="020B0609020204030204" pitchFamily="49" charset="0"/>
              </a:rPr>
              <a:t> </a:t>
            </a:r>
            <a:r>
              <a:rPr lang="en-US" b="0" dirty="0" err="1">
                <a:solidFill>
                  <a:srgbClr val="CDD6F4"/>
                </a:solidFill>
                <a:effectLst/>
                <a:latin typeface="Consolas" panose="020B0609020204030204" pitchFamily="49" charset="0"/>
              </a:rPr>
              <a:t>sleep_expired</a:t>
            </a:r>
            <a:r>
              <a:rPr lang="en-US" b="0" dirty="0">
                <a:solidFill>
                  <a:srgbClr val="CDD6F4"/>
                </a:solidFill>
                <a:effectLst/>
                <a:latin typeface="Consolas" panose="020B0609020204030204" pitchFamily="49" charset="0"/>
              </a:rPr>
              <a:t> or </a:t>
            </a:r>
            <a:r>
              <a:rPr lang="en-US" b="0" dirty="0" err="1">
                <a:solidFill>
                  <a:srgbClr val="CDD6F4"/>
                </a:solidFill>
                <a:effectLst/>
                <a:latin typeface="Consolas" panose="020B0609020204030204" pitchFamily="49" charset="0"/>
              </a:rPr>
              <a:t>joining_thread_terminated</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set thread state to READY</a:t>
            </a:r>
          </a:p>
          <a:p>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p:txBody>
      </p:sp>
      <p:sp>
        <p:nvSpPr>
          <p:cNvPr id="4" name="TextBox 3">
            <a:extLst>
              <a:ext uri="{FF2B5EF4-FFF2-40B4-BE49-F238E27FC236}">
                <a16:creationId xmlns:a16="http://schemas.microsoft.com/office/drawing/2014/main" id="{120BE365-2682-B765-D6D0-E1E0D7A62768}"/>
              </a:ext>
            </a:extLst>
          </p:cNvPr>
          <p:cNvSpPr txBox="1"/>
          <p:nvPr/>
        </p:nvSpPr>
        <p:spPr>
          <a:xfrm>
            <a:off x="838200" y="5137160"/>
            <a:ext cx="11417191" cy="1200329"/>
          </a:xfrm>
          <a:prstGeom prst="rect">
            <a:avLst/>
          </a:prstGeom>
          <a:noFill/>
        </p:spPr>
        <p:txBody>
          <a:bodyPr wrap="square" rtlCol="0">
            <a:spAutoFit/>
          </a:bodyPr>
          <a:lstStyle/>
          <a:p>
            <a:r>
              <a:rPr lang="en-US" dirty="0"/>
              <a:t>This function is used to refresh the states of all the threads so that they accurately describe the thread. It updates threads that were sleeping but their sleep time has expired and threads that were joining on another thread and that thread has been terminated.</a:t>
            </a:r>
          </a:p>
          <a:p>
            <a:endParaRPr lang="en-US" dirty="0"/>
          </a:p>
        </p:txBody>
      </p:sp>
    </p:spTree>
    <p:extLst>
      <p:ext uri="{BB962C8B-B14F-4D97-AF65-F5344CB8AC3E}">
        <p14:creationId xmlns:p14="http://schemas.microsoft.com/office/powerpoint/2010/main" val="25161048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77C7D-8A3E-0653-539D-40A5B25BB4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C38035-E9CB-B89D-D141-7035E00796D5}"/>
              </a:ext>
            </a:extLst>
          </p:cNvPr>
          <p:cNvSpPr>
            <a:spLocks noGrp="1"/>
          </p:cNvSpPr>
          <p:nvPr>
            <p:ph type="title"/>
          </p:nvPr>
        </p:nvSpPr>
        <p:spPr/>
        <p:txBody>
          <a:bodyPr/>
          <a:lstStyle/>
          <a:p>
            <a:r>
              <a:rPr lang="en-US" b="1" dirty="0"/>
              <a:t>Assignment 2: </a:t>
            </a:r>
            <a:r>
              <a:rPr lang="en-US" dirty="0"/>
              <a:t>Scheduler related functions</a:t>
            </a:r>
          </a:p>
        </p:txBody>
      </p:sp>
      <p:sp>
        <p:nvSpPr>
          <p:cNvPr id="3" name="TextBox 2">
            <a:extLst>
              <a:ext uri="{FF2B5EF4-FFF2-40B4-BE49-F238E27FC236}">
                <a16:creationId xmlns:a16="http://schemas.microsoft.com/office/drawing/2014/main" id="{9F96A329-C6EC-0C96-81DA-DC3161B40295}"/>
              </a:ext>
            </a:extLst>
          </p:cNvPr>
          <p:cNvSpPr txBox="1"/>
          <p:nvPr/>
        </p:nvSpPr>
        <p:spPr>
          <a:xfrm>
            <a:off x="838200" y="1690688"/>
            <a:ext cx="10568919" cy="3970318"/>
          </a:xfrm>
          <a:prstGeom prst="rect">
            <a:avLst/>
          </a:prstGeom>
          <a:noFill/>
        </p:spPr>
        <p:txBody>
          <a:bodyPr wrap="none" rtlCol="0">
            <a:spAutoFit/>
          </a:bodyPr>
          <a:lstStyle/>
          <a:p>
            <a:r>
              <a:rPr lang="en-US" b="0" i="1" dirty="0" err="1">
                <a:solidFill>
                  <a:srgbClr val="F9E2AF"/>
                </a:solidFill>
                <a:effectLst/>
                <a:latin typeface="Consolas" panose="020B0609020204030204" pitchFamily="49" charset="0"/>
              </a:rPr>
              <a:t>mythr_t</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i="1" dirty="0" err="1">
                <a:solidFill>
                  <a:srgbClr val="89B4FA"/>
                </a:solidFill>
                <a:effectLst/>
                <a:latin typeface="Consolas" panose="020B0609020204030204" pitchFamily="49" charset="0"/>
              </a:rPr>
              <a:t>search_threads</a:t>
            </a:r>
            <a:r>
              <a:rPr lang="en-US" b="0" dirty="0">
                <a:solidFill>
                  <a:srgbClr val="9399B2"/>
                </a:solidFill>
                <a:effectLst/>
                <a:latin typeface="Consolas" panose="020B0609020204030204" pitchFamily="49" charset="0"/>
              </a:rPr>
              <a:t>(</a:t>
            </a:r>
            <a:r>
              <a:rPr lang="en-US" b="0" dirty="0">
                <a:solidFill>
                  <a:srgbClr val="CBA6F7"/>
                </a:solidFill>
                <a:effectLst/>
                <a:latin typeface="Consolas" panose="020B0609020204030204" pitchFamily="49" charset="0"/>
              </a:rPr>
              <a:t>bool</a:t>
            </a:r>
            <a:r>
              <a:rPr lang="en-US" b="0" dirty="0">
                <a:solidFill>
                  <a:srgbClr val="CDD6F4"/>
                </a:solidFill>
                <a:effectLst/>
                <a:latin typeface="Consolas" panose="020B0609020204030204" pitchFamily="49" charset="0"/>
              </a:rPr>
              <a:t> </a:t>
            </a:r>
            <a:r>
              <a:rPr lang="en-US" b="0" i="1" dirty="0" err="1">
                <a:solidFill>
                  <a:srgbClr val="EBA0AC"/>
                </a:solidFill>
                <a:effectLst/>
                <a:latin typeface="Consolas" panose="020B0609020204030204" pitchFamily="49" charset="0"/>
              </a:rPr>
              <a:t>running_thread_sleeping</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i="1" dirty="0" err="1">
                <a:solidFill>
                  <a:srgbClr val="F9E2AF"/>
                </a:solidFill>
                <a:effectLst/>
                <a:latin typeface="Consolas" panose="020B0609020204030204" pitchFamily="49" charset="0"/>
              </a:rPr>
              <a:t>mythr_t</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i="1" dirty="0" err="1">
                <a:solidFill>
                  <a:srgbClr val="EBA0AC"/>
                </a:solidFill>
                <a:effectLst/>
                <a:latin typeface="Consolas" panose="020B0609020204030204" pitchFamily="49" charset="0"/>
              </a:rPr>
              <a:t>earliest_thread</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i="1" dirty="0" err="1">
                <a:solidFill>
                  <a:srgbClr val="F9E2AF"/>
                </a:solidFill>
                <a:effectLst/>
                <a:latin typeface="Consolas" panose="020B0609020204030204" pitchFamily="49" charset="0"/>
              </a:rPr>
              <a:t>mythr_t</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dirty="0" err="1">
                <a:solidFill>
                  <a:srgbClr val="CDD6F4"/>
                </a:solidFill>
                <a:effectLst/>
                <a:latin typeface="Consolas" panose="020B0609020204030204" pitchFamily="49" charset="0"/>
              </a:rPr>
              <a:t>next_ready</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F38BA8"/>
                </a:solidFill>
                <a:effectLst/>
                <a:latin typeface="Consolas" panose="020B0609020204030204" pitchFamily="49" charset="0"/>
              </a:rPr>
              <a:t>NULL</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i="1" dirty="0" err="1">
                <a:solidFill>
                  <a:srgbClr val="F9E2AF"/>
                </a:solidFill>
                <a:effectLst/>
                <a:latin typeface="Consolas" panose="020B0609020204030204" pitchFamily="49" charset="0"/>
              </a:rPr>
              <a:t>mythr_t</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dirty="0">
                <a:solidFill>
                  <a:srgbClr val="CDD6F4"/>
                </a:solidFill>
                <a:effectLst/>
                <a:latin typeface="Consolas" panose="020B0609020204030204" pitchFamily="49" charset="0"/>
              </a:rPr>
              <a:t>earliest </a:t>
            </a:r>
            <a:r>
              <a:rPr lang="en-US" b="0" dirty="0">
                <a:solidFill>
                  <a:srgbClr val="94E2D5"/>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err="1">
                <a:solidFill>
                  <a:srgbClr val="CDD6F4"/>
                </a:solidFill>
                <a:effectLst/>
                <a:latin typeface="Consolas" panose="020B0609020204030204" pitchFamily="49" charset="0"/>
              </a:rPr>
              <a:t>running_thread_sleeping</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err="1">
                <a:solidFill>
                  <a:srgbClr val="CDD6F4"/>
                </a:solidFill>
                <a:effectLst/>
                <a:latin typeface="Consolas" panose="020B0609020204030204" pitchFamily="49" charset="0"/>
              </a:rPr>
              <a:t>running_thr</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F38BA8"/>
                </a:solidFill>
                <a:effectLst/>
                <a:latin typeface="Consolas" panose="020B0609020204030204" pitchFamily="49" charset="0"/>
              </a:rPr>
              <a:t>NULL</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for</a:t>
            </a:r>
            <a:r>
              <a:rPr lang="en-US" b="0" dirty="0">
                <a:solidFill>
                  <a:srgbClr val="CDD6F4"/>
                </a:solidFill>
                <a:effectLst/>
                <a:latin typeface="Consolas" panose="020B0609020204030204" pitchFamily="49" charset="0"/>
              </a:rPr>
              <a:t> all threads starting from the currently running thread</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if</a:t>
            </a:r>
            <a:r>
              <a:rPr lang="en-US" b="0" dirty="0">
                <a:solidFill>
                  <a:srgbClr val="CDD6F4"/>
                </a:solidFill>
                <a:effectLst/>
                <a:latin typeface="Consolas" panose="020B0609020204030204" pitchFamily="49" charset="0"/>
              </a:rPr>
              <a:t> thread is READY</a:t>
            </a:r>
          </a:p>
          <a:p>
            <a:r>
              <a:rPr lang="en-US" b="0" dirty="0">
                <a:solidFill>
                  <a:srgbClr val="CDD6F4"/>
                </a:solidFill>
                <a:effectLst/>
                <a:latin typeface="Consolas" panose="020B0609020204030204" pitchFamily="49" charset="0"/>
              </a:rPr>
              <a:t>            </a:t>
            </a:r>
            <a:r>
              <a:rPr lang="en-US" b="0" dirty="0" err="1">
                <a:solidFill>
                  <a:srgbClr val="CDD6F4"/>
                </a:solidFill>
                <a:effectLst/>
                <a:latin typeface="Consolas" panose="020B0609020204030204" pitchFamily="49" charset="0"/>
              </a:rPr>
              <a:t>next_ready</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dirty="0">
                <a:solidFill>
                  <a:srgbClr val="CDD6F4"/>
                </a:solidFill>
                <a:effectLst/>
                <a:latin typeface="Consolas" panose="020B0609020204030204" pitchFamily="49" charset="0"/>
              </a:rPr>
              <a:t> thread</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break</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else</a:t>
            </a:r>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if</a:t>
            </a:r>
            <a:r>
              <a:rPr lang="en-US" b="0" dirty="0">
                <a:solidFill>
                  <a:srgbClr val="CDD6F4"/>
                </a:solidFill>
                <a:effectLst/>
                <a:latin typeface="Consolas" panose="020B0609020204030204" pitchFamily="49" charset="0"/>
              </a:rPr>
              <a:t> thread is SLEEPING and is the earliest thread to wake up</a:t>
            </a:r>
          </a:p>
          <a:p>
            <a:r>
              <a:rPr lang="en-US" b="0" dirty="0">
                <a:solidFill>
                  <a:srgbClr val="CDD6F4"/>
                </a:solidFill>
                <a:effectLst/>
                <a:latin typeface="Consolas" panose="020B0609020204030204" pitchFamily="49" charset="0"/>
              </a:rPr>
              <a:t>            earliest </a:t>
            </a:r>
            <a:r>
              <a:rPr lang="en-US" b="0" dirty="0">
                <a:solidFill>
                  <a:srgbClr val="94E2D5"/>
                </a:solidFill>
                <a:effectLst/>
                <a:latin typeface="Consolas" panose="020B0609020204030204" pitchFamily="49" charset="0"/>
              </a:rPr>
              <a:t>=</a:t>
            </a:r>
            <a:r>
              <a:rPr lang="en-US" b="0" dirty="0">
                <a:solidFill>
                  <a:srgbClr val="CDD6F4"/>
                </a:solidFill>
                <a:effectLst/>
                <a:latin typeface="Consolas" panose="020B0609020204030204" pitchFamily="49" charset="0"/>
              </a:rPr>
              <a:t> thread</a:t>
            </a:r>
          </a:p>
          <a:p>
            <a:r>
              <a:rPr lang="en-US" b="0" dirty="0">
                <a:solidFill>
                  <a:srgbClr val="CDD6F4"/>
                </a:solidFill>
                <a:effectLst/>
                <a:latin typeface="Consolas" panose="020B0609020204030204" pitchFamily="49" charset="0"/>
              </a:rPr>
              <a:t>    </a:t>
            </a:r>
          </a:p>
          <a:p>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dirty="0" err="1">
                <a:solidFill>
                  <a:srgbClr val="CDD6F4"/>
                </a:solidFill>
                <a:effectLst/>
                <a:latin typeface="Consolas" panose="020B0609020204030204" pitchFamily="49" charset="0"/>
              </a:rPr>
              <a:t>earliest_thread</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dirty="0">
                <a:solidFill>
                  <a:srgbClr val="CDD6F4"/>
                </a:solidFill>
                <a:effectLst/>
                <a:latin typeface="Consolas" panose="020B0609020204030204" pitchFamily="49" charset="0"/>
              </a:rPr>
              <a:t> earliest</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return</a:t>
            </a:r>
            <a:r>
              <a:rPr lang="en-US" b="0" dirty="0">
                <a:solidFill>
                  <a:srgbClr val="CDD6F4"/>
                </a:solidFill>
                <a:effectLst/>
                <a:latin typeface="Consolas" panose="020B0609020204030204" pitchFamily="49" charset="0"/>
              </a:rPr>
              <a:t> </a:t>
            </a:r>
            <a:r>
              <a:rPr lang="en-US" b="0" dirty="0" err="1">
                <a:solidFill>
                  <a:srgbClr val="CDD6F4"/>
                </a:solidFill>
                <a:effectLst/>
                <a:latin typeface="Consolas" panose="020B0609020204030204" pitchFamily="49" charset="0"/>
              </a:rPr>
              <a:t>next_ready</a:t>
            </a:r>
            <a:endParaRPr lang="en-US" b="0" dirty="0">
              <a:solidFill>
                <a:srgbClr val="CDD6F4"/>
              </a:solidFill>
              <a:effectLst/>
              <a:latin typeface="Consolas" panose="020B0609020204030204" pitchFamily="49" charset="0"/>
            </a:endParaRPr>
          </a:p>
          <a:p>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p:txBody>
      </p:sp>
      <p:sp>
        <p:nvSpPr>
          <p:cNvPr id="4" name="TextBox 3">
            <a:extLst>
              <a:ext uri="{FF2B5EF4-FFF2-40B4-BE49-F238E27FC236}">
                <a16:creationId xmlns:a16="http://schemas.microsoft.com/office/drawing/2014/main" id="{1F7CFE5A-5DB1-742C-69A0-CFA22026351D}"/>
              </a:ext>
            </a:extLst>
          </p:cNvPr>
          <p:cNvSpPr txBox="1"/>
          <p:nvPr/>
        </p:nvSpPr>
        <p:spPr>
          <a:xfrm>
            <a:off x="838200" y="5661006"/>
            <a:ext cx="9101531" cy="923330"/>
          </a:xfrm>
          <a:prstGeom prst="rect">
            <a:avLst/>
          </a:prstGeom>
          <a:noFill/>
        </p:spPr>
        <p:txBody>
          <a:bodyPr wrap="none" rtlCol="0">
            <a:spAutoFit/>
          </a:bodyPr>
          <a:lstStyle/>
          <a:p>
            <a:r>
              <a:rPr lang="en-US" dirty="0"/>
              <a:t>This function finds the first ready thread after the currently running thread (if there is any) </a:t>
            </a:r>
          </a:p>
          <a:p>
            <a:r>
              <a:rPr lang="en-US" dirty="0"/>
              <a:t>and finds the thread that is sleeping and needs to wake up the earliest of any other thread. </a:t>
            </a:r>
          </a:p>
          <a:p>
            <a:r>
              <a:rPr lang="en-US" dirty="0"/>
              <a:t>It is called by the scheduler to find out which thread should be the next  to run.</a:t>
            </a:r>
          </a:p>
        </p:txBody>
      </p:sp>
    </p:spTree>
    <p:extLst>
      <p:ext uri="{BB962C8B-B14F-4D97-AF65-F5344CB8AC3E}">
        <p14:creationId xmlns:p14="http://schemas.microsoft.com/office/powerpoint/2010/main" val="15939854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BBBA3-AE4E-CD00-F1C5-F19412FFE3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768865-E506-C318-35B4-7A67FC0DEEE4}"/>
              </a:ext>
            </a:extLst>
          </p:cNvPr>
          <p:cNvSpPr>
            <a:spLocks noGrp="1"/>
          </p:cNvSpPr>
          <p:nvPr>
            <p:ph type="title"/>
          </p:nvPr>
        </p:nvSpPr>
        <p:spPr/>
        <p:txBody>
          <a:bodyPr/>
          <a:lstStyle/>
          <a:p>
            <a:r>
              <a:rPr lang="en-US" b="1" dirty="0"/>
              <a:t>Assignment 2: </a:t>
            </a:r>
            <a:r>
              <a:rPr lang="en-US" dirty="0"/>
              <a:t>Scheduler related functions</a:t>
            </a:r>
          </a:p>
        </p:txBody>
      </p:sp>
      <p:sp>
        <p:nvSpPr>
          <p:cNvPr id="3" name="TextBox 2">
            <a:extLst>
              <a:ext uri="{FF2B5EF4-FFF2-40B4-BE49-F238E27FC236}">
                <a16:creationId xmlns:a16="http://schemas.microsoft.com/office/drawing/2014/main" id="{10263B61-60C3-24BB-7B15-4EE91E24B13F}"/>
              </a:ext>
            </a:extLst>
          </p:cNvPr>
          <p:cNvSpPr txBox="1"/>
          <p:nvPr/>
        </p:nvSpPr>
        <p:spPr>
          <a:xfrm>
            <a:off x="838200" y="1690688"/>
            <a:ext cx="10568919" cy="2308324"/>
          </a:xfrm>
          <a:prstGeom prst="rect">
            <a:avLst/>
          </a:prstGeom>
          <a:noFill/>
        </p:spPr>
        <p:txBody>
          <a:bodyPr wrap="none" rtlCol="0">
            <a:spAutoFit/>
          </a:bodyPr>
          <a:lstStyle/>
          <a:p>
            <a:r>
              <a:rPr lang="en-US" b="0" dirty="0">
                <a:solidFill>
                  <a:srgbClr val="CBA6F7"/>
                </a:solidFill>
                <a:effectLst/>
                <a:latin typeface="Consolas" panose="020B0609020204030204" pitchFamily="49" charset="0"/>
              </a:rPr>
              <a:t>void</a:t>
            </a:r>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switch_thread</a:t>
            </a:r>
            <a:r>
              <a:rPr lang="en-US" b="0" dirty="0">
                <a:solidFill>
                  <a:srgbClr val="9399B2"/>
                </a:solidFill>
                <a:effectLst/>
                <a:latin typeface="Consolas" panose="020B0609020204030204" pitchFamily="49" charset="0"/>
              </a:rPr>
              <a:t>(</a:t>
            </a:r>
            <a:r>
              <a:rPr lang="en-US" b="0" dirty="0" err="1">
                <a:solidFill>
                  <a:srgbClr val="CBA6F7"/>
                </a:solidFill>
                <a:effectLst/>
                <a:latin typeface="Consolas" panose="020B0609020204030204" pitchFamily="49" charset="0"/>
              </a:rPr>
              <a:t>enum</a:t>
            </a:r>
            <a:r>
              <a:rPr lang="en-US" b="0" dirty="0">
                <a:solidFill>
                  <a:srgbClr val="CDD6F4"/>
                </a:solidFill>
                <a:effectLst/>
                <a:latin typeface="Consolas" panose="020B0609020204030204" pitchFamily="49" charset="0"/>
              </a:rPr>
              <a:t> </a:t>
            </a:r>
            <a:r>
              <a:rPr lang="en-US" b="0" i="1" dirty="0" err="1">
                <a:solidFill>
                  <a:srgbClr val="F9E2AF"/>
                </a:solidFill>
                <a:effectLst/>
                <a:latin typeface="Consolas" panose="020B0609020204030204" pitchFamily="49" charset="0"/>
              </a:rPr>
              <a:t>thread_state_t</a:t>
            </a:r>
            <a:r>
              <a:rPr lang="en-US" b="0" dirty="0">
                <a:solidFill>
                  <a:srgbClr val="CDD6F4"/>
                </a:solidFill>
                <a:effectLst/>
                <a:latin typeface="Consolas" panose="020B0609020204030204" pitchFamily="49" charset="0"/>
              </a:rPr>
              <a:t> </a:t>
            </a:r>
            <a:r>
              <a:rPr lang="en-US" b="0" i="1" dirty="0" err="1">
                <a:solidFill>
                  <a:srgbClr val="EBA0AC"/>
                </a:solidFill>
                <a:effectLst/>
                <a:latin typeface="Consolas" panose="020B0609020204030204" pitchFamily="49" charset="0"/>
              </a:rPr>
              <a:t>running_next_state</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i="1" dirty="0" err="1">
                <a:solidFill>
                  <a:srgbClr val="F9E2AF"/>
                </a:solidFill>
                <a:effectLst/>
                <a:latin typeface="Consolas" panose="020B0609020204030204" pitchFamily="49" charset="0"/>
              </a:rPr>
              <a:t>mythr_t</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i="1" dirty="0" err="1">
                <a:solidFill>
                  <a:srgbClr val="EBA0AC"/>
                </a:solidFill>
                <a:effectLst/>
                <a:latin typeface="Consolas" panose="020B0609020204030204" pitchFamily="49" charset="0"/>
              </a:rPr>
              <a:t>next_thread</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set currently running thread state to </a:t>
            </a:r>
            <a:r>
              <a:rPr lang="en-US" b="0" dirty="0" err="1">
                <a:solidFill>
                  <a:srgbClr val="CDD6F4"/>
                </a:solidFill>
                <a:effectLst/>
                <a:latin typeface="Consolas" panose="020B0609020204030204" pitchFamily="49" charset="0"/>
              </a:rPr>
              <a:t>running_next_state</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set currently running thread to next thread</a:t>
            </a:r>
          </a:p>
          <a:p>
            <a:br>
              <a:rPr lang="en-US" b="0" dirty="0">
                <a:solidFill>
                  <a:srgbClr val="CDD6F4"/>
                </a:solidFill>
                <a:effectLst/>
                <a:latin typeface="Consolas" panose="020B0609020204030204" pitchFamily="49" charset="0"/>
              </a:rPr>
            </a:br>
            <a:r>
              <a:rPr lang="en-US" b="0" dirty="0">
                <a:solidFill>
                  <a:srgbClr val="CDD6F4"/>
                </a:solidFill>
                <a:effectLst/>
                <a:latin typeface="Consolas" panose="020B0609020204030204" pitchFamily="49" charset="0"/>
              </a:rPr>
              <a:t>    set </a:t>
            </a:r>
            <a:r>
              <a:rPr lang="en-US" b="0" dirty="0" err="1">
                <a:solidFill>
                  <a:srgbClr val="CDD6F4"/>
                </a:solidFill>
                <a:effectLst/>
                <a:latin typeface="Consolas" panose="020B0609020204030204" pitchFamily="49" charset="0"/>
              </a:rPr>
              <a:t>next_thread</a:t>
            </a:r>
            <a:r>
              <a:rPr lang="en-US" b="0" dirty="0">
                <a:solidFill>
                  <a:srgbClr val="CDD6F4"/>
                </a:solidFill>
                <a:effectLst/>
                <a:latin typeface="Consolas" panose="020B0609020204030204" pitchFamily="49" charset="0"/>
              </a:rPr>
              <a:t> state to READY</a:t>
            </a:r>
          </a:p>
          <a:p>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mycoroutine_switchto</a:t>
            </a:r>
            <a:r>
              <a:rPr lang="en-US" b="0" dirty="0">
                <a:solidFill>
                  <a:srgbClr val="9399B2"/>
                </a:solidFill>
                <a:effectLst/>
                <a:latin typeface="Consolas" panose="020B0609020204030204" pitchFamily="49" charset="0"/>
              </a:rPr>
              <a:t>(</a:t>
            </a:r>
            <a:r>
              <a:rPr lang="en-US" b="0" dirty="0">
                <a:solidFill>
                  <a:srgbClr val="94E2D5"/>
                </a:solidFill>
                <a:effectLst/>
                <a:latin typeface="Consolas" panose="020B0609020204030204" pitchFamily="49" charset="0"/>
              </a:rPr>
              <a:t>&amp;</a:t>
            </a:r>
            <a:r>
              <a:rPr lang="en-US" b="0" dirty="0" err="1">
                <a:solidFill>
                  <a:srgbClr val="CDD6F4"/>
                </a:solidFill>
                <a:effectLst/>
                <a:latin typeface="Consolas" panose="020B0609020204030204" pitchFamily="49" charset="0"/>
              </a:rPr>
              <a:t>next_thread</a:t>
            </a:r>
            <a:r>
              <a:rPr lang="en-US" b="0" dirty="0">
                <a:solidFill>
                  <a:srgbClr val="9399B2"/>
                </a:solidFill>
                <a:effectLst/>
                <a:latin typeface="Consolas" panose="020B0609020204030204" pitchFamily="49" charset="0"/>
              </a:rPr>
              <a:t>-&gt;</a:t>
            </a:r>
            <a:r>
              <a:rPr lang="en-US" b="0" dirty="0">
                <a:solidFill>
                  <a:srgbClr val="CDD6F4"/>
                </a:solidFill>
                <a:effectLst/>
                <a:latin typeface="Consolas" panose="020B0609020204030204" pitchFamily="49" charset="0"/>
              </a:rPr>
              <a:t>co</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alarm_op</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RESET</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F38BA8"/>
                </a:solidFill>
                <a:effectLst/>
                <a:latin typeface="Consolas" panose="020B0609020204030204" pitchFamily="49" charset="0"/>
              </a:rPr>
              <a:t>NULL</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p:txBody>
      </p:sp>
      <p:sp>
        <p:nvSpPr>
          <p:cNvPr id="4" name="TextBox 3">
            <a:extLst>
              <a:ext uri="{FF2B5EF4-FFF2-40B4-BE49-F238E27FC236}">
                <a16:creationId xmlns:a16="http://schemas.microsoft.com/office/drawing/2014/main" id="{298726A1-288E-7E85-DC03-A9D89A4B16CE}"/>
              </a:ext>
            </a:extLst>
          </p:cNvPr>
          <p:cNvSpPr txBox="1"/>
          <p:nvPr/>
        </p:nvSpPr>
        <p:spPr>
          <a:xfrm>
            <a:off x="838200" y="3999012"/>
            <a:ext cx="10157813" cy="1200329"/>
          </a:xfrm>
          <a:prstGeom prst="rect">
            <a:avLst/>
          </a:prstGeom>
          <a:noFill/>
        </p:spPr>
        <p:txBody>
          <a:bodyPr wrap="square" rtlCol="0">
            <a:spAutoFit/>
          </a:bodyPr>
          <a:lstStyle/>
          <a:p>
            <a:r>
              <a:rPr lang="en-US" dirty="0"/>
              <a:t>This function performs the context switching between the threads. At first it might seem like </a:t>
            </a:r>
          </a:p>
          <a:p>
            <a:r>
              <a:rPr lang="en-US" dirty="0"/>
              <a:t>the line after the coroutine switch will never run but as explained previously this is done so </a:t>
            </a:r>
          </a:p>
          <a:p>
            <a:r>
              <a:rPr lang="en-US" dirty="0"/>
              <a:t>that there is no race condition when switching threads. This line along with the </a:t>
            </a:r>
            <a:r>
              <a:rPr lang="en-US" dirty="0" err="1"/>
              <a:t>run_thread</a:t>
            </a:r>
            <a:r>
              <a:rPr lang="en-US" dirty="0"/>
              <a:t> function ensures that any thread that is resumed resets the alarm for itself.</a:t>
            </a:r>
          </a:p>
        </p:txBody>
      </p:sp>
    </p:spTree>
    <p:extLst>
      <p:ext uri="{BB962C8B-B14F-4D97-AF65-F5344CB8AC3E}">
        <p14:creationId xmlns:p14="http://schemas.microsoft.com/office/powerpoint/2010/main" val="3306971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0B4C8-09AB-A594-72B4-E3C8AA6E9C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555DBE-CF51-3FE5-A92D-A1AD78E420A7}"/>
              </a:ext>
            </a:extLst>
          </p:cNvPr>
          <p:cNvSpPr>
            <a:spLocks noGrp="1"/>
          </p:cNvSpPr>
          <p:nvPr>
            <p:ph type="title"/>
          </p:nvPr>
        </p:nvSpPr>
        <p:spPr>
          <a:xfrm>
            <a:off x="838200" y="337015"/>
            <a:ext cx="10515600" cy="1325563"/>
          </a:xfrm>
        </p:spPr>
        <p:txBody>
          <a:bodyPr/>
          <a:lstStyle/>
          <a:p>
            <a:r>
              <a:rPr lang="en-US" b="1" dirty="0"/>
              <a:t>Assignment 2: </a:t>
            </a:r>
            <a:r>
              <a:rPr lang="en-US" dirty="0"/>
              <a:t>Utility functions</a:t>
            </a:r>
          </a:p>
        </p:txBody>
      </p:sp>
      <p:sp>
        <p:nvSpPr>
          <p:cNvPr id="3" name="TextBox 2">
            <a:extLst>
              <a:ext uri="{FF2B5EF4-FFF2-40B4-BE49-F238E27FC236}">
                <a16:creationId xmlns:a16="http://schemas.microsoft.com/office/drawing/2014/main" id="{C26BA4CB-E602-DDF5-324C-55D9EB75BD7D}"/>
              </a:ext>
            </a:extLst>
          </p:cNvPr>
          <p:cNvSpPr txBox="1"/>
          <p:nvPr/>
        </p:nvSpPr>
        <p:spPr>
          <a:xfrm>
            <a:off x="838200" y="1662578"/>
            <a:ext cx="6356227" cy="2062103"/>
          </a:xfrm>
          <a:prstGeom prst="rect">
            <a:avLst/>
          </a:prstGeom>
          <a:noFill/>
        </p:spPr>
        <p:txBody>
          <a:bodyPr wrap="none" rtlCol="0">
            <a:spAutoFit/>
          </a:bodyPr>
          <a:lstStyle/>
          <a:p>
            <a:r>
              <a:rPr lang="en-US" sz="1600" b="0" dirty="0">
                <a:solidFill>
                  <a:srgbClr val="CBA6F7"/>
                </a:solidFill>
                <a:effectLst/>
                <a:latin typeface="Consolas" panose="020B0609020204030204" pitchFamily="49" charset="0"/>
              </a:rPr>
              <a:t>void</a:t>
            </a:r>
            <a:r>
              <a:rPr lang="en-US" sz="1600" b="0" dirty="0">
                <a:solidFill>
                  <a:srgbClr val="CDD6F4"/>
                </a:solidFill>
                <a:effectLst/>
                <a:latin typeface="Consolas" panose="020B0609020204030204" pitchFamily="49" charset="0"/>
              </a:rPr>
              <a:t> </a:t>
            </a:r>
            <a:r>
              <a:rPr lang="en-US" sz="1600" b="0" i="1" dirty="0" err="1">
                <a:solidFill>
                  <a:srgbClr val="89B4FA"/>
                </a:solidFill>
                <a:effectLst/>
                <a:latin typeface="Consolas" panose="020B0609020204030204" pitchFamily="49" charset="0"/>
              </a:rPr>
              <a:t>run_thread</a:t>
            </a:r>
            <a:r>
              <a:rPr lang="en-US" sz="1600" b="0" dirty="0">
                <a:solidFill>
                  <a:srgbClr val="9399B2"/>
                </a:solidFill>
                <a:effectLst/>
                <a:latin typeface="Consolas" panose="020B0609020204030204" pitchFamily="49" charset="0"/>
              </a:rPr>
              <a:t>(</a:t>
            </a:r>
            <a:r>
              <a:rPr lang="en-US" sz="1600" b="0" dirty="0">
                <a:solidFill>
                  <a:srgbClr val="CBA6F7"/>
                </a:solidFill>
                <a:effectLst/>
                <a:latin typeface="Consolas" panose="020B0609020204030204" pitchFamily="49" charset="0"/>
              </a:rPr>
              <a:t>void</a:t>
            </a:r>
            <a:r>
              <a:rPr lang="en-US" sz="1600" b="0" dirty="0">
                <a:solidFill>
                  <a:srgbClr val="CDD6F4"/>
                </a:solidFill>
                <a:effectLst/>
                <a:latin typeface="Consolas" panose="020B0609020204030204" pitchFamily="49" charset="0"/>
              </a:rPr>
              <a:t> </a:t>
            </a:r>
            <a:r>
              <a:rPr lang="en-US" sz="1600" b="0" dirty="0">
                <a:solidFill>
                  <a:srgbClr val="94E2D5"/>
                </a:solidFill>
                <a:effectLst/>
                <a:latin typeface="Consolas" panose="020B0609020204030204" pitchFamily="49" charset="0"/>
              </a:rPr>
              <a:t>*</a:t>
            </a:r>
            <a:r>
              <a:rPr lang="en-US" sz="1600" b="0" i="1" dirty="0" err="1">
                <a:solidFill>
                  <a:srgbClr val="EBA0AC"/>
                </a:solidFill>
                <a:effectLst/>
                <a:latin typeface="Consolas" panose="020B0609020204030204" pitchFamily="49" charset="0"/>
              </a:rPr>
              <a:t>arg</a:t>
            </a:r>
            <a:r>
              <a:rPr lang="en-US" sz="1600" b="0" dirty="0">
                <a:solidFill>
                  <a:srgbClr val="9399B2"/>
                </a:solidFill>
                <a:effectLst/>
                <a:latin typeface="Consolas" panose="020B0609020204030204" pitchFamily="49" charset="0"/>
              </a:rPr>
              <a:t>)</a:t>
            </a:r>
            <a:r>
              <a:rPr lang="en-US" sz="1600" b="0" dirty="0">
                <a:solidFill>
                  <a:srgbClr val="CDD6F4"/>
                </a:solidFill>
                <a:effectLst/>
                <a:latin typeface="Consolas" panose="020B0609020204030204" pitchFamily="49" charset="0"/>
              </a:rPr>
              <a:t> </a:t>
            </a:r>
            <a:r>
              <a:rPr lang="en-US" sz="1600" b="0" dirty="0">
                <a:solidFill>
                  <a:srgbClr val="9399B2"/>
                </a:solidFill>
                <a:effectLst/>
                <a:latin typeface="Consolas" panose="020B0609020204030204" pitchFamily="49" charset="0"/>
              </a:rPr>
              <a:t>{</a:t>
            </a:r>
            <a:endParaRPr lang="en-US" sz="1600" b="0" dirty="0">
              <a:solidFill>
                <a:srgbClr val="CDD6F4"/>
              </a:solidFill>
              <a:effectLst/>
              <a:latin typeface="Consolas" panose="020B0609020204030204" pitchFamily="49" charset="0"/>
            </a:endParaRPr>
          </a:p>
          <a:p>
            <a:r>
              <a:rPr lang="en-US" sz="1600" b="0" dirty="0">
                <a:solidFill>
                  <a:srgbClr val="CDD6F4"/>
                </a:solidFill>
                <a:effectLst/>
                <a:latin typeface="Consolas" panose="020B0609020204030204" pitchFamily="49" charset="0"/>
              </a:rPr>
              <a:t>    </a:t>
            </a:r>
            <a:r>
              <a:rPr lang="en-US" sz="1600" b="0" dirty="0">
                <a:solidFill>
                  <a:srgbClr val="CBA6F7"/>
                </a:solidFill>
                <a:effectLst/>
                <a:latin typeface="Consolas" panose="020B0609020204030204" pitchFamily="49" charset="0"/>
              </a:rPr>
              <a:t>void</a:t>
            </a:r>
            <a:r>
              <a:rPr lang="en-US" sz="1600" b="0" dirty="0">
                <a:solidFill>
                  <a:srgbClr val="CDD6F4"/>
                </a:solidFill>
                <a:effectLst/>
                <a:latin typeface="Consolas" panose="020B0609020204030204" pitchFamily="49" charset="0"/>
              </a:rPr>
              <a:t> </a:t>
            </a:r>
            <a:r>
              <a:rPr lang="en-US" sz="1600" b="0" dirty="0">
                <a:solidFill>
                  <a:srgbClr val="9399B2"/>
                </a:solidFill>
                <a:effectLst/>
                <a:latin typeface="Consolas" panose="020B0609020204030204" pitchFamily="49" charset="0"/>
              </a:rPr>
              <a:t>(</a:t>
            </a:r>
            <a:r>
              <a:rPr lang="en-US" sz="1600" b="0" dirty="0">
                <a:solidFill>
                  <a:srgbClr val="94E2D5"/>
                </a:solidFill>
                <a:effectLst/>
                <a:latin typeface="Consolas" panose="020B0609020204030204" pitchFamily="49" charset="0"/>
              </a:rPr>
              <a:t>*</a:t>
            </a:r>
            <a:r>
              <a:rPr lang="en-US" sz="1600" b="0" dirty="0">
                <a:solidFill>
                  <a:srgbClr val="CDD6F4"/>
                </a:solidFill>
                <a:effectLst/>
                <a:latin typeface="Consolas" panose="020B0609020204030204" pitchFamily="49" charset="0"/>
              </a:rPr>
              <a:t>body</a:t>
            </a:r>
            <a:r>
              <a:rPr lang="en-US" sz="1600" b="0" dirty="0">
                <a:solidFill>
                  <a:srgbClr val="9399B2"/>
                </a:solidFill>
                <a:effectLst/>
                <a:latin typeface="Consolas" panose="020B0609020204030204" pitchFamily="49" charset="0"/>
              </a:rPr>
              <a:t>)</a:t>
            </a:r>
            <a:r>
              <a:rPr lang="en-US" sz="1600" b="0" dirty="0">
                <a:solidFill>
                  <a:srgbClr val="CDD6F4"/>
                </a:solidFill>
                <a:effectLst/>
                <a:latin typeface="Consolas" panose="020B0609020204030204" pitchFamily="49" charset="0"/>
              </a:rPr>
              <a:t> </a:t>
            </a:r>
            <a:r>
              <a:rPr lang="en-US" sz="1600" b="0" dirty="0">
                <a:solidFill>
                  <a:srgbClr val="9399B2"/>
                </a:solidFill>
                <a:effectLst/>
                <a:latin typeface="Consolas" panose="020B0609020204030204" pitchFamily="49" charset="0"/>
              </a:rPr>
              <a:t>(</a:t>
            </a:r>
            <a:r>
              <a:rPr lang="en-US" sz="1600" b="0" dirty="0">
                <a:solidFill>
                  <a:srgbClr val="CBA6F7"/>
                </a:solidFill>
                <a:effectLst/>
                <a:latin typeface="Consolas" panose="020B0609020204030204" pitchFamily="49" charset="0"/>
              </a:rPr>
              <a:t>void</a:t>
            </a:r>
            <a:r>
              <a:rPr lang="en-US" sz="1600" b="0" dirty="0">
                <a:solidFill>
                  <a:srgbClr val="CDD6F4"/>
                </a:solidFill>
                <a:effectLst/>
                <a:latin typeface="Consolas" panose="020B0609020204030204" pitchFamily="49" charset="0"/>
              </a:rPr>
              <a:t> </a:t>
            </a:r>
            <a:r>
              <a:rPr lang="en-US" sz="1600" b="0" dirty="0">
                <a:solidFill>
                  <a:srgbClr val="94E2D5"/>
                </a:solidFill>
                <a:effectLst/>
                <a:latin typeface="Consolas" panose="020B0609020204030204" pitchFamily="49" charset="0"/>
              </a:rPr>
              <a:t>*</a:t>
            </a:r>
            <a:r>
              <a:rPr lang="en-US" sz="1600" b="0" dirty="0">
                <a:solidFill>
                  <a:srgbClr val="9399B2"/>
                </a:solidFill>
                <a:effectLst/>
                <a:latin typeface="Consolas" panose="020B0609020204030204" pitchFamily="49" charset="0"/>
              </a:rPr>
              <a:t>)</a:t>
            </a:r>
            <a:r>
              <a:rPr lang="en-US" sz="1600" b="0" dirty="0">
                <a:solidFill>
                  <a:srgbClr val="CDD6F4"/>
                </a:solidFill>
                <a:effectLst/>
                <a:latin typeface="Consolas" panose="020B0609020204030204" pitchFamily="49" charset="0"/>
              </a:rPr>
              <a:t> </a:t>
            </a:r>
            <a:r>
              <a:rPr lang="en-US" sz="1600" b="0" dirty="0">
                <a:solidFill>
                  <a:srgbClr val="94E2D5"/>
                </a:solidFill>
                <a:effectLst/>
                <a:latin typeface="Consolas" panose="020B0609020204030204" pitchFamily="49" charset="0"/>
              </a:rPr>
              <a:t>=</a:t>
            </a:r>
            <a:r>
              <a:rPr lang="en-US" sz="1600" b="0" dirty="0">
                <a:solidFill>
                  <a:srgbClr val="CDD6F4"/>
                </a:solidFill>
                <a:effectLst/>
                <a:latin typeface="Consolas" panose="020B0609020204030204" pitchFamily="49" charset="0"/>
              </a:rPr>
              <a:t> get body of thread from </a:t>
            </a:r>
            <a:r>
              <a:rPr lang="en-US" sz="1600" b="0" dirty="0" err="1">
                <a:solidFill>
                  <a:srgbClr val="CDD6F4"/>
                </a:solidFill>
                <a:effectLst/>
                <a:latin typeface="Consolas" panose="020B0609020204030204" pitchFamily="49" charset="0"/>
              </a:rPr>
              <a:t>arg</a:t>
            </a:r>
            <a:endParaRPr lang="en-US" sz="1600" b="0" dirty="0">
              <a:solidFill>
                <a:srgbClr val="CDD6F4"/>
              </a:solidFill>
              <a:effectLst/>
              <a:latin typeface="Consolas" panose="020B0609020204030204" pitchFamily="49" charset="0"/>
            </a:endParaRPr>
          </a:p>
          <a:p>
            <a:r>
              <a:rPr lang="en-US" sz="1600" b="0" dirty="0">
                <a:solidFill>
                  <a:srgbClr val="CDD6F4"/>
                </a:solidFill>
                <a:effectLst/>
                <a:latin typeface="Consolas" panose="020B0609020204030204" pitchFamily="49" charset="0"/>
              </a:rPr>
              <a:t>    </a:t>
            </a:r>
            <a:r>
              <a:rPr lang="en-US" sz="1600" b="0" dirty="0">
                <a:solidFill>
                  <a:srgbClr val="CBA6F7"/>
                </a:solidFill>
                <a:effectLst/>
                <a:latin typeface="Consolas" panose="020B0609020204030204" pitchFamily="49" charset="0"/>
              </a:rPr>
              <a:t>void</a:t>
            </a:r>
            <a:r>
              <a:rPr lang="en-US" sz="1600" b="0" dirty="0">
                <a:solidFill>
                  <a:srgbClr val="CDD6F4"/>
                </a:solidFill>
                <a:effectLst/>
                <a:latin typeface="Consolas" panose="020B0609020204030204" pitchFamily="49" charset="0"/>
              </a:rPr>
              <a:t> </a:t>
            </a:r>
            <a:r>
              <a:rPr lang="en-US" sz="1600" b="0" dirty="0">
                <a:solidFill>
                  <a:srgbClr val="94E2D5"/>
                </a:solidFill>
                <a:effectLst/>
                <a:latin typeface="Consolas" panose="020B0609020204030204" pitchFamily="49" charset="0"/>
              </a:rPr>
              <a:t>*</a:t>
            </a:r>
            <a:r>
              <a:rPr lang="en-US" sz="1600" b="0" dirty="0" err="1">
                <a:solidFill>
                  <a:srgbClr val="CDD6F4"/>
                </a:solidFill>
                <a:effectLst/>
                <a:latin typeface="Consolas" panose="020B0609020204030204" pitchFamily="49" charset="0"/>
              </a:rPr>
              <a:t>body_arg</a:t>
            </a:r>
            <a:r>
              <a:rPr lang="en-US" sz="1600" b="0" dirty="0">
                <a:solidFill>
                  <a:srgbClr val="CDD6F4"/>
                </a:solidFill>
                <a:effectLst/>
                <a:latin typeface="Consolas" panose="020B0609020204030204" pitchFamily="49" charset="0"/>
              </a:rPr>
              <a:t> </a:t>
            </a:r>
            <a:r>
              <a:rPr lang="en-US" sz="1600" b="0" dirty="0">
                <a:solidFill>
                  <a:srgbClr val="94E2D5"/>
                </a:solidFill>
                <a:effectLst/>
                <a:latin typeface="Consolas" panose="020B0609020204030204" pitchFamily="49" charset="0"/>
              </a:rPr>
              <a:t>=</a:t>
            </a:r>
            <a:r>
              <a:rPr lang="en-US" sz="1600" b="0" dirty="0">
                <a:solidFill>
                  <a:srgbClr val="CDD6F4"/>
                </a:solidFill>
                <a:effectLst/>
                <a:latin typeface="Consolas" panose="020B0609020204030204" pitchFamily="49" charset="0"/>
              </a:rPr>
              <a:t> get </a:t>
            </a:r>
            <a:r>
              <a:rPr lang="en-US" sz="1600" b="0" dirty="0" err="1">
                <a:solidFill>
                  <a:srgbClr val="CDD6F4"/>
                </a:solidFill>
                <a:effectLst/>
                <a:latin typeface="Consolas" panose="020B0609020204030204" pitchFamily="49" charset="0"/>
              </a:rPr>
              <a:t>arg</a:t>
            </a:r>
            <a:r>
              <a:rPr lang="en-US" sz="1600" b="0" dirty="0">
                <a:solidFill>
                  <a:srgbClr val="CDD6F4"/>
                </a:solidFill>
                <a:effectLst/>
                <a:latin typeface="Consolas" panose="020B0609020204030204" pitchFamily="49" charset="0"/>
              </a:rPr>
              <a:t> of thread from </a:t>
            </a:r>
            <a:r>
              <a:rPr lang="en-US" sz="1600" b="0" dirty="0" err="1">
                <a:solidFill>
                  <a:srgbClr val="CDD6F4"/>
                </a:solidFill>
                <a:effectLst/>
                <a:latin typeface="Consolas" panose="020B0609020204030204" pitchFamily="49" charset="0"/>
              </a:rPr>
              <a:t>arg</a:t>
            </a:r>
            <a:endParaRPr lang="en-US" sz="1600" b="0" dirty="0">
              <a:solidFill>
                <a:srgbClr val="CDD6F4"/>
              </a:solidFill>
              <a:effectLst/>
              <a:latin typeface="Consolas" panose="020B0609020204030204" pitchFamily="49" charset="0"/>
            </a:endParaRPr>
          </a:p>
          <a:p>
            <a:br>
              <a:rPr lang="en-US" sz="1600" b="0" dirty="0">
                <a:solidFill>
                  <a:srgbClr val="CDD6F4"/>
                </a:solidFill>
                <a:effectLst/>
                <a:latin typeface="Consolas" panose="020B0609020204030204" pitchFamily="49" charset="0"/>
              </a:rPr>
            </a:br>
            <a:r>
              <a:rPr lang="en-US" sz="1600" b="0" dirty="0">
                <a:solidFill>
                  <a:srgbClr val="CDD6F4"/>
                </a:solidFill>
                <a:effectLst/>
                <a:latin typeface="Consolas" panose="020B0609020204030204" pitchFamily="49" charset="0"/>
              </a:rPr>
              <a:t>    </a:t>
            </a:r>
            <a:r>
              <a:rPr lang="en-US" sz="1600" dirty="0">
                <a:solidFill>
                  <a:srgbClr val="CDD6F4"/>
                </a:solidFill>
                <a:latin typeface="Consolas" panose="020B0609020204030204" pitchFamily="49" charset="0"/>
              </a:rPr>
              <a:t>reset alarm</a:t>
            </a:r>
          </a:p>
          <a:p>
            <a:r>
              <a:rPr lang="en-US" sz="1600" b="0" dirty="0">
                <a:solidFill>
                  <a:srgbClr val="CDD6F4"/>
                </a:solidFill>
                <a:effectLst/>
                <a:latin typeface="Consolas" panose="020B0609020204030204" pitchFamily="49" charset="0"/>
              </a:rPr>
              <a:t>    </a:t>
            </a:r>
            <a:r>
              <a:rPr lang="en-US" sz="1600" b="0" i="1" dirty="0">
                <a:solidFill>
                  <a:srgbClr val="89B4FA"/>
                </a:solidFill>
                <a:effectLst/>
                <a:latin typeface="Consolas" panose="020B0609020204030204" pitchFamily="49" charset="0"/>
              </a:rPr>
              <a:t>body</a:t>
            </a:r>
            <a:r>
              <a:rPr lang="en-US" sz="1600" b="0" dirty="0">
                <a:solidFill>
                  <a:srgbClr val="9399B2"/>
                </a:solidFill>
                <a:effectLst/>
                <a:latin typeface="Consolas" panose="020B0609020204030204" pitchFamily="49" charset="0"/>
              </a:rPr>
              <a:t>(</a:t>
            </a:r>
            <a:r>
              <a:rPr lang="en-US" sz="1600" b="0" dirty="0" err="1">
                <a:solidFill>
                  <a:srgbClr val="CDD6F4"/>
                </a:solidFill>
                <a:effectLst/>
                <a:latin typeface="Consolas" panose="020B0609020204030204" pitchFamily="49" charset="0"/>
              </a:rPr>
              <a:t>body_arg</a:t>
            </a:r>
            <a:r>
              <a:rPr lang="en-US" sz="1600" b="0" dirty="0">
                <a:solidFill>
                  <a:srgbClr val="9399B2"/>
                </a:solidFill>
                <a:effectLst/>
                <a:latin typeface="Consolas" panose="020B0609020204030204" pitchFamily="49" charset="0"/>
              </a:rPr>
              <a:t>)</a:t>
            </a:r>
            <a:endParaRPr lang="en-US" sz="1600" b="0" dirty="0">
              <a:solidFill>
                <a:srgbClr val="CDD6F4"/>
              </a:solidFill>
              <a:effectLst/>
              <a:latin typeface="Consolas" panose="020B0609020204030204" pitchFamily="49" charset="0"/>
            </a:endParaRPr>
          </a:p>
          <a:p>
            <a:r>
              <a:rPr lang="en-US" sz="1600" b="0" dirty="0">
                <a:solidFill>
                  <a:srgbClr val="CDD6F4"/>
                </a:solidFill>
                <a:effectLst/>
                <a:latin typeface="Consolas" panose="020B0609020204030204" pitchFamily="49" charset="0"/>
              </a:rPr>
              <a:t>    </a:t>
            </a:r>
            <a:r>
              <a:rPr lang="en-US" sz="1600" b="0" i="1" dirty="0" err="1">
                <a:solidFill>
                  <a:srgbClr val="89B4FA"/>
                </a:solidFill>
                <a:effectLst/>
                <a:latin typeface="Consolas" panose="020B0609020204030204" pitchFamily="49" charset="0"/>
              </a:rPr>
              <a:t>run_scheduler</a:t>
            </a:r>
            <a:r>
              <a:rPr lang="en-US" sz="1600" b="0" dirty="0">
                <a:solidFill>
                  <a:srgbClr val="9399B2"/>
                </a:solidFill>
                <a:effectLst/>
                <a:latin typeface="Consolas" panose="020B0609020204030204" pitchFamily="49" charset="0"/>
              </a:rPr>
              <a:t>(</a:t>
            </a:r>
            <a:r>
              <a:rPr lang="en-US" sz="1600" b="0" dirty="0">
                <a:solidFill>
                  <a:srgbClr val="CDD6F4"/>
                </a:solidFill>
                <a:effectLst/>
                <a:latin typeface="Consolas" panose="020B0609020204030204" pitchFamily="49" charset="0"/>
              </a:rPr>
              <a:t>TERMINATED</a:t>
            </a:r>
            <a:r>
              <a:rPr lang="en-US" sz="1600" b="0" dirty="0">
                <a:solidFill>
                  <a:srgbClr val="9399B2"/>
                </a:solidFill>
                <a:effectLst/>
                <a:latin typeface="Consolas" panose="020B0609020204030204" pitchFamily="49" charset="0"/>
              </a:rPr>
              <a:t>)</a:t>
            </a:r>
            <a:endParaRPr lang="en-US" sz="1600" b="0" dirty="0">
              <a:solidFill>
                <a:srgbClr val="CDD6F4"/>
              </a:solidFill>
              <a:effectLst/>
              <a:latin typeface="Consolas" panose="020B0609020204030204" pitchFamily="49" charset="0"/>
            </a:endParaRPr>
          </a:p>
          <a:p>
            <a:r>
              <a:rPr lang="en-US" sz="1600" b="0" dirty="0">
                <a:solidFill>
                  <a:srgbClr val="9399B2"/>
                </a:solidFill>
                <a:effectLst/>
                <a:latin typeface="Consolas" panose="020B0609020204030204" pitchFamily="49" charset="0"/>
              </a:rPr>
              <a:t>}</a:t>
            </a:r>
            <a:endParaRPr lang="en-US" sz="1600" b="0" dirty="0">
              <a:solidFill>
                <a:srgbClr val="CDD6F4"/>
              </a:solidFill>
              <a:effectLst/>
              <a:latin typeface="Consolas" panose="020B0609020204030204" pitchFamily="49" charset="0"/>
            </a:endParaRPr>
          </a:p>
        </p:txBody>
      </p:sp>
      <p:sp>
        <p:nvSpPr>
          <p:cNvPr id="4" name="TextBox 3">
            <a:extLst>
              <a:ext uri="{FF2B5EF4-FFF2-40B4-BE49-F238E27FC236}">
                <a16:creationId xmlns:a16="http://schemas.microsoft.com/office/drawing/2014/main" id="{DCFAE228-2CF6-76D4-1456-5C34C8C634E8}"/>
              </a:ext>
            </a:extLst>
          </p:cNvPr>
          <p:cNvSpPr txBox="1"/>
          <p:nvPr/>
        </p:nvSpPr>
        <p:spPr>
          <a:xfrm>
            <a:off x="838200" y="3724681"/>
            <a:ext cx="9070368" cy="923330"/>
          </a:xfrm>
          <a:prstGeom prst="rect">
            <a:avLst/>
          </a:prstGeom>
          <a:noFill/>
        </p:spPr>
        <p:txBody>
          <a:bodyPr wrap="none" rtlCol="0">
            <a:spAutoFit/>
          </a:bodyPr>
          <a:lstStyle/>
          <a:p>
            <a:r>
              <a:rPr lang="en-US" dirty="0"/>
              <a:t>This function is a wrapper of the function that is run by a thread. This is used in order to </a:t>
            </a:r>
          </a:p>
          <a:p>
            <a:r>
              <a:rPr lang="en-US" dirty="0"/>
              <a:t>reset the alarm every time a new thread starts and to return to the scheduler once it needs</a:t>
            </a:r>
          </a:p>
          <a:p>
            <a:r>
              <a:rPr lang="en-US" dirty="0"/>
              <a:t>to terminate.</a:t>
            </a:r>
          </a:p>
        </p:txBody>
      </p:sp>
    </p:spTree>
    <p:extLst>
      <p:ext uri="{BB962C8B-B14F-4D97-AF65-F5344CB8AC3E}">
        <p14:creationId xmlns:p14="http://schemas.microsoft.com/office/powerpoint/2010/main" val="29793454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20F5D-FAD2-04E3-F773-E534C3199C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DC6C48-78F8-18ED-E236-77D9BAD412B7}"/>
              </a:ext>
            </a:extLst>
          </p:cNvPr>
          <p:cNvSpPr>
            <a:spLocks noGrp="1"/>
          </p:cNvSpPr>
          <p:nvPr>
            <p:ph type="title"/>
          </p:nvPr>
        </p:nvSpPr>
        <p:spPr>
          <a:xfrm>
            <a:off x="838200" y="337015"/>
            <a:ext cx="10515600" cy="1325563"/>
          </a:xfrm>
        </p:spPr>
        <p:txBody>
          <a:bodyPr/>
          <a:lstStyle/>
          <a:p>
            <a:r>
              <a:rPr lang="en-US" b="1" dirty="0"/>
              <a:t>Assignment 2: </a:t>
            </a:r>
            <a:r>
              <a:rPr lang="en-US" dirty="0"/>
              <a:t>Utility functions</a:t>
            </a:r>
          </a:p>
        </p:txBody>
      </p:sp>
      <p:sp>
        <p:nvSpPr>
          <p:cNvPr id="3" name="TextBox 2">
            <a:extLst>
              <a:ext uri="{FF2B5EF4-FFF2-40B4-BE49-F238E27FC236}">
                <a16:creationId xmlns:a16="http://schemas.microsoft.com/office/drawing/2014/main" id="{AB404D86-8726-8235-F623-85C8DBB09612}"/>
              </a:ext>
            </a:extLst>
          </p:cNvPr>
          <p:cNvSpPr txBox="1"/>
          <p:nvPr/>
        </p:nvSpPr>
        <p:spPr>
          <a:xfrm>
            <a:off x="838200" y="1662578"/>
            <a:ext cx="7141699" cy="4185761"/>
          </a:xfrm>
          <a:prstGeom prst="rect">
            <a:avLst/>
          </a:prstGeom>
          <a:noFill/>
        </p:spPr>
        <p:txBody>
          <a:bodyPr wrap="none" rtlCol="0">
            <a:spAutoFit/>
          </a:bodyPr>
          <a:lstStyle/>
          <a:p>
            <a:r>
              <a:rPr lang="en-US" sz="1400" b="0" dirty="0">
                <a:solidFill>
                  <a:srgbClr val="CBA6F7"/>
                </a:solidFill>
                <a:effectLst/>
                <a:latin typeface="Consolas" panose="020B0609020204030204" pitchFamily="49" charset="0"/>
              </a:rPr>
              <a:t>void</a:t>
            </a:r>
            <a:r>
              <a:rPr lang="en-US" sz="1400" b="0" dirty="0">
                <a:solidFill>
                  <a:srgbClr val="CDD6F4"/>
                </a:solidFill>
                <a:effectLst/>
                <a:latin typeface="Consolas" panose="020B0609020204030204" pitchFamily="49" charset="0"/>
              </a:rPr>
              <a:t> </a:t>
            </a:r>
            <a:r>
              <a:rPr lang="en-US" sz="1400" b="0" i="1" dirty="0" err="1">
                <a:solidFill>
                  <a:srgbClr val="89B4FA"/>
                </a:solidFill>
                <a:effectLst/>
                <a:latin typeface="Consolas" panose="020B0609020204030204" pitchFamily="49" charset="0"/>
              </a:rPr>
              <a:t>alarm_op</a:t>
            </a:r>
            <a:r>
              <a:rPr lang="en-US" sz="1400" b="0" dirty="0">
                <a:solidFill>
                  <a:srgbClr val="9399B2"/>
                </a:solidFill>
                <a:effectLst/>
                <a:latin typeface="Consolas" panose="020B0609020204030204" pitchFamily="49" charset="0"/>
              </a:rPr>
              <a:t>(</a:t>
            </a:r>
            <a:r>
              <a:rPr lang="en-US" sz="1400" b="0" dirty="0" err="1">
                <a:solidFill>
                  <a:srgbClr val="CBA6F7"/>
                </a:solidFill>
                <a:effectLst/>
                <a:latin typeface="Consolas" panose="020B0609020204030204" pitchFamily="49" charset="0"/>
              </a:rPr>
              <a:t>enum</a:t>
            </a:r>
            <a:r>
              <a:rPr lang="en-US" sz="1400" b="0" dirty="0">
                <a:solidFill>
                  <a:srgbClr val="CDD6F4"/>
                </a:solidFill>
                <a:effectLst/>
                <a:latin typeface="Consolas" panose="020B0609020204030204" pitchFamily="49" charset="0"/>
              </a:rPr>
              <a:t> </a:t>
            </a:r>
            <a:r>
              <a:rPr lang="en-US" sz="1400" b="0" i="1" dirty="0" err="1">
                <a:solidFill>
                  <a:srgbClr val="F9E2AF"/>
                </a:solidFill>
                <a:effectLst/>
                <a:latin typeface="Consolas" panose="020B0609020204030204" pitchFamily="49" charset="0"/>
              </a:rPr>
              <a:t>alarm_op_t</a:t>
            </a:r>
            <a:r>
              <a:rPr lang="en-US" sz="1400" b="0" dirty="0">
                <a:solidFill>
                  <a:srgbClr val="CDD6F4"/>
                </a:solidFill>
                <a:effectLst/>
                <a:latin typeface="Consolas" panose="020B0609020204030204" pitchFamily="49" charset="0"/>
              </a:rPr>
              <a:t> </a:t>
            </a:r>
            <a:r>
              <a:rPr lang="en-US" sz="1400" b="0" i="1" dirty="0">
                <a:solidFill>
                  <a:srgbClr val="EBA0AC"/>
                </a:solidFill>
                <a:effectLst/>
                <a:latin typeface="Consolas" panose="020B0609020204030204" pitchFamily="49" charset="0"/>
              </a:rPr>
              <a:t>operation</a:t>
            </a:r>
            <a:r>
              <a:rPr lang="en-US" sz="1400" b="0" dirty="0">
                <a:solidFill>
                  <a:srgbClr val="9399B2"/>
                </a:solidFill>
                <a:effectLst/>
                <a:latin typeface="Consolas" panose="020B0609020204030204" pitchFamily="49" charset="0"/>
              </a:rPr>
              <a:t>,</a:t>
            </a:r>
            <a:r>
              <a:rPr lang="en-US" sz="1400" b="0" dirty="0">
                <a:solidFill>
                  <a:srgbClr val="CDD6F4"/>
                </a:solidFill>
                <a:effectLst/>
                <a:latin typeface="Consolas" panose="020B0609020204030204" pitchFamily="49" charset="0"/>
              </a:rPr>
              <a:t> </a:t>
            </a:r>
            <a:r>
              <a:rPr lang="en-US" sz="1400" b="0" dirty="0">
                <a:solidFill>
                  <a:srgbClr val="CBA6F7"/>
                </a:solidFill>
                <a:effectLst/>
                <a:latin typeface="Consolas" panose="020B0609020204030204" pitchFamily="49" charset="0"/>
              </a:rPr>
              <a:t>struct</a:t>
            </a:r>
            <a:r>
              <a:rPr lang="en-US" sz="1400" b="0" dirty="0">
                <a:solidFill>
                  <a:srgbClr val="CDD6F4"/>
                </a:solidFill>
                <a:effectLst/>
                <a:latin typeface="Consolas" panose="020B0609020204030204" pitchFamily="49" charset="0"/>
              </a:rPr>
              <a:t> </a:t>
            </a:r>
            <a:r>
              <a:rPr lang="en-US" sz="1400" i="1" dirty="0" err="1">
                <a:solidFill>
                  <a:srgbClr val="F9E2AF"/>
                </a:solidFill>
                <a:latin typeface="Consolas" panose="020B0609020204030204" pitchFamily="49" charset="0"/>
              </a:rPr>
              <a:t>itimerval</a:t>
            </a:r>
            <a:r>
              <a:rPr lang="en-US" sz="1400" b="0" dirty="0">
                <a:solidFill>
                  <a:srgbClr val="CDD6F4"/>
                </a:solidFill>
                <a:effectLst/>
                <a:latin typeface="Consolas" panose="020B0609020204030204" pitchFamily="49" charset="0"/>
              </a:rPr>
              <a:t> </a:t>
            </a:r>
            <a:r>
              <a:rPr lang="en-US" sz="1400" b="0" dirty="0">
                <a:solidFill>
                  <a:srgbClr val="94E2D5"/>
                </a:solidFill>
                <a:effectLst/>
                <a:latin typeface="Consolas" panose="020B0609020204030204" pitchFamily="49" charset="0"/>
              </a:rPr>
              <a:t>*</a:t>
            </a:r>
            <a:r>
              <a:rPr lang="en-US" sz="1400" b="0" i="1" dirty="0">
                <a:solidFill>
                  <a:srgbClr val="EBA0AC"/>
                </a:solidFill>
                <a:effectLst/>
                <a:latin typeface="Consolas" panose="020B0609020204030204" pitchFamily="49" charset="0"/>
              </a:rPr>
              <a:t>previous</a:t>
            </a:r>
            <a:r>
              <a:rPr lang="en-US" sz="1400" b="0" dirty="0">
                <a:solidFill>
                  <a:srgbClr val="9399B2"/>
                </a:solidFill>
                <a:effectLst/>
                <a:latin typeface="Consolas" panose="020B0609020204030204" pitchFamily="49" charset="0"/>
              </a:rPr>
              <a:t>)</a:t>
            </a:r>
            <a:r>
              <a:rPr lang="en-US" sz="1400" b="0" dirty="0">
                <a:solidFill>
                  <a:srgbClr val="CDD6F4"/>
                </a:solidFill>
                <a:effectLst/>
                <a:latin typeface="Consolas" panose="020B0609020204030204" pitchFamily="49" charset="0"/>
              </a:rPr>
              <a:t> </a:t>
            </a:r>
            <a:r>
              <a:rPr lang="en-US" sz="1400" b="0" dirty="0">
                <a:solidFill>
                  <a:srgbClr val="9399B2"/>
                </a:solidFill>
                <a:effectLst/>
                <a:latin typeface="Consolas" panose="020B0609020204030204" pitchFamily="49" charset="0"/>
              </a:rPr>
              <a:t>{</a:t>
            </a:r>
            <a:endParaRPr lang="en-US" sz="1400" b="0" dirty="0">
              <a:solidFill>
                <a:srgbClr val="CDD6F4"/>
              </a:solidFill>
              <a:effectLst/>
              <a:latin typeface="Consolas" panose="020B0609020204030204" pitchFamily="49" charset="0"/>
            </a:endParaRPr>
          </a:p>
          <a:p>
            <a:r>
              <a:rPr lang="en-US" sz="1400" b="0" dirty="0">
                <a:solidFill>
                  <a:srgbClr val="CDD6F4"/>
                </a:solidFill>
                <a:effectLst/>
                <a:latin typeface="Consolas" panose="020B0609020204030204" pitchFamily="49" charset="0"/>
              </a:rPr>
              <a:t>    </a:t>
            </a:r>
            <a:r>
              <a:rPr lang="en-US" sz="1400" b="0" dirty="0">
                <a:solidFill>
                  <a:srgbClr val="CBA6F7"/>
                </a:solidFill>
                <a:effectLst/>
                <a:latin typeface="Consolas" panose="020B0609020204030204" pitchFamily="49" charset="0"/>
              </a:rPr>
              <a:t>switch</a:t>
            </a:r>
            <a:r>
              <a:rPr lang="en-US" sz="1400" b="0" dirty="0">
                <a:solidFill>
                  <a:srgbClr val="CDD6F4"/>
                </a:solidFill>
                <a:effectLst/>
                <a:latin typeface="Consolas" panose="020B0609020204030204" pitchFamily="49" charset="0"/>
              </a:rPr>
              <a:t> </a:t>
            </a:r>
            <a:r>
              <a:rPr lang="en-US" sz="1400" b="0" dirty="0">
                <a:solidFill>
                  <a:srgbClr val="9399B2"/>
                </a:solidFill>
                <a:effectLst/>
                <a:latin typeface="Consolas" panose="020B0609020204030204" pitchFamily="49" charset="0"/>
              </a:rPr>
              <a:t>(</a:t>
            </a:r>
            <a:r>
              <a:rPr lang="en-US" sz="1400" i="1" dirty="0">
                <a:solidFill>
                  <a:srgbClr val="EBA0AC"/>
                </a:solidFill>
                <a:latin typeface="Consolas" panose="020B0609020204030204" pitchFamily="49" charset="0"/>
              </a:rPr>
              <a:t>operation</a:t>
            </a:r>
            <a:r>
              <a:rPr lang="en-US" sz="1400" b="0" dirty="0">
                <a:solidFill>
                  <a:srgbClr val="9399B2"/>
                </a:solidFill>
                <a:effectLst/>
                <a:latin typeface="Consolas" panose="020B0609020204030204" pitchFamily="49" charset="0"/>
              </a:rPr>
              <a:t>)</a:t>
            </a:r>
            <a:r>
              <a:rPr lang="en-US" sz="1400" b="0" dirty="0">
                <a:solidFill>
                  <a:srgbClr val="CDD6F4"/>
                </a:solidFill>
                <a:effectLst/>
                <a:latin typeface="Consolas" panose="020B0609020204030204" pitchFamily="49" charset="0"/>
              </a:rPr>
              <a:t> </a:t>
            </a:r>
            <a:r>
              <a:rPr lang="en-US" sz="1400" b="0" dirty="0">
                <a:solidFill>
                  <a:srgbClr val="9399B2"/>
                </a:solidFill>
                <a:effectLst/>
                <a:latin typeface="Consolas" panose="020B0609020204030204" pitchFamily="49" charset="0"/>
              </a:rPr>
              <a:t>{</a:t>
            </a:r>
          </a:p>
          <a:p>
            <a:r>
              <a:rPr lang="en-US" sz="1400" b="0" dirty="0">
                <a:solidFill>
                  <a:srgbClr val="CDD6F4"/>
                </a:solidFill>
                <a:effectLst/>
                <a:latin typeface="Consolas" panose="020B0609020204030204" pitchFamily="49" charset="0"/>
              </a:rPr>
              <a:t>        </a:t>
            </a:r>
            <a:r>
              <a:rPr lang="en-US" sz="1400" b="0" dirty="0">
                <a:solidFill>
                  <a:srgbClr val="CBA6F7"/>
                </a:solidFill>
                <a:effectLst/>
                <a:latin typeface="Consolas" panose="020B0609020204030204" pitchFamily="49" charset="0"/>
              </a:rPr>
              <a:t>case</a:t>
            </a:r>
            <a:r>
              <a:rPr lang="en-US" sz="1400" b="0" dirty="0">
                <a:solidFill>
                  <a:srgbClr val="CDD6F4"/>
                </a:solidFill>
                <a:effectLst/>
                <a:latin typeface="Consolas" panose="020B0609020204030204" pitchFamily="49" charset="0"/>
              </a:rPr>
              <a:t> DISABLE</a:t>
            </a:r>
            <a:r>
              <a:rPr lang="en-US" sz="1400" b="0" dirty="0">
                <a:solidFill>
                  <a:srgbClr val="9399B2"/>
                </a:solidFill>
                <a:effectLst/>
                <a:latin typeface="Consolas" panose="020B0609020204030204" pitchFamily="49" charset="0"/>
              </a:rPr>
              <a:t>:</a:t>
            </a:r>
            <a:endParaRPr lang="en-US" sz="1400" b="0" dirty="0">
              <a:solidFill>
                <a:srgbClr val="CDD6F4"/>
              </a:solidFill>
              <a:effectLst/>
              <a:latin typeface="Consolas" panose="020B0609020204030204" pitchFamily="49" charset="0"/>
            </a:endParaRPr>
          </a:p>
          <a:p>
            <a:r>
              <a:rPr lang="en-US" sz="1400" b="0" dirty="0">
                <a:solidFill>
                  <a:srgbClr val="CDD6F4"/>
                </a:solidFill>
                <a:effectLst/>
                <a:latin typeface="Consolas" panose="020B0609020204030204" pitchFamily="49" charset="0"/>
              </a:rPr>
              <a:t>            set signal handler to ignore SIGALRM</a:t>
            </a:r>
          </a:p>
          <a:p>
            <a:r>
              <a:rPr lang="en-US" sz="1400" b="0" dirty="0">
                <a:solidFill>
                  <a:srgbClr val="CDD6F4"/>
                </a:solidFill>
                <a:effectLst/>
                <a:latin typeface="Consolas" panose="020B0609020204030204" pitchFamily="49" charset="0"/>
              </a:rPr>
              <a:t>            disable timer and store the previous</a:t>
            </a:r>
          </a:p>
          <a:p>
            <a:r>
              <a:rPr lang="en-US" sz="1400" b="0" dirty="0">
                <a:solidFill>
                  <a:srgbClr val="CDD6F4"/>
                </a:solidFill>
                <a:effectLst/>
                <a:latin typeface="Consolas" panose="020B0609020204030204" pitchFamily="49" charset="0"/>
              </a:rPr>
              <a:t>            </a:t>
            </a:r>
            <a:r>
              <a:rPr lang="en-US" sz="1400" b="0" dirty="0">
                <a:solidFill>
                  <a:srgbClr val="CBA6F7"/>
                </a:solidFill>
                <a:effectLst/>
                <a:latin typeface="Consolas" panose="020B0609020204030204" pitchFamily="49" charset="0"/>
              </a:rPr>
              <a:t>break</a:t>
            </a:r>
            <a:r>
              <a:rPr lang="en-US" sz="1400" b="0" dirty="0">
                <a:solidFill>
                  <a:srgbClr val="9399B2"/>
                </a:solidFill>
                <a:effectLst/>
                <a:latin typeface="Consolas" panose="020B0609020204030204" pitchFamily="49" charset="0"/>
              </a:rPr>
              <a:t>;</a:t>
            </a:r>
            <a:endParaRPr lang="en-US" sz="1400" b="0" dirty="0">
              <a:solidFill>
                <a:srgbClr val="CDD6F4"/>
              </a:solidFill>
              <a:effectLst/>
              <a:latin typeface="Consolas" panose="020B0609020204030204" pitchFamily="49" charset="0"/>
            </a:endParaRPr>
          </a:p>
          <a:p>
            <a:r>
              <a:rPr lang="en-US" sz="1400" b="0" dirty="0">
                <a:solidFill>
                  <a:srgbClr val="CDD6F4"/>
                </a:solidFill>
                <a:effectLst/>
                <a:latin typeface="Consolas" panose="020B0609020204030204" pitchFamily="49" charset="0"/>
              </a:rPr>
              <a:t>        </a:t>
            </a:r>
            <a:r>
              <a:rPr lang="en-US" sz="1400" b="0" dirty="0">
                <a:solidFill>
                  <a:srgbClr val="CBA6F7"/>
                </a:solidFill>
                <a:effectLst/>
                <a:latin typeface="Consolas" panose="020B0609020204030204" pitchFamily="49" charset="0"/>
              </a:rPr>
              <a:t>case</a:t>
            </a:r>
            <a:r>
              <a:rPr lang="en-US" sz="1400" b="0" dirty="0">
                <a:solidFill>
                  <a:srgbClr val="CDD6F4"/>
                </a:solidFill>
                <a:effectLst/>
                <a:latin typeface="Consolas" panose="020B0609020204030204" pitchFamily="49" charset="0"/>
              </a:rPr>
              <a:t> ENABLE_PREVIOUS</a:t>
            </a:r>
            <a:r>
              <a:rPr lang="en-US" sz="1400" b="0" dirty="0">
                <a:solidFill>
                  <a:srgbClr val="9399B2"/>
                </a:solidFill>
                <a:effectLst/>
                <a:latin typeface="Consolas" panose="020B0609020204030204" pitchFamily="49" charset="0"/>
              </a:rPr>
              <a:t>:</a:t>
            </a:r>
            <a:endParaRPr lang="en-US" sz="1400" b="0" dirty="0">
              <a:solidFill>
                <a:srgbClr val="CDD6F4"/>
              </a:solidFill>
              <a:effectLst/>
              <a:latin typeface="Consolas" panose="020B0609020204030204" pitchFamily="49" charset="0"/>
            </a:endParaRPr>
          </a:p>
          <a:p>
            <a:r>
              <a:rPr lang="en-US" sz="1400" b="0" dirty="0">
                <a:solidFill>
                  <a:srgbClr val="CDD6F4"/>
                </a:solidFill>
                <a:effectLst/>
                <a:latin typeface="Consolas" panose="020B0609020204030204" pitchFamily="49" charset="0"/>
              </a:rPr>
              <a:t>            </a:t>
            </a:r>
            <a:r>
              <a:rPr lang="en-US" sz="1400" b="0" dirty="0">
                <a:solidFill>
                  <a:srgbClr val="CBA6F7"/>
                </a:solidFill>
                <a:effectLst/>
                <a:latin typeface="Consolas" panose="020B0609020204030204" pitchFamily="49" charset="0"/>
              </a:rPr>
              <a:t>if</a:t>
            </a:r>
            <a:r>
              <a:rPr lang="en-US" sz="1400" b="0" dirty="0">
                <a:solidFill>
                  <a:srgbClr val="CDD6F4"/>
                </a:solidFill>
                <a:effectLst/>
                <a:latin typeface="Consolas" panose="020B0609020204030204" pitchFamily="49" charset="0"/>
              </a:rPr>
              <a:t> </a:t>
            </a:r>
            <a:r>
              <a:rPr lang="en-US" sz="1400" i="1" dirty="0">
                <a:solidFill>
                  <a:srgbClr val="EBA0AC"/>
                </a:solidFill>
                <a:latin typeface="Consolas" panose="020B0609020204030204" pitchFamily="49" charset="0"/>
              </a:rPr>
              <a:t>previous </a:t>
            </a:r>
            <a:r>
              <a:rPr lang="en-US" sz="1400" dirty="0">
                <a:solidFill>
                  <a:srgbClr val="CDD6F4"/>
                </a:solidFill>
                <a:latin typeface="Consolas" panose="020B0609020204030204" pitchFamily="49" charset="0"/>
              </a:rPr>
              <a:t>has run out</a:t>
            </a:r>
          </a:p>
          <a:p>
            <a:r>
              <a:rPr lang="en-US" sz="1400" b="0" dirty="0">
                <a:solidFill>
                  <a:srgbClr val="CDD6F4"/>
                </a:solidFill>
                <a:effectLst/>
                <a:latin typeface="Consolas" panose="020B0609020204030204" pitchFamily="49" charset="0"/>
              </a:rPr>
              <a:t>                </a:t>
            </a:r>
            <a:r>
              <a:rPr lang="en-US" sz="1400" b="0" i="1" dirty="0" err="1">
                <a:solidFill>
                  <a:srgbClr val="89B4FA"/>
                </a:solidFill>
                <a:effectLst/>
                <a:latin typeface="Consolas" panose="020B0609020204030204" pitchFamily="49" charset="0"/>
              </a:rPr>
              <a:t>run_scheduler</a:t>
            </a:r>
            <a:r>
              <a:rPr lang="en-US" sz="1400" b="0" dirty="0">
                <a:solidFill>
                  <a:srgbClr val="9399B2"/>
                </a:solidFill>
                <a:effectLst/>
                <a:latin typeface="Consolas" panose="020B0609020204030204" pitchFamily="49" charset="0"/>
              </a:rPr>
              <a:t>(</a:t>
            </a:r>
            <a:r>
              <a:rPr lang="en-US" sz="1400" b="0" dirty="0">
                <a:solidFill>
                  <a:srgbClr val="CDD6F4"/>
                </a:solidFill>
                <a:effectLst/>
                <a:latin typeface="Consolas" panose="020B0609020204030204" pitchFamily="49" charset="0"/>
              </a:rPr>
              <a:t>READY</a:t>
            </a:r>
            <a:r>
              <a:rPr lang="en-US" sz="1400" b="0" dirty="0">
                <a:solidFill>
                  <a:srgbClr val="9399B2"/>
                </a:solidFill>
                <a:effectLst/>
                <a:latin typeface="Consolas" panose="020B0609020204030204" pitchFamily="49" charset="0"/>
              </a:rPr>
              <a:t>);</a:t>
            </a:r>
            <a:endParaRPr lang="en-US" sz="1400" b="0" dirty="0">
              <a:solidFill>
                <a:srgbClr val="CDD6F4"/>
              </a:solidFill>
              <a:effectLst/>
              <a:latin typeface="Consolas" panose="020B0609020204030204" pitchFamily="49" charset="0"/>
            </a:endParaRPr>
          </a:p>
          <a:p>
            <a:r>
              <a:rPr lang="en-US" sz="1400" b="0" dirty="0">
                <a:solidFill>
                  <a:srgbClr val="CDD6F4"/>
                </a:solidFill>
                <a:effectLst/>
                <a:latin typeface="Consolas" panose="020B0609020204030204" pitchFamily="49" charset="0"/>
              </a:rPr>
              <a:t>            </a:t>
            </a:r>
            <a:r>
              <a:rPr lang="en-US" sz="1400" b="0" dirty="0">
                <a:solidFill>
                  <a:srgbClr val="CBA6F7"/>
                </a:solidFill>
                <a:effectLst/>
                <a:latin typeface="Consolas" panose="020B0609020204030204" pitchFamily="49" charset="0"/>
              </a:rPr>
              <a:t>else</a:t>
            </a:r>
            <a:endParaRPr lang="en-US" sz="1400" b="0" dirty="0">
              <a:solidFill>
                <a:srgbClr val="CDD6F4"/>
              </a:solidFill>
              <a:effectLst/>
              <a:latin typeface="Consolas" panose="020B0609020204030204" pitchFamily="49" charset="0"/>
            </a:endParaRPr>
          </a:p>
          <a:p>
            <a:r>
              <a:rPr lang="en-US" sz="1400" b="0" dirty="0">
                <a:solidFill>
                  <a:srgbClr val="CDD6F4"/>
                </a:solidFill>
                <a:effectLst/>
                <a:latin typeface="Consolas" panose="020B0609020204030204" pitchFamily="49" charset="0"/>
              </a:rPr>
              <a:t>                set signal handler to normal handling</a:t>
            </a:r>
          </a:p>
          <a:p>
            <a:r>
              <a:rPr lang="en-US" sz="1400" b="0" dirty="0">
                <a:solidFill>
                  <a:srgbClr val="CDD6F4"/>
                </a:solidFill>
                <a:effectLst/>
                <a:latin typeface="Consolas" panose="020B0609020204030204" pitchFamily="49" charset="0"/>
              </a:rPr>
              <a:t>                enable timer and restore previous alarm</a:t>
            </a:r>
          </a:p>
          <a:p>
            <a:r>
              <a:rPr lang="en-US" sz="1400" b="0" dirty="0">
                <a:solidFill>
                  <a:srgbClr val="CDD6F4"/>
                </a:solidFill>
                <a:effectLst/>
                <a:latin typeface="Consolas" panose="020B0609020204030204" pitchFamily="49" charset="0"/>
              </a:rPr>
              <a:t>            </a:t>
            </a:r>
            <a:r>
              <a:rPr lang="en-US" sz="1400" b="0" dirty="0">
                <a:solidFill>
                  <a:srgbClr val="CBA6F7"/>
                </a:solidFill>
                <a:effectLst/>
                <a:latin typeface="Consolas" panose="020B0609020204030204" pitchFamily="49" charset="0"/>
              </a:rPr>
              <a:t>break</a:t>
            </a:r>
            <a:r>
              <a:rPr lang="en-US" sz="1400" b="0" dirty="0">
                <a:solidFill>
                  <a:srgbClr val="9399B2"/>
                </a:solidFill>
                <a:effectLst/>
                <a:latin typeface="Consolas" panose="020B0609020204030204" pitchFamily="49" charset="0"/>
              </a:rPr>
              <a:t>;</a:t>
            </a:r>
            <a:endParaRPr lang="en-US" sz="1400" b="0" dirty="0">
              <a:solidFill>
                <a:srgbClr val="CDD6F4"/>
              </a:solidFill>
              <a:effectLst/>
              <a:latin typeface="Consolas" panose="020B0609020204030204" pitchFamily="49" charset="0"/>
            </a:endParaRPr>
          </a:p>
          <a:p>
            <a:r>
              <a:rPr lang="en-US" sz="1400" b="0" dirty="0">
                <a:solidFill>
                  <a:srgbClr val="CDD6F4"/>
                </a:solidFill>
                <a:effectLst/>
                <a:latin typeface="Consolas" panose="020B0609020204030204" pitchFamily="49" charset="0"/>
              </a:rPr>
              <a:t>        </a:t>
            </a:r>
            <a:r>
              <a:rPr lang="en-US" sz="1400" b="0" dirty="0">
                <a:solidFill>
                  <a:srgbClr val="CBA6F7"/>
                </a:solidFill>
                <a:effectLst/>
                <a:latin typeface="Consolas" panose="020B0609020204030204" pitchFamily="49" charset="0"/>
              </a:rPr>
              <a:t>case</a:t>
            </a:r>
            <a:r>
              <a:rPr lang="en-US" sz="1400" b="0" dirty="0">
                <a:solidFill>
                  <a:srgbClr val="CDD6F4"/>
                </a:solidFill>
                <a:effectLst/>
                <a:latin typeface="Consolas" panose="020B0609020204030204" pitchFamily="49" charset="0"/>
              </a:rPr>
              <a:t> RESET</a:t>
            </a:r>
            <a:r>
              <a:rPr lang="en-US" sz="1400" b="0" dirty="0">
                <a:solidFill>
                  <a:srgbClr val="9399B2"/>
                </a:solidFill>
                <a:effectLst/>
                <a:latin typeface="Consolas" panose="020B0609020204030204" pitchFamily="49" charset="0"/>
              </a:rPr>
              <a:t>:</a:t>
            </a:r>
            <a:endParaRPr lang="en-US" sz="1400" b="0" dirty="0">
              <a:solidFill>
                <a:srgbClr val="CDD6F4"/>
              </a:solidFill>
              <a:effectLst/>
              <a:latin typeface="Consolas" panose="020B0609020204030204" pitchFamily="49" charset="0"/>
            </a:endParaRPr>
          </a:p>
          <a:p>
            <a:r>
              <a:rPr lang="en-US" sz="1400" b="0" dirty="0">
                <a:solidFill>
                  <a:srgbClr val="CDD6F4"/>
                </a:solidFill>
                <a:effectLst/>
                <a:latin typeface="Consolas" panose="020B0609020204030204" pitchFamily="49" charset="0"/>
              </a:rPr>
              <a:t>            set signal handler to normal handling</a:t>
            </a:r>
          </a:p>
          <a:p>
            <a:r>
              <a:rPr lang="en-US" sz="1400" b="0" dirty="0">
                <a:solidFill>
                  <a:srgbClr val="CDD6F4"/>
                </a:solidFill>
                <a:effectLst/>
                <a:latin typeface="Consolas" panose="020B0609020204030204" pitchFamily="49" charset="0"/>
              </a:rPr>
              <a:t>            enable timer and reset alarm</a:t>
            </a:r>
          </a:p>
          <a:p>
            <a:r>
              <a:rPr lang="en-US" sz="1400" b="0" dirty="0">
                <a:solidFill>
                  <a:srgbClr val="CDD6F4"/>
                </a:solidFill>
                <a:effectLst/>
                <a:latin typeface="Consolas" panose="020B0609020204030204" pitchFamily="49" charset="0"/>
              </a:rPr>
              <a:t>            </a:t>
            </a:r>
            <a:r>
              <a:rPr lang="en-US" sz="1400" b="0" dirty="0">
                <a:solidFill>
                  <a:srgbClr val="CBA6F7"/>
                </a:solidFill>
                <a:effectLst/>
                <a:latin typeface="Consolas" panose="020B0609020204030204" pitchFamily="49" charset="0"/>
              </a:rPr>
              <a:t>break</a:t>
            </a:r>
            <a:r>
              <a:rPr lang="en-US" sz="1400" b="0" dirty="0">
                <a:solidFill>
                  <a:srgbClr val="9399B2"/>
                </a:solidFill>
                <a:effectLst/>
                <a:latin typeface="Consolas" panose="020B0609020204030204" pitchFamily="49" charset="0"/>
              </a:rPr>
              <a:t>;</a:t>
            </a:r>
            <a:endParaRPr lang="en-US" sz="1400" b="0" dirty="0">
              <a:solidFill>
                <a:srgbClr val="CDD6F4"/>
              </a:solidFill>
              <a:effectLst/>
              <a:latin typeface="Consolas" panose="020B0609020204030204" pitchFamily="49" charset="0"/>
            </a:endParaRPr>
          </a:p>
          <a:p>
            <a:r>
              <a:rPr lang="en-US" sz="1400" b="0" dirty="0">
                <a:solidFill>
                  <a:srgbClr val="CDD6F4"/>
                </a:solidFill>
                <a:effectLst/>
                <a:latin typeface="Consolas" panose="020B0609020204030204" pitchFamily="49" charset="0"/>
              </a:rPr>
              <a:t>    </a:t>
            </a:r>
            <a:r>
              <a:rPr lang="en-US" sz="1400" b="0" dirty="0">
                <a:solidFill>
                  <a:srgbClr val="9399B2"/>
                </a:solidFill>
                <a:effectLst/>
                <a:latin typeface="Consolas" panose="020B0609020204030204" pitchFamily="49" charset="0"/>
              </a:rPr>
              <a:t>}</a:t>
            </a:r>
            <a:endParaRPr lang="en-US" sz="1400" b="0" dirty="0">
              <a:solidFill>
                <a:srgbClr val="CDD6F4"/>
              </a:solidFill>
              <a:effectLst/>
              <a:latin typeface="Consolas" panose="020B0609020204030204" pitchFamily="49" charset="0"/>
            </a:endParaRPr>
          </a:p>
          <a:p>
            <a:r>
              <a:rPr lang="en-US" sz="1400" b="0" dirty="0">
                <a:solidFill>
                  <a:srgbClr val="9399B2"/>
                </a:solidFill>
                <a:effectLst/>
                <a:latin typeface="Consolas" panose="020B0609020204030204" pitchFamily="49" charset="0"/>
              </a:rPr>
              <a:t>}</a:t>
            </a:r>
            <a:endParaRPr lang="en-US" sz="1400" b="0" dirty="0">
              <a:solidFill>
                <a:srgbClr val="CDD6F4"/>
              </a:solidFill>
              <a:effectLst/>
              <a:latin typeface="Consolas" panose="020B0609020204030204" pitchFamily="49" charset="0"/>
            </a:endParaRPr>
          </a:p>
        </p:txBody>
      </p:sp>
      <p:sp>
        <p:nvSpPr>
          <p:cNvPr id="4" name="TextBox 3">
            <a:extLst>
              <a:ext uri="{FF2B5EF4-FFF2-40B4-BE49-F238E27FC236}">
                <a16:creationId xmlns:a16="http://schemas.microsoft.com/office/drawing/2014/main" id="{60C38F5D-92FC-DAF4-39BF-D08015EDB8B5}"/>
              </a:ext>
            </a:extLst>
          </p:cNvPr>
          <p:cNvSpPr txBox="1"/>
          <p:nvPr/>
        </p:nvSpPr>
        <p:spPr>
          <a:xfrm>
            <a:off x="838200" y="5879442"/>
            <a:ext cx="7405810" cy="369332"/>
          </a:xfrm>
          <a:prstGeom prst="rect">
            <a:avLst/>
          </a:prstGeom>
          <a:noFill/>
        </p:spPr>
        <p:txBody>
          <a:bodyPr wrap="none" rtlCol="0">
            <a:spAutoFit/>
          </a:bodyPr>
          <a:lstStyle/>
          <a:p>
            <a:r>
              <a:rPr lang="en-US" dirty="0"/>
              <a:t>This function performs an operation on the timer and the signal handling. </a:t>
            </a:r>
          </a:p>
        </p:txBody>
      </p:sp>
    </p:spTree>
    <p:extLst>
      <p:ext uri="{BB962C8B-B14F-4D97-AF65-F5344CB8AC3E}">
        <p14:creationId xmlns:p14="http://schemas.microsoft.com/office/powerpoint/2010/main" val="14417362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0A66E-F58D-345B-CD05-FA202D354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7234B9-3E9A-F7E8-8906-129AF706F93E}"/>
              </a:ext>
            </a:extLst>
          </p:cNvPr>
          <p:cNvSpPr>
            <a:spLocks noGrp="1"/>
          </p:cNvSpPr>
          <p:nvPr>
            <p:ph type="title"/>
          </p:nvPr>
        </p:nvSpPr>
        <p:spPr>
          <a:xfrm>
            <a:off x="838200" y="337015"/>
            <a:ext cx="10515600" cy="1325563"/>
          </a:xfrm>
        </p:spPr>
        <p:txBody>
          <a:bodyPr/>
          <a:lstStyle/>
          <a:p>
            <a:r>
              <a:rPr lang="en-US" b="1" dirty="0"/>
              <a:t>Assignment 2: </a:t>
            </a:r>
            <a:r>
              <a:rPr lang="en-US" dirty="0"/>
              <a:t>Utility functions</a:t>
            </a:r>
          </a:p>
        </p:txBody>
      </p:sp>
      <p:sp>
        <p:nvSpPr>
          <p:cNvPr id="3" name="TextBox 2">
            <a:extLst>
              <a:ext uri="{FF2B5EF4-FFF2-40B4-BE49-F238E27FC236}">
                <a16:creationId xmlns:a16="http://schemas.microsoft.com/office/drawing/2014/main" id="{B64435B1-4625-F653-6DC5-E76E369A8CDD}"/>
              </a:ext>
            </a:extLst>
          </p:cNvPr>
          <p:cNvSpPr txBox="1"/>
          <p:nvPr/>
        </p:nvSpPr>
        <p:spPr>
          <a:xfrm>
            <a:off x="838200" y="1662578"/>
            <a:ext cx="6263253" cy="3693319"/>
          </a:xfrm>
          <a:prstGeom prst="rect">
            <a:avLst/>
          </a:prstGeom>
          <a:noFill/>
        </p:spPr>
        <p:txBody>
          <a:bodyPr wrap="none" rtlCol="0">
            <a:spAutoFit/>
          </a:bodyPr>
          <a:lstStyle/>
          <a:p>
            <a:r>
              <a:rPr lang="en-US" b="0" dirty="0">
                <a:solidFill>
                  <a:srgbClr val="CBA6F7"/>
                </a:solidFill>
                <a:effectLst/>
                <a:latin typeface="Consolas" panose="020B0609020204030204" pitchFamily="49" charset="0"/>
              </a:rPr>
              <a:t>void</a:t>
            </a:r>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sleep_until</a:t>
            </a:r>
            <a:r>
              <a:rPr lang="en-US" b="0" dirty="0">
                <a:solidFill>
                  <a:srgbClr val="9399B2"/>
                </a:solidFill>
                <a:effectLst/>
                <a:latin typeface="Consolas" panose="020B0609020204030204" pitchFamily="49" charset="0"/>
              </a:rPr>
              <a:t>(</a:t>
            </a:r>
            <a:r>
              <a:rPr lang="en-US" b="0" dirty="0">
                <a:solidFill>
                  <a:srgbClr val="CBA6F7"/>
                </a:solidFill>
                <a:effectLst/>
                <a:latin typeface="Consolas" panose="020B0609020204030204" pitchFamily="49" charset="0"/>
              </a:rPr>
              <a:t>unsigned</a:t>
            </a:r>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long</a:t>
            </a:r>
            <a:r>
              <a:rPr lang="en-US" b="0" dirty="0">
                <a:solidFill>
                  <a:srgbClr val="CDD6F4"/>
                </a:solidFill>
                <a:effectLst/>
                <a:latin typeface="Consolas" panose="020B0609020204030204" pitchFamily="49" charset="0"/>
              </a:rPr>
              <a:t> </a:t>
            </a:r>
            <a:r>
              <a:rPr lang="en-US" b="0" dirty="0" err="1">
                <a:solidFill>
                  <a:srgbClr val="CBA6F7"/>
                </a:solidFill>
                <a:effectLst/>
                <a:latin typeface="Consolas" panose="020B0609020204030204" pitchFamily="49" charset="0"/>
              </a:rPr>
              <a:t>long</a:t>
            </a:r>
            <a:r>
              <a:rPr lang="en-US" b="0" dirty="0">
                <a:solidFill>
                  <a:srgbClr val="CDD6F4"/>
                </a:solidFill>
                <a:effectLst/>
                <a:latin typeface="Consolas" panose="020B0609020204030204" pitchFamily="49" charset="0"/>
              </a:rPr>
              <a:t> </a:t>
            </a:r>
            <a:r>
              <a:rPr lang="en-US" b="0" i="1" dirty="0">
                <a:solidFill>
                  <a:srgbClr val="EBA0AC"/>
                </a:solidFill>
                <a:effectLst/>
                <a:latin typeface="Consolas" panose="020B0609020204030204" pitchFamily="49" charset="0"/>
              </a:rPr>
              <a:t>timestamp</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calculate sleep amount based on </a:t>
            </a:r>
            <a:r>
              <a:rPr lang="en-US" i="1" dirty="0">
                <a:solidFill>
                  <a:srgbClr val="EBA0AC"/>
                </a:solidFill>
                <a:latin typeface="Consolas" panose="020B0609020204030204" pitchFamily="49" charset="0"/>
              </a:rPr>
              <a:t>timestamp</a:t>
            </a:r>
          </a:p>
          <a:p>
            <a:br>
              <a:rPr lang="en-US" b="0" dirty="0">
                <a:solidFill>
                  <a:srgbClr val="CDD6F4"/>
                </a:solidFill>
                <a:effectLst/>
                <a:latin typeface="Consolas" panose="020B0609020204030204" pitchFamily="49" charset="0"/>
              </a:rPr>
            </a:br>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while</a:t>
            </a:r>
            <a:r>
              <a:rPr lang="en-US" b="0" dirty="0">
                <a:solidFill>
                  <a:srgbClr val="CDD6F4"/>
                </a:solidFill>
                <a:effectLst/>
                <a:latin typeface="Consolas" panose="020B0609020204030204" pitchFamily="49" charset="0"/>
              </a:rPr>
              <a:t> sleep amount is not </a:t>
            </a:r>
            <a:r>
              <a:rPr lang="en-US" b="0" dirty="0">
                <a:solidFill>
                  <a:srgbClr val="FAB387"/>
                </a:solidFill>
                <a:effectLst/>
                <a:latin typeface="Consolas" panose="020B0609020204030204" pitchFamily="49" charset="0"/>
              </a:rPr>
              <a:t>0</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usleep</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sleep amount</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recalculate sleep amount</a:t>
            </a:r>
          </a:p>
          <a:p>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endParaRPr lang="en-US" b="0" dirty="0">
              <a:solidFill>
                <a:srgbClr val="CDD6F4"/>
              </a:solidFill>
              <a:effectLst/>
              <a:latin typeface="Consolas" panose="020B0609020204030204" pitchFamily="49" charset="0"/>
            </a:endParaRPr>
          </a:p>
          <a:p>
            <a:br>
              <a:rPr lang="en-US" b="0" dirty="0">
                <a:solidFill>
                  <a:srgbClr val="CDD6F4"/>
                </a:solidFill>
                <a:effectLst/>
                <a:latin typeface="Consolas" panose="020B0609020204030204" pitchFamily="49" charset="0"/>
              </a:rPr>
            </a:br>
            <a:r>
              <a:rPr lang="en-US" b="0" dirty="0">
                <a:solidFill>
                  <a:srgbClr val="CBA6F7"/>
                </a:solidFill>
                <a:effectLst/>
                <a:latin typeface="Consolas" panose="020B0609020204030204" pitchFamily="49" charset="0"/>
              </a:rPr>
              <a:t>void</a:t>
            </a:r>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thread_timeout_handler</a:t>
            </a:r>
            <a:r>
              <a:rPr lang="en-US" b="0" dirty="0">
                <a:solidFill>
                  <a:srgbClr val="9399B2"/>
                </a:solidFill>
                <a:effectLst/>
                <a:latin typeface="Consolas" panose="020B0609020204030204" pitchFamily="49" charset="0"/>
              </a:rPr>
              <a:t>(</a:t>
            </a:r>
            <a:r>
              <a:rPr lang="en-US" b="0" dirty="0">
                <a:solidFill>
                  <a:srgbClr val="CBA6F7"/>
                </a:solidFill>
                <a:effectLst/>
                <a:latin typeface="Consolas" panose="020B0609020204030204" pitchFamily="49" charset="0"/>
              </a:rPr>
              <a:t>int</a:t>
            </a:r>
            <a:r>
              <a:rPr lang="en-US" b="0" dirty="0">
                <a:solidFill>
                  <a:srgbClr val="CDD6F4"/>
                </a:solidFill>
                <a:effectLst/>
                <a:latin typeface="Consolas" panose="020B0609020204030204" pitchFamily="49" charset="0"/>
              </a:rPr>
              <a:t> </a:t>
            </a:r>
            <a:r>
              <a:rPr lang="en-US" b="0" i="1" dirty="0">
                <a:solidFill>
                  <a:srgbClr val="EBA0AC"/>
                </a:solidFill>
                <a:effectLst/>
                <a:latin typeface="Consolas" panose="020B0609020204030204" pitchFamily="49" charset="0"/>
              </a:rPr>
              <a:t>signum</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run_scheduler</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state of current thread</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p:txBody>
      </p:sp>
    </p:spTree>
    <p:extLst>
      <p:ext uri="{BB962C8B-B14F-4D97-AF65-F5344CB8AC3E}">
        <p14:creationId xmlns:p14="http://schemas.microsoft.com/office/powerpoint/2010/main" val="40037966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6F76B-979B-83FF-5760-16FFD472BB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77D175-2618-E895-C43E-EBA15949C10E}"/>
              </a:ext>
            </a:extLst>
          </p:cNvPr>
          <p:cNvSpPr>
            <a:spLocks noGrp="1"/>
          </p:cNvSpPr>
          <p:nvPr>
            <p:ph type="title"/>
          </p:nvPr>
        </p:nvSpPr>
        <p:spPr>
          <a:xfrm>
            <a:off x="838200" y="337015"/>
            <a:ext cx="10515600" cy="1325563"/>
          </a:xfrm>
        </p:spPr>
        <p:txBody>
          <a:bodyPr/>
          <a:lstStyle/>
          <a:p>
            <a:r>
              <a:rPr lang="en-US" b="1" dirty="0"/>
              <a:t>Assignment 2: </a:t>
            </a:r>
            <a:r>
              <a:rPr lang="en-US" dirty="0"/>
              <a:t>API functions</a:t>
            </a:r>
          </a:p>
        </p:txBody>
      </p:sp>
      <p:sp>
        <p:nvSpPr>
          <p:cNvPr id="4" name="TextBox 3">
            <a:extLst>
              <a:ext uri="{FF2B5EF4-FFF2-40B4-BE49-F238E27FC236}">
                <a16:creationId xmlns:a16="http://schemas.microsoft.com/office/drawing/2014/main" id="{7BE91A84-60E2-D784-868B-321B3B0DB80E}"/>
              </a:ext>
            </a:extLst>
          </p:cNvPr>
          <p:cNvSpPr txBox="1"/>
          <p:nvPr/>
        </p:nvSpPr>
        <p:spPr>
          <a:xfrm>
            <a:off x="838200" y="1662578"/>
            <a:ext cx="5123518" cy="3416320"/>
          </a:xfrm>
          <a:prstGeom prst="rect">
            <a:avLst/>
          </a:prstGeom>
          <a:noFill/>
        </p:spPr>
        <p:txBody>
          <a:bodyPr wrap="none" rtlCol="0">
            <a:spAutoFit/>
          </a:bodyPr>
          <a:lstStyle/>
          <a:p>
            <a:r>
              <a:rPr lang="en-US" b="0" dirty="0">
                <a:solidFill>
                  <a:srgbClr val="CBA6F7"/>
                </a:solidFill>
                <a:effectLst/>
                <a:latin typeface="Consolas" panose="020B0609020204030204" pitchFamily="49" charset="0"/>
              </a:rPr>
              <a:t>int</a:t>
            </a:r>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mythreads_init</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initialize threads list</a:t>
            </a:r>
          </a:p>
          <a:p>
            <a:r>
              <a:rPr lang="en-US" b="0" dirty="0">
                <a:solidFill>
                  <a:srgbClr val="CDD6F4"/>
                </a:solidFill>
                <a:effectLst/>
                <a:latin typeface="Consolas" panose="020B0609020204030204" pitchFamily="49" charset="0"/>
              </a:rPr>
              <a:t>    initialize semaphore list</a:t>
            </a:r>
          </a:p>
          <a:p>
            <a:r>
              <a:rPr lang="en-US" b="0" dirty="0">
                <a:solidFill>
                  <a:srgbClr val="CDD6F4"/>
                </a:solidFill>
                <a:effectLst/>
                <a:latin typeface="Consolas" panose="020B0609020204030204" pitchFamily="49" charset="0"/>
              </a:rPr>
              <a:t>    add main thread to the list</a:t>
            </a:r>
          </a:p>
          <a:p>
            <a:r>
              <a:rPr lang="en-US" b="0" dirty="0">
                <a:solidFill>
                  <a:srgbClr val="CDD6F4"/>
                </a:solidFill>
                <a:effectLst/>
                <a:latin typeface="Consolas" panose="020B0609020204030204" pitchFamily="49" charset="0"/>
              </a:rPr>
              <a:t>    </a:t>
            </a:r>
          </a:p>
          <a:p>
            <a:r>
              <a:rPr lang="en-US" b="0" dirty="0">
                <a:solidFill>
                  <a:srgbClr val="CDD6F4"/>
                </a:solidFill>
                <a:effectLst/>
                <a:latin typeface="Consolas" panose="020B0609020204030204" pitchFamily="49" charset="0"/>
              </a:rPr>
              <a:t>    initialize alarm and signal handler</a:t>
            </a:r>
          </a:p>
          <a:p>
            <a:r>
              <a:rPr lang="en-US" b="0" dirty="0">
                <a:solidFill>
                  <a:srgbClr val="CDD6F4"/>
                </a:solidFill>
                <a:effectLst/>
                <a:latin typeface="Consolas" panose="020B0609020204030204" pitchFamily="49" charset="0"/>
              </a:rPr>
              <a:t>    disarm the alarm</a:t>
            </a:r>
          </a:p>
          <a:p>
            <a:br>
              <a:rPr lang="en-US" b="0" dirty="0">
                <a:solidFill>
                  <a:srgbClr val="CDD6F4"/>
                </a:solidFill>
                <a:effectLst/>
                <a:latin typeface="Consolas" panose="020B0609020204030204" pitchFamily="49" charset="0"/>
              </a:rPr>
            </a:br>
            <a:r>
              <a:rPr lang="en-US" b="0" dirty="0">
                <a:solidFill>
                  <a:srgbClr val="CDD6F4"/>
                </a:solidFill>
                <a:effectLst/>
                <a:latin typeface="Consolas" panose="020B0609020204030204" pitchFamily="49" charset="0"/>
              </a:rPr>
              <a:t>    initialize main thread fields</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return</a:t>
            </a:r>
            <a:r>
              <a:rPr lang="en-US" b="0" dirty="0">
                <a:solidFill>
                  <a:srgbClr val="CDD6F4"/>
                </a:solidFill>
                <a:effectLst/>
                <a:latin typeface="Consolas" panose="020B0609020204030204" pitchFamily="49" charset="0"/>
              </a:rPr>
              <a:t> </a:t>
            </a:r>
            <a:r>
              <a:rPr lang="en-US" b="0" dirty="0">
                <a:solidFill>
                  <a:srgbClr val="FAB387"/>
                </a:solidFill>
                <a:effectLst/>
                <a:latin typeface="Consolas" panose="020B0609020204030204" pitchFamily="49" charset="0"/>
              </a:rPr>
              <a:t>1</a:t>
            </a:r>
            <a:endParaRPr lang="en-US" b="0" dirty="0">
              <a:solidFill>
                <a:srgbClr val="CDD6F4"/>
              </a:solidFill>
              <a:effectLst/>
              <a:latin typeface="Consolas" panose="020B0609020204030204" pitchFamily="49" charset="0"/>
            </a:endParaRPr>
          </a:p>
          <a:p>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endParaRPr lang="en-US" dirty="0"/>
          </a:p>
        </p:txBody>
      </p:sp>
      <p:sp>
        <p:nvSpPr>
          <p:cNvPr id="5" name="TextBox 4">
            <a:extLst>
              <a:ext uri="{FF2B5EF4-FFF2-40B4-BE49-F238E27FC236}">
                <a16:creationId xmlns:a16="http://schemas.microsoft.com/office/drawing/2014/main" id="{13695449-C52F-BC6E-2CEA-BD12EF166953}"/>
              </a:ext>
            </a:extLst>
          </p:cNvPr>
          <p:cNvSpPr txBox="1"/>
          <p:nvPr/>
        </p:nvSpPr>
        <p:spPr>
          <a:xfrm>
            <a:off x="6863468" y="1662578"/>
            <a:ext cx="3477234" cy="1477328"/>
          </a:xfrm>
          <a:prstGeom prst="rect">
            <a:avLst/>
          </a:prstGeom>
          <a:noFill/>
        </p:spPr>
        <p:txBody>
          <a:bodyPr wrap="none" rtlCol="0">
            <a:spAutoFit/>
          </a:bodyPr>
          <a:lstStyle/>
          <a:p>
            <a:r>
              <a:rPr lang="en-US" b="0" dirty="0">
                <a:solidFill>
                  <a:srgbClr val="CBA6F7"/>
                </a:solidFill>
                <a:effectLst/>
                <a:latin typeface="Consolas" panose="020B0609020204030204" pitchFamily="49" charset="0"/>
              </a:rPr>
              <a:t>void</a:t>
            </a:r>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mythreads_exit</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p>
          <a:p>
            <a:r>
              <a:rPr lang="en-US" dirty="0">
                <a:solidFill>
                  <a:srgbClr val="9399B2"/>
                </a:solidFill>
                <a:latin typeface="Consolas" panose="020B0609020204030204" pitchFamily="49" charset="0"/>
              </a:rPr>
              <a:t>    </a:t>
            </a:r>
            <a:r>
              <a:rPr lang="en-US" dirty="0">
                <a:solidFill>
                  <a:srgbClr val="CDD6F4"/>
                </a:solidFill>
                <a:latin typeface="Consolas" panose="020B0609020204030204" pitchFamily="49" charset="0"/>
              </a:rPr>
              <a:t>destroy main coroutine</a:t>
            </a:r>
          </a:p>
          <a:p>
            <a:r>
              <a:rPr lang="en-US" b="0" dirty="0">
                <a:solidFill>
                  <a:srgbClr val="CDD6F4"/>
                </a:solidFill>
                <a:effectLst/>
                <a:latin typeface="Consolas" panose="020B0609020204030204" pitchFamily="49" charset="0"/>
              </a:rPr>
              <a:t>    </a:t>
            </a:r>
            <a:r>
              <a:rPr lang="en-US" dirty="0">
                <a:solidFill>
                  <a:srgbClr val="CDD6F4"/>
                </a:solidFill>
                <a:latin typeface="Consolas" panose="020B0609020204030204" pitchFamily="49" charset="0"/>
              </a:rPr>
              <a:t>destroy threads list</a:t>
            </a:r>
          </a:p>
          <a:p>
            <a:r>
              <a:rPr lang="en-US" i="1" dirty="0">
                <a:solidFill>
                  <a:srgbClr val="89B4FA"/>
                </a:solidFill>
                <a:latin typeface="Consolas" panose="020B0609020204030204" pitchFamily="49" charset="0"/>
              </a:rPr>
              <a:t>    </a:t>
            </a:r>
            <a:r>
              <a:rPr lang="en-US" dirty="0">
                <a:solidFill>
                  <a:srgbClr val="CDD6F4"/>
                </a:solidFill>
                <a:latin typeface="Consolas" panose="020B0609020204030204" pitchFamily="49" charset="0"/>
              </a:rPr>
              <a:t>destroy semaphore list</a:t>
            </a:r>
          </a:p>
          <a:p>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p:txBody>
      </p:sp>
    </p:spTree>
    <p:extLst>
      <p:ext uri="{BB962C8B-B14F-4D97-AF65-F5344CB8AC3E}">
        <p14:creationId xmlns:p14="http://schemas.microsoft.com/office/powerpoint/2010/main" val="1813538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98319-30AF-F140-091C-9C7102DA14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87C336-8004-82F3-372B-D6EECC41647D}"/>
              </a:ext>
            </a:extLst>
          </p:cNvPr>
          <p:cNvSpPr>
            <a:spLocks noGrp="1"/>
          </p:cNvSpPr>
          <p:nvPr>
            <p:ph type="title"/>
          </p:nvPr>
        </p:nvSpPr>
        <p:spPr>
          <a:xfrm>
            <a:off x="838200" y="337015"/>
            <a:ext cx="10515600" cy="1325563"/>
          </a:xfrm>
        </p:spPr>
        <p:txBody>
          <a:bodyPr/>
          <a:lstStyle/>
          <a:p>
            <a:r>
              <a:rPr lang="en-US" b="1" dirty="0"/>
              <a:t>Assignment 2: </a:t>
            </a:r>
            <a:r>
              <a:rPr lang="en-US" dirty="0"/>
              <a:t>API functions</a:t>
            </a:r>
          </a:p>
        </p:txBody>
      </p:sp>
      <p:sp>
        <p:nvSpPr>
          <p:cNvPr id="4" name="TextBox 3">
            <a:extLst>
              <a:ext uri="{FF2B5EF4-FFF2-40B4-BE49-F238E27FC236}">
                <a16:creationId xmlns:a16="http://schemas.microsoft.com/office/drawing/2014/main" id="{E5F30F09-698E-DDF5-5E01-A04D4B7F1E80}"/>
              </a:ext>
            </a:extLst>
          </p:cNvPr>
          <p:cNvSpPr txBox="1"/>
          <p:nvPr/>
        </p:nvSpPr>
        <p:spPr>
          <a:xfrm>
            <a:off x="838200" y="1662578"/>
            <a:ext cx="3350597" cy="1200329"/>
          </a:xfrm>
          <a:prstGeom prst="rect">
            <a:avLst/>
          </a:prstGeom>
          <a:noFill/>
        </p:spPr>
        <p:txBody>
          <a:bodyPr wrap="none" rtlCol="0">
            <a:spAutoFit/>
          </a:bodyPr>
          <a:lstStyle/>
          <a:p>
            <a:r>
              <a:rPr lang="en-US" b="0" dirty="0">
                <a:solidFill>
                  <a:srgbClr val="CBA6F7"/>
                </a:solidFill>
                <a:effectLst/>
                <a:latin typeface="Consolas" panose="020B0609020204030204" pitchFamily="49" charset="0"/>
              </a:rPr>
              <a:t>int</a:t>
            </a:r>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mythreads_yield</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run_scheduler</a:t>
            </a:r>
            <a:r>
              <a:rPr lang="en-US" b="0" dirty="0">
                <a:solidFill>
                  <a:srgbClr val="9399B2"/>
                </a:solidFill>
                <a:effectLst/>
                <a:latin typeface="Consolas" panose="020B0609020204030204" pitchFamily="49" charset="0"/>
              </a:rPr>
              <a:t>(</a:t>
            </a:r>
            <a:r>
              <a:rPr lang="en-US" b="0" dirty="0">
                <a:solidFill>
                  <a:srgbClr val="94E2D5"/>
                </a:solidFill>
                <a:effectLst/>
                <a:latin typeface="Consolas" panose="020B0609020204030204" pitchFamily="49" charset="0"/>
              </a:rPr>
              <a:t>READY</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return</a:t>
            </a:r>
            <a:r>
              <a:rPr lang="en-US" b="0" dirty="0">
                <a:solidFill>
                  <a:srgbClr val="CDD6F4"/>
                </a:solidFill>
                <a:effectLst/>
                <a:latin typeface="Consolas" panose="020B0609020204030204" pitchFamily="49" charset="0"/>
              </a:rPr>
              <a:t> </a:t>
            </a:r>
            <a:r>
              <a:rPr lang="en-US" b="0" dirty="0">
                <a:solidFill>
                  <a:srgbClr val="FAB387"/>
                </a:solidFill>
                <a:effectLst/>
                <a:latin typeface="Consolas" panose="020B0609020204030204" pitchFamily="49" charset="0"/>
              </a:rPr>
              <a:t>1</a:t>
            </a:r>
            <a:endParaRPr lang="en-US" b="0" dirty="0">
              <a:solidFill>
                <a:srgbClr val="CDD6F4"/>
              </a:solidFill>
              <a:effectLst/>
              <a:latin typeface="Consolas" panose="020B0609020204030204" pitchFamily="49" charset="0"/>
            </a:endParaRPr>
          </a:p>
          <a:p>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p:txBody>
      </p:sp>
      <p:sp>
        <p:nvSpPr>
          <p:cNvPr id="5" name="TextBox 4">
            <a:extLst>
              <a:ext uri="{FF2B5EF4-FFF2-40B4-BE49-F238E27FC236}">
                <a16:creationId xmlns:a16="http://schemas.microsoft.com/office/drawing/2014/main" id="{1B375E6B-253C-FC94-A82D-63FB911E0C5A}"/>
              </a:ext>
            </a:extLst>
          </p:cNvPr>
          <p:cNvSpPr txBox="1"/>
          <p:nvPr/>
        </p:nvSpPr>
        <p:spPr>
          <a:xfrm>
            <a:off x="5345818" y="1662578"/>
            <a:ext cx="6136616" cy="2031325"/>
          </a:xfrm>
          <a:prstGeom prst="rect">
            <a:avLst/>
          </a:prstGeom>
          <a:noFill/>
        </p:spPr>
        <p:txBody>
          <a:bodyPr wrap="none" rtlCol="0">
            <a:spAutoFit/>
          </a:bodyPr>
          <a:lstStyle/>
          <a:p>
            <a:r>
              <a:rPr lang="en-US" b="0" dirty="0">
                <a:solidFill>
                  <a:srgbClr val="CBA6F7"/>
                </a:solidFill>
                <a:effectLst/>
                <a:latin typeface="Consolas" panose="020B0609020204030204" pitchFamily="49" charset="0"/>
              </a:rPr>
              <a:t>int</a:t>
            </a:r>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mythreads_sleep</a:t>
            </a:r>
            <a:r>
              <a:rPr lang="en-US" b="0" dirty="0">
                <a:solidFill>
                  <a:srgbClr val="9399B2"/>
                </a:solidFill>
                <a:effectLst/>
                <a:latin typeface="Consolas" panose="020B0609020204030204" pitchFamily="49" charset="0"/>
              </a:rPr>
              <a:t>(</a:t>
            </a:r>
            <a:r>
              <a:rPr lang="en-US" b="0" dirty="0">
                <a:solidFill>
                  <a:srgbClr val="CBA6F7"/>
                </a:solidFill>
                <a:effectLst/>
                <a:latin typeface="Consolas" panose="020B0609020204030204" pitchFamily="49" charset="0"/>
              </a:rPr>
              <a:t>int</a:t>
            </a:r>
            <a:r>
              <a:rPr lang="en-US" b="0" dirty="0">
                <a:solidFill>
                  <a:srgbClr val="CDD6F4"/>
                </a:solidFill>
                <a:effectLst/>
                <a:latin typeface="Consolas" panose="020B0609020204030204" pitchFamily="49" charset="0"/>
              </a:rPr>
              <a:t> </a:t>
            </a:r>
            <a:r>
              <a:rPr lang="en-US" b="0" i="1" dirty="0">
                <a:solidFill>
                  <a:srgbClr val="EBA0AC"/>
                </a:solidFill>
                <a:effectLst/>
                <a:latin typeface="Consolas" panose="020B0609020204030204" pitchFamily="49" charset="0"/>
              </a:rPr>
              <a:t>secs</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disable alarm</a:t>
            </a:r>
          </a:p>
          <a:p>
            <a:r>
              <a:rPr lang="en-US" b="0" dirty="0">
                <a:solidFill>
                  <a:srgbClr val="CDD6F4"/>
                </a:solidFill>
                <a:effectLst/>
                <a:latin typeface="Consolas" panose="020B0609020204030204" pitchFamily="49" charset="0"/>
              </a:rPr>
              <a:t>    set sleep until timestamp on current thread</a:t>
            </a:r>
          </a:p>
          <a:p>
            <a:r>
              <a:rPr lang="en-US" b="0" dirty="0">
                <a:solidFill>
                  <a:srgbClr val="CDD6F4"/>
                </a:solidFill>
                <a:effectLst/>
                <a:latin typeface="Consolas" panose="020B0609020204030204" pitchFamily="49" charset="0"/>
              </a:rPr>
              <a:t>    </a:t>
            </a:r>
          </a:p>
          <a:p>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run_scheduler</a:t>
            </a:r>
            <a:r>
              <a:rPr lang="en-US" b="0" dirty="0">
                <a:solidFill>
                  <a:srgbClr val="9399B2"/>
                </a:solidFill>
                <a:effectLst/>
                <a:latin typeface="Consolas" panose="020B0609020204030204" pitchFamily="49" charset="0"/>
              </a:rPr>
              <a:t>(</a:t>
            </a:r>
            <a:r>
              <a:rPr lang="en-US" b="0" dirty="0">
                <a:solidFill>
                  <a:srgbClr val="94E2D5"/>
                </a:solidFill>
                <a:effectLst/>
                <a:latin typeface="Consolas" panose="020B0609020204030204" pitchFamily="49" charset="0"/>
              </a:rPr>
              <a:t>SLEEPING</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return</a:t>
            </a:r>
            <a:r>
              <a:rPr lang="en-US" b="0" dirty="0">
                <a:solidFill>
                  <a:srgbClr val="CDD6F4"/>
                </a:solidFill>
                <a:effectLst/>
                <a:latin typeface="Consolas" panose="020B0609020204030204" pitchFamily="49" charset="0"/>
              </a:rPr>
              <a:t> </a:t>
            </a:r>
            <a:r>
              <a:rPr lang="en-US" b="0" dirty="0">
                <a:solidFill>
                  <a:srgbClr val="FAB387"/>
                </a:solidFill>
                <a:effectLst/>
                <a:latin typeface="Consolas" panose="020B0609020204030204" pitchFamily="49" charset="0"/>
              </a:rPr>
              <a:t>1</a:t>
            </a:r>
            <a:endParaRPr lang="en-US" b="0" dirty="0">
              <a:solidFill>
                <a:srgbClr val="CDD6F4"/>
              </a:solidFill>
              <a:effectLst/>
              <a:latin typeface="Consolas" panose="020B0609020204030204" pitchFamily="49" charset="0"/>
            </a:endParaRPr>
          </a:p>
          <a:p>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p:txBody>
      </p:sp>
    </p:spTree>
    <p:extLst>
      <p:ext uri="{BB962C8B-B14F-4D97-AF65-F5344CB8AC3E}">
        <p14:creationId xmlns:p14="http://schemas.microsoft.com/office/powerpoint/2010/main" val="30450333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C3BB7-AE74-355B-9580-73C0FEAF1E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F16B1E-C6B7-B40C-D311-9980E373632C}"/>
              </a:ext>
            </a:extLst>
          </p:cNvPr>
          <p:cNvSpPr>
            <a:spLocks noGrp="1"/>
          </p:cNvSpPr>
          <p:nvPr>
            <p:ph type="title"/>
          </p:nvPr>
        </p:nvSpPr>
        <p:spPr>
          <a:xfrm>
            <a:off x="838200" y="337015"/>
            <a:ext cx="10515600" cy="1325563"/>
          </a:xfrm>
        </p:spPr>
        <p:txBody>
          <a:bodyPr/>
          <a:lstStyle/>
          <a:p>
            <a:r>
              <a:rPr lang="en-US" b="1" dirty="0"/>
              <a:t>Assignment 2: </a:t>
            </a:r>
            <a:r>
              <a:rPr lang="en-US" dirty="0"/>
              <a:t>API functions</a:t>
            </a:r>
          </a:p>
        </p:txBody>
      </p:sp>
      <p:sp>
        <p:nvSpPr>
          <p:cNvPr id="4" name="TextBox 3">
            <a:extLst>
              <a:ext uri="{FF2B5EF4-FFF2-40B4-BE49-F238E27FC236}">
                <a16:creationId xmlns:a16="http://schemas.microsoft.com/office/drawing/2014/main" id="{00F8E469-4551-732C-CA2B-F21FC872FEE1}"/>
              </a:ext>
            </a:extLst>
          </p:cNvPr>
          <p:cNvSpPr txBox="1"/>
          <p:nvPr/>
        </p:nvSpPr>
        <p:spPr>
          <a:xfrm>
            <a:off x="838200" y="1662578"/>
            <a:ext cx="7402989" cy="2862322"/>
          </a:xfrm>
          <a:prstGeom prst="rect">
            <a:avLst/>
          </a:prstGeom>
          <a:noFill/>
        </p:spPr>
        <p:txBody>
          <a:bodyPr wrap="none" rtlCol="0">
            <a:spAutoFit/>
          </a:bodyPr>
          <a:lstStyle/>
          <a:p>
            <a:r>
              <a:rPr lang="en-US" b="0" dirty="0">
                <a:solidFill>
                  <a:srgbClr val="CBA6F7"/>
                </a:solidFill>
                <a:effectLst/>
                <a:latin typeface="Consolas" panose="020B0609020204030204" pitchFamily="49" charset="0"/>
              </a:rPr>
              <a:t>int</a:t>
            </a:r>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mythreads_join</a:t>
            </a:r>
            <a:r>
              <a:rPr lang="en-US" b="0" dirty="0">
                <a:solidFill>
                  <a:srgbClr val="9399B2"/>
                </a:solidFill>
                <a:effectLst/>
                <a:latin typeface="Consolas" panose="020B0609020204030204" pitchFamily="49" charset="0"/>
              </a:rPr>
              <a:t>(</a:t>
            </a:r>
            <a:r>
              <a:rPr lang="en-US" b="0" i="1" dirty="0" err="1">
                <a:solidFill>
                  <a:srgbClr val="F9E2AF"/>
                </a:solidFill>
                <a:effectLst/>
                <a:latin typeface="Consolas" panose="020B0609020204030204" pitchFamily="49" charset="0"/>
              </a:rPr>
              <a:t>mythr_t</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i="1" dirty="0" err="1">
                <a:solidFill>
                  <a:srgbClr val="EBA0AC"/>
                </a:solidFill>
                <a:effectLst/>
                <a:latin typeface="Consolas" panose="020B0609020204030204" pitchFamily="49" charset="0"/>
              </a:rPr>
              <a:t>thr</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disable alarm and store previous alarm</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if</a:t>
            </a:r>
            <a:r>
              <a:rPr lang="en-US" b="0" dirty="0">
                <a:solidFill>
                  <a:srgbClr val="CDD6F4"/>
                </a:solidFill>
                <a:effectLst/>
                <a:latin typeface="Consolas" panose="020B0609020204030204" pitchFamily="49" charset="0"/>
              </a:rPr>
              <a:t> </a:t>
            </a:r>
            <a:r>
              <a:rPr lang="en-US" i="1" dirty="0" err="1">
                <a:solidFill>
                  <a:srgbClr val="EBA0AC"/>
                </a:solidFill>
                <a:latin typeface="Consolas" panose="020B0609020204030204" pitchFamily="49" charset="0"/>
              </a:rPr>
              <a:t>thr</a:t>
            </a:r>
            <a:r>
              <a:rPr lang="en-US" b="0" dirty="0">
                <a:solidFill>
                  <a:srgbClr val="CDD6F4"/>
                </a:solidFill>
                <a:effectLst/>
                <a:latin typeface="Consolas" panose="020B0609020204030204" pitchFamily="49" charset="0"/>
              </a:rPr>
              <a:t> does not exist or has terminated</a:t>
            </a:r>
          </a:p>
          <a:p>
            <a:r>
              <a:rPr lang="en-US" b="0" dirty="0">
                <a:solidFill>
                  <a:srgbClr val="CDD6F4"/>
                </a:solidFill>
                <a:effectLst/>
                <a:latin typeface="Consolas" panose="020B0609020204030204" pitchFamily="49" charset="0"/>
              </a:rPr>
              <a:t>        enable previous alarm</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return</a:t>
            </a:r>
            <a:r>
              <a:rPr lang="en-US" b="0" dirty="0">
                <a:solidFill>
                  <a:srgbClr val="CDD6F4"/>
                </a:solidFill>
                <a:effectLst/>
                <a:latin typeface="Consolas" panose="020B0609020204030204" pitchFamily="49" charset="0"/>
              </a:rPr>
              <a:t> </a:t>
            </a:r>
            <a:r>
              <a:rPr lang="en-US" b="0" dirty="0">
                <a:solidFill>
                  <a:srgbClr val="FAB387"/>
                </a:solidFill>
                <a:effectLst/>
                <a:latin typeface="Consolas" panose="020B0609020204030204" pitchFamily="49" charset="0"/>
              </a:rPr>
              <a:t>1</a:t>
            </a:r>
            <a:endParaRPr lang="en-US" b="0" dirty="0">
              <a:solidFill>
                <a:srgbClr val="CDD6F4"/>
              </a:solidFill>
              <a:effectLst/>
              <a:latin typeface="Consolas" panose="020B0609020204030204" pitchFamily="49" charset="0"/>
            </a:endParaRPr>
          </a:p>
          <a:p>
            <a:br>
              <a:rPr lang="en-US" b="0" dirty="0">
                <a:solidFill>
                  <a:srgbClr val="CDD6F4"/>
                </a:solidFill>
                <a:effectLst/>
                <a:latin typeface="Consolas" panose="020B0609020204030204" pitchFamily="49" charset="0"/>
              </a:rPr>
            </a:br>
            <a:r>
              <a:rPr lang="en-US" b="0" dirty="0">
                <a:solidFill>
                  <a:srgbClr val="CDD6F4"/>
                </a:solidFill>
                <a:effectLst/>
                <a:latin typeface="Consolas" panose="020B0609020204030204" pitchFamily="49" charset="0"/>
              </a:rPr>
              <a:t>    set joining thread of currently running thread to </a:t>
            </a:r>
            <a:r>
              <a:rPr lang="en-US" i="1" dirty="0" err="1">
                <a:solidFill>
                  <a:srgbClr val="EBA0AC"/>
                </a:solidFill>
                <a:latin typeface="Consolas" panose="020B0609020204030204" pitchFamily="49" charset="0"/>
              </a:rPr>
              <a:t>thr</a:t>
            </a:r>
            <a:endParaRPr lang="en-US" i="1" dirty="0">
              <a:solidFill>
                <a:srgbClr val="EBA0AC"/>
              </a:solidFill>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run_scheduler</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BLOCKED</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return</a:t>
            </a:r>
            <a:r>
              <a:rPr lang="en-US" b="0" dirty="0">
                <a:solidFill>
                  <a:srgbClr val="CDD6F4"/>
                </a:solidFill>
                <a:effectLst/>
                <a:latin typeface="Consolas" panose="020B0609020204030204" pitchFamily="49" charset="0"/>
              </a:rPr>
              <a:t> </a:t>
            </a:r>
            <a:r>
              <a:rPr lang="en-US" b="0" dirty="0">
                <a:solidFill>
                  <a:srgbClr val="FAB387"/>
                </a:solidFill>
                <a:effectLst/>
                <a:latin typeface="Consolas" panose="020B0609020204030204" pitchFamily="49" charset="0"/>
              </a:rPr>
              <a:t>1</a:t>
            </a:r>
            <a:endParaRPr lang="en-US" b="0" dirty="0">
              <a:solidFill>
                <a:srgbClr val="CDD6F4"/>
              </a:solidFill>
              <a:effectLst/>
              <a:latin typeface="Consolas" panose="020B0609020204030204" pitchFamily="49" charset="0"/>
            </a:endParaRPr>
          </a:p>
          <a:p>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p:txBody>
      </p:sp>
    </p:spTree>
    <p:extLst>
      <p:ext uri="{BB962C8B-B14F-4D97-AF65-F5344CB8AC3E}">
        <p14:creationId xmlns:p14="http://schemas.microsoft.com/office/powerpoint/2010/main" val="7787998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81885-93EB-51D3-0853-B7ECDD729A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F7FEEF-500A-1AD0-E030-62D677AECE80}"/>
              </a:ext>
            </a:extLst>
          </p:cNvPr>
          <p:cNvSpPr>
            <a:spLocks noGrp="1"/>
          </p:cNvSpPr>
          <p:nvPr>
            <p:ph type="title"/>
          </p:nvPr>
        </p:nvSpPr>
        <p:spPr>
          <a:xfrm>
            <a:off x="838200" y="337015"/>
            <a:ext cx="10515600" cy="1325563"/>
          </a:xfrm>
        </p:spPr>
        <p:txBody>
          <a:bodyPr/>
          <a:lstStyle/>
          <a:p>
            <a:r>
              <a:rPr lang="en-US" b="1" dirty="0"/>
              <a:t>Assignment 2: </a:t>
            </a:r>
            <a:r>
              <a:rPr lang="en-US" dirty="0"/>
              <a:t>API functions</a:t>
            </a:r>
          </a:p>
        </p:txBody>
      </p:sp>
      <p:sp>
        <p:nvSpPr>
          <p:cNvPr id="4" name="TextBox 3">
            <a:extLst>
              <a:ext uri="{FF2B5EF4-FFF2-40B4-BE49-F238E27FC236}">
                <a16:creationId xmlns:a16="http://schemas.microsoft.com/office/drawing/2014/main" id="{4F1E213E-0AB0-0F54-EAE9-CC6DC6B95DF1}"/>
              </a:ext>
            </a:extLst>
          </p:cNvPr>
          <p:cNvSpPr txBox="1"/>
          <p:nvPr/>
        </p:nvSpPr>
        <p:spPr>
          <a:xfrm>
            <a:off x="838200" y="1662578"/>
            <a:ext cx="8795998" cy="4801314"/>
          </a:xfrm>
          <a:prstGeom prst="rect">
            <a:avLst/>
          </a:prstGeom>
          <a:noFill/>
        </p:spPr>
        <p:txBody>
          <a:bodyPr wrap="none" rtlCol="0">
            <a:spAutoFit/>
          </a:bodyPr>
          <a:lstStyle/>
          <a:p>
            <a:r>
              <a:rPr lang="en-US" b="0" dirty="0">
                <a:solidFill>
                  <a:srgbClr val="CBA6F7"/>
                </a:solidFill>
                <a:effectLst/>
                <a:latin typeface="Consolas" panose="020B0609020204030204" pitchFamily="49" charset="0"/>
              </a:rPr>
              <a:t>int</a:t>
            </a:r>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mythreads_create</a:t>
            </a:r>
            <a:r>
              <a:rPr lang="en-US" b="0" dirty="0">
                <a:solidFill>
                  <a:srgbClr val="9399B2"/>
                </a:solidFill>
                <a:effectLst/>
                <a:latin typeface="Consolas" panose="020B0609020204030204" pitchFamily="49" charset="0"/>
              </a:rPr>
              <a:t>(</a:t>
            </a:r>
            <a:r>
              <a:rPr lang="en-US" b="0" i="1" dirty="0" err="1">
                <a:solidFill>
                  <a:srgbClr val="F9E2AF"/>
                </a:solidFill>
                <a:effectLst/>
                <a:latin typeface="Consolas" panose="020B0609020204030204" pitchFamily="49" charset="0"/>
              </a:rPr>
              <a:t>mythr_t</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i="1" dirty="0" err="1">
                <a:solidFill>
                  <a:srgbClr val="EBA0AC"/>
                </a:solidFill>
                <a:effectLst/>
                <a:latin typeface="Consolas" panose="020B0609020204030204" pitchFamily="49" charset="0"/>
              </a:rPr>
              <a:t>thr</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void</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body</a:t>
            </a:r>
            <a:r>
              <a:rPr lang="en-US" b="0" dirty="0">
                <a:solidFill>
                  <a:srgbClr val="9399B2"/>
                </a:solidFill>
                <a:effectLst/>
                <a:latin typeface="Consolas" panose="020B0609020204030204" pitchFamily="49" charset="0"/>
              </a:rPr>
              <a:t>)(</a:t>
            </a:r>
            <a:r>
              <a:rPr lang="en-US" b="0" dirty="0">
                <a:solidFill>
                  <a:srgbClr val="CBA6F7"/>
                </a:solidFill>
                <a:effectLst/>
                <a:latin typeface="Consolas" panose="020B0609020204030204" pitchFamily="49" charset="0"/>
              </a:rPr>
              <a:t>void</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void</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i="1" dirty="0" err="1">
                <a:solidFill>
                  <a:srgbClr val="EBA0AC"/>
                </a:solidFill>
                <a:effectLst/>
                <a:latin typeface="Consolas" panose="020B0609020204030204" pitchFamily="49" charset="0"/>
              </a:rPr>
              <a:t>arg</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disable alarm and store previous alarm</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if</a:t>
            </a:r>
            <a:r>
              <a:rPr lang="en-US" b="0" dirty="0">
                <a:solidFill>
                  <a:srgbClr val="CDD6F4"/>
                </a:solidFill>
                <a:effectLst/>
                <a:latin typeface="Consolas" panose="020B0609020204030204" pitchFamily="49" charset="0"/>
              </a:rPr>
              <a:t> </a:t>
            </a:r>
            <a:r>
              <a:rPr lang="en-US" i="1" dirty="0" err="1">
                <a:solidFill>
                  <a:srgbClr val="EBA0AC"/>
                </a:solidFill>
                <a:latin typeface="Consolas" panose="020B0609020204030204" pitchFamily="49" charset="0"/>
              </a:rPr>
              <a:t>thr</a:t>
            </a:r>
            <a:r>
              <a:rPr lang="en-US" b="0" dirty="0">
                <a:solidFill>
                  <a:srgbClr val="CDD6F4"/>
                </a:solidFill>
                <a:effectLst/>
                <a:latin typeface="Consolas" panose="020B0609020204030204" pitchFamily="49" charset="0"/>
              </a:rPr>
              <a:t> exists</a:t>
            </a:r>
          </a:p>
          <a:p>
            <a:r>
              <a:rPr lang="en-US" b="0" dirty="0">
                <a:solidFill>
                  <a:srgbClr val="CDD6F4"/>
                </a:solidFill>
                <a:effectLst/>
                <a:latin typeface="Consolas" panose="020B0609020204030204" pitchFamily="49" charset="0"/>
              </a:rPr>
              <a:t>        enable previous alarm</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return</a:t>
            </a:r>
            <a:r>
              <a:rPr lang="en-US" b="0" dirty="0">
                <a:solidFill>
                  <a:srgbClr val="CDD6F4"/>
                </a:solidFill>
                <a:effectLst/>
                <a:latin typeface="Consolas" panose="020B0609020204030204" pitchFamily="49" charset="0"/>
              </a:rPr>
              <a:t> error</a:t>
            </a:r>
          </a:p>
          <a:p>
            <a:br>
              <a:rPr lang="en-US" b="0" dirty="0">
                <a:solidFill>
                  <a:srgbClr val="CDD6F4"/>
                </a:solidFill>
                <a:effectLst/>
                <a:latin typeface="Consolas" panose="020B0609020204030204" pitchFamily="49" charset="0"/>
              </a:rPr>
            </a:br>
            <a:r>
              <a:rPr lang="en-US" b="0" dirty="0">
                <a:solidFill>
                  <a:srgbClr val="CDD6F4"/>
                </a:solidFill>
                <a:effectLst/>
                <a:latin typeface="Consolas" panose="020B0609020204030204" pitchFamily="49" charset="0"/>
              </a:rPr>
              <a:t>    add </a:t>
            </a:r>
            <a:r>
              <a:rPr lang="en-US" i="1" dirty="0" err="1">
                <a:solidFill>
                  <a:srgbClr val="EBA0AC"/>
                </a:solidFill>
                <a:latin typeface="Consolas" panose="020B0609020204030204" pitchFamily="49" charset="0"/>
              </a:rPr>
              <a:t>thr</a:t>
            </a:r>
            <a:r>
              <a:rPr lang="en-US" b="0" dirty="0">
                <a:solidFill>
                  <a:srgbClr val="CDD6F4"/>
                </a:solidFill>
                <a:effectLst/>
                <a:latin typeface="Consolas" panose="020B0609020204030204" pitchFamily="49" charset="0"/>
              </a:rPr>
              <a:t> to thread list</a:t>
            </a:r>
          </a:p>
          <a:p>
            <a:r>
              <a:rPr lang="en-US" b="0" dirty="0">
                <a:solidFill>
                  <a:srgbClr val="CDD6F4"/>
                </a:solidFill>
                <a:effectLst/>
                <a:latin typeface="Consolas" panose="020B0609020204030204" pitchFamily="49" charset="0"/>
              </a:rPr>
              <a:t>    </a:t>
            </a:r>
          </a:p>
          <a:p>
            <a:r>
              <a:rPr lang="en-US" b="0" dirty="0">
                <a:solidFill>
                  <a:srgbClr val="CDD6F4"/>
                </a:solidFill>
                <a:effectLst/>
                <a:latin typeface="Consolas" panose="020B0609020204030204" pitchFamily="49" charset="0"/>
              </a:rPr>
              <a:t>    initialize thread fields</a:t>
            </a:r>
          </a:p>
          <a:p>
            <a:br>
              <a:rPr lang="en-US" b="0" dirty="0">
                <a:solidFill>
                  <a:srgbClr val="CDD6F4"/>
                </a:solidFill>
                <a:effectLst/>
                <a:latin typeface="Consolas" panose="020B0609020204030204" pitchFamily="49" charset="0"/>
              </a:rPr>
            </a:br>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if</a:t>
            </a:r>
            <a:r>
              <a:rPr lang="en-US" b="0" dirty="0">
                <a:solidFill>
                  <a:srgbClr val="CDD6F4"/>
                </a:solidFill>
                <a:effectLst/>
                <a:latin typeface="Consolas" panose="020B0609020204030204" pitchFamily="49" charset="0"/>
              </a:rPr>
              <a:t> thread list size is </a:t>
            </a:r>
            <a:r>
              <a:rPr lang="en-US" b="0" dirty="0">
                <a:solidFill>
                  <a:srgbClr val="FAB387"/>
                </a:solidFill>
                <a:effectLst/>
                <a:latin typeface="Consolas" panose="020B0609020204030204" pitchFamily="49" charset="0"/>
              </a:rPr>
              <a:t>2</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reset alarm</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else</a:t>
            </a:r>
            <a:r>
              <a:rPr lang="en-US" b="0" dirty="0">
                <a:solidFill>
                  <a:srgbClr val="CDD6F4"/>
                </a:solidFill>
                <a:effectLst/>
                <a:latin typeface="Consolas" panose="020B0609020204030204" pitchFamily="49" charset="0"/>
              </a:rPr>
              <a:t> </a:t>
            </a:r>
          </a:p>
          <a:p>
            <a:r>
              <a:rPr lang="en-US" b="0" dirty="0">
                <a:solidFill>
                  <a:srgbClr val="CDD6F4"/>
                </a:solidFill>
                <a:effectLst/>
                <a:latin typeface="Consolas" panose="020B0609020204030204" pitchFamily="49" charset="0"/>
              </a:rPr>
              <a:t>        enable previous alarm</a:t>
            </a:r>
          </a:p>
          <a:p>
            <a:r>
              <a:rPr lang="en-US" b="0" dirty="0">
                <a:solidFill>
                  <a:srgbClr val="CDD6F4"/>
                </a:solidFill>
                <a:effectLst/>
                <a:latin typeface="Consolas" panose="020B0609020204030204" pitchFamily="49" charset="0"/>
              </a:rPr>
              <a:t>    </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return</a:t>
            </a:r>
            <a:r>
              <a:rPr lang="en-US" b="0" dirty="0">
                <a:solidFill>
                  <a:srgbClr val="CDD6F4"/>
                </a:solidFill>
                <a:effectLst/>
                <a:latin typeface="Consolas" panose="020B0609020204030204" pitchFamily="49" charset="0"/>
              </a:rPr>
              <a:t> </a:t>
            </a:r>
            <a:r>
              <a:rPr lang="en-US" b="0" dirty="0">
                <a:solidFill>
                  <a:srgbClr val="FAB387"/>
                </a:solidFill>
                <a:effectLst/>
                <a:latin typeface="Consolas" panose="020B0609020204030204" pitchFamily="49" charset="0"/>
              </a:rPr>
              <a:t>1</a:t>
            </a:r>
            <a:endParaRPr lang="en-US" b="0" dirty="0">
              <a:solidFill>
                <a:srgbClr val="CDD6F4"/>
              </a:solidFill>
              <a:effectLst/>
              <a:latin typeface="Consolas" panose="020B0609020204030204" pitchFamily="49" charset="0"/>
            </a:endParaRPr>
          </a:p>
          <a:p>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p:txBody>
      </p:sp>
    </p:spTree>
    <p:extLst>
      <p:ext uri="{BB962C8B-B14F-4D97-AF65-F5344CB8AC3E}">
        <p14:creationId xmlns:p14="http://schemas.microsoft.com/office/powerpoint/2010/main" val="15784863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A5DDB-4496-1DC9-7688-7995ECA8F2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5B0EC-2145-AEDA-EE22-F001F0EB368D}"/>
              </a:ext>
            </a:extLst>
          </p:cNvPr>
          <p:cNvSpPr>
            <a:spLocks noGrp="1"/>
          </p:cNvSpPr>
          <p:nvPr>
            <p:ph type="title"/>
          </p:nvPr>
        </p:nvSpPr>
        <p:spPr>
          <a:xfrm>
            <a:off x="838200" y="337015"/>
            <a:ext cx="10515600" cy="1325563"/>
          </a:xfrm>
        </p:spPr>
        <p:txBody>
          <a:bodyPr/>
          <a:lstStyle/>
          <a:p>
            <a:r>
              <a:rPr lang="en-US" b="1" dirty="0"/>
              <a:t>Assignment 2: </a:t>
            </a:r>
            <a:r>
              <a:rPr lang="en-US" dirty="0"/>
              <a:t>API functions</a:t>
            </a:r>
          </a:p>
        </p:txBody>
      </p:sp>
      <p:sp>
        <p:nvSpPr>
          <p:cNvPr id="4" name="TextBox 3">
            <a:extLst>
              <a:ext uri="{FF2B5EF4-FFF2-40B4-BE49-F238E27FC236}">
                <a16:creationId xmlns:a16="http://schemas.microsoft.com/office/drawing/2014/main" id="{94CDC819-7C46-53C6-25F4-218F2C91E44F}"/>
              </a:ext>
            </a:extLst>
          </p:cNvPr>
          <p:cNvSpPr txBox="1"/>
          <p:nvPr/>
        </p:nvSpPr>
        <p:spPr>
          <a:xfrm>
            <a:off x="838200" y="1662578"/>
            <a:ext cx="5630067" cy="4524315"/>
          </a:xfrm>
          <a:prstGeom prst="rect">
            <a:avLst/>
          </a:prstGeom>
          <a:noFill/>
        </p:spPr>
        <p:txBody>
          <a:bodyPr wrap="none" rtlCol="0">
            <a:spAutoFit/>
          </a:bodyPr>
          <a:lstStyle/>
          <a:p>
            <a:r>
              <a:rPr lang="en-US" b="0" dirty="0">
                <a:solidFill>
                  <a:srgbClr val="CBA6F7"/>
                </a:solidFill>
                <a:effectLst/>
                <a:latin typeface="Consolas" panose="020B0609020204030204" pitchFamily="49" charset="0"/>
              </a:rPr>
              <a:t>int</a:t>
            </a:r>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mythreads_destroy</a:t>
            </a:r>
            <a:r>
              <a:rPr lang="en-US" b="0" dirty="0">
                <a:solidFill>
                  <a:srgbClr val="9399B2"/>
                </a:solidFill>
                <a:effectLst/>
                <a:latin typeface="Consolas" panose="020B0609020204030204" pitchFamily="49" charset="0"/>
              </a:rPr>
              <a:t>(</a:t>
            </a:r>
            <a:r>
              <a:rPr lang="en-US" b="0" i="1" dirty="0" err="1">
                <a:solidFill>
                  <a:srgbClr val="F9E2AF"/>
                </a:solidFill>
                <a:effectLst/>
                <a:latin typeface="Consolas" panose="020B0609020204030204" pitchFamily="49" charset="0"/>
              </a:rPr>
              <a:t>mythr_t</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i="1" dirty="0" err="1">
                <a:solidFill>
                  <a:srgbClr val="EBA0AC"/>
                </a:solidFill>
                <a:effectLst/>
                <a:latin typeface="Consolas" panose="020B0609020204030204" pitchFamily="49" charset="0"/>
              </a:rPr>
              <a:t>thr</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disable alarm and store previous alarm</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if</a:t>
            </a:r>
            <a:r>
              <a:rPr lang="en-US" b="0" dirty="0">
                <a:solidFill>
                  <a:srgbClr val="CDD6F4"/>
                </a:solidFill>
                <a:effectLst/>
                <a:latin typeface="Consolas" panose="020B0609020204030204" pitchFamily="49" charset="0"/>
              </a:rPr>
              <a:t> </a:t>
            </a:r>
            <a:r>
              <a:rPr lang="en-US" i="1" dirty="0" err="1">
                <a:solidFill>
                  <a:srgbClr val="EBA0AC"/>
                </a:solidFill>
                <a:latin typeface="Consolas" panose="020B0609020204030204" pitchFamily="49" charset="0"/>
              </a:rPr>
              <a:t>thr</a:t>
            </a:r>
            <a:r>
              <a:rPr lang="en-US" b="0" dirty="0">
                <a:solidFill>
                  <a:srgbClr val="CDD6F4"/>
                </a:solidFill>
                <a:effectLst/>
                <a:latin typeface="Consolas" panose="020B0609020204030204" pitchFamily="49" charset="0"/>
              </a:rPr>
              <a:t> does not exist or has terminated</a:t>
            </a:r>
          </a:p>
          <a:p>
            <a:r>
              <a:rPr lang="en-US" b="0" dirty="0">
                <a:solidFill>
                  <a:srgbClr val="CDD6F4"/>
                </a:solidFill>
                <a:effectLst/>
                <a:latin typeface="Consolas" panose="020B0609020204030204" pitchFamily="49" charset="0"/>
              </a:rPr>
              <a:t>        enable previous alarm</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return</a:t>
            </a:r>
            <a:r>
              <a:rPr lang="en-US" b="0" dirty="0">
                <a:solidFill>
                  <a:srgbClr val="CDD6F4"/>
                </a:solidFill>
                <a:effectLst/>
                <a:latin typeface="Consolas" panose="020B0609020204030204" pitchFamily="49" charset="0"/>
              </a:rPr>
              <a:t> </a:t>
            </a:r>
            <a:r>
              <a:rPr lang="en-US" b="0" dirty="0">
                <a:solidFill>
                  <a:srgbClr val="FAB387"/>
                </a:solidFill>
                <a:effectLst/>
                <a:latin typeface="Consolas" panose="020B0609020204030204" pitchFamily="49" charset="0"/>
              </a:rPr>
              <a:t>1</a:t>
            </a:r>
            <a:endParaRPr lang="en-US" b="0" dirty="0">
              <a:solidFill>
                <a:srgbClr val="CDD6F4"/>
              </a:solidFill>
              <a:effectLst/>
              <a:latin typeface="Consolas" panose="020B0609020204030204" pitchFamily="49" charset="0"/>
            </a:endParaRPr>
          </a:p>
          <a:p>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destroy thread coroutine</a:t>
            </a:r>
          </a:p>
          <a:p>
            <a:r>
              <a:rPr lang="en-US" b="0" dirty="0">
                <a:solidFill>
                  <a:srgbClr val="CDD6F4"/>
                </a:solidFill>
                <a:effectLst/>
                <a:latin typeface="Consolas" panose="020B0609020204030204" pitchFamily="49" charset="0"/>
              </a:rPr>
              <a:t>    remove thread from thread list</a:t>
            </a:r>
          </a:p>
          <a:p>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if</a:t>
            </a:r>
            <a:r>
              <a:rPr lang="en-US" b="0" dirty="0">
                <a:solidFill>
                  <a:srgbClr val="CDD6F4"/>
                </a:solidFill>
                <a:effectLst/>
                <a:latin typeface="Consolas" panose="020B0609020204030204" pitchFamily="49" charset="0"/>
              </a:rPr>
              <a:t> thread list size is </a:t>
            </a:r>
            <a:r>
              <a:rPr lang="en-US" b="0" dirty="0">
                <a:solidFill>
                  <a:srgbClr val="FAB387"/>
                </a:solidFill>
                <a:effectLst/>
                <a:latin typeface="Consolas" panose="020B0609020204030204" pitchFamily="49" charset="0"/>
              </a:rPr>
              <a:t>1</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enable previous alarm</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else</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reset alarm</a:t>
            </a:r>
          </a:p>
          <a:p>
            <a:r>
              <a:rPr lang="en-US" b="0" dirty="0">
                <a:solidFill>
                  <a:srgbClr val="CDD6F4"/>
                </a:solidFill>
                <a:effectLst/>
                <a:latin typeface="Consolas" panose="020B0609020204030204" pitchFamily="49" charset="0"/>
              </a:rPr>
              <a:t>    </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return</a:t>
            </a:r>
            <a:r>
              <a:rPr lang="en-US" b="0" dirty="0">
                <a:solidFill>
                  <a:srgbClr val="CDD6F4"/>
                </a:solidFill>
                <a:effectLst/>
                <a:latin typeface="Consolas" panose="020B0609020204030204" pitchFamily="49" charset="0"/>
              </a:rPr>
              <a:t> </a:t>
            </a:r>
            <a:r>
              <a:rPr lang="en-US" b="0" dirty="0">
                <a:solidFill>
                  <a:srgbClr val="FAB387"/>
                </a:solidFill>
                <a:effectLst/>
                <a:latin typeface="Consolas" panose="020B0609020204030204" pitchFamily="49" charset="0"/>
              </a:rPr>
              <a:t>1</a:t>
            </a:r>
            <a:endParaRPr lang="en-US" b="0" dirty="0">
              <a:solidFill>
                <a:srgbClr val="CDD6F4"/>
              </a:solidFill>
              <a:effectLst/>
              <a:latin typeface="Consolas" panose="020B0609020204030204" pitchFamily="49" charset="0"/>
            </a:endParaRPr>
          </a:p>
          <a:p>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p:txBody>
      </p:sp>
    </p:spTree>
    <p:extLst>
      <p:ext uri="{BB962C8B-B14F-4D97-AF65-F5344CB8AC3E}">
        <p14:creationId xmlns:p14="http://schemas.microsoft.com/office/powerpoint/2010/main" val="33966892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D5E55-6512-1E9C-C71D-7DAC5F0317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490D96-C171-384A-FDC4-FF0A751347FA}"/>
              </a:ext>
            </a:extLst>
          </p:cNvPr>
          <p:cNvSpPr>
            <a:spLocks noGrp="1"/>
          </p:cNvSpPr>
          <p:nvPr>
            <p:ph type="title"/>
          </p:nvPr>
        </p:nvSpPr>
        <p:spPr>
          <a:xfrm>
            <a:off x="838200" y="337015"/>
            <a:ext cx="10515600" cy="1325563"/>
          </a:xfrm>
        </p:spPr>
        <p:txBody>
          <a:bodyPr/>
          <a:lstStyle/>
          <a:p>
            <a:r>
              <a:rPr lang="en-US" b="1" dirty="0"/>
              <a:t>Assignment 2: </a:t>
            </a:r>
            <a:r>
              <a:rPr lang="en-US" dirty="0"/>
              <a:t>API functions</a:t>
            </a:r>
          </a:p>
        </p:txBody>
      </p:sp>
      <p:sp>
        <p:nvSpPr>
          <p:cNvPr id="4" name="TextBox 3">
            <a:extLst>
              <a:ext uri="{FF2B5EF4-FFF2-40B4-BE49-F238E27FC236}">
                <a16:creationId xmlns:a16="http://schemas.microsoft.com/office/drawing/2014/main" id="{6C3D96B7-AC99-570B-EB94-2339EAD66E7D}"/>
              </a:ext>
            </a:extLst>
          </p:cNvPr>
          <p:cNvSpPr txBox="1"/>
          <p:nvPr/>
        </p:nvSpPr>
        <p:spPr>
          <a:xfrm>
            <a:off x="838200" y="1662578"/>
            <a:ext cx="6136616" cy="3970318"/>
          </a:xfrm>
          <a:prstGeom prst="rect">
            <a:avLst/>
          </a:prstGeom>
          <a:noFill/>
        </p:spPr>
        <p:txBody>
          <a:bodyPr wrap="none" rtlCol="0">
            <a:spAutoFit/>
          </a:bodyPr>
          <a:lstStyle/>
          <a:p>
            <a:r>
              <a:rPr lang="en-US" b="0" dirty="0">
                <a:solidFill>
                  <a:srgbClr val="CBA6F7"/>
                </a:solidFill>
                <a:effectLst/>
                <a:latin typeface="Consolas" panose="020B0609020204030204" pitchFamily="49" charset="0"/>
              </a:rPr>
              <a:t>int</a:t>
            </a:r>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mythreads_sem_create</a:t>
            </a:r>
            <a:r>
              <a:rPr lang="en-US" b="0" dirty="0">
                <a:solidFill>
                  <a:srgbClr val="9399B2"/>
                </a:solidFill>
                <a:effectLst/>
                <a:latin typeface="Consolas" panose="020B0609020204030204" pitchFamily="49" charset="0"/>
              </a:rPr>
              <a:t>(</a:t>
            </a:r>
            <a:r>
              <a:rPr lang="en-US" b="0" i="1" dirty="0" err="1">
                <a:solidFill>
                  <a:srgbClr val="F9E2AF"/>
                </a:solidFill>
                <a:effectLst/>
                <a:latin typeface="Consolas" panose="020B0609020204030204" pitchFamily="49" charset="0"/>
              </a:rPr>
              <a:t>mysem_t</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i="1" dirty="0">
                <a:solidFill>
                  <a:srgbClr val="EBA0AC"/>
                </a:solidFill>
                <a:effectLst/>
                <a:latin typeface="Consolas" panose="020B0609020204030204" pitchFamily="49" charset="0"/>
              </a:rPr>
              <a:t>s</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int</a:t>
            </a:r>
            <a:r>
              <a:rPr lang="en-US" b="0" dirty="0">
                <a:solidFill>
                  <a:srgbClr val="CDD6F4"/>
                </a:solidFill>
                <a:effectLst/>
                <a:latin typeface="Consolas" panose="020B0609020204030204" pitchFamily="49" charset="0"/>
              </a:rPr>
              <a:t> </a:t>
            </a:r>
            <a:r>
              <a:rPr lang="en-US" b="0" i="1" dirty="0" err="1">
                <a:solidFill>
                  <a:srgbClr val="EBA0AC"/>
                </a:solidFill>
                <a:effectLst/>
                <a:latin typeface="Consolas" panose="020B0609020204030204" pitchFamily="49" charset="0"/>
              </a:rPr>
              <a:t>val</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disable alarm and store previous alarm</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if</a:t>
            </a:r>
            <a:r>
              <a:rPr lang="en-US" b="0" dirty="0">
                <a:solidFill>
                  <a:srgbClr val="CDD6F4"/>
                </a:solidFill>
                <a:effectLst/>
                <a:latin typeface="Consolas" panose="020B0609020204030204" pitchFamily="49" charset="0"/>
              </a:rPr>
              <a:t> semaphore already exists</a:t>
            </a:r>
          </a:p>
          <a:p>
            <a:r>
              <a:rPr lang="en-US" b="0" dirty="0">
                <a:solidFill>
                  <a:srgbClr val="CDD6F4"/>
                </a:solidFill>
                <a:effectLst/>
                <a:latin typeface="Consolas" panose="020B0609020204030204" pitchFamily="49" charset="0"/>
              </a:rPr>
              <a:t>        restore previous alarm</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return</a:t>
            </a:r>
            <a:r>
              <a:rPr lang="en-US" b="0" dirty="0">
                <a:solidFill>
                  <a:srgbClr val="CDD6F4"/>
                </a:solidFill>
                <a:effectLst/>
                <a:latin typeface="Consolas" panose="020B0609020204030204" pitchFamily="49" charset="0"/>
              </a:rPr>
              <a:t> error</a:t>
            </a:r>
          </a:p>
          <a:p>
            <a:br>
              <a:rPr lang="en-US" b="0" dirty="0">
                <a:solidFill>
                  <a:srgbClr val="CDD6F4"/>
                </a:solidFill>
                <a:effectLst/>
                <a:latin typeface="Consolas" panose="020B0609020204030204" pitchFamily="49" charset="0"/>
              </a:rPr>
            </a:br>
            <a:r>
              <a:rPr lang="en-US" b="0" dirty="0">
                <a:solidFill>
                  <a:srgbClr val="CDD6F4"/>
                </a:solidFill>
                <a:effectLst/>
                <a:latin typeface="Consolas" panose="020B0609020204030204" pitchFamily="49" charset="0"/>
              </a:rPr>
              <a:t>    add semaphore to semaphores list</a:t>
            </a:r>
          </a:p>
          <a:p>
            <a:br>
              <a:rPr lang="en-US" b="0" dirty="0">
                <a:solidFill>
                  <a:srgbClr val="CDD6F4"/>
                </a:solidFill>
                <a:effectLst/>
                <a:latin typeface="Consolas" panose="020B0609020204030204" pitchFamily="49" charset="0"/>
              </a:rPr>
            </a:br>
            <a:r>
              <a:rPr lang="en-US" b="0" dirty="0">
                <a:solidFill>
                  <a:srgbClr val="CDD6F4"/>
                </a:solidFill>
                <a:effectLst/>
                <a:latin typeface="Consolas" panose="020B0609020204030204" pitchFamily="49" charset="0"/>
              </a:rPr>
              <a:t>    set semaphore value to </a:t>
            </a:r>
            <a:r>
              <a:rPr lang="en-US" b="0" dirty="0" err="1">
                <a:solidFill>
                  <a:srgbClr val="CDD6F4"/>
                </a:solidFill>
                <a:effectLst/>
                <a:latin typeface="Consolas" panose="020B0609020204030204" pitchFamily="49" charset="0"/>
              </a:rPr>
              <a:t>val</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initialize semaphore waiting queue</a:t>
            </a:r>
          </a:p>
          <a:p>
            <a:br>
              <a:rPr lang="en-US" b="0" dirty="0">
                <a:solidFill>
                  <a:srgbClr val="CDD6F4"/>
                </a:solidFill>
                <a:effectLst/>
                <a:latin typeface="Consolas" panose="020B0609020204030204" pitchFamily="49" charset="0"/>
              </a:rPr>
            </a:br>
            <a:r>
              <a:rPr lang="en-US" b="0" dirty="0">
                <a:solidFill>
                  <a:srgbClr val="CDD6F4"/>
                </a:solidFill>
                <a:effectLst/>
                <a:latin typeface="Consolas" panose="020B0609020204030204" pitchFamily="49" charset="0"/>
              </a:rPr>
              <a:t>    restore previous alarm</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return</a:t>
            </a:r>
            <a:r>
              <a:rPr lang="en-US" b="0" dirty="0">
                <a:solidFill>
                  <a:srgbClr val="CDD6F4"/>
                </a:solidFill>
                <a:effectLst/>
                <a:latin typeface="Consolas" panose="020B0609020204030204" pitchFamily="49" charset="0"/>
              </a:rPr>
              <a:t> </a:t>
            </a:r>
            <a:r>
              <a:rPr lang="en-US" b="0" dirty="0">
                <a:solidFill>
                  <a:srgbClr val="FAB387"/>
                </a:solidFill>
                <a:effectLst/>
                <a:latin typeface="Consolas" panose="020B0609020204030204" pitchFamily="49" charset="0"/>
              </a:rPr>
              <a:t>1</a:t>
            </a:r>
            <a:endParaRPr lang="en-US" b="0" dirty="0">
              <a:solidFill>
                <a:srgbClr val="CDD6F4"/>
              </a:solidFill>
              <a:effectLst/>
              <a:latin typeface="Consolas" panose="020B0609020204030204" pitchFamily="49" charset="0"/>
            </a:endParaRPr>
          </a:p>
          <a:p>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p:txBody>
      </p:sp>
    </p:spTree>
    <p:extLst>
      <p:ext uri="{BB962C8B-B14F-4D97-AF65-F5344CB8AC3E}">
        <p14:creationId xmlns:p14="http://schemas.microsoft.com/office/powerpoint/2010/main" val="12913853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387EC-81E0-19A5-BCAF-0F6801FF89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6E4B36-9268-05BB-849B-DAA6BD128298}"/>
              </a:ext>
            </a:extLst>
          </p:cNvPr>
          <p:cNvSpPr>
            <a:spLocks noGrp="1"/>
          </p:cNvSpPr>
          <p:nvPr>
            <p:ph type="title"/>
          </p:nvPr>
        </p:nvSpPr>
        <p:spPr>
          <a:xfrm>
            <a:off x="838200" y="337015"/>
            <a:ext cx="10515600" cy="1325563"/>
          </a:xfrm>
        </p:spPr>
        <p:txBody>
          <a:bodyPr/>
          <a:lstStyle/>
          <a:p>
            <a:r>
              <a:rPr lang="en-US" b="1" dirty="0"/>
              <a:t>Assignment 2: </a:t>
            </a:r>
            <a:r>
              <a:rPr lang="en-US" dirty="0"/>
              <a:t>API functions</a:t>
            </a:r>
          </a:p>
        </p:txBody>
      </p:sp>
      <p:sp>
        <p:nvSpPr>
          <p:cNvPr id="4" name="TextBox 3">
            <a:extLst>
              <a:ext uri="{FF2B5EF4-FFF2-40B4-BE49-F238E27FC236}">
                <a16:creationId xmlns:a16="http://schemas.microsoft.com/office/drawing/2014/main" id="{89FAAD4C-B2C8-3F88-4DA2-AF5F3E42F320}"/>
              </a:ext>
            </a:extLst>
          </p:cNvPr>
          <p:cNvSpPr txBox="1"/>
          <p:nvPr/>
        </p:nvSpPr>
        <p:spPr>
          <a:xfrm>
            <a:off x="838200" y="1662578"/>
            <a:ext cx="5503430" cy="3416320"/>
          </a:xfrm>
          <a:prstGeom prst="rect">
            <a:avLst/>
          </a:prstGeom>
          <a:noFill/>
        </p:spPr>
        <p:txBody>
          <a:bodyPr wrap="none" rtlCol="0">
            <a:spAutoFit/>
          </a:bodyPr>
          <a:lstStyle/>
          <a:p>
            <a:r>
              <a:rPr lang="en-US" b="0" dirty="0">
                <a:solidFill>
                  <a:srgbClr val="CBA6F7"/>
                </a:solidFill>
                <a:effectLst/>
                <a:latin typeface="Consolas" panose="020B0609020204030204" pitchFamily="49" charset="0"/>
              </a:rPr>
              <a:t>int</a:t>
            </a:r>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mythreads_sem_destroy</a:t>
            </a:r>
            <a:r>
              <a:rPr lang="en-US" b="0" dirty="0">
                <a:solidFill>
                  <a:srgbClr val="9399B2"/>
                </a:solidFill>
                <a:effectLst/>
                <a:latin typeface="Consolas" panose="020B0609020204030204" pitchFamily="49" charset="0"/>
              </a:rPr>
              <a:t>(</a:t>
            </a:r>
            <a:r>
              <a:rPr lang="en-US" b="0" i="1" dirty="0" err="1">
                <a:solidFill>
                  <a:srgbClr val="F9E2AF"/>
                </a:solidFill>
                <a:effectLst/>
                <a:latin typeface="Consolas" panose="020B0609020204030204" pitchFamily="49" charset="0"/>
              </a:rPr>
              <a:t>mysem_t</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i="1" dirty="0">
                <a:solidFill>
                  <a:srgbClr val="EBA0AC"/>
                </a:solidFill>
                <a:effectLst/>
                <a:latin typeface="Consolas" panose="020B0609020204030204" pitchFamily="49" charset="0"/>
              </a:rPr>
              <a:t>s</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disable alarm and store previous alarm</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if</a:t>
            </a:r>
            <a:r>
              <a:rPr lang="en-US" b="0" dirty="0">
                <a:solidFill>
                  <a:srgbClr val="CDD6F4"/>
                </a:solidFill>
                <a:effectLst/>
                <a:latin typeface="Consolas" panose="020B0609020204030204" pitchFamily="49" charset="0"/>
              </a:rPr>
              <a:t> semaphore does not exists</a:t>
            </a:r>
          </a:p>
          <a:p>
            <a:r>
              <a:rPr lang="en-US" b="0" dirty="0">
                <a:solidFill>
                  <a:srgbClr val="CDD6F4"/>
                </a:solidFill>
                <a:effectLst/>
                <a:latin typeface="Consolas" panose="020B0609020204030204" pitchFamily="49" charset="0"/>
              </a:rPr>
              <a:t>        restore previous alarm</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return</a:t>
            </a:r>
            <a:r>
              <a:rPr lang="en-US" b="0" dirty="0">
                <a:solidFill>
                  <a:srgbClr val="CDD6F4"/>
                </a:solidFill>
                <a:effectLst/>
                <a:latin typeface="Consolas" panose="020B0609020204030204" pitchFamily="49" charset="0"/>
              </a:rPr>
              <a:t> error</a:t>
            </a:r>
          </a:p>
          <a:p>
            <a:br>
              <a:rPr lang="en-US" b="0" dirty="0">
                <a:solidFill>
                  <a:srgbClr val="CDD6F4"/>
                </a:solidFill>
                <a:effectLst/>
                <a:latin typeface="Consolas" panose="020B0609020204030204" pitchFamily="49" charset="0"/>
              </a:rPr>
            </a:br>
            <a:r>
              <a:rPr lang="en-US" b="0" dirty="0">
                <a:solidFill>
                  <a:srgbClr val="CDD6F4"/>
                </a:solidFill>
                <a:effectLst/>
                <a:latin typeface="Consolas" panose="020B0609020204030204" pitchFamily="49" charset="0"/>
              </a:rPr>
              <a:t>    destroy waiting list of semaphore</a:t>
            </a:r>
          </a:p>
          <a:p>
            <a:r>
              <a:rPr lang="en-US" b="0" dirty="0">
                <a:solidFill>
                  <a:srgbClr val="CDD6F4"/>
                </a:solidFill>
                <a:effectLst/>
                <a:latin typeface="Consolas" panose="020B0609020204030204" pitchFamily="49" charset="0"/>
              </a:rPr>
              <a:t>    remove semaphore from semaphores list</a:t>
            </a:r>
          </a:p>
          <a:p>
            <a:br>
              <a:rPr lang="en-US" b="0" dirty="0">
                <a:solidFill>
                  <a:srgbClr val="CDD6F4"/>
                </a:solidFill>
                <a:effectLst/>
                <a:latin typeface="Consolas" panose="020B0609020204030204" pitchFamily="49" charset="0"/>
              </a:rPr>
            </a:br>
            <a:r>
              <a:rPr lang="en-US" b="0" dirty="0">
                <a:solidFill>
                  <a:srgbClr val="CDD6F4"/>
                </a:solidFill>
                <a:effectLst/>
                <a:latin typeface="Consolas" panose="020B0609020204030204" pitchFamily="49" charset="0"/>
              </a:rPr>
              <a:t>    restore previous alarm</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return</a:t>
            </a:r>
            <a:r>
              <a:rPr lang="en-US" b="0" dirty="0">
                <a:solidFill>
                  <a:srgbClr val="CDD6F4"/>
                </a:solidFill>
                <a:effectLst/>
                <a:latin typeface="Consolas" panose="020B0609020204030204" pitchFamily="49" charset="0"/>
              </a:rPr>
              <a:t> </a:t>
            </a:r>
            <a:r>
              <a:rPr lang="en-US" b="0" dirty="0">
                <a:solidFill>
                  <a:srgbClr val="FAB387"/>
                </a:solidFill>
                <a:effectLst/>
                <a:latin typeface="Consolas" panose="020B0609020204030204" pitchFamily="49" charset="0"/>
              </a:rPr>
              <a:t>1</a:t>
            </a:r>
            <a:endParaRPr lang="en-US" b="0" dirty="0">
              <a:solidFill>
                <a:srgbClr val="CDD6F4"/>
              </a:solidFill>
              <a:effectLst/>
              <a:latin typeface="Consolas" panose="020B0609020204030204" pitchFamily="49" charset="0"/>
            </a:endParaRPr>
          </a:p>
          <a:p>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p:txBody>
      </p:sp>
    </p:spTree>
    <p:extLst>
      <p:ext uri="{BB962C8B-B14F-4D97-AF65-F5344CB8AC3E}">
        <p14:creationId xmlns:p14="http://schemas.microsoft.com/office/powerpoint/2010/main" val="23489501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241E-F09C-79A9-4B2D-7D71047556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CCE1A6-4273-9E94-BB66-2EE9163A75B8}"/>
              </a:ext>
            </a:extLst>
          </p:cNvPr>
          <p:cNvSpPr>
            <a:spLocks noGrp="1"/>
          </p:cNvSpPr>
          <p:nvPr>
            <p:ph type="title"/>
          </p:nvPr>
        </p:nvSpPr>
        <p:spPr>
          <a:xfrm>
            <a:off x="838200" y="337015"/>
            <a:ext cx="10515600" cy="1325563"/>
          </a:xfrm>
        </p:spPr>
        <p:txBody>
          <a:bodyPr/>
          <a:lstStyle/>
          <a:p>
            <a:r>
              <a:rPr lang="en-US" b="1" dirty="0"/>
              <a:t>Assignment 2: </a:t>
            </a:r>
            <a:r>
              <a:rPr lang="en-US" dirty="0"/>
              <a:t>API functions</a:t>
            </a:r>
          </a:p>
        </p:txBody>
      </p:sp>
      <p:sp>
        <p:nvSpPr>
          <p:cNvPr id="4" name="TextBox 3">
            <a:extLst>
              <a:ext uri="{FF2B5EF4-FFF2-40B4-BE49-F238E27FC236}">
                <a16:creationId xmlns:a16="http://schemas.microsoft.com/office/drawing/2014/main" id="{2A56C4BF-29CC-7FF4-8A46-3212262AE725}"/>
              </a:ext>
            </a:extLst>
          </p:cNvPr>
          <p:cNvSpPr txBox="1"/>
          <p:nvPr/>
        </p:nvSpPr>
        <p:spPr>
          <a:xfrm>
            <a:off x="838200" y="1658454"/>
            <a:ext cx="7529625" cy="5078313"/>
          </a:xfrm>
          <a:prstGeom prst="rect">
            <a:avLst/>
          </a:prstGeom>
          <a:noFill/>
        </p:spPr>
        <p:txBody>
          <a:bodyPr wrap="none" rtlCol="0">
            <a:spAutoFit/>
          </a:bodyPr>
          <a:lstStyle/>
          <a:p>
            <a:r>
              <a:rPr lang="en-US" b="0" dirty="0">
                <a:solidFill>
                  <a:srgbClr val="CBA6F7"/>
                </a:solidFill>
                <a:effectLst/>
                <a:latin typeface="Consolas" panose="020B0609020204030204" pitchFamily="49" charset="0"/>
              </a:rPr>
              <a:t>int</a:t>
            </a:r>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mythreads_sem_up</a:t>
            </a:r>
            <a:r>
              <a:rPr lang="en-US" b="0" dirty="0">
                <a:solidFill>
                  <a:srgbClr val="9399B2"/>
                </a:solidFill>
                <a:effectLst/>
                <a:latin typeface="Consolas" panose="020B0609020204030204" pitchFamily="49" charset="0"/>
              </a:rPr>
              <a:t>(</a:t>
            </a:r>
            <a:r>
              <a:rPr lang="en-US" b="0" i="1" dirty="0" err="1">
                <a:solidFill>
                  <a:srgbClr val="F9E2AF"/>
                </a:solidFill>
                <a:effectLst/>
                <a:latin typeface="Consolas" panose="020B0609020204030204" pitchFamily="49" charset="0"/>
              </a:rPr>
              <a:t>mysem_t</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i="1" dirty="0">
                <a:solidFill>
                  <a:srgbClr val="EBA0AC"/>
                </a:solidFill>
                <a:effectLst/>
                <a:latin typeface="Consolas" panose="020B0609020204030204" pitchFamily="49" charset="0"/>
              </a:rPr>
              <a:t>s</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disable alarm and store previous alarm</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if</a:t>
            </a:r>
            <a:r>
              <a:rPr lang="en-US" b="0" dirty="0">
                <a:solidFill>
                  <a:srgbClr val="CDD6F4"/>
                </a:solidFill>
                <a:effectLst/>
                <a:latin typeface="Consolas" panose="020B0609020204030204" pitchFamily="49" charset="0"/>
              </a:rPr>
              <a:t> semaphore does not exists</a:t>
            </a:r>
          </a:p>
          <a:p>
            <a:r>
              <a:rPr lang="en-US" b="0" dirty="0">
                <a:solidFill>
                  <a:srgbClr val="CDD6F4"/>
                </a:solidFill>
                <a:effectLst/>
                <a:latin typeface="Consolas" panose="020B0609020204030204" pitchFamily="49" charset="0"/>
              </a:rPr>
              <a:t>        restore previous alarm</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return</a:t>
            </a:r>
            <a:r>
              <a:rPr lang="en-US" b="0" dirty="0">
                <a:solidFill>
                  <a:srgbClr val="CDD6F4"/>
                </a:solidFill>
                <a:effectLst/>
                <a:latin typeface="Consolas" panose="020B0609020204030204" pitchFamily="49" charset="0"/>
              </a:rPr>
              <a:t> error</a:t>
            </a:r>
          </a:p>
          <a:p>
            <a:r>
              <a:rPr lang="en-US" b="0" dirty="0">
                <a:solidFill>
                  <a:srgbClr val="CDD6F4"/>
                </a:solidFill>
                <a:effectLst/>
                <a:latin typeface="Consolas" panose="020B0609020204030204" pitchFamily="49" charset="0"/>
              </a:rPr>
              <a:t>    </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if</a:t>
            </a:r>
            <a:r>
              <a:rPr lang="en-US" b="0" dirty="0">
                <a:solidFill>
                  <a:srgbClr val="CDD6F4"/>
                </a:solidFill>
                <a:effectLst/>
                <a:latin typeface="Consolas" panose="020B0609020204030204" pitchFamily="49" charset="0"/>
              </a:rPr>
              <a:t> semaphore value is </a:t>
            </a:r>
            <a:r>
              <a:rPr lang="en-US" b="0" dirty="0">
                <a:solidFill>
                  <a:srgbClr val="FAB387"/>
                </a:solidFill>
                <a:effectLst/>
                <a:latin typeface="Consolas" panose="020B0609020204030204" pitchFamily="49" charset="0"/>
              </a:rPr>
              <a:t>1</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restore previous alarm</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return</a:t>
            </a:r>
            <a:r>
              <a:rPr lang="en-US" b="0" dirty="0">
                <a:solidFill>
                  <a:srgbClr val="CDD6F4"/>
                </a:solidFill>
                <a:effectLst/>
                <a:latin typeface="Consolas" panose="020B0609020204030204" pitchFamily="49" charset="0"/>
              </a:rPr>
              <a:t> </a:t>
            </a:r>
            <a:r>
              <a:rPr lang="en-US" b="0" dirty="0">
                <a:solidFill>
                  <a:srgbClr val="FAB387"/>
                </a:solidFill>
                <a:effectLst/>
                <a:latin typeface="Consolas" panose="020B0609020204030204" pitchFamily="49" charset="0"/>
              </a:rPr>
              <a:t>0</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increment semaphore value</a:t>
            </a:r>
          </a:p>
          <a:p>
            <a:r>
              <a:rPr lang="en-US" b="0" dirty="0">
                <a:solidFill>
                  <a:srgbClr val="CDD6F4"/>
                </a:solidFill>
                <a:effectLst/>
                <a:latin typeface="Consolas" panose="020B0609020204030204" pitchFamily="49" charset="0"/>
              </a:rPr>
              <a:t>    </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if</a:t>
            </a:r>
            <a:r>
              <a:rPr lang="en-US" b="0" dirty="0">
                <a:solidFill>
                  <a:srgbClr val="CDD6F4"/>
                </a:solidFill>
                <a:effectLst/>
                <a:latin typeface="Consolas" panose="020B0609020204030204" pitchFamily="49" charset="0"/>
              </a:rPr>
              <a:t> semaphore value is less than or equal to </a:t>
            </a:r>
            <a:r>
              <a:rPr lang="en-US" b="0" dirty="0">
                <a:solidFill>
                  <a:srgbClr val="FAB387"/>
                </a:solidFill>
                <a:effectLst/>
                <a:latin typeface="Consolas" panose="020B0609020204030204" pitchFamily="49" charset="0"/>
              </a:rPr>
              <a:t>0</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remove next thread from waiting queue of semaphore</a:t>
            </a:r>
          </a:p>
          <a:p>
            <a:r>
              <a:rPr lang="en-US" b="0" dirty="0">
                <a:solidFill>
                  <a:srgbClr val="CDD6F4"/>
                </a:solidFill>
                <a:effectLst/>
                <a:latin typeface="Consolas" panose="020B0609020204030204" pitchFamily="49" charset="0"/>
              </a:rPr>
              <a:t>        set the state of the next thread to ready</a:t>
            </a:r>
          </a:p>
          <a:p>
            <a:br>
              <a:rPr lang="en-US" b="0" dirty="0">
                <a:solidFill>
                  <a:srgbClr val="CDD6F4"/>
                </a:solidFill>
                <a:effectLst/>
                <a:latin typeface="Consolas" panose="020B0609020204030204" pitchFamily="49" charset="0"/>
              </a:rPr>
            </a:br>
            <a:r>
              <a:rPr lang="en-US" b="0" dirty="0">
                <a:solidFill>
                  <a:srgbClr val="CDD6F4"/>
                </a:solidFill>
                <a:effectLst/>
                <a:latin typeface="Consolas" panose="020B0609020204030204" pitchFamily="49" charset="0"/>
              </a:rPr>
              <a:t>    restore previous alarm</a:t>
            </a: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return</a:t>
            </a:r>
            <a:r>
              <a:rPr lang="en-US" b="0" dirty="0">
                <a:solidFill>
                  <a:srgbClr val="CDD6F4"/>
                </a:solidFill>
                <a:effectLst/>
                <a:latin typeface="Consolas" panose="020B0609020204030204" pitchFamily="49" charset="0"/>
              </a:rPr>
              <a:t> </a:t>
            </a:r>
            <a:r>
              <a:rPr lang="en-US" b="0" dirty="0">
                <a:solidFill>
                  <a:srgbClr val="FAB387"/>
                </a:solidFill>
                <a:effectLst/>
                <a:latin typeface="Consolas" panose="020B0609020204030204" pitchFamily="49" charset="0"/>
              </a:rPr>
              <a:t>1</a:t>
            </a:r>
            <a:endParaRPr lang="en-US" b="0" dirty="0">
              <a:solidFill>
                <a:srgbClr val="CDD6F4"/>
              </a:solidFill>
              <a:effectLst/>
              <a:latin typeface="Consolas" panose="020B0609020204030204" pitchFamily="49" charset="0"/>
            </a:endParaRPr>
          </a:p>
          <a:p>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p:txBody>
      </p:sp>
    </p:spTree>
    <p:extLst>
      <p:ext uri="{BB962C8B-B14F-4D97-AF65-F5344CB8AC3E}">
        <p14:creationId xmlns:p14="http://schemas.microsoft.com/office/powerpoint/2010/main" val="30217351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2493A-B4B2-F964-5B1E-9F3C96FA19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1DFEF7-B8AC-0593-71F5-B65CA1B953ED}"/>
              </a:ext>
            </a:extLst>
          </p:cNvPr>
          <p:cNvSpPr>
            <a:spLocks noGrp="1"/>
          </p:cNvSpPr>
          <p:nvPr>
            <p:ph type="title"/>
          </p:nvPr>
        </p:nvSpPr>
        <p:spPr>
          <a:xfrm>
            <a:off x="838200" y="337015"/>
            <a:ext cx="10515600" cy="1325563"/>
          </a:xfrm>
        </p:spPr>
        <p:txBody>
          <a:bodyPr/>
          <a:lstStyle/>
          <a:p>
            <a:r>
              <a:rPr lang="en-US" b="1" dirty="0"/>
              <a:t>Assignment 2: </a:t>
            </a:r>
            <a:r>
              <a:rPr lang="en-US" dirty="0"/>
              <a:t>Additional challenges</a:t>
            </a:r>
          </a:p>
        </p:txBody>
      </p:sp>
      <p:sp>
        <p:nvSpPr>
          <p:cNvPr id="3" name="TextBox 2">
            <a:extLst>
              <a:ext uri="{FF2B5EF4-FFF2-40B4-BE49-F238E27FC236}">
                <a16:creationId xmlns:a16="http://schemas.microsoft.com/office/drawing/2014/main" id="{0300E753-F61D-DDC3-740A-E5A0193464A0}"/>
              </a:ext>
            </a:extLst>
          </p:cNvPr>
          <p:cNvSpPr txBox="1"/>
          <p:nvPr/>
        </p:nvSpPr>
        <p:spPr>
          <a:xfrm>
            <a:off x="838200" y="1662578"/>
            <a:ext cx="10223268" cy="3416320"/>
          </a:xfrm>
          <a:prstGeom prst="rect">
            <a:avLst/>
          </a:prstGeom>
          <a:noFill/>
        </p:spPr>
        <p:txBody>
          <a:bodyPr wrap="square" rtlCol="0">
            <a:spAutoFit/>
          </a:bodyPr>
          <a:lstStyle/>
          <a:p>
            <a:r>
              <a:rPr lang="en-US" dirty="0"/>
              <a:t>During the testing phase of the library, we discovered that the </a:t>
            </a:r>
            <a:r>
              <a:rPr lang="en-US" dirty="0" err="1"/>
              <a:t>scanf</a:t>
            </a:r>
            <a:r>
              <a:rPr lang="en-US" dirty="0"/>
              <a:t> function posed issues when reading from the standard input: The function is frequently interrupted by the alarm mechanism, causing it to return immediately with an interrupted error. </a:t>
            </a:r>
          </a:p>
          <a:p>
            <a:endParaRPr lang="en-US" dirty="0"/>
          </a:p>
          <a:p>
            <a:r>
              <a:rPr lang="en-US" dirty="0"/>
              <a:t>In order to fix this issue we wanted to implemented our own </a:t>
            </a:r>
            <a:r>
              <a:rPr lang="en-US" dirty="0" err="1"/>
              <a:t>scanf</a:t>
            </a:r>
            <a:r>
              <a:rPr lang="en-US" dirty="0"/>
              <a:t> function which would solve this problem. We would also need to make some changes to the scheduler:</a:t>
            </a:r>
          </a:p>
          <a:p>
            <a:endParaRPr lang="en-US" dirty="0"/>
          </a:p>
          <a:p>
            <a:r>
              <a:rPr lang="en-US" dirty="0"/>
              <a:t>The scheduler checks if standard input has been updated. Upon detecting an update, the scheduler switches to any thread that was waiting for input. The thread will consume the new data in the standard input only if the format string matches the input. If the format string does not match, the data remains unaltered. This allows for multiple threads that are waiting for new input to process the standard input.</a:t>
            </a:r>
          </a:p>
        </p:txBody>
      </p:sp>
    </p:spTree>
    <p:extLst>
      <p:ext uri="{BB962C8B-B14F-4D97-AF65-F5344CB8AC3E}">
        <p14:creationId xmlns:p14="http://schemas.microsoft.com/office/powerpoint/2010/main" val="22110377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7D399-9C00-E7F1-C1C0-BD4F40BDCC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3D7B91-040E-C45E-5FAF-C8BA4BF62E4C}"/>
              </a:ext>
            </a:extLst>
          </p:cNvPr>
          <p:cNvSpPr>
            <a:spLocks noGrp="1"/>
          </p:cNvSpPr>
          <p:nvPr>
            <p:ph type="ctrTitle"/>
          </p:nvPr>
        </p:nvSpPr>
        <p:spPr>
          <a:xfrm>
            <a:off x="1524000" y="2945034"/>
            <a:ext cx="9144000" cy="967931"/>
          </a:xfrm>
        </p:spPr>
        <p:txBody>
          <a:bodyPr/>
          <a:lstStyle/>
          <a:p>
            <a:r>
              <a:rPr lang="en-US" dirty="0"/>
              <a:t>Assignment 3</a:t>
            </a:r>
          </a:p>
        </p:txBody>
      </p:sp>
    </p:spTree>
    <p:extLst>
      <p:ext uri="{BB962C8B-B14F-4D97-AF65-F5344CB8AC3E}">
        <p14:creationId xmlns:p14="http://schemas.microsoft.com/office/powerpoint/2010/main" val="26363474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42FD4-BF26-9EBB-5971-7872A76A15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659D05-F676-D1A3-5162-FADF972B122D}"/>
              </a:ext>
            </a:extLst>
          </p:cNvPr>
          <p:cNvSpPr>
            <a:spLocks noGrp="1"/>
          </p:cNvSpPr>
          <p:nvPr>
            <p:ph type="title"/>
          </p:nvPr>
        </p:nvSpPr>
        <p:spPr>
          <a:xfrm>
            <a:off x="838200" y="337015"/>
            <a:ext cx="10515600" cy="1325563"/>
          </a:xfrm>
        </p:spPr>
        <p:txBody>
          <a:bodyPr/>
          <a:lstStyle/>
          <a:p>
            <a:r>
              <a:rPr lang="en-US" b="1" dirty="0"/>
              <a:t>Assignment 3: </a:t>
            </a:r>
            <a:r>
              <a:rPr lang="en-US" dirty="0"/>
              <a:t>Variables</a:t>
            </a:r>
          </a:p>
        </p:txBody>
      </p:sp>
      <p:sp>
        <p:nvSpPr>
          <p:cNvPr id="3" name="TextBox 2">
            <a:extLst>
              <a:ext uri="{FF2B5EF4-FFF2-40B4-BE49-F238E27FC236}">
                <a16:creationId xmlns:a16="http://schemas.microsoft.com/office/drawing/2014/main" id="{3C869C81-9948-6937-DC41-0870C2E164AB}"/>
              </a:ext>
            </a:extLst>
          </p:cNvPr>
          <p:cNvSpPr txBox="1"/>
          <p:nvPr/>
        </p:nvSpPr>
        <p:spPr>
          <a:xfrm>
            <a:off x="692150" y="1955800"/>
            <a:ext cx="184731" cy="369332"/>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32FCA5A8-3B93-CB8B-6F23-2C7360A39CD0}"/>
              </a:ext>
            </a:extLst>
          </p:cNvPr>
          <p:cNvSpPr txBox="1"/>
          <p:nvPr/>
        </p:nvSpPr>
        <p:spPr>
          <a:xfrm>
            <a:off x="876881" y="1662578"/>
            <a:ext cx="5123518" cy="2862322"/>
          </a:xfrm>
          <a:prstGeom prst="rect">
            <a:avLst/>
          </a:prstGeom>
          <a:noFill/>
        </p:spPr>
        <p:txBody>
          <a:bodyPr wrap="none" rtlCol="0">
            <a:spAutoFit/>
          </a:bodyPr>
          <a:lstStyle/>
          <a:p>
            <a:r>
              <a:rPr lang="en-US" b="0" i="1" dirty="0" err="1">
                <a:solidFill>
                  <a:srgbClr val="F9E2AF"/>
                </a:solidFill>
                <a:effectLst/>
                <a:latin typeface="Consolas" panose="020B0609020204030204" pitchFamily="49" charset="0"/>
              </a:rPr>
              <a:t>mythreads_sem_t</a:t>
            </a:r>
            <a:r>
              <a:rPr lang="en-US" b="0" dirty="0">
                <a:solidFill>
                  <a:srgbClr val="CDD6F4"/>
                </a:solidFill>
                <a:effectLst/>
                <a:latin typeface="Consolas" panose="020B0609020204030204" pitchFamily="49" charset="0"/>
              </a:rPr>
              <a:t> </a:t>
            </a:r>
            <a:r>
              <a:rPr lang="en-US" b="0" dirty="0" err="1">
                <a:solidFill>
                  <a:srgbClr val="CDD6F4"/>
                </a:solidFill>
                <a:effectLst/>
                <a:latin typeface="Consolas" panose="020B0609020204030204" pitchFamily="49" charset="0"/>
              </a:rPr>
              <a:t>mtx</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i="1" dirty="0" err="1">
                <a:solidFill>
                  <a:srgbClr val="F9E2AF"/>
                </a:solidFill>
                <a:effectLst/>
                <a:latin typeface="Consolas" panose="020B0609020204030204" pitchFamily="49" charset="0"/>
              </a:rPr>
              <a:t>mythreads_sem_t</a:t>
            </a:r>
            <a:r>
              <a:rPr lang="en-US" b="0" dirty="0">
                <a:solidFill>
                  <a:srgbClr val="CDD6F4"/>
                </a:solidFill>
                <a:effectLst/>
                <a:latin typeface="Consolas" panose="020B0609020204030204" pitchFamily="49" charset="0"/>
              </a:rPr>
              <a:t> </a:t>
            </a:r>
            <a:r>
              <a:rPr lang="en-US" b="0" dirty="0" err="1">
                <a:solidFill>
                  <a:srgbClr val="CDD6F4"/>
                </a:solidFill>
                <a:effectLst/>
                <a:latin typeface="Consolas" panose="020B0609020204030204" pitchFamily="49" charset="0"/>
              </a:rPr>
              <a:t>readers_queue</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i="1" dirty="0" err="1">
                <a:solidFill>
                  <a:srgbClr val="F9E2AF"/>
                </a:solidFill>
                <a:effectLst/>
                <a:latin typeface="Consolas" panose="020B0609020204030204" pitchFamily="49" charset="0"/>
              </a:rPr>
              <a:t>mythreads_sem_t</a:t>
            </a:r>
            <a:r>
              <a:rPr lang="en-US" b="0" dirty="0">
                <a:solidFill>
                  <a:srgbClr val="CDD6F4"/>
                </a:solidFill>
                <a:effectLst/>
                <a:latin typeface="Consolas" panose="020B0609020204030204" pitchFamily="49" charset="0"/>
              </a:rPr>
              <a:t> </a:t>
            </a:r>
            <a:r>
              <a:rPr lang="en-US" b="0" dirty="0" err="1">
                <a:solidFill>
                  <a:srgbClr val="CDD6F4"/>
                </a:solidFill>
                <a:effectLst/>
                <a:latin typeface="Consolas" panose="020B0609020204030204" pitchFamily="49" charset="0"/>
              </a:rPr>
              <a:t>writers_queue</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BA6F7"/>
                </a:solidFill>
                <a:effectLst/>
                <a:latin typeface="Consolas" panose="020B0609020204030204" pitchFamily="49" charset="0"/>
              </a:rPr>
              <a:t>int</a:t>
            </a:r>
            <a:r>
              <a:rPr lang="en-US" b="0" dirty="0">
                <a:solidFill>
                  <a:srgbClr val="CDD6F4"/>
                </a:solidFill>
                <a:effectLst/>
                <a:latin typeface="Consolas" panose="020B0609020204030204" pitchFamily="49" charset="0"/>
              </a:rPr>
              <a:t> </a:t>
            </a:r>
            <a:r>
              <a:rPr lang="en-US" b="0" dirty="0" err="1">
                <a:solidFill>
                  <a:srgbClr val="CDD6F4"/>
                </a:solidFill>
                <a:effectLst/>
                <a:latin typeface="Consolas" panose="020B0609020204030204" pitchFamily="49" charset="0"/>
              </a:rPr>
              <a:t>readers_waiting</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FAB387"/>
                </a:solidFill>
                <a:effectLst/>
                <a:latin typeface="Consolas" panose="020B0609020204030204" pitchFamily="49" charset="0"/>
              </a:rPr>
              <a:t>0</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BA6F7"/>
                </a:solidFill>
                <a:effectLst/>
                <a:latin typeface="Consolas" panose="020B0609020204030204" pitchFamily="49" charset="0"/>
              </a:rPr>
              <a:t>int</a:t>
            </a:r>
            <a:r>
              <a:rPr lang="en-US" b="0" dirty="0">
                <a:solidFill>
                  <a:srgbClr val="CDD6F4"/>
                </a:solidFill>
                <a:effectLst/>
                <a:latin typeface="Consolas" panose="020B0609020204030204" pitchFamily="49" charset="0"/>
              </a:rPr>
              <a:t> </a:t>
            </a:r>
            <a:r>
              <a:rPr lang="en-US" b="0" dirty="0" err="1">
                <a:solidFill>
                  <a:srgbClr val="CDD6F4"/>
                </a:solidFill>
                <a:effectLst/>
                <a:latin typeface="Consolas" panose="020B0609020204030204" pitchFamily="49" charset="0"/>
              </a:rPr>
              <a:t>writers_wating</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FAB387"/>
                </a:solidFill>
                <a:effectLst/>
                <a:latin typeface="Consolas" panose="020B0609020204030204" pitchFamily="49" charset="0"/>
              </a:rPr>
              <a:t>0</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BA6F7"/>
                </a:solidFill>
                <a:effectLst/>
                <a:latin typeface="Consolas" panose="020B0609020204030204" pitchFamily="49" charset="0"/>
              </a:rPr>
              <a:t>int</a:t>
            </a:r>
            <a:r>
              <a:rPr lang="en-US" b="0" dirty="0">
                <a:solidFill>
                  <a:srgbClr val="CDD6F4"/>
                </a:solidFill>
                <a:effectLst/>
                <a:latin typeface="Consolas" panose="020B0609020204030204" pitchFamily="49" charset="0"/>
              </a:rPr>
              <a:t> readers </a:t>
            </a:r>
            <a:r>
              <a:rPr lang="en-US" b="0" dirty="0">
                <a:solidFill>
                  <a:srgbClr val="94E2D5"/>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FAB387"/>
                </a:solidFill>
                <a:effectLst/>
                <a:latin typeface="Consolas" panose="020B0609020204030204" pitchFamily="49" charset="0"/>
              </a:rPr>
              <a:t>0</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BA6F7"/>
                </a:solidFill>
                <a:effectLst/>
                <a:latin typeface="Consolas" panose="020B0609020204030204" pitchFamily="49" charset="0"/>
              </a:rPr>
              <a:t>int</a:t>
            </a:r>
            <a:r>
              <a:rPr lang="en-US" b="0" dirty="0">
                <a:solidFill>
                  <a:srgbClr val="CDD6F4"/>
                </a:solidFill>
                <a:effectLst/>
                <a:latin typeface="Consolas" panose="020B0609020204030204" pitchFamily="49" charset="0"/>
              </a:rPr>
              <a:t> writers </a:t>
            </a:r>
            <a:r>
              <a:rPr lang="en-US" b="0" dirty="0">
                <a:solidFill>
                  <a:srgbClr val="94E2D5"/>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FAB387"/>
                </a:solidFill>
                <a:effectLst/>
                <a:latin typeface="Consolas" panose="020B0609020204030204" pitchFamily="49" charset="0"/>
              </a:rPr>
              <a:t>0</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i="1" dirty="0" err="1">
                <a:solidFill>
                  <a:srgbClr val="89B4FA"/>
                </a:solidFill>
                <a:effectLst/>
                <a:latin typeface="Consolas" panose="020B0609020204030204" pitchFamily="49" charset="0"/>
              </a:rPr>
              <a:t>mythreads_sem_create</a:t>
            </a:r>
            <a:r>
              <a:rPr lang="en-US" b="0" dirty="0">
                <a:solidFill>
                  <a:srgbClr val="9399B2"/>
                </a:solidFill>
                <a:effectLst/>
                <a:latin typeface="Consolas" panose="020B0609020204030204" pitchFamily="49" charset="0"/>
              </a:rPr>
              <a:t>(</a:t>
            </a:r>
            <a:r>
              <a:rPr lang="en-US" b="0" dirty="0" err="1">
                <a:solidFill>
                  <a:srgbClr val="CDD6F4"/>
                </a:solidFill>
                <a:effectLst/>
                <a:latin typeface="Consolas" panose="020B0609020204030204" pitchFamily="49" charset="0"/>
              </a:rPr>
              <a:t>mtx</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FAB387"/>
                </a:solidFill>
                <a:effectLst/>
                <a:latin typeface="Consolas" panose="020B0609020204030204" pitchFamily="49" charset="0"/>
              </a:rPr>
              <a:t>1</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i="1" dirty="0" err="1">
                <a:solidFill>
                  <a:srgbClr val="89B4FA"/>
                </a:solidFill>
                <a:effectLst/>
                <a:latin typeface="Consolas" panose="020B0609020204030204" pitchFamily="49" charset="0"/>
              </a:rPr>
              <a:t>mythreads_sem_create</a:t>
            </a:r>
            <a:r>
              <a:rPr lang="en-US" b="0" dirty="0">
                <a:solidFill>
                  <a:srgbClr val="9399B2"/>
                </a:solidFill>
                <a:effectLst/>
                <a:latin typeface="Consolas" panose="020B0609020204030204" pitchFamily="49" charset="0"/>
              </a:rPr>
              <a:t>(</a:t>
            </a:r>
            <a:r>
              <a:rPr lang="en-US" b="0" dirty="0" err="1">
                <a:solidFill>
                  <a:srgbClr val="CDD6F4"/>
                </a:solidFill>
                <a:effectLst/>
                <a:latin typeface="Consolas" panose="020B0609020204030204" pitchFamily="49" charset="0"/>
              </a:rPr>
              <a:t>writers_queue</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FAB387"/>
                </a:solidFill>
                <a:effectLst/>
                <a:latin typeface="Consolas" panose="020B0609020204030204" pitchFamily="49" charset="0"/>
              </a:rPr>
              <a:t>0</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i="1" dirty="0" err="1">
                <a:solidFill>
                  <a:srgbClr val="89B4FA"/>
                </a:solidFill>
                <a:effectLst/>
                <a:latin typeface="Consolas" panose="020B0609020204030204" pitchFamily="49" charset="0"/>
              </a:rPr>
              <a:t>mythreads_sem_create</a:t>
            </a:r>
            <a:r>
              <a:rPr lang="en-US" b="0" dirty="0">
                <a:solidFill>
                  <a:srgbClr val="9399B2"/>
                </a:solidFill>
                <a:effectLst/>
                <a:latin typeface="Consolas" panose="020B0609020204030204" pitchFamily="49" charset="0"/>
              </a:rPr>
              <a:t>(</a:t>
            </a:r>
            <a:r>
              <a:rPr lang="en-US" b="0" dirty="0" err="1">
                <a:solidFill>
                  <a:srgbClr val="CDD6F4"/>
                </a:solidFill>
                <a:effectLst/>
                <a:latin typeface="Consolas" panose="020B0609020204030204" pitchFamily="49" charset="0"/>
              </a:rPr>
              <a:t>readers_queue</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FAB387"/>
                </a:solidFill>
                <a:effectLst/>
                <a:latin typeface="Consolas" panose="020B0609020204030204" pitchFamily="49" charset="0"/>
              </a:rPr>
              <a:t>0</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p:txBody>
      </p:sp>
    </p:spTree>
    <p:extLst>
      <p:ext uri="{BB962C8B-B14F-4D97-AF65-F5344CB8AC3E}">
        <p14:creationId xmlns:p14="http://schemas.microsoft.com/office/powerpoint/2010/main" val="21474697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87923-F4F6-646E-91B3-54C890C55D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1F4BA3-D1B3-5A7D-39BE-EE685A38433C}"/>
              </a:ext>
            </a:extLst>
          </p:cNvPr>
          <p:cNvSpPr>
            <a:spLocks noGrp="1"/>
          </p:cNvSpPr>
          <p:nvPr>
            <p:ph type="title"/>
          </p:nvPr>
        </p:nvSpPr>
        <p:spPr>
          <a:xfrm>
            <a:off x="838200" y="337015"/>
            <a:ext cx="10515600" cy="1325563"/>
          </a:xfrm>
        </p:spPr>
        <p:txBody>
          <a:bodyPr/>
          <a:lstStyle/>
          <a:p>
            <a:r>
              <a:rPr lang="en-US" b="1" dirty="0"/>
              <a:t>Assignment 3: </a:t>
            </a:r>
            <a:r>
              <a:rPr lang="en-US" dirty="0"/>
              <a:t>Reader function</a:t>
            </a:r>
          </a:p>
        </p:txBody>
      </p:sp>
      <p:sp>
        <p:nvSpPr>
          <p:cNvPr id="3" name="TextBox 2">
            <a:extLst>
              <a:ext uri="{FF2B5EF4-FFF2-40B4-BE49-F238E27FC236}">
                <a16:creationId xmlns:a16="http://schemas.microsoft.com/office/drawing/2014/main" id="{C0F7E705-2117-EBF2-A733-95A63432AC72}"/>
              </a:ext>
            </a:extLst>
          </p:cNvPr>
          <p:cNvSpPr txBox="1"/>
          <p:nvPr/>
        </p:nvSpPr>
        <p:spPr>
          <a:xfrm>
            <a:off x="692150" y="1955800"/>
            <a:ext cx="184731" cy="369332"/>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0FFD53D7-44E5-2F16-DCBB-BD31AE146988}"/>
              </a:ext>
            </a:extLst>
          </p:cNvPr>
          <p:cNvSpPr txBox="1"/>
          <p:nvPr/>
        </p:nvSpPr>
        <p:spPr>
          <a:xfrm>
            <a:off x="876881" y="1662578"/>
            <a:ext cx="5458546" cy="4770537"/>
          </a:xfrm>
          <a:prstGeom prst="rect">
            <a:avLst/>
          </a:prstGeom>
          <a:noFill/>
        </p:spPr>
        <p:txBody>
          <a:bodyPr wrap="none" rtlCol="0">
            <a:spAutoFit/>
          </a:bodyPr>
          <a:lstStyle/>
          <a:p>
            <a:r>
              <a:rPr lang="en-US" sz="1600" b="0" dirty="0">
                <a:solidFill>
                  <a:srgbClr val="CBA6F7"/>
                </a:solidFill>
                <a:effectLst/>
                <a:latin typeface="Consolas" panose="020B0609020204030204" pitchFamily="49" charset="0"/>
              </a:rPr>
              <a:t>void</a:t>
            </a:r>
            <a:r>
              <a:rPr lang="en-US" sz="1600" b="0" dirty="0">
                <a:solidFill>
                  <a:srgbClr val="CDD6F4"/>
                </a:solidFill>
                <a:effectLst/>
                <a:latin typeface="Consolas" panose="020B0609020204030204" pitchFamily="49" charset="0"/>
              </a:rPr>
              <a:t> </a:t>
            </a:r>
            <a:r>
              <a:rPr lang="en-US" sz="1600" b="0" i="1" dirty="0">
                <a:solidFill>
                  <a:srgbClr val="89B4FA"/>
                </a:solidFill>
                <a:effectLst/>
                <a:latin typeface="Consolas" panose="020B0609020204030204" pitchFamily="49" charset="0"/>
              </a:rPr>
              <a:t>reader</a:t>
            </a:r>
            <a:r>
              <a:rPr lang="en-US" sz="1600" b="0" dirty="0">
                <a:solidFill>
                  <a:srgbClr val="9399B2"/>
                </a:solidFill>
                <a:effectLst/>
                <a:latin typeface="Consolas" panose="020B0609020204030204" pitchFamily="49" charset="0"/>
              </a:rPr>
              <a:t>(</a:t>
            </a:r>
            <a:r>
              <a:rPr lang="en-US" sz="1600" b="0" dirty="0">
                <a:solidFill>
                  <a:srgbClr val="CBA6F7"/>
                </a:solidFill>
                <a:effectLst/>
                <a:latin typeface="Consolas" panose="020B0609020204030204" pitchFamily="49" charset="0"/>
              </a:rPr>
              <a:t>void</a:t>
            </a:r>
            <a:r>
              <a:rPr lang="en-US" sz="1600" b="0" dirty="0">
                <a:solidFill>
                  <a:srgbClr val="CDD6F4"/>
                </a:solidFill>
                <a:effectLst/>
                <a:latin typeface="Consolas" panose="020B0609020204030204" pitchFamily="49" charset="0"/>
              </a:rPr>
              <a:t> </a:t>
            </a:r>
            <a:r>
              <a:rPr lang="en-US" sz="1600" b="0" dirty="0">
                <a:solidFill>
                  <a:srgbClr val="94E2D5"/>
                </a:solidFill>
                <a:effectLst/>
                <a:latin typeface="Consolas" panose="020B0609020204030204" pitchFamily="49" charset="0"/>
              </a:rPr>
              <a:t>*</a:t>
            </a:r>
            <a:r>
              <a:rPr lang="en-US" sz="1600" b="0" i="1" dirty="0" err="1">
                <a:solidFill>
                  <a:srgbClr val="EBA0AC"/>
                </a:solidFill>
                <a:effectLst/>
                <a:latin typeface="Consolas" panose="020B0609020204030204" pitchFamily="49" charset="0"/>
              </a:rPr>
              <a:t>arg</a:t>
            </a:r>
            <a:r>
              <a:rPr lang="en-US" sz="1600" b="0" dirty="0">
                <a:solidFill>
                  <a:srgbClr val="9399B2"/>
                </a:solidFill>
                <a:effectLst/>
                <a:latin typeface="Consolas" panose="020B0609020204030204" pitchFamily="49" charset="0"/>
              </a:rPr>
              <a:t>)</a:t>
            </a:r>
            <a:r>
              <a:rPr lang="en-US" sz="1600" b="0" dirty="0">
                <a:solidFill>
                  <a:srgbClr val="CDD6F4"/>
                </a:solidFill>
                <a:effectLst/>
                <a:latin typeface="Consolas" panose="020B0609020204030204" pitchFamily="49" charset="0"/>
              </a:rPr>
              <a:t> </a:t>
            </a:r>
            <a:r>
              <a:rPr lang="en-US" sz="1600" b="0" dirty="0">
                <a:solidFill>
                  <a:srgbClr val="9399B2"/>
                </a:solidFill>
                <a:effectLst/>
                <a:latin typeface="Consolas" panose="020B0609020204030204" pitchFamily="49" charset="0"/>
              </a:rPr>
              <a:t>{</a:t>
            </a:r>
            <a:endParaRPr lang="en-US" sz="1600" b="0" dirty="0">
              <a:solidFill>
                <a:srgbClr val="CDD6F4"/>
              </a:solidFill>
              <a:effectLst/>
              <a:latin typeface="Consolas" panose="020B0609020204030204" pitchFamily="49" charset="0"/>
            </a:endParaRPr>
          </a:p>
          <a:p>
            <a:r>
              <a:rPr lang="en-US" sz="1600" b="0" dirty="0">
                <a:solidFill>
                  <a:srgbClr val="CDD6F4"/>
                </a:solidFill>
                <a:effectLst/>
                <a:latin typeface="Consolas" panose="020B0609020204030204" pitchFamily="49" charset="0"/>
              </a:rPr>
              <a:t>    </a:t>
            </a:r>
            <a:r>
              <a:rPr lang="en-US" sz="1600" b="0" i="1" dirty="0" err="1">
                <a:solidFill>
                  <a:srgbClr val="89B4FA"/>
                </a:solidFill>
                <a:effectLst/>
                <a:latin typeface="Consolas" panose="020B0609020204030204" pitchFamily="49" charset="0"/>
              </a:rPr>
              <a:t>mythread_sem_down</a:t>
            </a:r>
            <a:r>
              <a:rPr lang="en-US" sz="1600" b="0" dirty="0">
                <a:solidFill>
                  <a:srgbClr val="9399B2"/>
                </a:solidFill>
                <a:effectLst/>
                <a:latin typeface="Consolas" panose="020B0609020204030204" pitchFamily="49" charset="0"/>
              </a:rPr>
              <a:t>(</a:t>
            </a:r>
            <a:r>
              <a:rPr lang="en-US" sz="1600" b="0" dirty="0" err="1">
                <a:solidFill>
                  <a:srgbClr val="CDD6F4"/>
                </a:solidFill>
                <a:effectLst/>
                <a:latin typeface="Consolas" panose="020B0609020204030204" pitchFamily="49" charset="0"/>
              </a:rPr>
              <a:t>mtx</a:t>
            </a:r>
            <a:r>
              <a:rPr lang="en-US" sz="1600" b="0" dirty="0">
                <a:solidFill>
                  <a:srgbClr val="9399B2"/>
                </a:solidFill>
                <a:effectLst/>
                <a:latin typeface="Consolas" panose="020B0609020204030204" pitchFamily="49" charset="0"/>
              </a:rPr>
              <a:t>);</a:t>
            </a:r>
            <a:endParaRPr lang="en-US" sz="1600" b="0" dirty="0">
              <a:solidFill>
                <a:srgbClr val="CDD6F4"/>
              </a:solidFill>
              <a:effectLst/>
              <a:latin typeface="Consolas" panose="020B0609020204030204" pitchFamily="49" charset="0"/>
            </a:endParaRPr>
          </a:p>
          <a:p>
            <a:r>
              <a:rPr lang="en-US" sz="1600" b="0" dirty="0">
                <a:solidFill>
                  <a:srgbClr val="CDD6F4"/>
                </a:solidFill>
                <a:effectLst/>
                <a:latin typeface="Consolas" panose="020B0609020204030204" pitchFamily="49" charset="0"/>
              </a:rPr>
              <a:t>    </a:t>
            </a:r>
            <a:r>
              <a:rPr lang="en-US" sz="1600" b="0" dirty="0">
                <a:solidFill>
                  <a:srgbClr val="CBA6F7"/>
                </a:solidFill>
                <a:effectLst/>
                <a:latin typeface="Consolas" panose="020B0609020204030204" pitchFamily="49" charset="0"/>
              </a:rPr>
              <a:t>if</a:t>
            </a:r>
            <a:r>
              <a:rPr lang="en-US" sz="1600" b="0" dirty="0">
                <a:solidFill>
                  <a:srgbClr val="CDD6F4"/>
                </a:solidFill>
                <a:effectLst/>
                <a:latin typeface="Consolas" panose="020B0609020204030204" pitchFamily="49" charset="0"/>
              </a:rPr>
              <a:t> </a:t>
            </a:r>
            <a:r>
              <a:rPr lang="en-US" sz="1600" b="0" dirty="0">
                <a:solidFill>
                  <a:srgbClr val="9399B2"/>
                </a:solidFill>
                <a:effectLst/>
                <a:latin typeface="Consolas" panose="020B0609020204030204" pitchFamily="49" charset="0"/>
              </a:rPr>
              <a:t>(</a:t>
            </a:r>
            <a:r>
              <a:rPr lang="en-US" sz="1600" b="0" dirty="0">
                <a:solidFill>
                  <a:srgbClr val="CDD6F4"/>
                </a:solidFill>
                <a:effectLst/>
                <a:latin typeface="Consolas" panose="020B0609020204030204" pitchFamily="49" charset="0"/>
              </a:rPr>
              <a:t>writers are </a:t>
            </a:r>
            <a:r>
              <a:rPr lang="en-US" sz="1600" b="0" dirty="0" err="1">
                <a:solidFill>
                  <a:srgbClr val="CDD6F4"/>
                </a:solidFill>
                <a:effectLst/>
                <a:latin typeface="Consolas" panose="020B0609020204030204" pitchFamily="49" charset="0"/>
              </a:rPr>
              <a:t>wating</a:t>
            </a:r>
            <a:r>
              <a:rPr lang="en-US" sz="1600" b="0" dirty="0">
                <a:solidFill>
                  <a:srgbClr val="CDD6F4"/>
                </a:solidFill>
                <a:effectLst/>
                <a:latin typeface="Consolas" panose="020B0609020204030204" pitchFamily="49" charset="0"/>
              </a:rPr>
              <a:t> OR a writer in CS</a:t>
            </a:r>
            <a:r>
              <a:rPr lang="en-US" sz="1600" b="0" dirty="0">
                <a:solidFill>
                  <a:srgbClr val="9399B2"/>
                </a:solidFill>
                <a:effectLst/>
                <a:latin typeface="Consolas" panose="020B0609020204030204" pitchFamily="49" charset="0"/>
              </a:rPr>
              <a:t>)</a:t>
            </a:r>
            <a:r>
              <a:rPr lang="en-US" sz="1600" b="0" dirty="0">
                <a:solidFill>
                  <a:srgbClr val="CDD6F4"/>
                </a:solidFill>
                <a:effectLst/>
                <a:latin typeface="Consolas" panose="020B0609020204030204" pitchFamily="49" charset="0"/>
              </a:rPr>
              <a:t> </a:t>
            </a:r>
            <a:r>
              <a:rPr lang="en-US" sz="1600" b="0" dirty="0">
                <a:solidFill>
                  <a:srgbClr val="9399B2"/>
                </a:solidFill>
                <a:effectLst/>
                <a:latin typeface="Consolas" panose="020B0609020204030204" pitchFamily="49" charset="0"/>
              </a:rPr>
              <a:t>{</a:t>
            </a:r>
            <a:endParaRPr lang="en-US" sz="1600" b="0" dirty="0">
              <a:solidFill>
                <a:srgbClr val="CDD6F4"/>
              </a:solidFill>
              <a:effectLst/>
              <a:latin typeface="Consolas" panose="020B0609020204030204" pitchFamily="49" charset="0"/>
            </a:endParaRPr>
          </a:p>
          <a:p>
            <a:r>
              <a:rPr lang="en-US" sz="1600" b="0" dirty="0">
                <a:solidFill>
                  <a:srgbClr val="CDD6F4"/>
                </a:solidFill>
                <a:effectLst/>
                <a:latin typeface="Consolas" panose="020B0609020204030204" pitchFamily="49" charset="0"/>
              </a:rPr>
              <a:t>        increase </a:t>
            </a:r>
            <a:r>
              <a:rPr lang="en-US" sz="1600" b="0" dirty="0" err="1">
                <a:solidFill>
                  <a:srgbClr val="CDD6F4"/>
                </a:solidFill>
                <a:effectLst/>
                <a:latin typeface="Consolas" panose="020B0609020204030204" pitchFamily="49" charset="0"/>
              </a:rPr>
              <a:t>readers_waiting</a:t>
            </a:r>
            <a:r>
              <a:rPr lang="en-US" sz="1600" b="0" dirty="0">
                <a:solidFill>
                  <a:srgbClr val="CDD6F4"/>
                </a:solidFill>
                <a:effectLst/>
                <a:latin typeface="Consolas" panose="020B0609020204030204" pitchFamily="49" charset="0"/>
              </a:rPr>
              <a:t> by </a:t>
            </a:r>
            <a:r>
              <a:rPr lang="en-US" sz="1600" b="0" dirty="0">
                <a:solidFill>
                  <a:srgbClr val="FAB387"/>
                </a:solidFill>
                <a:effectLst/>
                <a:latin typeface="Consolas" panose="020B0609020204030204" pitchFamily="49" charset="0"/>
              </a:rPr>
              <a:t>1</a:t>
            </a:r>
            <a:r>
              <a:rPr lang="en-US" sz="1600" b="0" dirty="0">
                <a:solidFill>
                  <a:srgbClr val="9399B2"/>
                </a:solidFill>
                <a:effectLst/>
                <a:latin typeface="Consolas" panose="020B0609020204030204" pitchFamily="49" charset="0"/>
              </a:rPr>
              <a:t>;</a:t>
            </a:r>
            <a:endParaRPr lang="en-US" sz="1600" b="0" dirty="0">
              <a:solidFill>
                <a:srgbClr val="CDD6F4"/>
              </a:solidFill>
              <a:effectLst/>
              <a:latin typeface="Consolas" panose="020B0609020204030204" pitchFamily="49" charset="0"/>
            </a:endParaRPr>
          </a:p>
          <a:p>
            <a:r>
              <a:rPr lang="en-US" sz="1600" b="0" dirty="0">
                <a:solidFill>
                  <a:srgbClr val="CDD6F4"/>
                </a:solidFill>
                <a:effectLst/>
                <a:latin typeface="Consolas" panose="020B0609020204030204" pitchFamily="49" charset="0"/>
              </a:rPr>
              <a:t>        </a:t>
            </a:r>
            <a:r>
              <a:rPr lang="en-US" sz="1600" b="0" i="1" dirty="0" err="1">
                <a:solidFill>
                  <a:srgbClr val="89B4FA"/>
                </a:solidFill>
                <a:effectLst/>
                <a:latin typeface="Consolas" panose="020B0609020204030204" pitchFamily="49" charset="0"/>
              </a:rPr>
              <a:t>mythreads_sem_up</a:t>
            </a:r>
            <a:r>
              <a:rPr lang="en-US" sz="1600" b="0" dirty="0">
                <a:solidFill>
                  <a:srgbClr val="9399B2"/>
                </a:solidFill>
                <a:effectLst/>
                <a:latin typeface="Consolas" panose="020B0609020204030204" pitchFamily="49" charset="0"/>
              </a:rPr>
              <a:t>(</a:t>
            </a:r>
            <a:r>
              <a:rPr lang="en-US" sz="1600" b="0" dirty="0" err="1">
                <a:solidFill>
                  <a:srgbClr val="CDD6F4"/>
                </a:solidFill>
                <a:effectLst/>
                <a:latin typeface="Consolas" panose="020B0609020204030204" pitchFamily="49" charset="0"/>
              </a:rPr>
              <a:t>mtx</a:t>
            </a:r>
            <a:r>
              <a:rPr lang="en-US" sz="1600" b="0" dirty="0">
                <a:solidFill>
                  <a:srgbClr val="9399B2"/>
                </a:solidFill>
                <a:effectLst/>
                <a:latin typeface="Consolas" panose="020B0609020204030204" pitchFamily="49" charset="0"/>
              </a:rPr>
              <a:t>);</a:t>
            </a:r>
            <a:endParaRPr lang="en-US" sz="1600" b="0" dirty="0">
              <a:solidFill>
                <a:srgbClr val="CDD6F4"/>
              </a:solidFill>
              <a:effectLst/>
              <a:latin typeface="Consolas" panose="020B0609020204030204" pitchFamily="49" charset="0"/>
            </a:endParaRPr>
          </a:p>
          <a:p>
            <a:r>
              <a:rPr lang="en-US" sz="1600" b="0" dirty="0">
                <a:solidFill>
                  <a:srgbClr val="CDD6F4"/>
                </a:solidFill>
                <a:effectLst/>
                <a:latin typeface="Consolas" panose="020B0609020204030204" pitchFamily="49" charset="0"/>
              </a:rPr>
              <a:t>        </a:t>
            </a:r>
            <a:r>
              <a:rPr lang="en-US" sz="1600" b="0" i="1" dirty="0" err="1">
                <a:solidFill>
                  <a:srgbClr val="89B4FA"/>
                </a:solidFill>
                <a:effectLst/>
                <a:latin typeface="Consolas" panose="020B0609020204030204" pitchFamily="49" charset="0"/>
              </a:rPr>
              <a:t>mythreads_sem_down</a:t>
            </a:r>
            <a:r>
              <a:rPr lang="en-US" sz="1600" b="0" dirty="0">
                <a:solidFill>
                  <a:srgbClr val="9399B2"/>
                </a:solidFill>
                <a:effectLst/>
                <a:latin typeface="Consolas" panose="020B0609020204030204" pitchFamily="49" charset="0"/>
              </a:rPr>
              <a:t>(</a:t>
            </a:r>
            <a:r>
              <a:rPr lang="en-US" sz="1600" b="0" dirty="0" err="1">
                <a:solidFill>
                  <a:srgbClr val="CDD6F4"/>
                </a:solidFill>
                <a:effectLst/>
                <a:latin typeface="Consolas" panose="020B0609020204030204" pitchFamily="49" charset="0"/>
              </a:rPr>
              <a:t>readers_queue</a:t>
            </a:r>
            <a:r>
              <a:rPr lang="en-US" sz="1600" b="0" dirty="0">
                <a:solidFill>
                  <a:srgbClr val="9399B2"/>
                </a:solidFill>
                <a:effectLst/>
                <a:latin typeface="Consolas" panose="020B0609020204030204" pitchFamily="49" charset="0"/>
              </a:rPr>
              <a:t>);</a:t>
            </a:r>
            <a:endParaRPr lang="en-US" sz="1600" b="0" dirty="0">
              <a:solidFill>
                <a:srgbClr val="CDD6F4"/>
              </a:solidFill>
              <a:effectLst/>
              <a:latin typeface="Consolas" panose="020B0609020204030204" pitchFamily="49" charset="0"/>
            </a:endParaRPr>
          </a:p>
          <a:p>
            <a:r>
              <a:rPr lang="en-US" sz="1600" b="0" dirty="0">
                <a:solidFill>
                  <a:srgbClr val="CDD6F4"/>
                </a:solidFill>
                <a:effectLst/>
                <a:latin typeface="Consolas" panose="020B0609020204030204" pitchFamily="49" charset="0"/>
              </a:rPr>
              <a:t>        </a:t>
            </a:r>
            <a:r>
              <a:rPr lang="en-US" sz="1600" b="0" dirty="0">
                <a:solidFill>
                  <a:srgbClr val="CBA6F7"/>
                </a:solidFill>
                <a:effectLst/>
                <a:latin typeface="Consolas" panose="020B0609020204030204" pitchFamily="49" charset="0"/>
              </a:rPr>
              <a:t>if</a:t>
            </a:r>
            <a:r>
              <a:rPr lang="en-US" sz="1600" b="0" dirty="0">
                <a:solidFill>
                  <a:srgbClr val="CDD6F4"/>
                </a:solidFill>
                <a:effectLst/>
                <a:latin typeface="Consolas" panose="020B0609020204030204" pitchFamily="49" charset="0"/>
              </a:rPr>
              <a:t> </a:t>
            </a:r>
            <a:r>
              <a:rPr lang="en-US" sz="1600" b="0" dirty="0">
                <a:solidFill>
                  <a:srgbClr val="9399B2"/>
                </a:solidFill>
                <a:effectLst/>
                <a:latin typeface="Consolas" panose="020B0609020204030204" pitchFamily="49" charset="0"/>
              </a:rPr>
              <a:t>(</a:t>
            </a:r>
            <a:r>
              <a:rPr lang="en-US" sz="1600" b="0" dirty="0">
                <a:solidFill>
                  <a:srgbClr val="CDD6F4"/>
                </a:solidFill>
                <a:effectLst/>
                <a:latin typeface="Consolas" panose="020B0609020204030204" pitchFamily="49" charset="0"/>
              </a:rPr>
              <a:t>readers are waiting</a:t>
            </a:r>
            <a:r>
              <a:rPr lang="en-US" sz="1600" b="0" dirty="0">
                <a:solidFill>
                  <a:srgbClr val="9399B2"/>
                </a:solidFill>
                <a:effectLst/>
                <a:latin typeface="Consolas" panose="020B0609020204030204" pitchFamily="49" charset="0"/>
              </a:rPr>
              <a:t>)</a:t>
            </a:r>
            <a:r>
              <a:rPr lang="en-US" sz="1600" b="0" dirty="0">
                <a:solidFill>
                  <a:srgbClr val="CDD6F4"/>
                </a:solidFill>
                <a:effectLst/>
                <a:latin typeface="Consolas" panose="020B0609020204030204" pitchFamily="49" charset="0"/>
              </a:rPr>
              <a:t> </a:t>
            </a:r>
            <a:r>
              <a:rPr lang="en-US" sz="1600" b="0" dirty="0">
                <a:solidFill>
                  <a:srgbClr val="9399B2"/>
                </a:solidFill>
                <a:effectLst/>
                <a:latin typeface="Consolas" panose="020B0609020204030204" pitchFamily="49" charset="0"/>
              </a:rPr>
              <a:t>{</a:t>
            </a:r>
            <a:endParaRPr lang="en-US" sz="1600" b="0" dirty="0">
              <a:solidFill>
                <a:srgbClr val="CDD6F4"/>
              </a:solidFill>
              <a:effectLst/>
              <a:latin typeface="Consolas" panose="020B0609020204030204" pitchFamily="49" charset="0"/>
            </a:endParaRPr>
          </a:p>
          <a:p>
            <a:r>
              <a:rPr lang="en-US" sz="1600" b="0" dirty="0">
                <a:solidFill>
                  <a:srgbClr val="CDD6F4"/>
                </a:solidFill>
                <a:effectLst/>
                <a:latin typeface="Consolas" panose="020B0609020204030204" pitchFamily="49" charset="0"/>
              </a:rPr>
              <a:t>            decrease </a:t>
            </a:r>
            <a:r>
              <a:rPr lang="en-US" sz="1600" b="0" dirty="0" err="1">
                <a:solidFill>
                  <a:srgbClr val="CDD6F4"/>
                </a:solidFill>
                <a:effectLst/>
                <a:latin typeface="Consolas" panose="020B0609020204030204" pitchFamily="49" charset="0"/>
              </a:rPr>
              <a:t>readers_waiting</a:t>
            </a:r>
            <a:r>
              <a:rPr lang="en-US" sz="1600" b="0" dirty="0">
                <a:solidFill>
                  <a:srgbClr val="CDD6F4"/>
                </a:solidFill>
                <a:effectLst/>
                <a:latin typeface="Consolas" panose="020B0609020204030204" pitchFamily="49" charset="0"/>
              </a:rPr>
              <a:t> by </a:t>
            </a:r>
            <a:r>
              <a:rPr lang="en-US" sz="1600" b="0" dirty="0">
                <a:solidFill>
                  <a:srgbClr val="FAB387"/>
                </a:solidFill>
                <a:effectLst/>
                <a:latin typeface="Consolas" panose="020B0609020204030204" pitchFamily="49" charset="0"/>
              </a:rPr>
              <a:t>1</a:t>
            </a:r>
            <a:r>
              <a:rPr lang="en-US" sz="1600" b="0" dirty="0">
                <a:solidFill>
                  <a:srgbClr val="9399B2"/>
                </a:solidFill>
                <a:effectLst/>
                <a:latin typeface="Consolas" panose="020B0609020204030204" pitchFamily="49" charset="0"/>
              </a:rPr>
              <a:t>;</a:t>
            </a:r>
            <a:endParaRPr lang="en-US" sz="1600" b="0" dirty="0">
              <a:solidFill>
                <a:srgbClr val="CDD6F4"/>
              </a:solidFill>
              <a:effectLst/>
              <a:latin typeface="Consolas" panose="020B0609020204030204" pitchFamily="49" charset="0"/>
            </a:endParaRPr>
          </a:p>
          <a:p>
            <a:r>
              <a:rPr lang="en-US" sz="1600" b="0" dirty="0">
                <a:solidFill>
                  <a:srgbClr val="CDD6F4"/>
                </a:solidFill>
                <a:effectLst/>
                <a:latin typeface="Consolas" panose="020B0609020204030204" pitchFamily="49" charset="0"/>
              </a:rPr>
              <a:t>            increase readers by </a:t>
            </a:r>
            <a:r>
              <a:rPr lang="en-US" sz="1600" b="0" dirty="0">
                <a:solidFill>
                  <a:srgbClr val="FAB387"/>
                </a:solidFill>
                <a:effectLst/>
                <a:latin typeface="Consolas" panose="020B0609020204030204" pitchFamily="49" charset="0"/>
              </a:rPr>
              <a:t>1</a:t>
            </a:r>
            <a:r>
              <a:rPr lang="en-US" sz="1600" b="0" dirty="0">
                <a:solidFill>
                  <a:srgbClr val="9399B2"/>
                </a:solidFill>
                <a:effectLst/>
                <a:latin typeface="Consolas" panose="020B0609020204030204" pitchFamily="49" charset="0"/>
              </a:rPr>
              <a:t>;</a:t>
            </a:r>
            <a:endParaRPr lang="en-US" sz="1600" b="0" dirty="0">
              <a:solidFill>
                <a:srgbClr val="CDD6F4"/>
              </a:solidFill>
              <a:effectLst/>
              <a:latin typeface="Consolas" panose="020B0609020204030204" pitchFamily="49" charset="0"/>
            </a:endParaRPr>
          </a:p>
          <a:p>
            <a:r>
              <a:rPr lang="en-US" sz="1600" b="0" dirty="0">
                <a:solidFill>
                  <a:srgbClr val="CDD6F4"/>
                </a:solidFill>
                <a:effectLst/>
                <a:latin typeface="Consolas" panose="020B0609020204030204" pitchFamily="49" charset="0"/>
              </a:rPr>
              <a:t>            </a:t>
            </a:r>
            <a:r>
              <a:rPr lang="en-US" sz="1600" b="0" i="1" dirty="0" err="1">
                <a:solidFill>
                  <a:srgbClr val="89B4FA"/>
                </a:solidFill>
                <a:effectLst/>
                <a:latin typeface="Consolas" panose="020B0609020204030204" pitchFamily="49" charset="0"/>
              </a:rPr>
              <a:t>mythreads_sem_up</a:t>
            </a:r>
            <a:r>
              <a:rPr lang="en-US" sz="1600" b="0" dirty="0">
                <a:solidFill>
                  <a:srgbClr val="9399B2"/>
                </a:solidFill>
                <a:effectLst/>
                <a:latin typeface="Consolas" panose="020B0609020204030204" pitchFamily="49" charset="0"/>
              </a:rPr>
              <a:t>(</a:t>
            </a:r>
            <a:r>
              <a:rPr lang="en-US" sz="1600" b="0" dirty="0" err="1">
                <a:solidFill>
                  <a:srgbClr val="CDD6F4"/>
                </a:solidFill>
                <a:effectLst/>
                <a:latin typeface="Consolas" panose="020B0609020204030204" pitchFamily="49" charset="0"/>
              </a:rPr>
              <a:t>readers_queue</a:t>
            </a:r>
            <a:r>
              <a:rPr lang="en-US" sz="1600" b="0" dirty="0">
                <a:solidFill>
                  <a:srgbClr val="9399B2"/>
                </a:solidFill>
                <a:effectLst/>
                <a:latin typeface="Consolas" panose="020B0609020204030204" pitchFamily="49" charset="0"/>
              </a:rPr>
              <a:t>);</a:t>
            </a:r>
            <a:endParaRPr lang="en-US" sz="1600" b="0" dirty="0">
              <a:solidFill>
                <a:srgbClr val="CDD6F4"/>
              </a:solidFill>
              <a:effectLst/>
              <a:latin typeface="Consolas" panose="020B0609020204030204" pitchFamily="49" charset="0"/>
            </a:endParaRPr>
          </a:p>
          <a:p>
            <a:r>
              <a:rPr lang="en-US" sz="1600" b="0" dirty="0">
                <a:solidFill>
                  <a:srgbClr val="CDD6F4"/>
                </a:solidFill>
                <a:effectLst/>
                <a:latin typeface="Consolas" panose="020B0609020204030204" pitchFamily="49" charset="0"/>
              </a:rPr>
              <a:t>        </a:t>
            </a:r>
            <a:r>
              <a:rPr lang="en-US" sz="1600" b="0" dirty="0">
                <a:solidFill>
                  <a:srgbClr val="9399B2"/>
                </a:solidFill>
                <a:effectLst/>
                <a:latin typeface="Consolas" panose="020B0609020204030204" pitchFamily="49" charset="0"/>
              </a:rPr>
              <a:t>}</a:t>
            </a:r>
            <a:r>
              <a:rPr lang="en-US" sz="1600" b="0" dirty="0">
                <a:solidFill>
                  <a:srgbClr val="CDD6F4"/>
                </a:solidFill>
                <a:effectLst/>
                <a:latin typeface="Consolas" panose="020B0609020204030204" pitchFamily="49" charset="0"/>
              </a:rPr>
              <a:t> </a:t>
            </a:r>
          </a:p>
          <a:p>
            <a:r>
              <a:rPr lang="en-US" sz="1600" b="0" dirty="0">
                <a:solidFill>
                  <a:srgbClr val="CDD6F4"/>
                </a:solidFill>
                <a:effectLst/>
                <a:latin typeface="Consolas" panose="020B0609020204030204" pitchFamily="49" charset="0"/>
              </a:rPr>
              <a:t>        </a:t>
            </a:r>
            <a:r>
              <a:rPr lang="en-US" sz="1600" b="0" dirty="0">
                <a:solidFill>
                  <a:srgbClr val="CBA6F7"/>
                </a:solidFill>
                <a:effectLst/>
                <a:latin typeface="Consolas" panose="020B0609020204030204" pitchFamily="49" charset="0"/>
              </a:rPr>
              <a:t>else</a:t>
            </a:r>
            <a:r>
              <a:rPr lang="en-US" sz="1600" b="0" dirty="0">
                <a:solidFill>
                  <a:srgbClr val="CDD6F4"/>
                </a:solidFill>
                <a:effectLst/>
                <a:latin typeface="Consolas" panose="020B0609020204030204" pitchFamily="49" charset="0"/>
              </a:rPr>
              <a:t> </a:t>
            </a:r>
            <a:r>
              <a:rPr lang="en-US" sz="1600" b="0" dirty="0">
                <a:solidFill>
                  <a:srgbClr val="9399B2"/>
                </a:solidFill>
                <a:effectLst/>
                <a:latin typeface="Consolas" panose="020B0609020204030204" pitchFamily="49" charset="0"/>
              </a:rPr>
              <a:t>{</a:t>
            </a:r>
            <a:r>
              <a:rPr lang="en-US" sz="1600" b="0" dirty="0">
                <a:solidFill>
                  <a:srgbClr val="CDD6F4"/>
                </a:solidFill>
                <a:effectLst/>
                <a:latin typeface="Consolas" panose="020B0609020204030204" pitchFamily="49" charset="0"/>
              </a:rPr>
              <a:t> </a:t>
            </a:r>
            <a:r>
              <a:rPr lang="en-US" sz="1600" b="0" i="1" dirty="0" err="1">
                <a:solidFill>
                  <a:srgbClr val="89B4FA"/>
                </a:solidFill>
                <a:effectLst/>
                <a:latin typeface="Consolas" panose="020B0609020204030204" pitchFamily="49" charset="0"/>
              </a:rPr>
              <a:t>mythreads_sem_up</a:t>
            </a:r>
            <a:r>
              <a:rPr lang="en-US" sz="1600" b="0" dirty="0">
                <a:solidFill>
                  <a:srgbClr val="9399B2"/>
                </a:solidFill>
                <a:effectLst/>
                <a:latin typeface="Consolas" panose="020B0609020204030204" pitchFamily="49" charset="0"/>
              </a:rPr>
              <a:t>(</a:t>
            </a:r>
            <a:r>
              <a:rPr lang="en-US" sz="1600" b="0" dirty="0" err="1">
                <a:solidFill>
                  <a:srgbClr val="CDD6F4"/>
                </a:solidFill>
                <a:effectLst/>
                <a:latin typeface="Consolas" panose="020B0609020204030204" pitchFamily="49" charset="0"/>
              </a:rPr>
              <a:t>mtx</a:t>
            </a:r>
            <a:r>
              <a:rPr lang="en-US" sz="1600" b="0" dirty="0">
                <a:solidFill>
                  <a:srgbClr val="9399B2"/>
                </a:solidFill>
                <a:effectLst/>
                <a:latin typeface="Consolas" panose="020B0609020204030204" pitchFamily="49" charset="0"/>
              </a:rPr>
              <a:t>);</a:t>
            </a:r>
            <a:r>
              <a:rPr lang="en-US" sz="1600" b="0" dirty="0">
                <a:solidFill>
                  <a:srgbClr val="CDD6F4"/>
                </a:solidFill>
                <a:effectLst/>
                <a:latin typeface="Consolas" panose="020B0609020204030204" pitchFamily="49" charset="0"/>
              </a:rPr>
              <a:t> </a:t>
            </a:r>
            <a:r>
              <a:rPr lang="en-US" sz="1600" b="0" dirty="0">
                <a:solidFill>
                  <a:srgbClr val="9399B2"/>
                </a:solidFill>
                <a:effectLst/>
                <a:latin typeface="Consolas" panose="020B0609020204030204" pitchFamily="49" charset="0"/>
              </a:rPr>
              <a:t>}</a:t>
            </a:r>
            <a:endParaRPr lang="en-US" sz="1600" b="0" dirty="0">
              <a:solidFill>
                <a:srgbClr val="CDD6F4"/>
              </a:solidFill>
              <a:effectLst/>
              <a:latin typeface="Consolas" panose="020B0609020204030204" pitchFamily="49" charset="0"/>
            </a:endParaRPr>
          </a:p>
          <a:p>
            <a:r>
              <a:rPr lang="en-US" sz="1600" b="0" dirty="0">
                <a:solidFill>
                  <a:srgbClr val="CDD6F4"/>
                </a:solidFill>
                <a:effectLst/>
                <a:latin typeface="Consolas" panose="020B0609020204030204" pitchFamily="49" charset="0"/>
              </a:rPr>
              <a:t>    </a:t>
            </a:r>
            <a:r>
              <a:rPr lang="en-US" sz="1600" b="0" dirty="0">
                <a:solidFill>
                  <a:srgbClr val="9399B2"/>
                </a:solidFill>
                <a:effectLst/>
                <a:latin typeface="Consolas" panose="020B0609020204030204" pitchFamily="49" charset="0"/>
              </a:rPr>
              <a:t>}</a:t>
            </a:r>
            <a:r>
              <a:rPr lang="en-US" sz="1600" b="0" dirty="0">
                <a:solidFill>
                  <a:srgbClr val="CDD6F4"/>
                </a:solidFill>
                <a:effectLst/>
                <a:latin typeface="Consolas" panose="020B0609020204030204" pitchFamily="49" charset="0"/>
              </a:rPr>
              <a:t> </a:t>
            </a:r>
          </a:p>
          <a:p>
            <a:r>
              <a:rPr lang="en-US" sz="1600" b="0" dirty="0">
                <a:solidFill>
                  <a:srgbClr val="CDD6F4"/>
                </a:solidFill>
                <a:effectLst/>
                <a:latin typeface="Consolas" panose="020B0609020204030204" pitchFamily="49" charset="0"/>
              </a:rPr>
              <a:t>    </a:t>
            </a:r>
            <a:r>
              <a:rPr lang="en-US" sz="1600" b="0" dirty="0">
                <a:solidFill>
                  <a:srgbClr val="CBA6F7"/>
                </a:solidFill>
                <a:effectLst/>
                <a:latin typeface="Consolas" panose="020B0609020204030204" pitchFamily="49" charset="0"/>
              </a:rPr>
              <a:t>else</a:t>
            </a:r>
            <a:r>
              <a:rPr lang="en-US" sz="1600" b="0" dirty="0">
                <a:solidFill>
                  <a:srgbClr val="CDD6F4"/>
                </a:solidFill>
                <a:effectLst/>
                <a:latin typeface="Consolas" panose="020B0609020204030204" pitchFamily="49" charset="0"/>
              </a:rPr>
              <a:t> </a:t>
            </a:r>
            <a:r>
              <a:rPr lang="en-US" sz="1600" b="0" dirty="0">
                <a:solidFill>
                  <a:srgbClr val="9399B2"/>
                </a:solidFill>
                <a:effectLst/>
                <a:latin typeface="Consolas" panose="020B0609020204030204" pitchFamily="49" charset="0"/>
              </a:rPr>
              <a:t>{</a:t>
            </a:r>
            <a:endParaRPr lang="en-US" sz="1600" b="0" dirty="0">
              <a:solidFill>
                <a:srgbClr val="CDD6F4"/>
              </a:solidFill>
              <a:effectLst/>
              <a:latin typeface="Consolas" panose="020B0609020204030204" pitchFamily="49" charset="0"/>
            </a:endParaRPr>
          </a:p>
          <a:p>
            <a:r>
              <a:rPr lang="en-US" sz="1600" b="0" dirty="0">
                <a:solidFill>
                  <a:srgbClr val="CDD6F4"/>
                </a:solidFill>
                <a:effectLst/>
                <a:latin typeface="Consolas" panose="020B0609020204030204" pitchFamily="49" charset="0"/>
              </a:rPr>
              <a:t>        increase readers by </a:t>
            </a:r>
            <a:r>
              <a:rPr lang="en-US" sz="1600" b="0" dirty="0">
                <a:solidFill>
                  <a:srgbClr val="FAB387"/>
                </a:solidFill>
                <a:effectLst/>
                <a:latin typeface="Consolas" panose="020B0609020204030204" pitchFamily="49" charset="0"/>
              </a:rPr>
              <a:t>1</a:t>
            </a:r>
            <a:r>
              <a:rPr lang="en-US" sz="1600" b="0" dirty="0">
                <a:solidFill>
                  <a:srgbClr val="9399B2"/>
                </a:solidFill>
                <a:effectLst/>
                <a:latin typeface="Consolas" panose="020B0609020204030204" pitchFamily="49" charset="0"/>
              </a:rPr>
              <a:t>;</a:t>
            </a:r>
            <a:endParaRPr lang="en-US" sz="1600" b="0" dirty="0">
              <a:solidFill>
                <a:srgbClr val="CDD6F4"/>
              </a:solidFill>
              <a:effectLst/>
              <a:latin typeface="Consolas" panose="020B0609020204030204" pitchFamily="49" charset="0"/>
            </a:endParaRPr>
          </a:p>
          <a:p>
            <a:r>
              <a:rPr lang="en-US" sz="1600" b="0" dirty="0">
                <a:solidFill>
                  <a:srgbClr val="CDD6F4"/>
                </a:solidFill>
                <a:effectLst/>
                <a:latin typeface="Consolas" panose="020B0609020204030204" pitchFamily="49" charset="0"/>
              </a:rPr>
              <a:t>        </a:t>
            </a:r>
            <a:r>
              <a:rPr lang="en-US" sz="1600" b="0" i="1" dirty="0" err="1">
                <a:solidFill>
                  <a:srgbClr val="89B4FA"/>
                </a:solidFill>
                <a:effectLst/>
                <a:latin typeface="Consolas" panose="020B0609020204030204" pitchFamily="49" charset="0"/>
              </a:rPr>
              <a:t>mythreads_sem_up</a:t>
            </a:r>
            <a:r>
              <a:rPr lang="en-US" sz="1600" b="0" dirty="0">
                <a:solidFill>
                  <a:srgbClr val="9399B2"/>
                </a:solidFill>
                <a:effectLst/>
                <a:latin typeface="Consolas" panose="020B0609020204030204" pitchFamily="49" charset="0"/>
              </a:rPr>
              <a:t>(</a:t>
            </a:r>
            <a:r>
              <a:rPr lang="en-US" sz="1600" b="0" dirty="0" err="1">
                <a:solidFill>
                  <a:srgbClr val="CDD6F4"/>
                </a:solidFill>
                <a:effectLst/>
                <a:latin typeface="Consolas" panose="020B0609020204030204" pitchFamily="49" charset="0"/>
              </a:rPr>
              <a:t>mtx</a:t>
            </a:r>
            <a:r>
              <a:rPr lang="en-US" sz="1600" b="0" dirty="0">
                <a:solidFill>
                  <a:srgbClr val="9399B2"/>
                </a:solidFill>
                <a:effectLst/>
                <a:latin typeface="Consolas" panose="020B0609020204030204" pitchFamily="49" charset="0"/>
              </a:rPr>
              <a:t>);</a:t>
            </a:r>
            <a:endParaRPr lang="en-US" sz="1600" b="0" dirty="0">
              <a:solidFill>
                <a:srgbClr val="CDD6F4"/>
              </a:solidFill>
              <a:effectLst/>
              <a:latin typeface="Consolas" panose="020B0609020204030204" pitchFamily="49" charset="0"/>
            </a:endParaRPr>
          </a:p>
          <a:p>
            <a:r>
              <a:rPr lang="en-US" sz="1600" b="0" dirty="0">
                <a:solidFill>
                  <a:srgbClr val="CDD6F4"/>
                </a:solidFill>
                <a:effectLst/>
                <a:latin typeface="Consolas" panose="020B0609020204030204" pitchFamily="49" charset="0"/>
              </a:rPr>
              <a:t>    </a:t>
            </a:r>
            <a:r>
              <a:rPr lang="en-US" sz="1600" b="0" dirty="0">
                <a:solidFill>
                  <a:srgbClr val="9399B2"/>
                </a:solidFill>
                <a:effectLst/>
                <a:latin typeface="Consolas" panose="020B0609020204030204" pitchFamily="49" charset="0"/>
              </a:rPr>
              <a:t>}</a:t>
            </a:r>
            <a:endParaRPr lang="en-US" sz="1600" b="0" dirty="0">
              <a:solidFill>
                <a:srgbClr val="CDD6F4"/>
              </a:solidFill>
              <a:effectLst/>
              <a:latin typeface="Consolas" panose="020B0609020204030204" pitchFamily="49" charset="0"/>
            </a:endParaRPr>
          </a:p>
          <a:p>
            <a:r>
              <a:rPr lang="en-US" sz="1600" b="0" dirty="0">
                <a:solidFill>
                  <a:srgbClr val="CDD6F4"/>
                </a:solidFill>
                <a:effectLst/>
                <a:latin typeface="Consolas" panose="020B0609020204030204" pitchFamily="49" charset="0"/>
              </a:rPr>
              <a:t>    </a:t>
            </a:r>
          </a:p>
          <a:p>
            <a:r>
              <a:rPr lang="en-US" sz="1600" b="0" i="1" dirty="0">
                <a:solidFill>
                  <a:srgbClr val="6C7086"/>
                </a:solidFill>
                <a:effectLst/>
                <a:latin typeface="Consolas" panose="020B0609020204030204" pitchFamily="49" charset="0"/>
              </a:rPr>
              <a:t>    /* read */</a:t>
            </a:r>
            <a:endParaRPr lang="en-US" sz="1600" b="0" dirty="0">
              <a:solidFill>
                <a:srgbClr val="CDD6F4"/>
              </a:solidFill>
              <a:effectLst/>
              <a:latin typeface="Consolas" panose="020B0609020204030204" pitchFamily="49" charset="0"/>
            </a:endParaRPr>
          </a:p>
        </p:txBody>
      </p:sp>
    </p:spTree>
    <p:extLst>
      <p:ext uri="{BB962C8B-B14F-4D97-AF65-F5344CB8AC3E}">
        <p14:creationId xmlns:p14="http://schemas.microsoft.com/office/powerpoint/2010/main" val="11092346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FB4D0-4308-3ABF-A45D-3F30947B25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3D0CB1-924E-D43E-512F-C41F2C118ECE}"/>
              </a:ext>
            </a:extLst>
          </p:cNvPr>
          <p:cNvSpPr>
            <a:spLocks noGrp="1"/>
          </p:cNvSpPr>
          <p:nvPr>
            <p:ph type="title"/>
          </p:nvPr>
        </p:nvSpPr>
        <p:spPr>
          <a:xfrm>
            <a:off x="838200" y="337015"/>
            <a:ext cx="10515600" cy="1325563"/>
          </a:xfrm>
        </p:spPr>
        <p:txBody>
          <a:bodyPr/>
          <a:lstStyle/>
          <a:p>
            <a:r>
              <a:rPr lang="en-US" b="1" dirty="0"/>
              <a:t>Assignment 3: </a:t>
            </a:r>
            <a:r>
              <a:rPr lang="en-US" dirty="0"/>
              <a:t>Reader function</a:t>
            </a:r>
          </a:p>
        </p:txBody>
      </p:sp>
      <p:sp>
        <p:nvSpPr>
          <p:cNvPr id="3" name="TextBox 2">
            <a:extLst>
              <a:ext uri="{FF2B5EF4-FFF2-40B4-BE49-F238E27FC236}">
                <a16:creationId xmlns:a16="http://schemas.microsoft.com/office/drawing/2014/main" id="{A1B3F336-4087-5DC3-128F-4F81E17436F9}"/>
              </a:ext>
            </a:extLst>
          </p:cNvPr>
          <p:cNvSpPr txBox="1"/>
          <p:nvPr/>
        </p:nvSpPr>
        <p:spPr>
          <a:xfrm>
            <a:off x="692150" y="1955800"/>
            <a:ext cx="184731" cy="369332"/>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8BBED873-F31C-D439-E85B-F5B3DC5814A7}"/>
              </a:ext>
            </a:extLst>
          </p:cNvPr>
          <p:cNvSpPr txBox="1"/>
          <p:nvPr/>
        </p:nvSpPr>
        <p:spPr>
          <a:xfrm>
            <a:off x="876881" y="1662578"/>
            <a:ext cx="6136616" cy="2585323"/>
          </a:xfrm>
          <a:prstGeom prst="rect">
            <a:avLst/>
          </a:prstGeom>
          <a:noFill/>
        </p:spPr>
        <p:txBody>
          <a:bodyPr wrap="none" rtlCol="0">
            <a:spAutoFit/>
          </a:bodyPr>
          <a:lstStyle/>
          <a:p>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mythreads_sem_down</a:t>
            </a:r>
            <a:r>
              <a:rPr lang="en-US" b="0" dirty="0">
                <a:solidFill>
                  <a:srgbClr val="9399B2"/>
                </a:solidFill>
                <a:effectLst/>
                <a:latin typeface="Consolas" panose="020B0609020204030204" pitchFamily="49" charset="0"/>
              </a:rPr>
              <a:t>(</a:t>
            </a:r>
            <a:r>
              <a:rPr lang="en-US" b="0" dirty="0" err="1">
                <a:solidFill>
                  <a:srgbClr val="CDD6F4"/>
                </a:solidFill>
                <a:effectLst/>
                <a:latin typeface="Consolas" panose="020B0609020204030204" pitchFamily="49" charset="0"/>
              </a:rPr>
              <a:t>mtx</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decrease readers by </a:t>
            </a:r>
            <a:r>
              <a:rPr lang="en-US" b="0" dirty="0">
                <a:solidFill>
                  <a:srgbClr val="FAB387"/>
                </a:solidFill>
                <a:effectLst/>
                <a:latin typeface="Consolas" panose="020B0609020204030204" pitchFamily="49" charset="0"/>
              </a:rPr>
              <a:t>1</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if</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NO readers in CS AND writers blocked</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decrease </a:t>
            </a:r>
            <a:r>
              <a:rPr lang="en-US" b="0" dirty="0" err="1">
                <a:solidFill>
                  <a:srgbClr val="CDD6F4"/>
                </a:solidFill>
                <a:effectLst/>
                <a:latin typeface="Consolas" panose="020B0609020204030204" pitchFamily="49" charset="0"/>
              </a:rPr>
              <a:t>writers_wating</a:t>
            </a:r>
            <a:r>
              <a:rPr lang="en-US" b="0" dirty="0">
                <a:solidFill>
                  <a:srgbClr val="CDD6F4"/>
                </a:solidFill>
                <a:effectLst/>
                <a:latin typeface="Consolas" panose="020B0609020204030204" pitchFamily="49" charset="0"/>
              </a:rPr>
              <a:t> by </a:t>
            </a:r>
            <a:r>
              <a:rPr lang="en-US" b="0" dirty="0">
                <a:solidFill>
                  <a:srgbClr val="FAB387"/>
                </a:solidFill>
                <a:effectLst/>
                <a:latin typeface="Consolas" panose="020B0609020204030204" pitchFamily="49" charset="0"/>
              </a:rPr>
              <a:t>1</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increase writers by </a:t>
            </a:r>
            <a:r>
              <a:rPr lang="en-US" b="0" dirty="0">
                <a:solidFill>
                  <a:srgbClr val="FAB387"/>
                </a:solidFill>
                <a:effectLst/>
                <a:latin typeface="Consolas" panose="020B0609020204030204" pitchFamily="49" charset="0"/>
              </a:rPr>
              <a:t>1</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mythreads_sem_up</a:t>
            </a:r>
            <a:r>
              <a:rPr lang="en-US" b="0" dirty="0">
                <a:solidFill>
                  <a:srgbClr val="9399B2"/>
                </a:solidFill>
                <a:effectLst/>
                <a:latin typeface="Consolas" panose="020B0609020204030204" pitchFamily="49" charset="0"/>
              </a:rPr>
              <a:t>(</a:t>
            </a:r>
            <a:r>
              <a:rPr lang="en-US" b="0" dirty="0" err="1">
                <a:solidFill>
                  <a:srgbClr val="CDD6F4"/>
                </a:solidFill>
                <a:effectLst/>
                <a:latin typeface="Consolas" panose="020B0609020204030204" pitchFamily="49" charset="0"/>
              </a:rPr>
              <a:t>writers_queue</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mythreads_sem_up</a:t>
            </a:r>
            <a:r>
              <a:rPr lang="en-US" b="0" dirty="0">
                <a:solidFill>
                  <a:srgbClr val="9399B2"/>
                </a:solidFill>
                <a:effectLst/>
                <a:latin typeface="Consolas" panose="020B0609020204030204" pitchFamily="49" charset="0"/>
              </a:rPr>
              <a:t>(</a:t>
            </a:r>
            <a:r>
              <a:rPr lang="en-US" b="0" dirty="0" err="1">
                <a:solidFill>
                  <a:srgbClr val="CDD6F4"/>
                </a:solidFill>
                <a:effectLst/>
                <a:latin typeface="Consolas" panose="020B0609020204030204" pitchFamily="49" charset="0"/>
              </a:rPr>
              <a:t>mtx</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p>
          <a:p>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p:txBody>
      </p:sp>
    </p:spTree>
    <p:extLst>
      <p:ext uri="{BB962C8B-B14F-4D97-AF65-F5344CB8AC3E}">
        <p14:creationId xmlns:p14="http://schemas.microsoft.com/office/powerpoint/2010/main" val="14537511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4A442-D65B-D971-CA13-246039DC4F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2C5E2C-95FA-F4C8-5950-1D547AC08ED8}"/>
              </a:ext>
            </a:extLst>
          </p:cNvPr>
          <p:cNvSpPr>
            <a:spLocks noGrp="1"/>
          </p:cNvSpPr>
          <p:nvPr>
            <p:ph type="title"/>
          </p:nvPr>
        </p:nvSpPr>
        <p:spPr>
          <a:xfrm>
            <a:off x="838200" y="337015"/>
            <a:ext cx="10515600" cy="1325563"/>
          </a:xfrm>
        </p:spPr>
        <p:txBody>
          <a:bodyPr/>
          <a:lstStyle/>
          <a:p>
            <a:r>
              <a:rPr lang="en-US" b="1" dirty="0"/>
              <a:t>Assignment 3: </a:t>
            </a:r>
            <a:r>
              <a:rPr lang="en-US" dirty="0"/>
              <a:t>Writer function</a:t>
            </a:r>
          </a:p>
        </p:txBody>
      </p:sp>
      <p:sp>
        <p:nvSpPr>
          <p:cNvPr id="3" name="TextBox 2">
            <a:extLst>
              <a:ext uri="{FF2B5EF4-FFF2-40B4-BE49-F238E27FC236}">
                <a16:creationId xmlns:a16="http://schemas.microsoft.com/office/drawing/2014/main" id="{BC315AAB-34ED-41F9-9167-FF0D7610FF02}"/>
              </a:ext>
            </a:extLst>
          </p:cNvPr>
          <p:cNvSpPr txBox="1"/>
          <p:nvPr/>
        </p:nvSpPr>
        <p:spPr>
          <a:xfrm>
            <a:off x="838200" y="1662578"/>
            <a:ext cx="5503430" cy="3416320"/>
          </a:xfrm>
          <a:prstGeom prst="rect">
            <a:avLst/>
          </a:prstGeom>
          <a:noFill/>
        </p:spPr>
        <p:txBody>
          <a:bodyPr wrap="none" rtlCol="0">
            <a:spAutoFit/>
          </a:bodyPr>
          <a:lstStyle/>
          <a:p>
            <a:r>
              <a:rPr lang="en-US" b="0" dirty="0">
                <a:solidFill>
                  <a:srgbClr val="CBA6F7"/>
                </a:solidFill>
                <a:effectLst/>
                <a:latin typeface="Consolas" panose="020B0609020204030204" pitchFamily="49" charset="0"/>
              </a:rPr>
              <a:t>void</a:t>
            </a:r>
            <a:r>
              <a:rPr lang="en-US" b="0" dirty="0">
                <a:solidFill>
                  <a:srgbClr val="CDD6F4"/>
                </a:solidFill>
                <a:effectLst/>
                <a:latin typeface="Consolas" panose="020B0609020204030204" pitchFamily="49" charset="0"/>
              </a:rPr>
              <a:t> </a:t>
            </a:r>
            <a:r>
              <a:rPr lang="en-US" b="0" i="1" dirty="0">
                <a:solidFill>
                  <a:srgbClr val="89B4FA"/>
                </a:solidFill>
                <a:effectLst/>
                <a:latin typeface="Consolas" panose="020B0609020204030204" pitchFamily="49" charset="0"/>
              </a:rPr>
              <a:t>writer</a:t>
            </a:r>
            <a:r>
              <a:rPr lang="en-US" b="0" dirty="0">
                <a:solidFill>
                  <a:srgbClr val="9399B2"/>
                </a:solidFill>
                <a:effectLst/>
                <a:latin typeface="Consolas" panose="020B0609020204030204" pitchFamily="49" charset="0"/>
              </a:rPr>
              <a:t>(</a:t>
            </a:r>
            <a:r>
              <a:rPr lang="en-US" b="0" dirty="0">
                <a:solidFill>
                  <a:srgbClr val="CBA6F7"/>
                </a:solidFill>
                <a:effectLst/>
                <a:latin typeface="Consolas" panose="020B0609020204030204" pitchFamily="49" charset="0"/>
              </a:rPr>
              <a:t>void</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a:t>
            </a:r>
            <a:r>
              <a:rPr lang="en-US" b="0" i="1" dirty="0" err="1">
                <a:solidFill>
                  <a:srgbClr val="EBA0AC"/>
                </a:solidFill>
                <a:effectLst/>
                <a:latin typeface="Consolas" panose="020B0609020204030204" pitchFamily="49" charset="0"/>
              </a:rPr>
              <a:t>arg</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mythreads_sem_down</a:t>
            </a:r>
            <a:r>
              <a:rPr lang="en-US" b="0" dirty="0">
                <a:solidFill>
                  <a:srgbClr val="9399B2"/>
                </a:solidFill>
                <a:effectLst/>
                <a:latin typeface="Consolas" panose="020B0609020204030204" pitchFamily="49" charset="0"/>
              </a:rPr>
              <a:t>(</a:t>
            </a:r>
            <a:r>
              <a:rPr lang="en-US" b="0" dirty="0" err="1">
                <a:solidFill>
                  <a:srgbClr val="CDD6F4"/>
                </a:solidFill>
                <a:effectLst/>
                <a:latin typeface="Consolas" panose="020B0609020204030204" pitchFamily="49" charset="0"/>
              </a:rPr>
              <a:t>mtx</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if</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readers OR writers in CS</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increase </a:t>
            </a:r>
            <a:r>
              <a:rPr lang="en-US" b="0" dirty="0" err="1">
                <a:solidFill>
                  <a:srgbClr val="CDD6F4"/>
                </a:solidFill>
                <a:effectLst/>
                <a:latin typeface="Consolas" panose="020B0609020204030204" pitchFamily="49" charset="0"/>
              </a:rPr>
              <a:t>writers_waiting</a:t>
            </a:r>
            <a:r>
              <a:rPr lang="en-US" b="0" dirty="0">
                <a:solidFill>
                  <a:srgbClr val="CDD6F4"/>
                </a:solidFill>
                <a:effectLst/>
                <a:latin typeface="Consolas" panose="020B0609020204030204" pitchFamily="49" charset="0"/>
              </a:rPr>
              <a:t> by </a:t>
            </a:r>
            <a:r>
              <a:rPr lang="en-US" b="0" dirty="0">
                <a:solidFill>
                  <a:srgbClr val="FAB387"/>
                </a:solidFill>
                <a:effectLst/>
                <a:latin typeface="Consolas" panose="020B0609020204030204" pitchFamily="49" charset="0"/>
              </a:rPr>
              <a:t>1</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mythreads_sem_up</a:t>
            </a:r>
            <a:r>
              <a:rPr lang="en-US" b="0" dirty="0">
                <a:solidFill>
                  <a:srgbClr val="9399B2"/>
                </a:solidFill>
                <a:effectLst/>
                <a:latin typeface="Consolas" panose="020B0609020204030204" pitchFamily="49" charset="0"/>
              </a:rPr>
              <a:t>(</a:t>
            </a:r>
            <a:r>
              <a:rPr lang="en-US" b="0" dirty="0" err="1">
                <a:solidFill>
                  <a:srgbClr val="CDD6F4"/>
                </a:solidFill>
                <a:effectLst/>
                <a:latin typeface="Consolas" panose="020B0609020204030204" pitchFamily="49" charset="0"/>
              </a:rPr>
              <a:t>mtx</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mythreads_sem_down</a:t>
            </a:r>
            <a:r>
              <a:rPr lang="en-US" b="0" dirty="0">
                <a:solidFill>
                  <a:srgbClr val="9399B2"/>
                </a:solidFill>
                <a:effectLst/>
                <a:latin typeface="Consolas" panose="020B0609020204030204" pitchFamily="49" charset="0"/>
              </a:rPr>
              <a:t>(</a:t>
            </a:r>
            <a:r>
              <a:rPr lang="en-US" b="0" dirty="0" err="1">
                <a:solidFill>
                  <a:srgbClr val="CDD6F4"/>
                </a:solidFill>
                <a:effectLst/>
                <a:latin typeface="Consolas" panose="020B0609020204030204" pitchFamily="49" charset="0"/>
              </a:rPr>
              <a:t>writers_queue</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else</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increase writers by </a:t>
            </a:r>
            <a:r>
              <a:rPr lang="en-US" b="0" dirty="0">
                <a:solidFill>
                  <a:srgbClr val="FAB387"/>
                </a:solidFill>
                <a:effectLst/>
                <a:latin typeface="Consolas" panose="020B0609020204030204" pitchFamily="49" charset="0"/>
              </a:rPr>
              <a:t>1</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mythreads_sem_up</a:t>
            </a:r>
            <a:r>
              <a:rPr lang="en-US" b="0" dirty="0">
                <a:solidFill>
                  <a:srgbClr val="9399B2"/>
                </a:solidFill>
                <a:effectLst/>
                <a:latin typeface="Consolas" panose="020B0609020204030204" pitchFamily="49" charset="0"/>
              </a:rPr>
              <a:t>(</a:t>
            </a:r>
            <a:r>
              <a:rPr lang="en-US" b="0" dirty="0" err="1">
                <a:solidFill>
                  <a:srgbClr val="CDD6F4"/>
                </a:solidFill>
                <a:effectLst/>
                <a:latin typeface="Consolas" panose="020B0609020204030204" pitchFamily="49" charset="0"/>
              </a:rPr>
              <a:t>mtx</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br>
              <a:rPr lang="en-US" b="0" dirty="0">
                <a:solidFill>
                  <a:srgbClr val="CDD6F4"/>
                </a:solidFill>
                <a:effectLst/>
                <a:latin typeface="Consolas" panose="020B0609020204030204" pitchFamily="49" charset="0"/>
              </a:rPr>
            </a:br>
            <a:r>
              <a:rPr lang="en-US" b="0" i="1" dirty="0">
                <a:solidFill>
                  <a:srgbClr val="6C7086"/>
                </a:solidFill>
                <a:effectLst/>
                <a:latin typeface="Consolas" panose="020B0609020204030204" pitchFamily="49" charset="0"/>
              </a:rPr>
              <a:t>    /* write */</a:t>
            </a:r>
            <a:endParaRPr lang="en-US" b="0" dirty="0">
              <a:solidFill>
                <a:srgbClr val="CDD6F4"/>
              </a:solidFill>
              <a:effectLst/>
              <a:latin typeface="Consolas" panose="020B0609020204030204" pitchFamily="49" charset="0"/>
            </a:endParaRPr>
          </a:p>
        </p:txBody>
      </p:sp>
    </p:spTree>
    <p:extLst>
      <p:ext uri="{BB962C8B-B14F-4D97-AF65-F5344CB8AC3E}">
        <p14:creationId xmlns:p14="http://schemas.microsoft.com/office/powerpoint/2010/main" val="25941566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2FA5B-9A34-617D-09BC-9432077858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6CC3CA-8292-A943-A7E7-CFC28AA492ED}"/>
              </a:ext>
            </a:extLst>
          </p:cNvPr>
          <p:cNvSpPr>
            <a:spLocks noGrp="1"/>
          </p:cNvSpPr>
          <p:nvPr>
            <p:ph type="title"/>
          </p:nvPr>
        </p:nvSpPr>
        <p:spPr>
          <a:xfrm>
            <a:off x="838200" y="337015"/>
            <a:ext cx="10515600" cy="1325563"/>
          </a:xfrm>
        </p:spPr>
        <p:txBody>
          <a:bodyPr/>
          <a:lstStyle/>
          <a:p>
            <a:r>
              <a:rPr lang="en-US" b="1" dirty="0"/>
              <a:t>Assignment 3: </a:t>
            </a:r>
            <a:r>
              <a:rPr lang="en-US" dirty="0"/>
              <a:t>Writer function</a:t>
            </a:r>
          </a:p>
        </p:txBody>
      </p:sp>
      <p:sp>
        <p:nvSpPr>
          <p:cNvPr id="3" name="TextBox 2">
            <a:extLst>
              <a:ext uri="{FF2B5EF4-FFF2-40B4-BE49-F238E27FC236}">
                <a16:creationId xmlns:a16="http://schemas.microsoft.com/office/drawing/2014/main" id="{B2A4346E-D191-C4CC-72E8-36B611ED950B}"/>
              </a:ext>
            </a:extLst>
          </p:cNvPr>
          <p:cNvSpPr txBox="1"/>
          <p:nvPr/>
        </p:nvSpPr>
        <p:spPr>
          <a:xfrm>
            <a:off x="838200" y="1658454"/>
            <a:ext cx="5756704" cy="4524315"/>
          </a:xfrm>
          <a:prstGeom prst="rect">
            <a:avLst/>
          </a:prstGeom>
          <a:noFill/>
        </p:spPr>
        <p:txBody>
          <a:bodyPr wrap="none" rtlCol="0">
            <a:spAutoFit/>
          </a:bodyPr>
          <a:lstStyle/>
          <a:p>
            <a:r>
              <a:rPr lang="en-US" i="1" dirty="0">
                <a:solidFill>
                  <a:srgbClr val="CDD6F4"/>
                </a:solidFill>
                <a:latin typeface="Consolas" panose="020B0609020204030204" pitchFamily="49" charset="0"/>
              </a:rPr>
              <a:t>    </a:t>
            </a:r>
            <a:r>
              <a:rPr lang="en-US" b="0" i="1" dirty="0" err="1">
                <a:solidFill>
                  <a:srgbClr val="89B4FA"/>
                </a:solidFill>
                <a:effectLst/>
                <a:latin typeface="Consolas" panose="020B0609020204030204" pitchFamily="49" charset="0"/>
              </a:rPr>
              <a:t>mythreads_sem_down</a:t>
            </a:r>
            <a:r>
              <a:rPr lang="en-US" b="0" dirty="0">
                <a:solidFill>
                  <a:srgbClr val="9399B2"/>
                </a:solidFill>
                <a:effectLst/>
                <a:latin typeface="Consolas" panose="020B0609020204030204" pitchFamily="49" charset="0"/>
              </a:rPr>
              <a:t>(</a:t>
            </a:r>
            <a:r>
              <a:rPr lang="en-US" b="0" dirty="0" err="1">
                <a:solidFill>
                  <a:srgbClr val="CDD6F4"/>
                </a:solidFill>
                <a:effectLst/>
                <a:latin typeface="Consolas" panose="020B0609020204030204" pitchFamily="49" charset="0"/>
              </a:rPr>
              <a:t>mtx</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decrease writers by </a:t>
            </a:r>
            <a:r>
              <a:rPr lang="en-US" b="0" dirty="0">
                <a:solidFill>
                  <a:srgbClr val="FAB387"/>
                </a:solidFill>
                <a:effectLst/>
                <a:latin typeface="Consolas" panose="020B0609020204030204" pitchFamily="49" charset="0"/>
              </a:rPr>
              <a:t>1</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if</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r>
              <a:rPr lang="en-US" b="0" dirty="0" err="1">
                <a:solidFill>
                  <a:srgbClr val="CDD6F4"/>
                </a:solidFill>
                <a:effectLst/>
                <a:latin typeface="Consolas" panose="020B0609020204030204" pitchFamily="49" charset="0"/>
              </a:rPr>
              <a:t>readers_waiting</a:t>
            </a:r>
            <a:r>
              <a:rPr lang="en-US" b="0" dirty="0">
                <a:solidFill>
                  <a:srgbClr val="CDD6F4"/>
                </a:solidFill>
                <a:effectLst/>
                <a:latin typeface="Consolas" panose="020B0609020204030204" pitchFamily="49" charset="0"/>
              </a:rPr>
              <a:t> </a:t>
            </a:r>
            <a:r>
              <a:rPr lang="en-US" b="0" dirty="0">
                <a:solidFill>
                  <a:srgbClr val="94E2D5"/>
                </a:solidFill>
                <a:effectLst/>
                <a:latin typeface="Consolas" panose="020B0609020204030204" pitchFamily="49" charset="0"/>
              </a:rPr>
              <a:t>&gt;</a:t>
            </a:r>
            <a:r>
              <a:rPr lang="en-US" b="0" dirty="0">
                <a:solidFill>
                  <a:srgbClr val="CDD6F4"/>
                </a:solidFill>
                <a:effectLst/>
                <a:latin typeface="Consolas" panose="020B0609020204030204" pitchFamily="49" charset="0"/>
              </a:rPr>
              <a:t> </a:t>
            </a:r>
            <a:r>
              <a:rPr lang="en-US" b="0" dirty="0">
                <a:solidFill>
                  <a:srgbClr val="FAB387"/>
                </a:solidFill>
                <a:effectLst/>
                <a:latin typeface="Consolas" panose="020B0609020204030204" pitchFamily="49" charset="0"/>
              </a:rPr>
              <a:t>0</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decrease </a:t>
            </a:r>
            <a:r>
              <a:rPr lang="en-US" b="0" dirty="0" err="1">
                <a:solidFill>
                  <a:srgbClr val="CDD6F4"/>
                </a:solidFill>
                <a:effectLst/>
                <a:latin typeface="Consolas" panose="020B0609020204030204" pitchFamily="49" charset="0"/>
              </a:rPr>
              <a:t>readers_waiting</a:t>
            </a:r>
            <a:r>
              <a:rPr lang="en-US" b="0" dirty="0">
                <a:solidFill>
                  <a:srgbClr val="CDD6F4"/>
                </a:solidFill>
                <a:effectLst/>
                <a:latin typeface="Consolas" panose="020B0609020204030204" pitchFamily="49" charset="0"/>
              </a:rPr>
              <a:t> by </a:t>
            </a:r>
            <a:r>
              <a:rPr lang="en-US" b="0" dirty="0">
                <a:solidFill>
                  <a:srgbClr val="FAB387"/>
                </a:solidFill>
                <a:effectLst/>
                <a:latin typeface="Consolas" panose="020B0609020204030204" pitchFamily="49" charset="0"/>
              </a:rPr>
              <a:t>1</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p>
          <a:p>
            <a:r>
              <a:rPr lang="en-US" b="0" dirty="0">
                <a:solidFill>
                  <a:srgbClr val="CDD6F4"/>
                </a:solidFill>
                <a:effectLst/>
                <a:latin typeface="Consolas" panose="020B0609020204030204" pitchFamily="49" charset="0"/>
              </a:rPr>
              <a:t>        decrease readers by </a:t>
            </a:r>
            <a:r>
              <a:rPr lang="en-US" b="0" dirty="0">
                <a:solidFill>
                  <a:srgbClr val="FAB387"/>
                </a:solidFill>
                <a:effectLst/>
                <a:latin typeface="Consolas" panose="020B0609020204030204" pitchFamily="49" charset="0"/>
              </a:rPr>
              <a:t>1</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p>
          <a:p>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mythreads_sem_up</a:t>
            </a:r>
            <a:r>
              <a:rPr lang="en-US" b="0" dirty="0">
                <a:solidFill>
                  <a:srgbClr val="9399B2"/>
                </a:solidFill>
                <a:effectLst/>
                <a:latin typeface="Consolas" panose="020B0609020204030204" pitchFamily="49" charset="0"/>
              </a:rPr>
              <a:t>(</a:t>
            </a:r>
            <a:r>
              <a:rPr lang="en-US" b="0" dirty="0" err="1">
                <a:solidFill>
                  <a:srgbClr val="CDD6F4"/>
                </a:solidFill>
                <a:effectLst/>
                <a:latin typeface="Consolas" panose="020B0609020204030204" pitchFamily="49" charset="0"/>
              </a:rPr>
              <a:t>readers_queue</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else</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dirty="0">
                <a:solidFill>
                  <a:srgbClr val="CBA6F7"/>
                </a:solidFill>
                <a:effectLst/>
                <a:latin typeface="Consolas" panose="020B0609020204030204" pitchFamily="49" charset="0"/>
              </a:rPr>
              <a:t>if</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there are blocked writers</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decrease </a:t>
            </a:r>
            <a:r>
              <a:rPr lang="en-US" b="0" dirty="0" err="1">
                <a:solidFill>
                  <a:srgbClr val="CDD6F4"/>
                </a:solidFill>
                <a:effectLst/>
                <a:latin typeface="Consolas" panose="020B0609020204030204" pitchFamily="49" charset="0"/>
              </a:rPr>
              <a:t>writers_waiting</a:t>
            </a:r>
            <a:r>
              <a:rPr lang="en-US" b="0" dirty="0">
                <a:solidFill>
                  <a:srgbClr val="CDD6F4"/>
                </a:solidFill>
                <a:effectLst/>
                <a:latin typeface="Consolas" panose="020B0609020204030204" pitchFamily="49" charset="0"/>
              </a:rPr>
              <a:t> by </a:t>
            </a:r>
            <a:r>
              <a:rPr lang="en-US" b="0" dirty="0">
                <a:solidFill>
                  <a:srgbClr val="FAB387"/>
                </a:solidFill>
                <a:effectLst/>
                <a:latin typeface="Consolas" panose="020B0609020204030204" pitchFamily="49" charset="0"/>
              </a:rPr>
              <a:t>1</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p>
          <a:p>
            <a:r>
              <a:rPr lang="en-US" b="0" dirty="0">
                <a:solidFill>
                  <a:srgbClr val="CDD6F4"/>
                </a:solidFill>
                <a:effectLst/>
                <a:latin typeface="Consolas" panose="020B0609020204030204" pitchFamily="49" charset="0"/>
              </a:rPr>
              <a:t>            increase writers by </a:t>
            </a:r>
            <a:r>
              <a:rPr lang="en-US" b="0" dirty="0">
                <a:solidFill>
                  <a:srgbClr val="FAB387"/>
                </a:solidFill>
                <a:effectLst/>
                <a:latin typeface="Consolas" panose="020B0609020204030204" pitchFamily="49" charset="0"/>
              </a:rPr>
              <a:t>1</a:t>
            </a:r>
            <a:r>
              <a:rPr lang="en-US" b="0" dirty="0">
                <a:solidFill>
                  <a:srgbClr val="9399B2"/>
                </a:solidFill>
                <a:effectLst/>
                <a:latin typeface="Consolas" panose="020B0609020204030204" pitchFamily="49" charset="0"/>
              </a:rPr>
              <a:t>;</a:t>
            </a:r>
            <a:r>
              <a:rPr lang="en-US" b="0" dirty="0">
                <a:solidFill>
                  <a:srgbClr val="CDD6F4"/>
                </a:solidFill>
                <a:effectLst/>
                <a:latin typeface="Consolas" panose="020B0609020204030204" pitchFamily="49" charset="0"/>
              </a:rPr>
              <a:t> </a:t>
            </a:r>
          </a:p>
          <a:p>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mythreads_sem_up</a:t>
            </a:r>
            <a:r>
              <a:rPr lang="en-US" b="0" dirty="0">
                <a:solidFill>
                  <a:srgbClr val="9399B2"/>
                </a:solidFill>
                <a:effectLst/>
                <a:latin typeface="Consolas" panose="020B0609020204030204" pitchFamily="49" charset="0"/>
              </a:rPr>
              <a:t>(</a:t>
            </a:r>
            <a:r>
              <a:rPr lang="en-US" b="0" dirty="0" err="1">
                <a:solidFill>
                  <a:srgbClr val="CDD6F4"/>
                </a:solidFill>
                <a:effectLst/>
                <a:latin typeface="Consolas" panose="020B0609020204030204" pitchFamily="49" charset="0"/>
              </a:rPr>
              <a:t>writers_queue</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i="1" dirty="0" err="1">
                <a:solidFill>
                  <a:srgbClr val="89B4FA"/>
                </a:solidFill>
                <a:effectLst/>
                <a:latin typeface="Consolas" panose="020B0609020204030204" pitchFamily="49" charset="0"/>
              </a:rPr>
              <a:t>mythreads_sem_up</a:t>
            </a:r>
            <a:r>
              <a:rPr lang="en-US" b="0" dirty="0">
                <a:solidFill>
                  <a:srgbClr val="9399B2"/>
                </a:solidFill>
                <a:effectLst/>
                <a:latin typeface="Consolas" panose="020B0609020204030204" pitchFamily="49" charset="0"/>
              </a:rPr>
              <a:t>(</a:t>
            </a:r>
            <a:r>
              <a:rPr lang="en-US" b="0" dirty="0" err="1">
                <a:solidFill>
                  <a:srgbClr val="CDD6F4"/>
                </a:solidFill>
                <a:effectLst/>
                <a:latin typeface="Consolas" panose="020B0609020204030204" pitchFamily="49" charset="0"/>
              </a:rPr>
              <a:t>mtx</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r>
              <a:rPr lang="en-US" b="0" dirty="0">
                <a:solidFill>
                  <a:srgbClr val="CDD6F4"/>
                </a:solidFill>
                <a:effectLst/>
                <a:latin typeface="Consolas" panose="020B0609020204030204" pitchFamily="49" charset="0"/>
              </a:rPr>
              <a:t>    </a:t>
            </a: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a:p>
            <a:br>
              <a:rPr lang="en-US" b="0" dirty="0">
                <a:solidFill>
                  <a:srgbClr val="CDD6F4"/>
                </a:solidFill>
                <a:effectLst/>
                <a:latin typeface="Consolas" panose="020B0609020204030204" pitchFamily="49" charset="0"/>
              </a:rPr>
            </a:br>
            <a:r>
              <a:rPr lang="en-US" b="0" dirty="0">
                <a:solidFill>
                  <a:srgbClr val="9399B2"/>
                </a:solidFill>
                <a:effectLst/>
                <a:latin typeface="Consolas" panose="020B0609020204030204" pitchFamily="49" charset="0"/>
              </a:rPr>
              <a:t>}</a:t>
            </a:r>
            <a:endParaRPr lang="en-US" b="0" dirty="0">
              <a:solidFill>
                <a:srgbClr val="CDD6F4"/>
              </a:solidFill>
              <a:effectLst/>
              <a:latin typeface="Consolas" panose="020B0609020204030204" pitchFamily="49" charset="0"/>
            </a:endParaRPr>
          </a:p>
        </p:txBody>
      </p:sp>
    </p:spTree>
    <p:extLst>
      <p:ext uri="{BB962C8B-B14F-4D97-AF65-F5344CB8AC3E}">
        <p14:creationId xmlns:p14="http://schemas.microsoft.com/office/powerpoint/2010/main" val="129481906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docProps/app.xml><?xml version="1.0" encoding="utf-8"?>
<Properties xmlns="http://schemas.openxmlformats.org/officeDocument/2006/extended-properties" xmlns:vt="http://schemas.openxmlformats.org/officeDocument/2006/docPropsVTypes">
  <Template>Office Theme</Template>
  <TotalTime>1084</TotalTime>
  <Words>3819</Words>
  <Application>Microsoft Office PowerPoint</Application>
  <PresentationFormat>Widescreen</PresentationFormat>
  <Paragraphs>471</Paragraphs>
  <Slides>46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Aptos</vt:lpstr>
      <vt:lpstr>Aptos Display</vt:lpstr>
      <vt:lpstr>Arial</vt:lpstr>
      <vt:lpstr>Consolas</vt:lpstr>
      <vt:lpstr>Office Theme</vt:lpstr>
      <vt:lpstr>Assignment 1</vt:lpstr>
      <vt:lpstr>Assignment 1: mycoroutine API</vt:lpstr>
      <vt:lpstr>Assignment 1: Initializing and destroying coroutines</vt:lpstr>
      <vt:lpstr>Assignment 1: Initializing the main coroutine and global variables</vt:lpstr>
      <vt:lpstr>Assignment 1: Creating and destroying coroutines</vt:lpstr>
      <vt:lpstr>Assignment 1: Switching coroutines</vt:lpstr>
      <vt:lpstr>Assignment 1: Testing coroutines</vt:lpstr>
      <vt:lpstr>Assignment 1: pipe_write function</vt:lpstr>
      <vt:lpstr>Assignment 1: pipe_read function</vt:lpstr>
      <vt:lpstr>Assignment 2</vt:lpstr>
      <vt:lpstr>Assignment 2: mythreads API</vt:lpstr>
      <vt:lpstr>Assignment 2: mythreads API</vt:lpstr>
      <vt:lpstr>Assignment 2: mythreads internal functions</vt:lpstr>
      <vt:lpstr>Assignment 2: Avoiding race conditions</vt:lpstr>
      <vt:lpstr>Assignment 2: Sleeping mechanism</vt:lpstr>
      <vt:lpstr>Assignment 2: The scheduler</vt:lpstr>
      <vt:lpstr>Assignment 2: The scheduler</vt:lpstr>
      <vt:lpstr>Assignment 2: The scheduler</vt:lpstr>
      <vt:lpstr>Assignment 2: The scheduler</vt:lpstr>
      <vt:lpstr>Assignment 2: The scheduler</vt:lpstr>
      <vt:lpstr>Assignment 2: Storing threads</vt:lpstr>
      <vt:lpstr>Assignment 2: Storing threads</vt:lpstr>
      <vt:lpstr>Assignment 2: Thread slice</vt:lpstr>
      <vt:lpstr>Assignment 2: Thread slice</vt:lpstr>
      <vt:lpstr>Assignment 2: Thread slice</vt:lpstr>
      <vt:lpstr>Assignment 2: Scheduler related functions</vt:lpstr>
      <vt:lpstr>Assignment 2: Scheduler related functions</vt:lpstr>
      <vt:lpstr>Assignment 2: Scheduler related functions</vt:lpstr>
      <vt:lpstr>Assignment 2: Utility functions</vt:lpstr>
      <vt:lpstr>Assignment 2: Utility functions</vt:lpstr>
      <vt:lpstr>Assignment 2: Utility functions</vt:lpstr>
      <vt:lpstr>Assignment 2: API functions</vt:lpstr>
      <vt:lpstr>Assignment 2: API functions</vt:lpstr>
      <vt:lpstr>Assignment 2: API functions</vt:lpstr>
      <vt:lpstr>Assignment 2: API functions</vt:lpstr>
      <vt:lpstr>Assignment 2: API functions</vt:lpstr>
      <vt:lpstr>Assignment 2: API functions</vt:lpstr>
      <vt:lpstr>Assignment 2: API functions</vt:lpstr>
      <vt:lpstr>Assignment 2: API functions</vt:lpstr>
      <vt:lpstr>Assignment 2: Additional challenges</vt:lpstr>
      <vt:lpstr>Assignment 3</vt:lpstr>
      <vt:lpstr>Assignment 3: Variables</vt:lpstr>
      <vt:lpstr>Assignment 3: Reader function</vt:lpstr>
      <vt:lpstr>Assignment 3: Reader function</vt:lpstr>
      <vt:lpstr>Assignment 3: Writer function</vt:lpstr>
      <vt:lpstr>Assignment 3: Writer function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 1</dc:title>
  <dc:creator>Faidra Nika</dc:creator>
  <cp:lastModifiedBy>Faidra Nika</cp:lastModifiedBy>
  <cp:revision>56</cp:revision>
  <dcterms:created xsi:type="dcterms:W3CDTF">2024-11-30T16:59:36Z</dcterms:created>
  <dcterms:modified xsi:type="dcterms:W3CDTF">2025-01-09T07:37:31Z</dcterms:modified>
</cp:coreProperties>
</file>