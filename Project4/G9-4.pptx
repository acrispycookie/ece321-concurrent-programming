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305" r:id="rId4"/>
    <p:sldId id="306" r:id="rId5"/>
    <p:sldId id="307" r:id="rId6"/>
    <p:sldId id="308" r:id="rId7"/>
    <p:sldId id="310" r:id="rId8"/>
    <p:sldId id="311" r:id="rId9"/>
    <p:sldId id="312" r:id="rId10"/>
    <p:sldId id="302" r:id="rId11"/>
    <p:sldId id="304" r:id="rId12"/>
    <p:sldId id="325" r:id="rId13"/>
    <p:sldId id="314" r:id="rId14"/>
    <p:sldId id="316" r:id="rId15"/>
    <p:sldId id="326" r:id="rId16"/>
    <p:sldId id="323" r:id="rId17"/>
    <p:sldId id="324" r:id="rId18"/>
    <p:sldId id="315" r:id="rId19"/>
    <p:sldId id="317" r:id="rId20"/>
    <p:sldId id="318" r:id="rId21"/>
    <p:sldId id="319" r:id="rId22"/>
    <p:sldId id="320" r:id="rId23"/>
    <p:sldId id="322" r:id="rId24"/>
    <p:sldId id="321" r:id="rId25"/>
    <p:sldId id="327" r:id="rId26"/>
    <p:sldId id="333" r:id="rId27"/>
    <p:sldId id="334" r:id="rId28"/>
    <p:sldId id="335" r:id="rId29"/>
    <p:sldId id="336" r:id="rId30"/>
    <p:sldId id="337" r:id="rId31"/>
    <p:sldId id="303" r:id="rId32"/>
    <p:sldId id="330" r:id="rId33"/>
    <p:sldId id="332" r:id="rId34"/>
    <p:sldId id="328" r:id="rId35"/>
    <p:sldId id="329" r:id="rId36"/>
    <p:sldId id="331" r:id="rId3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490" autoAdjust="0"/>
    <p:restoredTop sz="94660"/>
  </p:normalViewPr>
  <p:slideViewPr>
    <p:cSldViewPr snapToGrid="0">
      <p:cViewPr varScale="1">
        <p:scale>
          <a:sx n="150" d="100"/>
          <a:sy n="150" d="100"/>
        </p:scale>
        <p:origin x="89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77826EAC-0EB7-423B-BF89-84126560B6A3}" type="datetimeFigureOut">
              <a:rPr lang="en-US" smtClean="0"/>
              <a:t>12/21/2024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C296FB-853A-4DD6-B517-AD8AB6992D97}" type="slidenum">
              <a:rPr lang="en-US" smtClean="0"/>
              <a:t>‹#›</a:t>
            </a:fld>
            <a:endParaRPr lang="en-US"/>
          </a:p>
        </p:txBody>
      </p:sp>
    </p:spTree>
    <p:extLst>
      <p:ext uri="{BB962C8B-B14F-4D97-AF65-F5344CB8AC3E}">
        <p14:creationId xmlns:p14="http://schemas.microsoft.com/office/powerpoint/2010/main" val="6734688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7826EAC-0EB7-423B-BF89-84126560B6A3}" type="datetimeFigureOut">
              <a:rPr lang="en-US" smtClean="0"/>
              <a:t>12/21/2024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C296FB-853A-4DD6-B517-AD8AB6992D97}" type="slidenum">
              <a:rPr lang="en-US" smtClean="0"/>
              <a:t>‹#›</a:t>
            </a:fld>
            <a:endParaRPr lang="en-US"/>
          </a:p>
        </p:txBody>
      </p:sp>
    </p:spTree>
    <p:extLst>
      <p:ext uri="{BB962C8B-B14F-4D97-AF65-F5344CB8AC3E}">
        <p14:creationId xmlns:p14="http://schemas.microsoft.com/office/powerpoint/2010/main" val="12885072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shade val="82000"/>
                  </a:schemeClr>
                </a:solidFill>
              </a:defRPr>
            </a:lvl1pPr>
            <a:lvl2pPr marL="457200" indent="0">
              <a:buNone/>
              <a:defRPr sz="2000">
                <a:solidFill>
                  <a:schemeClr val="tx1">
                    <a:shade val="82000"/>
                  </a:schemeClr>
                </a:solidFill>
              </a:defRPr>
            </a:lvl2pPr>
            <a:lvl3pPr marL="914400" indent="0">
              <a:buNone/>
              <a:defRPr sz="1800">
                <a:solidFill>
                  <a:schemeClr val="tx1">
                    <a:shade val="82000"/>
                  </a:schemeClr>
                </a:solidFill>
              </a:defRPr>
            </a:lvl3pPr>
            <a:lvl4pPr marL="1371600" indent="0">
              <a:buNone/>
              <a:defRPr sz="1600">
                <a:solidFill>
                  <a:schemeClr val="tx1">
                    <a:shade val="82000"/>
                  </a:schemeClr>
                </a:solidFill>
              </a:defRPr>
            </a:lvl4pPr>
            <a:lvl5pPr marL="1828800" indent="0">
              <a:buNone/>
              <a:defRPr sz="1600">
                <a:solidFill>
                  <a:schemeClr val="tx1">
                    <a:shade val="82000"/>
                  </a:schemeClr>
                </a:solidFill>
              </a:defRPr>
            </a:lvl5pPr>
            <a:lvl6pPr marL="2286000" indent="0">
              <a:buNone/>
              <a:defRPr sz="1600">
                <a:solidFill>
                  <a:schemeClr val="tx1">
                    <a:shade val="82000"/>
                  </a:schemeClr>
                </a:solidFill>
              </a:defRPr>
            </a:lvl6pPr>
            <a:lvl7pPr marL="2743200" indent="0">
              <a:buNone/>
              <a:defRPr sz="1600">
                <a:solidFill>
                  <a:schemeClr val="tx1">
                    <a:shade val="82000"/>
                  </a:schemeClr>
                </a:solidFill>
              </a:defRPr>
            </a:lvl7pPr>
            <a:lvl8pPr marL="3200400" indent="0">
              <a:buNone/>
              <a:defRPr sz="1600">
                <a:solidFill>
                  <a:schemeClr val="tx1">
                    <a:shade val="82000"/>
                  </a:schemeClr>
                </a:solidFill>
              </a:defRPr>
            </a:lvl8pPr>
            <a:lvl9pPr marL="3657600" indent="0">
              <a:buNone/>
              <a:defRPr sz="1600">
                <a:solidFill>
                  <a:schemeClr val="tx1">
                    <a:shade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7826EAC-0EB7-423B-BF89-84126560B6A3}" type="datetimeFigureOut">
              <a:rPr lang="en-US" smtClean="0"/>
              <a:t>12/21/2024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C296FB-853A-4DD6-B517-AD8AB6992D97}" type="slidenum">
              <a:rPr lang="en-US" smtClean="0"/>
              <a:t>‹#›</a:t>
            </a:fld>
            <a:endParaRPr lang="en-US"/>
          </a:p>
        </p:txBody>
      </p:sp>
    </p:spTree>
    <p:extLst>
      <p:ext uri="{BB962C8B-B14F-4D97-AF65-F5344CB8AC3E}">
        <p14:creationId xmlns:p14="http://schemas.microsoft.com/office/powerpoint/2010/main" val="417878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7826EAC-0EB7-423B-BF89-84126560B6A3}" type="datetimeFigureOut">
              <a:rPr lang="en-US" smtClean="0"/>
              <a:t>12/21/2024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C296FB-853A-4DD6-B517-AD8AB6992D97}" type="slidenum">
              <a:rPr lang="en-US" smtClean="0"/>
              <a:t>‹#›</a:t>
            </a:fld>
            <a:endParaRPr lang="en-US"/>
          </a:p>
        </p:txBody>
      </p:sp>
    </p:spTree>
    <p:extLst>
      <p:ext uri="{BB962C8B-B14F-4D97-AF65-F5344CB8AC3E}">
        <p14:creationId xmlns:p14="http://schemas.microsoft.com/office/powerpoint/2010/main" val="375903700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7826EAC-0EB7-423B-BF89-84126560B6A3}" type="datetimeFigureOut">
              <a:rPr lang="en-US" smtClean="0"/>
              <a:t>12/21/2024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DC296FB-853A-4DD6-B517-AD8AB6992D97}" type="slidenum">
              <a:rPr lang="en-US" smtClean="0"/>
              <a:t>‹#›</a:t>
            </a:fld>
            <a:endParaRPr lang="en-US"/>
          </a:p>
        </p:txBody>
      </p:sp>
    </p:spTree>
    <p:extLst>
      <p:ext uri="{BB962C8B-B14F-4D97-AF65-F5344CB8AC3E}">
        <p14:creationId xmlns:p14="http://schemas.microsoft.com/office/powerpoint/2010/main" val="28651240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7826EAC-0EB7-423B-BF89-84126560B6A3}" type="datetimeFigureOut">
              <a:rPr lang="en-US" smtClean="0"/>
              <a:t>12/21/2024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DC296FB-853A-4DD6-B517-AD8AB6992D97}" type="slidenum">
              <a:rPr lang="en-US" smtClean="0"/>
              <a:t>‹#›</a:t>
            </a:fld>
            <a:endParaRPr lang="en-US"/>
          </a:p>
        </p:txBody>
      </p:sp>
    </p:spTree>
    <p:extLst>
      <p:ext uri="{BB962C8B-B14F-4D97-AF65-F5344CB8AC3E}">
        <p14:creationId xmlns:p14="http://schemas.microsoft.com/office/powerpoint/2010/main" val="11737096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7826EAC-0EB7-423B-BF89-84126560B6A3}" type="datetimeFigureOut">
              <a:rPr lang="en-US" smtClean="0"/>
              <a:t>12/21/2024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DC296FB-853A-4DD6-B517-AD8AB6992D97}" type="slidenum">
              <a:rPr lang="en-US" smtClean="0"/>
              <a:t>‹#›</a:t>
            </a:fld>
            <a:endParaRPr lang="en-US"/>
          </a:p>
        </p:txBody>
      </p:sp>
    </p:spTree>
    <p:extLst>
      <p:ext uri="{BB962C8B-B14F-4D97-AF65-F5344CB8AC3E}">
        <p14:creationId xmlns:p14="http://schemas.microsoft.com/office/powerpoint/2010/main" val="14853050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7826EAC-0EB7-423B-BF89-84126560B6A3}" type="datetimeFigureOut">
              <a:rPr lang="en-US" smtClean="0"/>
              <a:t>12/21/2024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C296FB-853A-4DD6-B517-AD8AB6992D97}" type="slidenum">
              <a:rPr lang="en-US" smtClean="0"/>
              <a:t>‹#›</a:t>
            </a:fld>
            <a:endParaRPr lang="en-US"/>
          </a:p>
        </p:txBody>
      </p:sp>
    </p:spTree>
    <p:extLst>
      <p:ext uri="{BB962C8B-B14F-4D97-AF65-F5344CB8AC3E}">
        <p14:creationId xmlns:p14="http://schemas.microsoft.com/office/powerpoint/2010/main" val="30791486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7826EAC-0EB7-423B-BF89-84126560B6A3}" type="datetimeFigureOut">
              <a:rPr lang="en-US" smtClean="0"/>
              <a:t>12/21/2024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C296FB-853A-4DD6-B517-AD8AB6992D97}" type="slidenum">
              <a:rPr lang="en-US" smtClean="0"/>
              <a:t>‹#›</a:t>
            </a:fld>
            <a:endParaRPr lang="en-US"/>
          </a:p>
        </p:txBody>
      </p:sp>
    </p:spTree>
    <p:extLst>
      <p:ext uri="{BB962C8B-B14F-4D97-AF65-F5344CB8AC3E}">
        <p14:creationId xmlns:p14="http://schemas.microsoft.com/office/powerpoint/2010/main" val="15527736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7826EAC-0EB7-423B-BF89-84126560B6A3}" type="datetimeFigureOut">
              <a:rPr lang="en-US" smtClean="0"/>
              <a:t>12/21/2024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C296FB-853A-4DD6-B517-AD8AB6992D97}" type="slidenum">
              <a:rPr lang="en-US" smtClean="0"/>
              <a:t>‹#›</a:t>
            </a:fld>
            <a:endParaRPr lang="en-US"/>
          </a:p>
        </p:txBody>
      </p:sp>
    </p:spTree>
    <p:extLst>
      <p:ext uri="{BB962C8B-B14F-4D97-AF65-F5344CB8AC3E}">
        <p14:creationId xmlns:p14="http://schemas.microsoft.com/office/powerpoint/2010/main" val="15626455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7826EAC-0EB7-423B-BF89-84126560B6A3}" type="datetimeFigureOut">
              <a:rPr lang="en-US" smtClean="0"/>
              <a:t>12/21/2024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C296FB-853A-4DD6-B517-AD8AB6992D97}" type="slidenum">
              <a:rPr lang="en-US" smtClean="0"/>
              <a:t>‹#›</a:t>
            </a:fld>
            <a:endParaRPr lang="en-US"/>
          </a:p>
        </p:txBody>
      </p:sp>
    </p:spTree>
    <p:extLst>
      <p:ext uri="{BB962C8B-B14F-4D97-AF65-F5344CB8AC3E}">
        <p14:creationId xmlns:p14="http://schemas.microsoft.com/office/powerpoint/2010/main" val="39331366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shade val="82000"/>
                  </a:schemeClr>
                </a:solidFill>
              </a:defRPr>
            </a:lvl1pPr>
          </a:lstStyle>
          <a:p>
            <a:fld id="{77826EAC-0EB7-423B-BF89-84126560B6A3}" type="datetimeFigureOut">
              <a:rPr lang="en-US" smtClean="0"/>
              <a:t>12/21/2024</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hade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hade val="82000"/>
                  </a:schemeClr>
                </a:solidFill>
              </a:defRPr>
            </a:lvl1pPr>
          </a:lstStyle>
          <a:p>
            <a:fld id="{8DC296FB-853A-4DD6-B517-AD8AB6992D97}" type="slidenum">
              <a:rPr lang="en-US" smtClean="0"/>
              <a:t>‹#›</a:t>
            </a:fld>
            <a:endParaRPr lang="en-US"/>
          </a:p>
        </p:txBody>
      </p:sp>
    </p:spTree>
    <p:extLst>
      <p:ext uri="{BB962C8B-B14F-4D97-AF65-F5344CB8AC3E}">
        <p14:creationId xmlns:p14="http://schemas.microsoft.com/office/powerpoint/2010/main" val="166355948"/>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37A0FB-26FB-A62F-F5B3-76AD27185EEF}"/>
              </a:ext>
            </a:extLst>
          </p:cNvPr>
          <p:cNvSpPr>
            <a:spLocks noGrp="1"/>
          </p:cNvSpPr>
          <p:nvPr>
            <p:ph type="ctrTitle"/>
          </p:nvPr>
        </p:nvSpPr>
        <p:spPr>
          <a:xfrm>
            <a:off x="1524000" y="2945034"/>
            <a:ext cx="9144000" cy="967931"/>
          </a:xfrm>
        </p:spPr>
        <p:txBody>
          <a:bodyPr/>
          <a:lstStyle/>
          <a:p>
            <a:r>
              <a:rPr lang="en-US" dirty="0"/>
              <a:t>Assignment 1</a:t>
            </a:r>
          </a:p>
        </p:txBody>
      </p:sp>
    </p:spTree>
    <p:extLst>
      <p:ext uri="{BB962C8B-B14F-4D97-AF65-F5344CB8AC3E}">
        <p14:creationId xmlns:p14="http://schemas.microsoft.com/office/powerpoint/2010/main" val="13116061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9FCC78-91AB-00E1-23BE-837571F81091}"/>
              </a:ext>
            </a:extLst>
          </p:cNvPr>
          <p:cNvSpPr>
            <a:spLocks noGrp="1"/>
          </p:cNvSpPr>
          <p:nvPr>
            <p:ph type="title"/>
          </p:nvPr>
        </p:nvSpPr>
        <p:spPr/>
        <p:txBody>
          <a:bodyPr/>
          <a:lstStyle/>
          <a:p>
            <a:r>
              <a:rPr lang="en-US" b="1" dirty="0"/>
              <a:t>Assignment 1: </a:t>
            </a:r>
            <a:r>
              <a:rPr lang="en-US" dirty="0" err="1">
                <a:latin typeface="Consolas" panose="020B0609020204030204" pitchFamily="49" charset="0"/>
              </a:rPr>
              <a:t>mycoroutine</a:t>
            </a:r>
            <a:r>
              <a:rPr lang="en-US" b="1" dirty="0"/>
              <a:t> </a:t>
            </a:r>
            <a:r>
              <a:rPr lang="en-US" dirty="0"/>
              <a:t>API</a:t>
            </a:r>
          </a:p>
        </p:txBody>
      </p:sp>
      <p:sp>
        <p:nvSpPr>
          <p:cNvPr id="10" name="TextBox 9">
            <a:extLst>
              <a:ext uri="{FF2B5EF4-FFF2-40B4-BE49-F238E27FC236}">
                <a16:creationId xmlns:a16="http://schemas.microsoft.com/office/drawing/2014/main" id="{05EE017F-317E-3341-7B1D-A7C88F81C2D1}"/>
              </a:ext>
            </a:extLst>
          </p:cNvPr>
          <p:cNvSpPr txBox="1"/>
          <p:nvPr/>
        </p:nvSpPr>
        <p:spPr>
          <a:xfrm>
            <a:off x="566281" y="2274838"/>
            <a:ext cx="11059438" cy="2308324"/>
          </a:xfrm>
          <a:prstGeom prst="rect">
            <a:avLst/>
          </a:prstGeom>
          <a:noFill/>
        </p:spPr>
        <p:txBody>
          <a:bodyPr wrap="none" rtlCol="0">
            <a:spAutoFit/>
          </a:bodyPr>
          <a:lstStyle/>
          <a:p>
            <a:pPr>
              <a:lnSpc>
                <a:spcPct val="125000"/>
              </a:lnSpc>
            </a:pPr>
            <a:r>
              <a:rPr lang="en-US" sz="2400" b="0" dirty="0">
                <a:solidFill>
                  <a:srgbClr val="CBA6F7"/>
                </a:solidFill>
                <a:effectLst/>
                <a:latin typeface="Consolas" panose="020B0609020204030204" pitchFamily="49" charset="0"/>
              </a:rPr>
              <a:t>int</a:t>
            </a:r>
            <a:r>
              <a:rPr lang="en-US" sz="2400" b="0" dirty="0">
                <a:solidFill>
                  <a:srgbClr val="CDD6F4"/>
                </a:solidFill>
                <a:effectLst/>
                <a:latin typeface="Consolas" panose="020B0609020204030204" pitchFamily="49" charset="0"/>
              </a:rPr>
              <a:t> </a:t>
            </a:r>
            <a:r>
              <a:rPr lang="en-US" sz="2400" b="0" i="1" dirty="0" err="1">
                <a:solidFill>
                  <a:srgbClr val="89B4FA"/>
                </a:solidFill>
                <a:effectLst/>
                <a:latin typeface="Consolas" panose="020B0609020204030204" pitchFamily="49" charset="0"/>
              </a:rPr>
              <a:t>mycoroutine_init</a:t>
            </a:r>
            <a:r>
              <a:rPr lang="en-US" sz="2400" b="0" dirty="0">
                <a:solidFill>
                  <a:srgbClr val="9399B2"/>
                </a:solidFill>
                <a:effectLst/>
                <a:latin typeface="Consolas" panose="020B0609020204030204" pitchFamily="49" charset="0"/>
              </a:rPr>
              <a:t>(</a:t>
            </a:r>
            <a:r>
              <a:rPr lang="en-US" sz="2400" b="0" i="1" dirty="0" err="1">
                <a:solidFill>
                  <a:srgbClr val="F9E2AF"/>
                </a:solidFill>
                <a:effectLst/>
                <a:latin typeface="Consolas" panose="020B0609020204030204" pitchFamily="49" charset="0"/>
              </a:rPr>
              <a:t>co_t</a:t>
            </a:r>
            <a:r>
              <a:rPr lang="en-US" sz="2400" b="0" dirty="0">
                <a:solidFill>
                  <a:srgbClr val="CDD6F4"/>
                </a:solidFill>
                <a:effectLst/>
                <a:latin typeface="Consolas" panose="020B0609020204030204" pitchFamily="49" charset="0"/>
              </a:rPr>
              <a:t> </a:t>
            </a:r>
            <a:r>
              <a:rPr lang="en-US" sz="2400" b="0" dirty="0">
                <a:solidFill>
                  <a:srgbClr val="94E2D5"/>
                </a:solidFill>
                <a:effectLst/>
                <a:latin typeface="Consolas" panose="020B0609020204030204" pitchFamily="49" charset="0"/>
              </a:rPr>
              <a:t>*</a:t>
            </a:r>
            <a:r>
              <a:rPr lang="en-US" sz="2400" b="0" i="1" dirty="0">
                <a:solidFill>
                  <a:srgbClr val="EBA0AC"/>
                </a:solidFill>
                <a:effectLst/>
                <a:latin typeface="Consolas" panose="020B0609020204030204" pitchFamily="49" charset="0"/>
              </a:rPr>
              <a:t>main</a:t>
            </a:r>
            <a:r>
              <a:rPr lang="en-US" sz="2400" b="0" dirty="0">
                <a:solidFill>
                  <a:srgbClr val="9399B2"/>
                </a:solidFill>
                <a:effectLst/>
                <a:latin typeface="Consolas" panose="020B0609020204030204" pitchFamily="49" charset="0"/>
              </a:rPr>
              <a:t>);</a:t>
            </a:r>
            <a:endParaRPr lang="en-US" sz="2400" b="0" dirty="0">
              <a:solidFill>
                <a:srgbClr val="CDD6F4"/>
              </a:solidFill>
              <a:effectLst/>
              <a:latin typeface="Consolas" panose="020B0609020204030204" pitchFamily="49" charset="0"/>
            </a:endParaRPr>
          </a:p>
          <a:p>
            <a:pPr>
              <a:lnSpc>
                <a:spcPct val="125000"/>
              </a:lnSpc>
            </a:pPr>
            <a:r>
              <a:rPr lang="en-US" sz="2400" b="0" dirty="0">
                <a:solidFill>
                  <a:srgbClr val="CBA6F7"/>
                </a:solidFill>
                <a:effectLst/>
                <a:latin typeface="Consolas" panose="020B0609020204030204" pitchFamily="49" charset="0"/>
              </a:rPr>
              <a:t>int</a:t>
            </a:r>
            <a:r>
              <a:rPr lang="en-US" sz="2400" b="0" dirty="0">
                <a:solidFill>
                  <a:srgbClr val="CDD6F4"/>
                </a:solidFill>
                <a:effectLst/>
                <a:latin typeface="Consolas" panose="020B0609020204030204" pitchFamily="49" charset="0"/>
              </a:rPr>
              <a:t> </a:t>
            </a:r>
            <a:r>
              <a:rPr lang="en-US" sz="2400" b="0" i="1" dirty="0" err="1">
                <a:solidFill>
                  <a:srgbClr val="89B4FA"/>
                </a:solidFill>
                <a:effectLst/>
                <a:latin typeface="Consolas" panose="020B0609020204030204" pitchFamily="49" charset="0"/>
              </a:rPr>
              <a:t>mycoroutine_create</a:t>
            </a:r>
            <a:r>
              <a:rPr lang="en-US" sz="2400" b="0" dirty="0">
                <a:solidFill>
                  <a:srgbClr val="9399B2"/>
                </a:solidFill>
                <a:effectLst/>
                <a:latin typeface="Consolas" panose="020B0609020204030204" pitchFamily="49" charset="0"/>
              </a:rPr>
              <a:t>(</a:t>
            </a:r>
            <a:r>
              <a:rPr lang="en-US" sz="2400" b="0" i="1" dirty="0" err="1">
                <a:solidFill>
                  <a:srgbClr val="F9E2AF"/>
                </a:solidFill>
                <a:effectLst/>
                <a:latin typeface="Consolas" panose="020B0609020204030204" pitchFamily="49" charset="0"/>
              </a:rPr>
              <a:t>co_t</a:t>
            </a:r>
            <a:r>
              <a:rPr lang="en-US" sz="2400" b="0" dirty="0">
                <a:solidFill>
                  <a:srgbClr val="CDD6F4"/>
                </a:solidFill>
                <a:effectLst/>
                <a:latin typeface="Consolas" panose="020B0609020204030204" pitchFamily="49" charset="0"/>
              </a:rPr>
              <a:t> </a:t>
            </a:r>
            <a:r>
              <a:rPr lang="en-US" sz="2400" b="0" dirty="0">
                <a:solidFill>
                  <a:srgbClr val="94E2D5"/>
                </a:solidFill>
                <a:effectLst/>
                <a:latin typeface="Consolas" panose="020B0609020204030204" pitchFamily="49" charset="0"/>
              </a:rPr>
              <a:t>*</a:t>
            </a:r>
            <a:r>
              <a:rPr lang="en-US" sz="2400" b="0" i="1" dirty="0">
                <a:solidFill>
                  <a:srgbClr val="EBA0AC"/>
                </a:solidFill>
                <a:effectLst/>
                <a:latin typeface="Consolas" panose="020B0609020204030204" pitchFamily="49" charset="0"/>
              </a:rPr>
              <a:t>co</a:t>
            </a:r>
            <a:r>
              <a:rPr lang="en-US" sz="2400" b="0" dirty="0">
                <a:solidFill>
                  <a:srgbClr val="9399B2"/>
                </a:solidFill>
                <a:effectLst/>
                <a:latin typeface="Consolas" panose="020B0609020204030204" pitchFamily="49" charset="0"/>
              </a:rPr>
              <a:t>,</a:t>
            </a:r>
            <a:r>
              <a:rPr lang="en-US" sz="2400" b="0" dirty="0">
                <a:solidFill>
                  <a:srgbClr val="CDD6F4"/>
                </a:solidFill>
                <a:effectLst/>
                <a:latin typeface="Consolas" panose="020B0609020204030204" pitchFamily="49" charset="0"/>
              </a:rPr>
              <a:t> </a:t>
            </a:r>
            <a:r>
              <a:rPr lang="en-US" sz="2400" b="0" dirty="0">
                <a:solidFill>
                  <a:srgbClr val="CBA6F7"/>
                </a:solidFill>
                <a:effectLst/>
                <a:latin typeface="Consolas" panose="020B0609020204030204" pitchFamily="49" charset="0"/>
              </a:rPr>
              <a:t>void</a:t>
            </a:r>
            <a:r>
              <a:rPr lang="en-US" sz="2400" b="0" dirty="0">
                <a:solidFill>
                  <a:srgbClr val="9399B2"/>
                </a:solidFill>
                <a:effectLst/>
                <a:latin typeface="Consolas" panose="020B0609020204030204" pitchFamily="49" charset="0"/>
              </a:rPr>
              <a:t>(</a:t>
            </a:r>
            <a:r>
              <a:rPr lang="en-US" sz="2400" b="0" dirty="0">
                <a:solidFill>
                  <a:srgbClr val="CDD6F4"/>
                </a:solidFill>
                <a:effectLst/>
                <a:latin typeface="Consolas" panose="020B0609020204030204" pitchFamily="49" charset="0"/>
              </a:rPr>
              <a:t>body</a:t>
            </a:r>
            <a:r>
              <a:rPr lang="en-US" sz="2400" b="0" dirty="0">
                <a:solidFill>
                  <a:srgbClr val="9399B2"/>
                </a:solidFill>
                <a:effectLst/>
                <a:latin typeface="Consolas" panose="020B0609020204030204" pitchFamily="49" charset="0"/>
              </a:rPr>
              <a:t>)(</a:t>
            </a:r>
            <a:r>
              <a:rPr lang="en-US" sz="2400" b="0" dirty="0">
                <a:solidFill>
                  <a:srgbClr val="CBA6F7"/>
                </a:solidFill>
                <a:effectLst/>
                <a:latin typeface="Consolas" panose="020B0609020204030204" pitchFamily="49" charset="0"/>
              </a:rPr>
              <a:t>void</a:t>
            </a:r>
            <a:r>
              <a:rPr lang="en-US" sz="2400" b="0" dirty="0">
                <a:solidFill>
                  <a:srgbClr val="CDD6F4"/>
                </a:solidFill>
                <a:effectLst/>
                <a:latin typeface="Consolas" panose="020B0609020204030204" pitchFamily="49" charset="0"/>
              </a:rPr>
              <a:t> </a:t>
            </a:r>
            <a:r>
              <a:rPr lang="en-US" sz="2400" b="0" dirty="0">
                <a:solidFill>
                  <a:srgbClr val="94E2D5"/>
                </a:solidFill>
                <a:effectLst/>
                <a:latin typeface="Consolas" panose="020B0609020204030204" pitchFamily="49" charset="0"/>
              </a:rPr>
              <a:t>*</a:t>
            </a:r>
            <a:r>
              <a:rPr lang="en-US" sz="2400" b="0" dirty="0">
                <a:solidFill>
                  <a:srgbClr val="9399B2"/>
                </a:solidFill>
                <a:effectLst/>
                <a:latin typeface="Consolas" panose="020B0609020204030204" pitchFamily="49" charset="0"/>
              </a:rPr>
              <a:t>),</a:t>
            </a:r>
            <a:r>
              <a:rPr lang="en-US" sz="2400" b="0" dirty="0">
                <a:solidFill>
                  <a:srgbClr val="CDD6F4"/>
                </a:solidFill>
                <a:effectLst/>
                <a:latin typeface="Consolas" panose="020B0609020204030204" pitchFamily="49" charset="0"/>
              </a:rPr>
              <a:t> </a:t>
            </a:r>
            <a:r>
              <a:rPr lang="en-US" sz="2400" b="0" dirty="0">
                <a:solidFill>
                  <a:srgbClr val="CBA6F7"/>
                </a:solidFill>
                <a:effectLst/>
                <a:latin typeface="Consolas" panose="020B0609020204030204" pitchFamily="49" charset="0"/>
              </a:rPr>
              <a:t>void</a:t>
            </a:r>
            <a:r>
              <a:rPr lang="en-US" sz="2400" b="0" dirty="0">
                <a:solidFill>
                  <a:srgbClr val="CDD6F4"/>
                </a:solidFill>
                <a:effectLst/>
                <a:latin typeface="Consolas" panose="020B0609020204030204" pitchFamily="49" charset="0"/>
              </a:rPr>
              <a:t> </a:t>
            </a:r>
            <a:r>
              <a:rPr lang="en-US" sz="2400" b="0" dirty="0">
                <a:solidFill>
                  <a:srgbClr val="94E2D5"/>
                </a:solidFill>
                <a:effectLst/>
                <a:latin typeface="Consolas" panose="020B0609020204030204" pitchFamily="49" charset="0"/>
              </a:rPr>
              <a:t>*</a:t>
            </a:r>
            <a:r>
              <a:rPr lang="en-US" sz="2400" b="0" i="1" dirty="0" err="1">
                <a:solidFill>
                  <a:srgbClr val="EBA0AC"/>
                </a:solidFill>
                <a:effectLst/>
                <a:latin typeface="Consolas" panose="020B0609020204030204" pitchFamily="49" charset="0"/>
              </a:rPr>
              <a:t>arg</a:t>
            </a:r>
            <a:r>
              <a:rPr lang="en-US" sz="2400" b="0" dirty="0">
                <a:solidFill>
                  <a:srgbClr val="9399B2"/>
                </a:solidFill>
                <a:effectLst/>
                <a:latin typeface="Consolas" panose="020B0609020204030204" pitchFamily="49" charset="0"/>
              </a:rPr>
              <a:t>);</a:t>
            </a:r>
            <a:endParaRPr lang="en-US" sz="2400" b="0" dirty="0">
              <a:solidFill>
                <a:srgbClr val="CDD6F4"/>
              </a:solidFill>
              <a:effectLst/>
              <a:latin typeface="Consolas" panose="020B0609020204030204" pitchFamily="49" charset="0"/>
            </a:endParaRPr>
          </a:p>
          <a:p>
            <a:pPr>
              <a:lnSpc>
                <a:spcPct val="125000"/>
              </a:lnSpc>
            </a:pPr>
            <a:r>
              <a:rPr lang="en-US" sz="2400" b="0" dirty="0">
                <a:solidFill>
                  <a:srgbClr val="CBA6F7"/>
                </a:solidFill>
                <a:effectLst/>
                <a:latin typeface="Consolas" panose="020B0609020204030204" pitchFamily="49" charset="0"/>
              </a:rPr>
              <a:t>int</a:t>
            </a:r>
            <a:r>
              <a:rPr lang="en-US" sz="2400" b="0" dirty="0">
                <a:solidFill>
                  <a:srgbClr val="CDD6F4"/>
                </a:solidFill>
                <a:effectLst/>
                <a:latin typeface="Consolas" panose="020B0609020204030204" pitchFamily="49" charset="0"/>
              </a:rPr>
              <a:t> </a:t>
            </a:r>
            <a:r>
              <a:rPr lang="en-US" sz="2400" b="0" i="1" dirty="0" err="1">
                <a:solidFill>
                  <a:srgbClr val="89B4FA"/>
                </a:solidFill>
                <a:effectLst/>
                <a:latin typeface="Consolas" panose="020B0609020204030204" pitchFamily="49" charset="0"/>
              </a:rPr>
              <a:t>mycoroutine_switchto</a:t>
            </a:r>
            <a:r>
              <a:rPr lang="en-US" sz="2400" b="0" dirty="0">
                <a:solidFill>
                  <a:srgbClr val="9399B2"/>
                </a:solidFill>
                <a:effectLst/>
                <a:latin typeface="Consolas" panose="020B0609020204030204" pitchFamily="49" charset="0"/>
              </a:rPr>
              <a:t>(</a:t>
            </a:r>
            <a:r>
              <a:rPr lang="en-US" sz="2400" b="0" i="1" dirty="0" err="1">
                <a:solidFill>
                  <a:srgbClr val="F9E2AF"/>
                </a:solidFill>
                <a:effectLst/>
                <a:latin typeface="Consolas" panose="020B0609020204030204" pitchFamily="49" charset="0"/>
              </a:rPr>
              <a:t>co_t</a:t>
            </a:r>
            <a:r>
              <a:rPr lang="en-US" sz="2400" b="0" dirty="0">
                <a:solidFill>
                  <a:srgbClr val="CDD6F4"/>
                </a:solidFill>
                <a:effectLst/>
                <a:latin typeface="Consolas" panose="020B0609020204030204" pitchFamily="49" charset="0"/>
              </a:rPr>
              <a:t> </a:t>
            </a:r>
            <a:r>
              <a:rPr lang="en-US" sz="2400" b="0" dirty="0">
                <a:solidFill>
                  <a:srgbClr val="94E2D5"/>
                </a:solidFill>
                <a:effectLst/>
                <a:latin typeface="Consolas" panose="020B0609020204030204" pitchFamily="49" charset="0"/>
              </a:rPr>
              <a:t>*</a:t>
            </a:r>
            <a:r>
              <a:rPr lang="en-US" sz="2400" b="0" i="1" dirty="0">
                <a:solidFill>
                  <a:srgbClr val="EBA0AC"/>
                </a:solidFill>
                <a:effectLst/>
                <a:latin typeface="Consolas" panose="020B0609020204030204" pitchFamily="49" charset="0"/>
              </a:rPr>
              <a:t>co</a:t>
            </a:r>
            <a:r>
              <a:rPr lang="en-US" sz="2400" b="0" dirty="0">
                <a:solidFill>
                  <a:srgbClr val="9399B2"/>
                </a:solidFill>
                <a:effectLst/>
                <a:latin typeface="Consolas" panose="020B0609020204030204" pitchFamily="49" charset="0"/>
              </a:rPr>
              <a:t>);</a:t>
            </a:r>
            <a:endParaRPr lang="en-US" sz="2400" b="0" dirty="0">
              <a:solidFill>
                <a:srgbClr val="CDD6F4"/>
              </a:solidFill>
              <a:effectLst/>
              <a:latin typeface="Consolas" panose="020B0609020204030204" pitchFamily="49" charset="0"/>
            </a:endParaRPr>
          </a:p>
          <a:p>
            <a:pPr>
              <a:lnSpc>
                <a:spcPct val="125000"/>
              </a:lnSpc>
            </a:pPr>
            <a:r>
              <a:rPr lang="en-US" sz="2400" b="0" dirty="0">
                <a:solidFill>
                  <a:srgbClr val="CBA6F7"/>
                </a:solidFill>
                <a:effectLst/>
                <a:latin typeface="Consolas" panose="020B0609020204030204" pitchFamily="49" charset="0"/>
              </a:rPr>
              <a:t>int</a:t>
            </a:r>
            <a:r>
              <a:rPr lang="en-US" sz="2400" b="0" dirty="0">
                <a:solidFill>
                  <a:srgbClr val="CDD6F4"/>
                </a:solidFill>
                <a:effectLst/>
                <a:latin typeface="Consolas" panose="020B0609020204030204" pitchFamily="49" charset="0"/>
              </a:rPr>
              <a:t> </a:t>
            </a:r>
            <a:r>
              <a:rPr lang="en-US" sz="2400" b="0" i="1" dirty="0" err="1">
                <a:solidFill>
                  <a:srgbClr val="89B4FA"/>
                </a:solidFill>
                <a:effectLst/>
                <a:latin typeface="Consolas" panose="020B0609020204030204" pitchFamily="49" charset="0"/>
              </a:rPr>
              <a:t>mycoroutine_destroy</a:t>
            </a:r>
            <a:r>
              <a:rPr lang="en-US" sz="2400" b="0" dirty="0">
                <a:solidFill>
                  <a:srgbClr val="9399B2"/>
                </a:solidFill>
                <a:effectLst/>
                <a:latin typeface="Consolas" panose="020B0609020204030204" pitchFamily="49" charset="0"/>
              </a:rPr>
              <a:t>(</a:t>
            </a:r>
            <a:r>
              <a:rPr lang="en-US" sz="2400" b="0" i="1" dirty="0" err="1">
                <a:solidFill>
                  <a:srgbClr val="F9E2AF"/>
                </a:solidFill>
                <a:effectLst/>
                <a:latin typeface="Consolas" panose="020B0609020204030204" pitchFamily="49" charset="0"/>
              </a:rPr>
              <a:t>co_t</a:t>
            </a:r>
            <a:r>
              <a:rPr lang="en-US" sz="2400" b="0" dirty="0">
                <a:solidFill>
                  <a:srgbClr val="CDD6F4"/>
                </a:solidFill>
                <a:effectLst/>
                <a:latin typeface="Consolas" panose="020B0609020204030204" pitchFamily="49" charset="0"/>
              </a:rPr>
              <a:t> </a:t>
            </a:r>
            <a:r>
              <a:rPr lang="en-US" sz="2400" b="0" dirty="0">
                <a:solidFill>
                  <a:srgbClr val="94E2D5"/>
                </a:solidFill>
                <a:effectLst/>
                <a:latin typeface="Consolas" panose="020B0609020204030204" pitchFamily="49" charset="0"/>
              </a:rPr>
              <a:t>*</a:t>
            </a:r>
            <a:r>
              <a:rPr lang="en-US" sz="2400" b="0" i="1" dirty="0">
                <a:solidFill>
                  <a:srgbClr val="EBA0AC"/>
                </a:solidFill>
                <a:effectLst/>
                <a:latin typeface="Consolas" panose="020B0609020204030204" pitchFamily="49" charset="0"/>
              </a:rPr>
              <a:t>co</a:t>
            </a:r>
            <a:r>
              <a:rPr lang="en-US" sz="2400" b="0" dirty="0">
                <a:solidFill>
                  <a:srgbClr val="9399B2"/>
                </a:solidFill>
                <a:effectLst/>
                <a:latin typeface="Consolas" panose="020B0609020204030204" pitchFamily="49" charset="0"/>
              </a:rPr>
              <a:t>);</a:t>
            </a:r>
            <a:endParaRPr lang="en-US" sz="2400" b="0" dirty="0">
              <a:solidFill>
                <a:srgbClr val="CDD6F4"/>
              </a:solidFill>
              <a:effectLst/>
              <a:latin typeface="Consolas" panose="020B0609020204030204" pitchFamily="49" charset="0"/>
            </a:endParaRPr>
          </a:p>
          <a:p>
            <a:endParaRPr lang="en-US" sz="2400" dirty="0"/>
          </a:p>
        </p:txBody>
      </p:sp>
    </p:spTree>
    <p:extLst>
      <p:ext uri="{BB962C8B-B14F-4D97-AF65-F5344CB8AC3E}">
        <p14:creationId xmlns:p14="http://schemas.microsoft.com/office/powerpoint/2010/main" val="9092494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2E2667-FD48-29B5-D213-399E17B4BD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89337A-027D-1E1A-27B8-D779D5408110}"/>
              </a:ext>
            </a:extLst>
          </p:cNvPr>
          <p:cNvSpPr>
            <a:spLocks noGrp="1"/>
          </p:cNvSpPr>
          <p:nvPr>
            <p:ph type="title"/>
          </p:nvPr>
        </p:nvSpPr>
        <p:spPr/>
        <p:txBody>
          <a:bodyPr/>
          <a:lstStyle/>
          <a:p>
            <a:r>
              <a:rPr lang="en-US" b="1" dirty="0"/>
              <a:t>Assignment 1: </a:t>
            </a:r>
            <a:r>
              <a:rPr lang="en-US" dirty="0"/>
              <a:t>Initializing and destroying coroutines</a:t>
            </a:r>
          </a:p>
        </p:txBody>
      </p:sp>
      <p:sp>
        <p:nvSpPr>
          <p:cNvPr id="3" name="TextBox 2">
            <a:extLst>
              <a:ext uri="{FF2B5EF4-FFF2-40B4-BE49-F238E27FC236}">
                <a16:creationId xmlns:a16="http://schemas.microsoft.com/office/drawing/2014/main" id="{55119962-596A-DD51-1058-6756F954E6CB}"/>
              </a:ext>
            </a:extLst>
          </p:cNvPr>
          <p:cNvSpPr txBox="1"/>
          <p:nvPr/>
        </p:nvSpPr>
        <p:spPr>
          <a:xfrm>
            <a:off x="838200" y="2451100"/>
            <a:ext cx="4490332" cy="2031325"/>
          </a:xfrm>
          <a:prstGeom prst="rect">
            <a:avLst/>
          </a:prstGeom>
          <a:noFill/>
        </p:spPr>
        <p:txBody>
          <a:bodyPr wrap="none" rtlCol="0">
            <a:spAutoFit/>
          </a:bodyPr>
          <a:lstStyle/>
          <a:p>
            <a:r>
              <a:rPr lang="en-US" b="0" dirty="0">
                <a:solidFill>
                  <a:srgbClr val="CBA6F7"/>
                </a:solidFill>
                <a:effectLst/>
                <a:latin typeface="Consolas" panose="020B0609020204030204" pitchFamily="49" charset="0"/>
              </a:rPr>
              <a:t>int</a:t>
            </a:r>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mycoroutine_init</a:t>
            </a:r>
            <a:r>
              <a:rPr lang="en-US" b="0" dirty="0">
                <a:solidFill>
                  <a:srgbClr val="9399B2"/>
                </a:solidFill>
                <a:effectLst/>
                <a:latin typeface="Consolas" panose="020B0609020204030204" pitchFamily="49" charset="0"/>
              </a:rPr>
              <a:t>(</a:t>
            </a:r>
            <a:r>
              <a:rPr lang="en-US" b="0" i="1" dirty="0" err="1">
                <a:solidFill>
                  <a:srgbClr val="F9E2AF"/>
                </a:solidFill>
                <a:effectLst/>
                <a:latin typeface="Consolas" panose="020B0609020204030204" pitchFamily="49" charset="0"/>
              </a:rPr>
              <a:t>co_t</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i="1" dirty="0">
                <a:solidFill>
                  <a:srgbClr val="EBA0AC"/>
                </a:solidFill>
                <a:effectLst/>
                <a:latin typeface="Consolas" panose="020B0609020204030204" pitchFamily="49" charset="0"/>
              </a:rPr>
              <a:t>main</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initialize coroutine list</a:t>
            </a:r>
          </a:p>
          <a:p>
            <a:r>
              <a:rPr lang="en-US" b="0" dirty="0">
                <a:solidFill>
                  <a:srgbClr val="CDD6F4"/>
                </a:solidFill>
                <a:effectLst/>
                <a:latin typeface="Consolas" panose="020B0609020204030204" pitchFamily="49" charset="0"/>
              </a:rPr>
              <a:t>  add </a:t>
            </a:r>
            <a:r>
              <a:rPr lang="en-US" i="1" dirty="0">
                <a:solidFill>
                  <a:srgbClr val="EBA0AC"/>
                </a:solidFill>
                <a:latin typeface="Consolas" panose="020B0609020204030204" pitchFamily="49" charset="0"/>
              </a:rPr>
              <a:t>main</a:t>
            </a:r>
            <a:r>
              <a:rPr lang="en-US" b="0" dirty="0">
                <a:solidFill>
                  <a:srgbClr val="CDD6F4"/>
                </a:solidFill>
                <a:effectLst/>
                <a:latin typeface="Consolas" panose="020B0609020204030204" pitchFamily="49" charset="0"/>
              </a:rPr>
              <a:t> to coroutine list</a:t>
            </a:r>
          </a:p>
          <a:p>
            <a:br>
              <a:rPr lang="en-US" b="0" dirty="0">
                <a:solidFill>
                  <a:srgbClr val="CDD6F4"/>
                </a:solidFill>
                <a:effectLst/>
                <a:latin typeface="Consolas" panose="020B0609020204030204" pitchFamily="49" charset="0"/>
              </a:rPr>
            </a:br>
            <a:r>
              <a:rPr lang="en-US" b="0" dirty="0">
                <a:solidFill>
                  <a:srgbClr val="CDD6F4"/>
                </a:solidFill>
                <a:effectLst/>
                <a:latin typeface="Consolas" panose="020B0609020204030204" pitchFamily="49" charset="0"/>
              </a:rPr>
              <a:t>  set current coroutine to </a:t>
            </a:r>
            <a:r>
              <a:rPr lang="en-US" i="1" dirty="0">
                <a:solidFill>
                  <a:srgbClr val="EBA0AC"/>
                </a:solidFill>
                <a:latin typeface="Consolas" panose="020B0609020204030204" pitchFamily="49" charset="0"/>
              </a:rPr>
              <a:t>main</a:t>
            </a:r>
          </a:p>
          <a:p>
            <a:r>
              <a:rPr lang="en-US" b="0" dirty="0">
                <a:solidFill>
                  <a:srgbClr val="CDD6F4"/>
                </a:solidFill>
                <a:effectLst/>
                <a:latin typeface="Consolas" panose="020B0609020204030204" pitchFamily="49" charset="0"/>
              </a:rPr>
              <a:t>  set main coroutine to </a:t>
            </a:r>
            <a:r>
              <a:rPr lang="en-US" i="1" dirty="0">
                <a:solidFill>
                  <a:srgbClr val="EBA0AC"/>
                </a:solidFill>
                <a:latin typeface="Consolas" panose="020B0609020204030204" pitchFamily="49" charset="0"/>
              </a:rPr>
              <a:t>main</a:t>
            </a:r>
          </a:p>
          <a:p>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p:txBody>
      </p:sp>
      <p:sp>
        <p:nvSpPr>
          <p:cNvPr id="4" name="TextBox 3">
            <a:extLst>
              <a:ext uri="{FF2B5EF4-FFF2-40B4-BE49-F238E27FC236}">
                <a16:creationId xmlns:a16="http://schemas.microsoft.com/office/drawing/2014/main" id="{337EAD7C-C695-A768-6B52-459693C8BB18}"/>
              </a:ext>
            </a:extLst>
          </p:cNvPr>
          <p:cNvSpPr txBox="1"/>
          <p:nvPr/>
        </p:nvSpPr>
        <p:spPr>
          <a:xfrm>
            <a:off x="6096000" y="2451100"/>
            <a:ext cx="4743606" cy="2862322"/>
          </a:xfrm>
          <a:prstGeom prst="rect">
            <a:avLst/>
          </a:prstGeom>
          <a:noFill/>
        </p:spPr>
        <p:txBody>
          <a:bodyPr wrap="none" rtlCol="0">
            <a:spAutoFit/>
          </a:bodyPr>
          <a:lstStyle/>
          <a:p>
            <a:r>
              <a:rPr lang="en-US" b="0" dirty="0">
                <a:solidFill>
                  <a:srgbClr val="CBA6F7"/>
                </a:solidFill>
                <a:effectLst/>
                <a:latin typeface="Consolas" panose="020B0609020204030204" pitchFamily="49" charset="0"/>
              </a:rPr>
              <a:t>int</a:t>
            </a:r>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mycoroutine_destroy</a:t>
            </a:r>
            <a:r>
              <a:rPr lang="en-US" b="0" dirty="0">
                <a:solidFill>
                  <a:srgbClr val="9399B2"/>
                </a:solidFill>
                <a:effectLst/>
                <a:latin typeface="Consolas" panose="020B0609020204030204" pitchFamily="49" charset="0"/>
              </a:rPr>
              <a:t>(</a:t>
            </a:r>
            <a:r>
              <a:rPr lang="en-US" b="0" i="1" dirty="0" err="1">
                <a:solidFill>
                  <a:srgbClr val="F9E2AF"/>
                </a:solidFill>
                <a:effectLst/>
                <a:latin typeface="Consolas" panose="020B0609020204030204" pitchFamily="49" charset="0"/>
              </a:rPr>
              <a:t>co_t</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i="1" dirty="0">
                <a:solidFill>
                  <a:srgbClr val="EBA0AC"/>
                </a:solidFill>
                <a:effectLst/>
                <a:latin typeface="Consolas" panose="020B0609020204030204" pitchFamily="49" charset="0"/>
              </a:rPr>
              <a:t>co</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dirty="0">
                <a:solidFill>
                  <a:srgbClr val="CDD6F4"/>
                </a:solidFill>
                <a:latin typeface="Consolas" panose="020B0609020204030204" pitchFamily="49" charset="0"/>
              </a:rPr>
              <a:t>  </a:t>
            </a:r>
            <a:r>
              <a:rPr lang="en-US" dirty="0">
                <a:solidFill>
                  <a:srgbClr val="CBA6F7"/>
                </a:solidFill>
                <a:latin typeface="Consolas" panose="020B0609020204030204" pitchFamily="49" charset="0"/>
              </a:rPr>
              <a:t>if</a:t>
            </a:r>
            <a:r>
              <a:rPr lang="en-US" dirty="0">
                <a:solidFill>
                  <a:srgbClr val="CDD6F4"/>
                </a:solidFill>
                <a:latin typeface="Consolas" panose="020B0609020204030204" pitchFamily="49" charset="0"/>
              </a:rPr>
              <a:t> </a:t>
            </a:r>
            <a:r>
              <a:rPr lang="en-US" i="1" dirty="0">
                <a:solidFill>
                  <a:srgbClr val="EBA0AC"/>
                </a:solidFill>
                <a:latin typeface="Consolas" panose="020B0609020204030204" pitchFamily="49" charset="0"/>
              </a:rPr>
              <a:t>co</a:t>
            </a:r>
            <a:r>
              <a:rPr lang="en-US" dirty="0">
                <a:solidFill>
                  <a:srgbClr val="CDD6F4"/>
                </a:solidFill>
                <a:latin typeface="Consolas" panose="020B0609020204030204" pitchFamily="49" charset="0"/>
              </a:rPr>
              <a:t> is not in the coroutine list</a:t>
            </a:r>
          </a:p>
          <a:p>
            <a:r>
              <a:rPr lang="en-US" dirty="0">
                <a:solidFill>
                  <a:srgbClr val="CDD6F4"/>
                </a:solidFill>
                <a:latin typeface="Consolas" panose="020B0609020204030204" pitchFamily="49" charset="0"/>
              </a:rPr>
              <a:t>    </a:t>
            </a:r>
            <a:r>
              <a:rPr lang="en-US" dirty="0">
                <a:solidFill>
                  <a:srgbClr val="CBA6F7"/>
                </a:solidFill>
                <a:latin typeface="Consolas" panose="020B0609020204030204" pitchFamily="49" charset="0"/>
              </a:rPr>
              <a:t>return</a:t>
            </a:r>
            <a:r>
              <a:rPr lang="en-US" dirty="0">
                <a:solidFill>
                  <a:srgbClr val="CDD6F4"/>
                </a:solidFill>
                <a:latin typeface="Consolas" panose="020B0609020204030204" pitchFamily="49" charset="0"/>
              </a:rPr>
              <a:t> error</a:t>
            </a:r>
            <a:r>
              <a:rPr lang="en-US" b="0" dirty="0">
                <a:solidFill>
                  <a:srgbClr val="CDD6F4"/>
                </a:solidFill>
                <a:effectLst/>
                <a:latin typeface="Consolas" panose="020B0609020204030204" pitchFamily="49" charset="0"/>
              </a:rPr>
              <a:t> </a:t>
            </a:r>
          </a:p>
          <a:p>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if</a:t>
            </a:r>
            <a:r>
              <a:rPr lang="en-US" b="0" dirty="0">
                <a:solidFill>
                  <a:srgbClr val="CDD6F4"/>
                </a:solidFill>
                <a:effectLst/>
                <a:latin typeface="Consolas" panose="020B0609020204030204" pitchFamily="49" charset="0"/>
              </a:rPr>
              <a:t> </a:t>
            </a:r>
            <a:r>
              <a:rPr lang="en-US" i="1" dirty="0">
                <a:solidFill>
                  <a:srgbClr val="EBA0AC"/>
                </a:solidFill>
                <a:latin typeface="Consolas" panose="020B0609020204030204" pitchFamily="49" charset="0"/>
              </a:rPr>
              <a:t>co</a:t>
            </a:r>
            <a:r>
              <a:rPr lang="en-US" b="0" dirty="0">
                <a:solidFill>
                  <a:srgbClr val="CDD6F4"/>
                </a:solidFill>
                <a:effectLst/>
                <a:latin typeface="Consolas" panose="020B0609020204030204" pitchFamily="49" charset="0"/>
              </a:rPr>
              <a:t> is the main coroutine</a:t>
            </a:r>
          </a:p>
          <a:p>
            <a:r>
              <a:rPr lang="en-US" b="0" dirty="0">
                <a:solidFill>
                  <a:srgbClr val="CDD6F4"/>
                </a:solidFill>
                <a:effectLst/>
                <a:latin typeface="Consolas" panose="020B0609020204030204" pitchFamily="49" charset="0"/>
              </a:rPr>
              <a:t>    destroy the coroutine list</a:t>
            </a: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else</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remove the </a:t>
            </a:r>
            <a:r>
              <a:rPr lang="en-US" i="1" dirty="0">
                <a:solidFill>
                  <a:srgbClr val="EBA0AC"/>
                </a:solidFill>
                <a:latin typeface="Consolas" panose="020B0609020204030204" pitchFamily="49" charset="0"/>
              </a:rPr>
              <a:t>co</a:t>
            </a:r>
            <a:r>
              <a:rPr lang="en-US" b="0" dirty="0">
                <a:solidFill>
                  <a:srgbClr val="CDD6F4"/>
                </a:solidFill>
                <a:effectLst/>
                <a:latin typeface="Consolas" panose="020B0609020204030204" pitchFamily="49" charset="0"/>
              </a:rPr>
              <a:t> from the list</a:t>
            </a:r>
          </a:p>
          <a:p>
            <a:r>
              <a:rPr lang="en-US" b="0" dirty="0">
                <a:solidFill>
                  <a:srgbClr val="CDD6F4"/>
                </a:solidFill>
                <a:effectLst/>
                <a:latin typeface="Consolas" panose="020B0609020204030204" pitchFamily="49" charset="0"/>
              </a:rPr>
              <a:t>    free related memory</a:t>
            </a:r>
          </a:p>
          <a:p>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p:txBody>
      </p:sp>
    </p:spTree>
    <p:extLst>
      <p:ext uri="{BB962C8B-B14F-4D97-AF65-F5344CB8AC3E}">
        <p14:creationId xmlns:p14="http://schemas.microsoft.com/office/powerpoint/2010/main" val="23311742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2AEFA5-F0B9-3DE7-8E88-4D102DB3FE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802964-328F-E7F3-EA18-D813A9BB75BF}"/>
              </a:ext>
            </a:extLst>
          </p:cNvPr>
          <p:cNvSpPr>
            <a:spLocks noGrp="1"/>
          </p:cNvSpPr>
          <p:nvPr>
            <p:ph type="title"/>
          </p:nvPr>
        </p:nvSpPr>
        <p:spPr/>
        <p:txBody>
          <a:bodyPr>
            <a:normAutofit/>
          </a:bodyPr>
          <a:lstStyle/>
          <a:p>
            <a:r>
              <a:rPr lang="en-US" b="1" dirty="0"/>
              <a:t>Assignment 1: </a:t>
            </a:r>
            <a:r>
              <a:rPr lang="en-US" dirty="0"/>
              <a:t>Initializing the main coroutine and global variables</a:t>
            </a:r>
          </a:p>
        </p:txBody>
      </p:sp>
      <p:sp>
        <p:nvSpPr>
          <p:cNvPr id="3" name="TextBox 2">
            <a:extLst>
              <a:ext uri="{FF2B5EF4-FFF2-40B4-BE49-F238E27FC236}">
                <a16:creationId xmlns:a16="http://schemas.microsoft.com/office/drawing/2014/main" id="{A989254D-378C-D75E-CF45-52C43082413A}"/>
              </a:ext>
            </a:extLst>
          </p:cNvPr>
          <p:cNvSpPr txBox="1"/>
          <p:nvPr/>
        </p:nvSpPr>
        <p:spPr>
          <a:xfrm>
            <a:off x="3850834" y="3289637"/>
            <a:ext cx="4490332" cy="2031325"/>
          </a:xfrm>
          <a:prstGeom prst="rect">
            <a:avLst/>
          </a:prstGeom>
          <a:noFill/>
        </p:spPr>
        <p:txBody>
          <a:bodyPr wrap="none" rtlCol="0">
            <a:spAutoFit/>
          </a:bodyPr>
          <a:lstStyle/>
          <a:p>
            <a:r>
              <a:rPr lang="en-US" b="0" dirty="0">
                <a:solidFill>
                  <a:srgbClr val="CBA6F7"/>
                </a:solidFill>
                <a:effectLst/>
                <a:latin typeface="Consolas" panose="020B0609020204030204" pitchFamily="49" charset="0"/>
              </a:rPr>
              <a:t>int</a:t>
            </a:r>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mycoroutine_init</a:t>
            </a:r>
            <a:r>
              <a:rPr lang="en-US" b="0" dirty="0">
                <a:solidFill>
                  <a:srgbClr val="9399B2"/>
                </a:solidFill>
                <a:effectLst/>
                <a:latin typeface="Consolas" panose="020B0609020204030204" pitchFamily="49" charset="0"/>
              </a:rPr>
              <a:t>(</a:t>
            </a:r>
            <a:r>
              <a:rPr lang="en-US" b="0" i="1" dirty="0" err="1">
                <a:solidFill>
                  <a:srgbClr val="F9E2AF"/>
                </a:solidFill>
                <a:effectLst/>
                <a:latin typeface="Consolas" panose="020B0609020204030204" pitchFamily="49" charset="0"/>
              </a:rPr>
              <a:t>co_t</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i="1" dirty="0">
                <a:solidFill>
                  <a:srgbClr val="EBA0AC"/>
                </a:solidFill>
                <a:effectLst/>
                <a:latin typeface="Consolas" panose="020B0609020204030204" pitchFamily="49" charset="0"/>
              </a:rPr>
              <a:t>main</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initialize coroutine list</a:t>
            </a:r>
          </a:p>
          <a:p>
            <a:r>
              <a:rPr lang="en-US" b="0" dirty="0">
                <a:solidFill>
                  <a:srgbClr val="CDD6F4"/>
                </a:solidFill>
                <a:effectLst/>
                <a:latin typeface="Consolas" panose="020B0609020204030204" pitchFamily="49" charset="0"/>
              </a:rPr>
              <a:t>  add </a:t>
            </a:r>
            <a:r>
              <a:rPr lang="en-US" i="1" dirty="0">
                <a:solidFill>
                  <a:srgbClr val="EBA0AC"/>
                </a:solidFill>
                <a:latin typeface="Consolas" panose="020B0609020204030204" pitchFamily="49" charset="0"/>
              </a:rPr>
              <a:t>main</a:t>
            </a:r>
            <a:r>
              <a:rPr lang="en-US" b="0" dirty="0">
                <a:solidFill>
                  <a:srgbClr val="CDD6F4"/>
                </a:solidFill>
                <a:effectLst/>
                <a:latin typeface="Consolas" panose="020B0609020204030204" pitchFamily="49" charset="0"/>
              </a:rPr>
              <a:t> to coroutine list</a:t>
            </a:r>
          </a:p>
          <a:p>
            <a:br>
              <a:rPr lang="en-US" b="0" dirty="0">
                <a:solidFill>
                  <a:srgbClr val="CDD6F4"/>
                </a:solidFill>
                <a:effectLst/>
                <a:latin typeface="Consolas" panose="020B0609020204030204" pitchFamily="49" charset="0"/>
              </a:rPr>
            </a:br>
            <a:r>
              <a:rPr lang="en-US" b="0" dirty="0">
                <a:solidFill>
                  <a:srgbClr val="CDD6F4"/>
                </a:solidFill>
                <a:effectLst/>
                <a:latin typeface="Consolas" panose="020B0609020204030204" pitchFamily="49" charset="0"/>
              </a:rPr>
              <a:t>  </a:t>
            </a:r>
            <a:r>
              <a:rPr lang="en-US" b="0" dirty="0" err="1">
                <a:solidFill>
                  <a:srgbClr val="CDD6F4"/>
                </a:solidFill>
                <a:effectLst/>
                <a:latin typeface="Consolas" panose="020B0609020204030204" pitchFamily="49" charset="0"/>
              </a:rPr>
              <a:t>current_context</a:t>
            </a:r>
            <a:r>
              <a:rPr lang="en-US" b="0" dirty="0">
                <a:solidFill>
                  <a:srgbClr val="CDD6F4"/>
                </a:solidFill>
                <a:effectLst/>
                <a:latin typeface="Consolas" panose="020B0609020204030204" pitchFamily="49" charset="0"/>
              </a:rPr>
              <a:t> = </a:t>
            </a:r>
            <a:r>
              <a:rPr lang="en-US" i="1" dirty="0">
                <a:solidFill>
                  <a:srgbClr val="EBA0AC"/>
                </a:solidFill>
                <a:latin typeface="Consolas" panose="020B0609020204030204" pitchFamily="49" charset="0"/>
              </a:rPr>
              <a:t>main</a:t>
            </a:r>
          </a:p>
          <a:p>
            <a:r>
              <a:rPr lang="en-US" b="0" dirty="0">
                <a:solidFill>
                  <a:srgbClr val="CDD6F4"/>
                </a:solidFill>
                <a:effectLst/>
                <a:latin typeface="Consolas" panose="020B0609020204030204" pitchFamily="49" charset="0"/>
              </a:rPr>
              <a:t>  </a:t>
            </a:r>
            <a:r>
              <a:rPr lang="en-US" b="0" dirty="0" err="1">
                <a:solidFill>
                  <a:srgbClr val="CDD6F4"/>
                </a:solidFill>
                <a:effectLst/>
                <a:latin typeface="Consolas" panose="020B0609020204030204" pitchFamily="49" charset="0"/>
              </a:rPr>
              <a:t>main_context</a:t>
            </a:r>
            <a:r>
              <a:rPr lang="en-US" b="0" dirty="0">
                <a:solidFill>
                  <a:srgbClr val="CDD6F4"/>
                </a:solidFill>
                <a:effectLst/>
                <a:latin typeface="Consolas" panose="020B0609020204030204" pitchFamily="49" charset="0"/>
              </a:rPr>
              <a:t> = </a:t>
            </a:r>
            <a:r>
              <a:rPr lang="en-US" i="1" dirty="0">
                <a:solidFill>
                  <a:srgbClr val="EBA0AC"/>
                </a:solidFill>
                <a:latin typeface="Consolas" panose="020B0609020204030204" pitchFamily="49" charset="0"/>
              </a:rPr>
              <a:t>main</a:t>
            </a:r>
          </a:p>
          <a:p>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p:txBody>
      </p:sp>
      <p:sp>
        <p:nvSpPr>
          <p:cNvPr id="5" name="TextBox 4">
            <a:extLst>
              <a:ext uri="{FF2B5EF4-FFF2-40B4-BE49-F238E27FC236}">
                <a16:creationId xmlns:a16="http://schemas.microsoft.com/office/drawing/2014/main" id="{BB04E2EB-8519-A774-52A6-B3549AC2A7F8}"/>
              </a:ext>
            </a:extLst>
          </p:cNvPr>
          <p:cNvSpPr txBox="1"/>
          <p:nvPr/>
        </p:nvSpPr>
        <p:spPr>
          <a:xfrm>
            <a:off x="3217648" y="1978620"/>
            <a:ext cx="5756704" cy="923330"/>
          </a:xfrm>
          <a:prstGeom prst="rect">
            <a:avLst/>
          </a:prstGeom>
          <a:noFill/>
        </p:spPr>
        <p:txBody>
          <a:bodyPr wrap="none" rtlCol="0">
            <a:spAutoFit/>
          </a:bodyPr>
          <a:lstStyle/>
          <a:p>
            <a:r>
              <a:rPr lang="en-US" b="0" dirty="0">
                <a:solidFill>
                  <a:srgbClr val="CBA6F7"/>
                </a:solidFill>
                <a:effectLst/>
                <a:latin typeface="Consolas" panose="020B0609020204030204" pitchFamily="49" charset="0"/>
              </a:rPr>
              <a:t>static</a:t>
            </a:r>
            <a:r>
              <a:rPr lang="en-US" b="0" dirty="0">
                <a:solidFill>
                  <a:srgbClr val="CDD6F4"/>
                </a:solidFill>
                <a:effectLst/>
                <a:latin typeface="Consolas" panose="020B0609020204030204" pitchFamily="49" charset="0"/>
              </a:rPr>
              <a:t> </a:t>
            </a:r>
            <a:r>
              <a:rPr lang="en-US" b="0" i="1" dirty="0" err="1">
                <a:solidFill>
                  <a:srgbClr val="F9E2AF"/>
                </a:solidFill>
                <a:effectLst/>
                <a:latin typeface="Consolas" panose="020B0609020204030204" pitchFamily="49" charset="0"/>
              </a:rPr>
              <a:t>list_t</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dirty="0" err="1">
                <a:solidFill>
                  <a:srgbClr val="CDD6F4"/>
                </a:solidFill>
                <a:effectLst/>
                <a:latin typeface="Consolas" panose="020B0609020204030204" pitchFamily="49" charset="0"/>
              </a:rPr>
              <a:t>coroutine_list</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BA6F7"/>
                </a:solidFill>
                <a:effectLst/>
                <a:latin typeface="Consolas" panose="020B0609020204030204" pitchFamily="49" charset="0"/>
              </a:rPr>
              <a:t>static</a:t>
            </a:r>
            <a:r>
              <a:rPr lang="en-US" b="0" dirty="0">
                <a:solidFill>
                  <a:srgbClr val="CDD6F4"/>
                </a:solidFill>
                <a:effectLst/>
                <a:latin typeface="Consolas" panose="020B0609020204030204" pitchFamily="49" charset="0"/>
              </a:rPr>
              <a:t> </a:t>
            </a:r>
            <a:r>
              <a:rPr lang="en-US" b="0" i="1" dirty="0" err="1">
                <a:solidFill>
                  <a:srgbClr val="F9E2AF"/>
                </a:solidFill>
                <a:effectLst/>
                <a:latin typeface="Consolas" panose="020B0609020204030204" pitchFamily="49" charset="0"/>
              </a:rPr>
              <a:t>co_t</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dirty="0" err="1">
                <a:solidFill>
                  <a:srgbClr val="CDD6F4"/>
                </a:solidFill>
                <a:effectLst/>
                <a:latin typeface="Consolas" panose="020B0609020204030204" pitchFamily="49" charset="0"/>
              </a:rPr>
              <a:t>current_context</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dirty="0" err="1">
                <a:solidFill>
                  <a:srgbClr val="CDD6F4"/>
                </a:solidFill>
                <a:effectLst/>
                <a:latin typeface="Consolas" panose="020B0609020204030204" pitchFamily="49" charset="0"/>
              </a:rPr>
              <a:t>main_context</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endParaRPr lang="en-US" dirty="0"/>
          </a:p>
        </p:txBody>
      </p:sp>
    </p:spTree>
    <p:extLst>
      <p:ext uri="{BB962C8B-B14F-4D97-AF65-F5344CB8AC3E}">
        <p14:creationId xmlns:p14="http://schemas.microsoft.com/office/powerpoint/2010/main" val="26986804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36D36-4C62-A723-7412-1A802BEFFF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B314C2-F9F5-4234-541D-6DE25E8E5913}"/>
              </a:ext>
            </a:extLst>
          </p:cNvPr>
          <p:cNvSpPr>
            <a:spLocks noGrp="1"/>
          </p:cNvSpPr>
          <p:nvPr>
            <p:ph type="title"/>
          </p:nvPr>
        </p:nvSpPr>
        <p:spPr/>
        <p:txBody>
          <a:bodyPr>
            <a:normAutofit/>
          </a:bodyPr>
          <a:lstStyle/>
          <a:p>
            <a:r>
              <a:rPr lang="en-US" b="1" dirty="0"/>
              <a:t>Assignment 1: </a:t>
            </a:r>
            <a:r>
              <a:rPr lang="en-US" dirty="0"/>
              <a:t>Creating and destroying coroutines</a:t>
            </a:r>
          </a:p>
        </p:txBody>
      </p:sp>
      <p:sp>
        <p:nvSpPr>
          <p:cNvPr id="3" name="TextBox 2">
            <a:extLst>
              <a:ext uri="{FF2B5EF4-FFF2-40B4-BE49-F238E27FC236}">
                <a16:creationId xmlns:a16="http://schemas.microsoft.com/office/drawing/2014/main" id="{64EE4992-9DA1-A9C2-1BE7-53770122A32F}"/>
              </a:ext>
            </a:extLst>
          </p:cNvPr>
          <p:cNvSpPr txBox="1"/>
          <p:nvPr/>
        </p:nvSpPr>
        <p:spPr>
          <a:xfrm>
            <a:off x="838200" y="1784350"/>
            <a:ext cx="8542723" cy="2585323"/>
          </a:xfrm>
          <a:prstGeom prst="rect">
            <a:avLst/>
          </a:prstGeom>
          <a:noFill/>
        </p:spPr>
        <p:txBody>
          <a:bodyPr wrap="none" rtlCol="0">
            <a:spAutoFit/>
          </a:bodyPr>
          <a:lstStyle/>
          <a:p>
            <a:r>
              <a:rPr lang="en-US" b="0" dirty="0">
                <a:solidFill>
                  <a:srgbClr val="CBA6F7"/>
                </a:solidFill>
                <a:effectLst/>
                <a:latin typeface="Consolas" panose="020B0609020204030204" pitchFamily="49" charset="0"/>
              </a:rPr>
              <a:t>int</a:t>
            </a:r>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mycoroutine_create</a:t>
            </a:r>
            <a:r>
              <a:rPr lang="en-US" b="0" dirty="0">
                <a:solidFill>
                  <a:srgbClr val="9399B2"/>
                </a:solidFill>
                <a:effectLst/>
                <a:latin typeface="Consolas" panose="020B0609020204030204" pitchFamily="49" charset="0"/>
              </a:rPr>
              <a:t>(</a:t>
            </a:r>
            <a:r>
              <a:rPr lang="en-US" b="0" i="1" dirty="0" err="1">
                <a:solidFill>
                  <a:srgbClr val="F9E2AF"/>
                </a:solidFill>
                <a:effectLst/>
                <a:latin typeface="Consolas" panose="020B0609020204030204" pitchFamily="49" charset="0"/>
              </a:rPr>
              <a:t>co_t</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i="1" dirty="0">
                <a:solidFill>
                  <a:srgbClr val="EBA0AC"/>
                </a:solidFill>
                <a:effectLst/>
                <a:latin typeface="Consolas" panose="020B0609020204030204" pitchFamily="49" charset="0"/>
              </a:rPr>
              <a:t>co</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void</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body</a:t>
            </a:r>
            <a:r>
              <a:rPr lang="en-US" b="0" dirty="0">
                <a:solidFill>
                  <a:srgbClr val="9399B2"/>
                </a:solidFill>
                <a:effectLst/>
                <a:latin typeface="Consolas" panose="020B0609020204030204" pitchFamily="49" charset="0"/>
              </a:rPr>
              <a:t>)(</a:t>
            </a:r>
            <a:r>
              <a:rPr lang="en-US" b="0" dirty="0">
                <a:solidFill>
                  <a:srgbClr val="CBA6F7"/>
                </a:solidFill>
                <a:effectLst/>
                <a:latin typeface="Consolas" panose="020B0609020204030204" pitchFamily="49" charset="0"/>
              </a:rPr>
              <a:t>void</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void</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i="1" dirty="0" err="1">
                <a:solidFill>
                  <a:srgbClr val="EBA0AC"/>
                </a:solidFill>
                <a:effectLst/>
                <a:latin typeface="Consolas" panose="020B0609020204030204" pitchFamily="49" charset="0"/>
              </a:rPr>
              <a:t>arg</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if</a:t>
            </a:r>
            <a:r>
              <a:rPr lang="en-US" b="0" dirty="0">
                <a:solidFill>
                  <a:srgbClr val="CDD6F4"/>
                </a:solidFill>
                <a:effectLst/>
                <a:latin typeface="Consolas" panose="020B0609020204030204" pitchFamily="49" charset="0"/>
              </a:rPr>
              <a:t> </a:t>
            </a:r>
            <a:r>
              <a:rPr lang="en-US" i="1" dirty="0">
                <a:solidFill>
                  <a:srgbClr val="EBA0AC"/>
                </a:solidFill>
                <a:latin typeface="Consolas" panose="020B0609020204030204" pitchFamily="49" charset="0"/>
              </a:rPr>
              <a:t>co</a:t>
            </a:r>
            <a:r>
              <a:rPr lang="en-US" b="0" dirty="0">
                <a:solidFill>
                  <a:srgbClr val="CDD6F4"/>
                </a:solidFill>
                <a:effectLst/>
                <a:latin typeface="Consolas" panose="020B0609020204030204" pitchFamily="49" charset="0"/>
              </a:rPr>
              <a:t> is already on the coroutine list</a:t>
            </a: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return</a:t>
            </a:r>
            <a:r>
              <a:rPr lang="en-US" b="0" dirty="0">
                <a:solidFill>
                  <a:srgbClr val="CDD6F4"/>
                </a:solidFill>
                <a:effectLst/>
                <a:latin typeface="Consolas" panose="020B0609020204030204" pitchFamily="49" charset="0"/>
              </a:rPr>
              <a:t> error</a:t>
            </a:r>
          </a:p>
          <a:p>
            <a:r>
              <a:rPr lang="en-US" b="0" dirty="0">
                <a:solidFill>
                  <a:srgbClr val="CDD6F4"/>
                </a:solidFill>
                <a:effectLst/>
                <a:latin typeface="Consolas" panose="020B0609020204030204" pitchFamily="49" charset="0"/>
              </a:rPr>
              <a:t>  add </a:t>
            </a:r>
            <a:r>
              <a:rPr lang="en-US" i="1" dirty="0">
                <a:solidFill>
                  <a:srgbClr val="EBA0AC"/>
                </a:solidFill>
                <a:latin typeface="Consolas" panose="020B0609020204030204" pitchFamily="49" charset="0"/>
              </a:rPr>
              <a:t>co</a:t>
            </a:r>
            <a:r>
              <a:rPr lang="en-US" b="0" dirty="0">
                <a:solidFill>
                  <a:srgbClr val="CDD6F4"/>
                </a:solidFill>
                <a:effectLst/>
                <a:latin typeface="Consolas" panose="020B0609020204030204" pitchFamily="49" charset="0"/>
              </a:rPr>
              <a:t> to the coroutine list</a:t>
            </a:r>
          </a:p>
          <a:p>
            <a:br>
              <a:rPr lang="en-US" b="0" dirty="0">
                <a:solidFill>
                  <a:srgbClr val="CDD6F4"/>
                </a:solidFill>
                <a:effectLst/>
                <a:latin typeface="Consolas" panose="020B0609020204030204" pitchFamily="49" charset="0"/>
              </a:rPr>
            </a:br>
            <a:r>
              <a:rPr lang="en-US" b="0" dirty="0">
                <a:solidFill>
                  <a:srgbClr val="CDD6F4"/>
                </a:solidFill>
                <a:effectLst/>
                <a:latin typeface="Consolas" panose="020B0609020204030204" pitchFamily="49" charset="0"/>
              </a:rPr>
              <a:t>  </a:t>
            </a:r>
            <a:r>
              <a:rPr lang="en-US" i="1" dirty="0" err="1">
                <a:solidFill>
                  <a:srgbClr val="89B4FA"/>
                </a:solidFill>
                <a:latin typeface="Consolas" panose="020B0609020204030204" pitchFamily="49" charset="0"/>
              </a:rPr>
              <a:t>getcontext</a:t>
            </a:r>
            <a:r>
              <a:rPr lang="en-US" dirty="0">
                <a:solidFill>
                  <a:srgbClr val="9399B2"/>
                </a:solidFill>
                <a:latin typeface="Consolas" panose="020B0609020204030204" pitchFamily="49" charset="0"/>
              </a:rPr>
              <a:t>(</a:t>
            </a:r>
            <a:r>
              <a:rPr lang="en-US" i="1" dirty="0">
                <a:solidFill>
                  <a:srgbClr val="EBA0AC"/>
                </a:solidFill>
                <a:latin typeface="Consolas" panose="020B0609020204030204" pitchFamily="49" charset="0"/>
              </a:rPr>
              <a:t>co</a:t>
            </a:r>
            <a:r>
              <a:rPr lang="en-US" dirty="0">
                <a:solidFill>
                  <a:srgbClr val="9399B2"/>
                </a:solidFill>
                <a:latin typeface="Consolas" panose="020B0609020204030204" pitchFamily="49" charset="0"/>
              </a:rPr>
              <a:t>)</a:t>
            </a:r>
          </a:p>
          <a:p>
            <a:r>
              <a:rPr lang="en-US" b="0" dirty="0">
                <a:solidFill>
                  <a:srgbClr val="CDD6F4"/>
                </a:solidFill>
                <a:effectLst/>
                <a:latin typeface="Consolas" panose="020B0609020204030204" pitchFamily="49" charset="0"/>
              </a:rPr>
              <a:t>  allocate memory </a:t>
            </a:r>
            <a:r>
              <a:rPr lang="en-US" dirty="0">
                <a:solidFill>
                  <a:srgbClr val="CDD6F4"/>
                </a:solidFill>
                <a:latin typeface="Consolas" panose="020B0609020204030204" pitchFamily="49" charset="0"/>
              </a:rPr>
              <a:t>for</a:t>
            </a:r>
            <a:r>
              <a:rPr lang="en-US" b="0" dirty="0">
                <a:solidFill>
                  <a:srgbClr val="CDD6F4"/>
                </a:solidFill>
                <a:effectLst/>
                <a:latin typeface="Consolas" panose="020B0609020204030204" pitchFamily="49" charset="0"/>
              </a:rPr>
              <a:t> the stack</a:t>
            </a:r>
          </a:p>
          <a:p>
            <a:r>
              <a:rPr lang="en-US" b="0" dirty="0">
                <a:solidFill>
                  <a:srgbClr val="CDD6F4"/>
                </a:solidFill>
                <a:effectLst/>
                <a:latin typeface="Consolas" panose="020B0609020204030204" pitchFamily="49" charset="0"/>
              </a:rPr>
              <a:t>  </a:t>
            </a:r>
            <a:r>
              <a:rPr lang="en-US" i="1" dirty="0" err="1">
                <a:solidFill>
                  <a:srgbClr val="89B4FA"/>
                </a:solidFill>
                <a:latin typeface="Consolas" panose="020B0609020204030204" pitchFamily="49" charset="0"/>
              </a:rPr>
              <a:t>makecontext</a:t>
            </a:r>
            <a:r>
              <a:rPr lang="en-US" dirty="0">
                <a:solidFill>
                  <a:srgbClr val="9399B2"/>
                </a:solidFill>
                <a:latin typeface="Consolas" panose="020B0609020204030204" pitchFamily="49" charset="0"/>
              </a:rPr>
              <a:t>(</a:t>
            </a:r>
            <a:r>
              <a:rPr lang="en-US" i="1" dirty="0">
                <a:solidFill>
                  <a:srgbClr val="EBA0AC"/>
                </a:solidFill>
                <a:latin typeface="Consolas" panose="020B0609020204030204" pitchFamily="49" charset="0"/>
              </a:rPr>
              <a:t>co</a:t>
            </a:r>
            <a:r>
              <a:rPr lang="en-US" dirty="0">
                <a:solidFill>
                  <a:srgbClr val="9399B2"/>
                </a:solidFill>
                <a:latin typeface="Consolas" panose="020B0609020204030204" pitchFamily="49" charset="0"/>
              </a:rPr>
              <a:t>,</a:t>
            </a:r>
            <a:r>
              <a:rPr lang="en-US" b="0" dirty="0">
                <a:solidFill>
                  <a:srgbClr val="CDD6F4"/>
                </a:solidFill>
                <a:effectLst/>
                <a:latin typeface="Consolas" panose="020B0609020204030204" pitchFamily="49" charset="0"/>
              </a:rPr>
              <a:t> </a:t>
            </a:r>
            <a:r>
              <a:rPr lang="en-US" i="1" dirty="0">
                <a:solidFill>
                  <a:srgbClr val="EBA0AC"/>
                </a:solidFill>
                <a:latin typeface="Consolas" panose="020B0609020204030204" pitchFamily="49" charset="0"/>
              </a:rPr>
              <a:t>body</a:t>
            </a:r>
            <a:r>
              <a:rPr lang="en-US" dirty="0">
                <a:solidFill>
                  <a:srgbClr val="9399B2"/>
                </a:solidFill>
                <a:latin typeface="Consolas" panose="020B0609020204030204" pitchFamily="49" charset="0"/>
              </a:rPr>
              <a:t>,</a:t>
            </a:r>
            <a:r>
              <a:rPr lang="en-US" b="0" dirty="0">
                <a:solidFill>
                  <a:srgbClr val="CDD6F4"/>
                </a:solidFill>
                <a:effectLst/>
                <a:latin typeface="Consolas" panose="020B0609020204030204" pitchFamily="49" charset="0"/>
              </a:rPr>
              <a:t> </a:t>
            </a:r>
            <a:r>
              <a:rPr lang="en-US" i="1" dirty="0" err="1">
                <a:solidFill>
                  <a:srgbClr val="EBA0AC"/>
                </a:solidFill>
                <a:latin typeface="Consolas" panose="020B0609020204030204" pitchFamily="49" charset="0"/>
              </a:rPr>
              <a:t>arg</a:t>
            </a:r>
            <a:r>
              <a:rPr lang="en-US" dirty="0">
                <a:solidFill>
                  <a:srgbClr val="9399B2"/>
                </a:solidFill>
                <a:latin typeface="Consolas" panose="020B0609020204030204" pitchFamily="49" charset="0"/>
              </a:rPr>
              <a:t>)</a:t>
            </a:r>
          </a:p>
          <a:p>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p:txBody>
      </p:sp>
      <p:sp>
        <p:nvSpPr>
          <p:cNvPr id="4" name="TextBox 3">
            <a:extLst>
              <a:ext uri="{FF2B5EF4-FFF2-40B4-BE49-F238E27FC236}">
                <a16:creationId xmlns:a16="http://schemas.microsoft.com/office/drawing/2014/main" id="{0F64FDBE-77EE-CCAA-7FE5-E71AE2338C10}"/>
              </a:ext>
            </a:extLst>
          </p:cNvPr>
          <p:cNvSpPr txBox="1"/>
          <p:nvPr/>
        </p:nvSpPr>
        <p:spPr>
          <a:xfrm>
            <a:off x="6610194" y="2938512"/>
            <a:ext cx="4743606" cy="2862322"/>
          </a:xfrm>
          <a:prstGeom prst="rect">
            <a:avLst/>
          </a:prstGeom>
          <a:noFill/>
        </p:spPr>
        <p:txBody>
          <a:bodyPr wrap="none" rtlCol="0">
            <a:spAutoFit/>
          </a:bodyPr>
          <a:lstStyle/>
          <a:p>
            <a:r>
              <a:rPr lang="en-US" b="0" dirty="0">
                <a:solidFill>
                  <a:srgbClr val="CBA6F7"/>
                </a:solidFill>
                <a:effectLst/>
                <a:latin typeface="Consolas" panose="020B0609020204030204" pitchFamily="49" charset="0"/>
              </a:rPr>
              <a:t>int</a:t>
            </a:r>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mycoroutine_destroy</a:t>
            </a:r>
            <a:r>
              <a:rPr lang="en-US" b="0" dirty="0">
                <a:solidFill>
                  <a:srgbClr val="9399B2"/>
                </a:solidFill>
                <a:effectLst/>
                <a:latin typeface="Consolas" panose="020B0609020204030204" pitchFamily="49" charset="0"/>
              </a:rPr>
              <a:t>(</a:t>
            </a:r>
            <a:r>
              <a:rPr lang="en-US" b="0" i="1" dirty="0" err="1">
                <a:solidFill>
                  <a:srgbClr val="F9E2AF"/>
                </a:solidFill>
                <a:effectLst/>
                <a:latin typeface="Consolas" panose="020B0609020204030204" pitchFamily="49" charset="0"/>
              </a:rPr>
              <a:t>co_t</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i="1" dirty="0">
                <a:solidFill>
                  <a:srgbClr val="EBA0AC"/>
                </a:solidFill>
                <a:effectLst/>
                <a:latin typeface="Consolas" panose="020B0609020204030204" pitchFamily="49" charset="0"/>
              </a:rPr>
              <a:t>co</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dirty="0">
                <a:solidFill>
                  <a:srgbClr val="CDD6F4"/>
                </a:solidFill>
                <a:latin typeface="Consolas" panose="020B0609020204030204" pitchFamily="49" charset="0"/>
              </a:rPr>
              <a:t>  </a:t>
            </a:r>
            <a:r>
              <a:rPr lang="en-US" dirty="0">
                <a:solidFill>
                  <a:srgbClr val="CBA6F7"/>
                </a:solidFill>
                <a:latin typeface="Consolas" panose="020B0609020204030204" pitchFamily="49" charset="0"/>
              </a:rPr>
              <a:t>if</a:t>
            </a:r>
            <a:r>
              <a:rPr lang="en-US" dirty="0">
                <a:solidFill>
                  <a:srgbClr val="CDD6F4"/>
                </a:solidFill>
                <a:latin typeface="Consolas" panose="020B0609020204030204" pitchFamily="49" charset="0"/>
              </a:rPr>
              <a:t> </a:t>
            </a:r>
            <a:r>
              <a:rPr lang="en-US" i="1" dirty="0">
                <a:solidFill>
                  <a:srgbClr val="EBA0AC"/>
                </a:solidFill>
                <a:latin typeface="Consolas" panose="020B0609020204030204" pitchFamily="49" charset="0"/>
              </a:rPr>
              <a:t>co</a:t>
            </a:r>
            <a:r>
              <a:rPr lang="en-US" dirty="0">
                <a:solidFill>
                  <a:srgbClr val="CDD6F4"/>
                </a:solidFill>
                <a:latin typeface="Consolas" panose="020B0609020204030204" pitchFamily="49" charset="0"/>
              </a:rPr>
              <a:t> is not in the coroutine list</a:t>
            </a:r>
          </a:p>
          <a:p>
            <a:r>
              <a:rPr lang="en-US" dirty="0">
                <a:solidFill>
                  <a:srgbClr val="CDD6F4"/>
                </a:solidFill>
                <a:latin typeface="Consolas" panose="020B0609020204030204" pitchFamily="49" charset="0"/>
              </a:rPr>
              <a:t>    </a:t>
            </a:r>
            <a:r>
              <a:rPr lang="en-US" dirty="0">
                <a:solidFill>
                  <a:srgbClr val="CBA6F7"/>
                </a:solidFill>
                <a:latin typeface="Consolas" panose="020B0609020204030204" pitchFamily="49" charset="0"/>
              </a:rPr>
              <a:t>return</a:t>
            </a:r>
            <a:r>
              <a:rPr lang="en-US" dirty="0">
                <a:solidFill>
                  <a:srgbClr val="CDD6F4"/>
                </a:solidFill>
                <a:latin typeface="Consolas" panose="020B0609020204030204" pitchFamily="49" charset="0"/>
              </a:rPr>
              <a:t> error</a:t>
            </a:r>
            <a:r>
              <a:rPr lang="en-US" b="0" dirty="0">
                <a:solidFill>
                  <a:srgbClr val="CDD6F4"/>
                </a:solidFill>
                <a:effectLst/>
                <a:latin typeface="Consolas" panose="020B0609020204030204" pitchFamily="49" charset="0"/>
              </a:rPr>
              <a:t> </a:t>
            </a:r>
          </a:p>
          <a:p>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if</a:t>
            </a:r>
            <a:r>
              <a:rPr lang="en-US" b="0" dirty="0">
                <a:solidFill>
                  <a:srgbClr val="CDD6F4"/>
                </a:solidFill>
                <a:effectLst/>
                <a:latin typeface="Consolas" panose="020B0609020204030204" pitchFamily="49" charset="0"/>
              </a:rPr>
              <a:t> </a:t>
            </a:r>
            <a:r>
              <a:rPr lang="en-US" i="1" dirty="0">
                <a:solidFill>
                  <a:srgbClr val="EBA0AC"/>
                </a:solidFill>
                <a:latin typeface="Consolas" panose="020B0609020204030204" pitchFamily="49" charset="0"/>
              </a:rPr>
              <a:t>co</a:t>
            </a:r>
            <a:r>
              <a:rPr lang="en-US" b="0" dirty="0">
                <a:solidFill>
                  <a:srgbClr val="CDD6F4"/>
                </a:solidFill>
                <a:effectLst/>
                <a:latin typeface="Consolas" panose="020B0609020204030204" pitchFamily="49" charset="0"/>
              </a:rPr>
              <a:t> is the main coroutine</a:t>
            </a:r>
          </a:p>
          <a:p>
            <a:r>
              <a:rPr lang="en-US" b="0" dirty="0">
                <a:solidFill>
                  <a:srgbClr val="CDD6F4"/>
                </a:solidFill>
                <a:effectLst/>
                <a:latin typeface="Consolas" panose="020B0609020204030204" pitchFamily="49" charset="0"/>
              </a:rPr>
              <a:t>    destroy the coroutine list</a:t>
            </a: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else</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remove the </a:t>
            </a:r>
            <a:r>
              <a:rPr lang="en-US" i="1" dirty="0">
                <a:solidFill>
                  <a:srgbClr val="EBA0AC"/>
                </a:solidFill>
                <a:latin typeface="Consolas" panose="020B0609020204030204" pitchFamily="49" charset="0"/>
              </a:rPr>
              <a:t>co</a:t>
            </a:r>
            <a:r>
              <a:rPr lang="en-US" b="0" dirty="0">
                <a:solidFill>
                  <a:srgbClr val="CDD6F4"/>
                </a:solidFill>
                <a:effectLst/>
                <a:latin typeface="Consolas" panose="020B0609020204030204" pitchFamily="49" charset="0"/>
              </a:rPr>
              <a:t> from the list</a:t>
            </a:r>
          </a:p>
          <a:p>
            <a:r>
              <a:rPr lang="en-US" b="0" dirty="0">
                <a:solidFill>
                  <a:srgbClr val="CDD6F4"/>
                </a:solidFill>
                <a:effectLst/>
                <a:latin typeface="Consolas" panose="020B0609020204030204" pitchFamily="49" charset="0"/>
              </a:rPr>
              <a:t>    free related memory</a:t>
            </a:r>
          </a:p>
          <a:p>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p:txBody>
      </p:sp>
    </p:spTree>
    <p:extLst>
      <p:ext uri="{BB962C8B-B14F-4D97-AF65-F5344CB8AC3E}">
        <p14:creationId xmlns:p14="http://schemas.microsoft.com/office/powerpoint/2010/main" val="7729971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6125F-9A33-0056-A99E-A375550D85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597B8C-A7FE-EAE7-58B7-A176E012F85C}"/>
              </a:ext>
            </a:extLst>
          </p:cNvPr>
          <p:cNvSpPr>
            <a:spLocks noGrp="1"/>
          </p:cNvSpPr>
          <p:nvPr>
            <p:ph type="title"/>
          </p:nvPr>
        </p:nvSpPr>
        <p:spPr/>
        <p:txBody>
          <a:bodyPr>
            <a:normAutofit/>
          </a:bodyPr>
          <a:lstStyle/>
          <a:p>
            <a:r>
              <a:rPr lang="en-US" b="1" dirty="0"/>
              <a:t>Assignment 1: </a:t>
            </a:r>
            <a:r>
              <a:rPr lang="en-US" dirty="0"/>
              <a:t>Switching coroutines</a:t>
            </a:r>
          </a:p>
        </p:txBody>
      </p:sp>
      <p:sp>
        <p:nvSpPr>
          <p:cNvPr id="3" name="TextBox 2">
            <a:extLst>
              <a:ext uri="{FF2B5EF4-FFF2-40B4-BE49-F238E27FC236}">
                <a16:creationId xmlns:a16="http://schemas.microsoft.com/office/drawing/2014/main" id="{648CA645-AA0E-066D-6069-4E7DF36AE8A6}"/>
              </a:ext>
            </a:extLst>
          </p:cNvPr>
          <p:cNvSpPr txBox="1"/>
          <p:nvPr/>
        </p:nvSpPr>
        <p:spPr>
          <a:xfrm>
            <a:off x="3280966" y="2274838"/>
            <a:ext cx="6389891" cy="2308324"/>
          </a:xfrm>
          <a:prstGeom prst="rect">
            <a:avLst/>
          </a:prstGeom>
          <a:noFill/>
        </p:spPr>
        <p:txBody>
          <a:bodyPr wrap="none" rtlCol="0">
            <a:spAutoFit/>
          </a:bodyPr>
          <a:lstStyle/>
          <a:p>
            <a:r>
              <a:rPr lang="en-US" b="0" dirty="0">
                <a:solidFill>
                  <a:srgbClr val="CBA6F7"/>
                </a:solidFill>
                <a:effectLst/>
                <a:latin typeface="Consolas" panose="020B0609020204030204" pitchFamily="49" charset="0"/>
              </a:rPr>
              <a:t>int</a:t>
            </a:r>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mycoroutine_switchto</a:t>
            </a:r>
            <a:r>
              <a:rPr lang="en-US" b="0" dirty="0">
                <a:solidFill>
                  <a:srgbClr val="9399B2"/>
                </a:solidFill>
                <a:effectLst/>
                <a:latin typeface="Consolas" panose="020B0609020204030204" pitchFamily="49" charset="0"/>
              </a:rPr>
              <a:t>(</a:t>
            </a:r>
            <a:r>
              <a:rPr lang="en-US" b="0" i="1" dirty="0" err="1">
                <a:solidFill>
                  <a:srgbClr val="F9E2AF"/>
                </a:solidFill>
                <a:effectLst/>
                <a:latin typeface="Consolas" panose="020B0609020204030204" pitchFamily="49" charset="0"/>
              </a:rPr>
              <a:t>co_t</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i="1" dirty="0">
                <a:solidFill>
                  <a:srgbClr val="EBA0AC"/>
                </a:solidFill>
                <a:effectLst/>
                <a:latin typeface="Consolas" panose="020B0609020204030204" pitchFamily="49" charset="0"/>
              </a:rPr>
              <a:t>co</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if</a:t>
            </a:r>
            <a:r>
              <a:rPr lang="en-US" b="0" dirty="0">
                <a:solidFill>
                  <a:srgbClr val="CDD6F4"/>
                </a:solidFill>
                <a:effectLst/>
                <a:latin typeface="Consolas" panose="020B0609020204030204" pitchFamily="49" charset="0"/>
              </a:rPr>
              <a:t> </a:t>
            </a:r>
            <a:r>
              <a:rPr lang="en-US" i="1" dirty="0">
                <a:solidFill>
                  <a:srgbClr val="EBA0AC"/>
                </a:solidFill>
                <a:latin typeface="Consolas" panose="020B0609020204030204" pitchFamily="49" charset="0"/>
              </a:rPr>
              <a:t>co</a:t>
            </a:r>
            <a:r>
              <a:rPr lang="en-US" b="0" dirty="0">
                <a:solidFill>
                  <a:srgbClr val="CDD6F4"/>
                </a:solidFill>
                <a:effectLst/>
                <a:latin typeface="Consolas" panose="020B0609020204030204" pitchFamily="49" charset="0"/>
              </a:rPr>
              <a:t> is not in the coroutine list</a:t>
            </a: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return</a:t>
            </a:r>
            <a:r>
              <a:rPr lang="en-US" b="0" dirty="0">
                <a:solidFill>
                  <a:srgbClr val="CDD6F4"/>
                </a:solidFill>
                <a:effectLst/>
                <a:latin typeface="Consolas" panose="020B0609020204030204" pitchFamily="49" charset="0"/>
              </a:rPr>
              <a:t> error</a:t>
            </a:r>
          </a:p>
          <a:p>
            <a:r>
              <a:rPr lang="en-US" b="0" dirty="0">
                <a:solidFill>
                  <a:srgbClr val="CDD6F4"/>
                </a:solidFill>
                <a:effectLst/>
                <a:latin typeface="Consolas" panose="020B0609020204030204" pitchFamily="49" charset="0"/>
              </a:rPr>
              <a:t>  </a:t>
            </a:r>
          </a:p>
          <a:p>
            <a:r>
              <a:rPr lang="en-US" b="0" dirty="0">
                <a:solidFill>
                  <a:srgbClr val="CDD6F4"/>
                </a:solidFill>
                <a:effectLst/>
                <a:latin typeface="Consolas" panose="020B0609020204030204" pitchFamily="49" charset="0"/>
              </a:rPr>
              <a:t>  </a:t>
            </a:r>
            <a:r>
              <a:rPr lang="en-US" dirty="0" err="1">
                <a:solidFill>
                  <a:srgbClr val="CDD6F4"/>
                </a:solidFill>
                <a:latin typeface="Consolas" panose="020B0609020204030204" pitchFamily="49" charset="0"/>
              </a:rPr>
              <a:t>previous_context</a:t>
            </a:r>
            <a:r>
              <a:rPr lang="en-US" dirty="0">
                <a:solidFill>
                  <a:srgbClr val="CDD6F4"/>
                </a:solidFill>
                <a:latin typeface="Consolas" panose="020B0609020204030204" pitchFamily="49" charset="0"/>
              </a:rPr>
              <a:t> </a:t>
            </a:r>
            <a:r>
              <a:rPr lang="en-US" b="0" dirty="0">
                <a:solidFill>
                  <a:srgbClr val="CDD6F4"/>
                </a:solidFill>
                <a:effectLst/>
                <a:latin typeface="Consolas" panose="020B0609020204030204" pitchFamily="49" charset="0"/>
              </a:rPr>
              <a:t>= </a:t>
            </a:r>
            <a:r>
              <a:rPr lang="en-US" b="0" dirty="0" err="1">
                <a:solidFill>
                  <a:srgbClr val="CDD6F4"/>
                </a:solidFill>
                <a:effectLst/>
                <a:latin typeface="Consolas" panose="020B0609020204030204" pitchFamily="49" charset="0"/>
              </a:rPr>
              <a:t>current_context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dirty="0" err="1">
                <a:solidFill>
                  <a:srgbClr val="CDD6F4"/>
                </a:solidFill>
                <a:effectLst/>
                <a:latin typeface="Consolas" panose="020B0609020204030204" pitchFamily="49" charset="0"/>
              </a:rPr>
              <a:t>current_context</a:t>
            </a:r>
            <a:r>
              <a:rPr lang="en-US" b="0" dirty="0">
                <a:solidFill>
                  <a:srgbClr val="CDD6F4"/>
                </a:solidFill>
                <a:effectLst/>
                <a:latin typeface="Consolas" panose="020B0609020204030204" pitchFamily="49" charset="0"/>
              </a:rPr>
              <a:t> = </a:t>
            </a:r>
            <a:r>
              <a:rPr lang="en-US" i="1" dirty="0">
                <a:solidFill>
                  <a:srgbClr val="EBA0AC"/>
                </a:solidFill>
                <a:latin typeface="Consolas" panose="020B0609020204030204" pitchFamily="49" charset="0"/>
              </a:rPr>
              <a:t>co</a:t>
            </a:r>
          </a:p>
          <a:p>
            <a:r>
              <a:rPr lang="en-US" b="0" dirty="0">
                <a:solidFill>
                  <a:srgbClr val="CDD6F4"/>
                </a:solidFill>
                <a:effectLst/>
                <a:latin typeface="Consolas" panose="020B0609020204030204" pitchFamily="49" charset="0"/>
              </a:rPr>
              <a:t>  </a:t>
            </a:r>
            <a:r>
              <a:rPr lang="en-US" i="1" dirty="0" err="1">
                <a:solidFill>
                  <a:srgbClr val="89B4FA"/>
                </a:solidFill>
                <a:latin typeface="Consolas" panose="020B0609020204030204" pitchFamily="49" charset="0"/>
              </a:rPr>
              <a:t>swapcontext</a:t>
            </a:r>
            <a:r>
              <a:rPr lang="en-US" dirty="0">
                <a:solidFill>
                  <a:srgbClr val="9399B2"/>
                </a:solidFill>
                <a:latin typeface="Consolas" panose="020B0609020204030204" pitchFamily="49" charset="0"/>
              </a:rPr>
              <a:t>(</a:t>
            </a:r>
            <a:r>
              <a:rPr lang="en-US" b="0" dirty="0" err="1">
                <a:solidFill>
                  <a:srgbClr val="CDD6F4"/>
                </a:solidFill>
                <a:effectLst/>
                <a:latin typeface="Consolas" panose="020B0609020204030204" pitchFamily="49" charset="0"/>
              </a:rPr>
              <a:t>previous_context</a:t>
            </a:r>
            <a:r>
              <a:rPr lang="en-US" b="0" dirty="0">
                <a:solidFill>
                  <a:srgbClr val="CDD6F4"/>
                </a:solidFill>
                <a:effectLst/>
                <a:latin typeface="Consolas" panose="020B0609020204030204" pitchFamily="49" charset="0"/>
              </a:rPr>
              <a:t>, </a:t>
            </a:r>
            <a:r>
              <a:rPr lang="en-US" b="0" dirty="0" err="1">
                <a:solidFill>
                  <a:srgbClr val="CDD6F4"/>
                </a:solidFill>
                <a:effectLst/>
                <a:latin typeface="Consolas" panose="020B0609020204030204" pitchFamily="49" charset="0"/>
              </a:rPr>
              <a:t>current_context</a:t>
            </a:r>
            <a:r>
              <a:rPr lang="en-US" dirty="0">
                <a:solidFill>
                  <a:srgbClr val="9399B2"/>
                </a:solidFill>
                <a:latin typeface="Consolas" panose="020B0609020204030204" pitchFamily="49" charset="0"/>
              </a:rPr>
              <a:t>)</a:t>
            </a:r>
            <a:r>
              <a:rPr lang="en-US" b="0" dirty="0">
                <a:solidFill>
                  <a:srgbClr val="CDD6F4"/>
                </a:solidFill>
                <a:effectLst/>
                <a:latin typeface="Consolas" panose="020B0609020204030204" pitchFamily="49" charset="0"/>
              </a:rPr>
              <a:t> </a:t>
            </a:r>
          </a:p>
          <a:p>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p:txBody>
      </p:sp>
    </p:spTree>
    <p:extLst>
      <p:ext uri="{BB962C8B-B14F-4D97-AF65-F5344CB8AC3E}">
        <p14:creationId xmlns:p14="http://schemas.microsoft.com/office/powerpoint/2010/main" val="6677770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CC986C-6A12-2303-26D8-A7E92F1DC6D6}"/>
              </a:ext>
            </a:extLst>
          </p:cNvPr>
          <p:cNvSpPr>
            <a:spLocks noGrp="1"/>
          </p:cNvSpPr>
          <p:nvPr>
            <p:ph type="title"/>
          </p:nvPr>
        </p:nvSpPr>
        <p:spPr/>
        <p:txBody>
          <a:bodyPr/>
          <a:lstStyle/>
          <a:p>
            <a:r>
              <a:rPr lang="en-US" b="1" dirty="0"/>
              <a:t>Assignment 1: </a:t>
            </a:r>
            <a:r>
              <a:rPr lang="en-US" dirty="0"/>
              <a:t>Testing coroutines</a:t>
            </a:r>
          </a:p>
        </p:txBody>
      </p:sp>
      <p:sp>
        <p:nvSpPr>
          <p:cNvPr id="3" name="Content Placeholder 2">
            <a:extLst>
              <a:ext uri="{FF2B5EF4-FFF2-40B4-BE49-F238E27FC236}">
                <a16:creationId xmlns:a16="http://schemas.microsoft.com/office/drawing/2014/main" id="{E1FB1894-CEB6-9516-7392-93B694949BAA}"/>
              </a:ext>
            </a:extLst>
          </p:cNvPr>
          <p:cNvSpPr>
            <a:spLocks noGrp="1"/>
          </p:cNvSpPr>
          <p:nvPr>
            <p:ph idx="1"/>
          </p:nvPr>
        </p:nvSpPr>
        <p:spPr/>
        <p:txBody>
          <a:bodyPr/>
          <a:lstStyle/>
          <a:p>
            <a:r>
              <a:rPr lang="en-US" dirty="0"/>
              <a:t>In order to test our coroutines implementation we modified our implementation of assignment 1.1 . We removed busy waiting and added manual context switching between the writing and reading thread each time the pipe is full or empty respectively.</a:t>
            </a:r>
          </a:p>
          <a:p>
            <a:r>
              <a:rPr lang="en-US" dirty="0"/>
              <a:t>After the 2 threads are done copying the context is switched back to the main context which destroys the threads and exits.</a:t>
            </a:r>
          </a:p>
        </p:txBody>
      </p:sp>
    </p:spTree>
    <p:extLst>
      <p:ext uri="{BB962C8B-B14F-4D97-AF65-F5344CB8AC3E}">
        <p14:creationId xmlns:p14="http://schemas.microsoft.com/office/powerpoint/2010/main" val="30184359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55DB4-4D42-1FA1-1604-88671CD9E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7D1A0A-4F38-A065-C303-6B622A2BF270}"/>
              </a:ext>
            </a:extLst>
          </p:cNvPr>
          <p:cNvSpPr>
            <a:spLocks noGrp="1"/>
          </p:cNvSpPr>
          <p:nvPr>
            <p:ph type="title"/>
          </p:nvPr>
        </p:nvSpPr>
        <p:spPr/>
        <p:txBody>
          <a:bodyPr/>
          <a:lstStyle/>
          <a:p>
            <a:r>
              <a:rPr lang="en-US" b="1" dirty="0"/>
              <a:t>Assignment 1: </a:t>
            </a:r>
            <a:r>
              <a:rPr lang="en-US" dirty="0" err="1">
                <a:latin typeface="Consolas" panose="020B0609020204030204" pitchFamily="49" charset="0"/>
              </a:rPr>
              <a:t>pipe_write</a:t>
            </a:r>
            <a:r>
              <a:rPr lang="en-US" dirty="0"/>
              <a:t> function</a:t>
            </a:r>
            <a:endParaRPr lang="en-US" dirty="0">
              <a:latin typeface="Consolas" panose="020B0609020204030204" pitchFamily="49" charset="0"/>
            </a:endParaRPr>
          </a:p>
        </p:txBody>
      </p:sp>
      <p:sp>
        <p:nvSpPr>
          <p:cNvPr id="5" name="TextBox 4">
            <a:extLst>
              <a:ext uri="{FF2B5EF4-FFF2-40B4-BE49-F238E27FC236}">
                <a16:creationId xmlns:a16="http://schemas.microsoft.com/office/drawing/2014/main" id="{76208E8E-E52A-5503-9E9D-EA3AF894CC6D}"/>
              </a:ext>
            </a:extLst>
          </p:cNvPr>
          <p:cNvSpPr txBox="1"/>
          <p:nvPr/>
        </p:nvSpPr>
        <p:spPr>
          <a:xfrm>
            <a:off x="2292350" y="1859339"/>
            <a:ext cx="7607300" cy="3139321"/>
          </a:xfrm>
          <a:prstGeom prst="rect">
            <a:avLst/>
          </a:prstGeom>
          <a:noFill/>
        </p:spPr>
        <p:txBody>
          <a:bodyPr wrap="square">
            <a:spAutoFit/>
          </a:bodyPr>
          <a:lstStyle/>
          <a:p>
            <a:r>
              <a:rPr lang="en-US" b="0" dirty="0">
                <a:solidFill>
                  <a:srgbClr val="CBA6F7"/>
                </a:solidFill>
                <a:effectLst/>
                <a:latin typeface="Consolas" panose="020B0609020204030204" pitchFamily="49" charset="0"/>
              </a:rPr>
              <a:t>int</a:t>
            </a:r>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pipe_write</a:t>
            </a:r>
            <a:r>
              <a:rPr lang="en-US" b="0" dirty="0">
                <a:solidFill>
                  <a:srgbClr val="9399B2"/>
                </a:solidFill>
                <a:effectLst/>
                <a:latin typeface="Consolas" panose="020B0609020204030204" pitchFamily="49" charset="0"/>
              </a:rPr>
              <a:t>(</a:t>
            </a:r>
            <a:r>
              <a:rPr lang="en-US" b="0" dirty="0">
                <a:solidFill>
                  <a:srgbClr val="CBA6F7"/>
                </a:solidFill>
                <a:effectLst/>
                <a:latin typeface="Consolas" panose="020B0609020204030204" pitchFamily="49" charset="0"/>
              </a:rPr>
              <a:t>unsigned</a:t>
            </a:r>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int</a:t>
            </a:r>
            <a:r>
              <a:rPr lang="en-US" b="0" dirty="0">
                <a:solidFill>
                  <a:srgbClr val="CDD6F4"/>
                </a:solidFill>
                <a:effectLst/>
                <a:latin typeface="Consolas" panose="020B0609020204030204" pitchFamily="49" charset="0"/>
              </a:rPr>
              <a:t> </a:t>
            </a:r>
            <a:r>
              <a:rPr lang="en-US" b="0" i="1" dirty="0">
                <a:solidFill>
                  <a:srgbClr val="EBA0AC"/>
                </a:solidFill>
                <a:effectLst/>
                <a:latin typeface="Consolas" panose="020B0609020204030204" pitchFamily="49" charset="0"/>
              </a:rPr>
              <a:t>p</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char</a:t>
            </a:r>
            <a:r>
              <a:rPr lang="en-US" b="0" dirty="0">
                <a:solidFill>
                  <a:srgbClr val="CDD6F4"/>
                </a:solidFill>
                <a:effectLst/>
                <a:latin typeface="Consolas" panose="020B0609020204030204" pitchFamily="49" charset="0"/>
              </a:rPr>
              <a:t> </a:t>
            </a:r>
            <a:r>
              <a:rPr lang="en-US" b="0" i="1" dirty="0">
                <a:solidFill>
                  <a:srgbClr val="EBA0AC"/>
                </a:solidFill>
                <a:effectLst/>
                <a:latin typeface="Consolas" panose="020B0609020204030204" pitchFamily="49" charset="0"/>
              </a:rPr>
              <a:t>c</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i="1" dirty="0" err="1">
                <a:solidFill>
                  <a:srgbClr val="F9E2AF"/>
                </a:solidFill>
                <a:effectLst/>
                <a:latin typeface="Consolas" panose="020B0609020204030204" pitchFamily="49" charset="0"/>
              </a:rPr>
              <a:t>co_t</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i="1" dirty="0" err="1">
                <a:solidFill>
                  <a:srgbClr val="EBA0AC"/>
                </a:solidFill>
                <a:effectLst/>
                <a:latin typeface="Consolas" panose="020B0609020204030204" pitchFamily="49" charset="0"/>
              </a:rPr>
              <a:t>read_thread</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if</a:t>
            </a:r>
            <a:r>
              <a:rPr lang="en-US" b="0" dirty="0">
                <a:solidFill>
                  <a:srgbClr val="CDD6F4"/>
                </a:solidFill>
                <a:effectLst/>
                <a:latin typeface="Consolas" panose="020B0609020204030204" pitchFamily="49" charset="0"/>
              </a:rPr>
              <a:t> pipe does not exist or is not open </a:t>
            </a:r>
            <a:r>
              <a:rPr lang="en-US" b="0" dirty="0">
                <a:solidFill>
                  <a:srgbClr val="CBA6F7"/>
                </a:solidFill>
                <a:effectLst/>
                <a:latin typeface="Consolas" panose="020B0609020204030204" pitchFamily="49" charset="0"/>
              </a:rPr>
              <a:t>for</a:t>
            </a:r>
            <a:r>
              <a:rPr lang="en-US" b="0" dirty="0">
                <a:solidFill>
                  <a:srgbClr val="CDD6F4"/>
                </a:solidFill>
                <a:effectLst/>
                <a:latin typeface="Consolas" panose="020B0609020204030204" pitchFamily="49" charset="0"/>
              </a:rPr>
              <a:t> writing</a:t>
            </a: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return</a:t>
            </a:r>
            <a:r>
              <a:rPr lang="en-US" b="0" dirty="0">
                <a:solidFill>
                  <a:srgbClr val="CDD6F4"/>
                </a:solidFill>
                <a:effectLst/>
                <a:latin typeface="Consolas" panose="020B0609020204030204" pitchFamily="49" charset="0"/>
              </a:rPr>
              <a:t> error</a:t>
            </a:r>
          </a:p>
          <a:p>
            <a:br>
              <a:rPr lang="en-US" b="0" dirty="0">
                <a:solidFill>
                  <a:srgbClr val="CDD6F4"/>
                </a:solidFill>
                <a:effectLst/>
                <a:latin typeface="Consolas" panose="020B0609020204030204" pitchFamily="49" charset="0"/>
              </a:rPr>
            </a:br>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if</a:t>
            </a:r>
            <a:r>
              <a:rPr lang="en-US" b="0" dirty="0">
                <a:solidFill>
                  <a:srgbClr val="CDD6F4"/>
                </a:solidFill>
                <a:effectLst/>
                <a:latin typeface="Consolas" panose="020B0609020204030204" pitchFamily="49" charset="0"/>
              </a:rPr>
              <a:t> </a:t>
            </a:r>
            <a:r>
              <a:rPr lang="en-US" dirty="0">
                <a:solidFill>
                  <a:srgbClr val="CDD6F4"/>
                </a:solidFill>
                <a:latin typeface="Consolas" panose="020B0609020204030204" pitchFamily="49" charset="0"/>
              </a:rPr>
              <a:t>pipe's</a:t>
            </a:r>
            <a:r>
              <a:rPr lang="en-US" b="0" dirty="0">
                <a:solidFill>
                  <a:srgbClr val="CDD6F4"/>
                </a:solidFill>
                <a:effectLst/>
                <a:latin typeface="Consolas" panose="020B0609020204030204" pitchFamily="49" charset="0"/>
              </a:rPr>
              <a:t> buffer is full</a:t>
            </a:r>
          </a:p>
          <a:p>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mycoroutine_switchto</a:t>
            </a:r>
            <a:r>
              <a:rPr lang="en-US" b="0" dirty="0">
                <a:solidFill>
                  <a:srgbClr val="9399B2"/>
                </a:solidFill>
                <a:effectLst/>
                <a:latin typeface="Consolas" panose="020B0609020204030204" pitchFamily="49" charset="0"/>
              </a:rPr>
              <a:t>(</a:t>
            </a:r>
            <a:r>
              <a:rPr lang="en-US" b="0" dirty="0" err="1">
                <a:solidFill>
                  <a:srgbClr val="CDD6F4"/>
                </a:solidFill>
                <a:effectLst/>
                <a:latin typeface="Consolas" panose="020B0609020204030204" pitchFamily="49" charset="0"/>
              </a:rPr>
              <a:t>read_thread</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br>
              <a:rPr lang="en-US" b="0" dirty="0">
                <a:solidFill>
                  <a:srgbClr val="CDD6F4"/>
                </a:solidFill>
                <a:effectLst/>
                <a:latin typeface="Consolas" panose="020B0609020204030204" pitchFamily="49" charset="0"/>
              </a:rPr>
            </a:br>
            <a:r>
              <a:rPr lang="en-US" b="0" dirty="0">
                <a:solidFill>
                  <a:srgbClr val="CDD6F4"/>
                </a:solidFill>
                <a:effectLst/>
                <a:latin typeface="Consolas" panose="020B0609020204030204" pitchFamily="49" charset="0"/>
              </a:rPr>
              <a:t>    add character to buffer</a:t>
            </a:r>
          </a:p>
          <a:p>
            <a:r>
              <a:rPr lang="en-US" b="0" dirty="0">
                <a:solidFill>
                  <a:srgbClr val="CDD6F4"/>
                </a:solidFill>
                <a:effectLst/>
                <a:latin typeface="Consolas" panose="020B0609020204030204" pitchFamily="49" charset="0"/>
              </a:rPr>
              <a:t>    update write pointer</a:t>
            </a: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return</a:t>
            </a:r>
            <a:r>
              <a:rPr lang="en-US" b="0" dirty="0">
                <a:solidFill>
                  <a:srgbClr val="CDD6F4"/>
                </a:solidFill>
                <a:effectLst/>
                <a:latin typeface="Consolas" panose="020B0609020204030204" pitchFamily="49" charset="0"/>
              </a:rPr>
              <a:t> </a:t>
            </a:r>
            <a:r>
              <a:rPr lang="en-US" b="0" dirty="0">
                <a:solidFill>
                  <a:srgbClr val="FAB387"/>
                </a:solidFill>
                <a:effectLst/>
                <a:latin typeface="Consolas" panose="020B0609020204030204" pitchFamily="49" charset="0"/>
              </a:rPr>
              <a:t>1</a:t>
            </a:r>
            <a:endParaRPr lang="en-US" b="0" dirty="0">
              <a:solidFill>
                <a:srgbClr val="CDD6F4"/>
              </a:solidFill>
              <a:effectLst/>
              <a:latin typeface="Consolas" panose="020B0609020204030204" pitchFamily="49" charset="0"/>
            </a:endParaRPr>
          </a:p>
          <a:p>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p:txBody>
      </p:sp>
    </p:spTree>
    <p:extLst>
      <p:ext uri="{BB962C8B-B14F-4D97-AF65-F5344CB8AC3E}">
        <p14:creationId xmlns:p14="http://schemas.microsoft.com/office/powerpoint/2010/main" val="18536376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37B8A-37FB-D58B-5BC6-C34633B573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FC5EC2-4F71-7E31-1588-C5B5F768D107}"/>
              </a:ext>
            </a:extLst>
          </p:cNvPr>
          <p:cNvSpPr>
            <a:spLocks noGrp="1"/>
          </p:cNvSpPr>
          <p:nvPr>
            <p:ph type="title"/>
          </p:nvPr>
        </p:nvSpPr>
        <p:spPr/>
        <p:txBody>
          <a:bodyPr/>
          <a:lstStyle/>
          <a:p>
            <a:r>
              <a:rPr lang="en-US" b="1" dirty="0"/>
              <a:t>Assignment 1: </a:t>
            </a:r>
            <a:r>
              <a:rPr lang="en-US" dirty="0" err="1">
                <a:latin typeface="Consolas" panose="020B0609020204030204" pitchFamily="49" charset="0"/>
              </a:rPr>
              <a:t>pipe_read</a:t>
            </a:r>
            <a:r>
              <a:rPr lang="en-US" dirty="0"/>
              <a:t> function</a:t>
            </a:r>
            <a:endParaRPr lang="en-US" dirty="0">
              <a:latin typeface="Consolas" panose="020B0609020204030204" pitchFamily="49" charset="0"/>
            </a:endParaRPr>
          </a:p>
        </p:txBody>
      </p:sp>
      <p:sp>
        <p:nvSpPr>
          <p:cNvPr id="5" name="TextBox 4">
            <a:extLst>
              <a:ext uri="{FF2B5EF4-FFF2-40B4-BE49-F238E27FC236}">
                <a16:creationId xmlns:a16="http://schemas.microsoft.com/office/drawing/2014/main" id="{AFE75637-B847-3F97-2C3E-A7017852EC2B}"/>
              </a:ext>
            </a:extLst>
          </p:cNvPr>
          <p:cNvSpPr txBox="1"/>
          <p:nvPr/>
        </p:nvSpPr>
        <p:spPr>
          <a:xfrm>
            <a:off x="2190750" y="1690688"/>
            <a:ext cx="7810500" cy="4247317"/>
          </a:xfrm>
          <a:prstGeom prst="rect">
            <a:avLst/>
          </a:prstGeom>
          <a:noFill/>
        </p:spPr>
        <p:txBody>
          <a:bodyPr wrap="square">
            <a:spAutoFit/>
          </a:bodyPr>
          <a:lstStyle/>
          <a:p>
            <a:r>
              <a:rPr lang="en-US" b="0" dirty="0">
                <a:solidFill>
                  <a:srgbClr val="CBA6F7"/>
                </a:solidFill>
                <a:effectLst/>
                <a:latin typeface="Consolas" panose="020B0609020204030204" pitchFamily="49" charset="0"/>
              </a:rPr>
              <a:t>int</a:t>
            </a:r>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pipe_read</a:t>
            </a:r>
            <a:r>
              <a:rPr lang="en-US" b="0" dirty="0">
                <a:solidFill>
                  <a:srgbClr val="9399B2"/>
                </a:solidFill>
                <a:effectLst/>
                <a:latin typeface="Consolas" panose="020B0609020204030204" pitchFamily="49" charset="0"/>
              </a:rPr>
              <a:t>(</a:t>
            </a:r>
            <a:r>
              <a:rPr lang="en-US" b="0" dirty="0">
                <a:solidFill>
                  <a:srgbClr val="CBA6F7"/>
                </a:solidFill>
                <a:effectLst/>
                <a:latin typeface="Consolas" panose="020B0609020204030204" pitchFamily="49" charset="0"/>
              </a:rPr>
              <a:t>unsigned</a:t>
            </a:r>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int</a:t>
            </a:r>
            <a:r>
              <a:rPr lang="en-US" b="0" dirty="0">
                <a:solidFill>
                  <a:srgbClr val="CDD6F4"/>
                </a:solidFill>
                <a:effectLst/>
                <a:latin typeface="Consolas" panose="020B0609020204030204" pitchFamily="49" charset="0"/>
              </a:rPr>
              <a:t> </a:t>
            </a:r>
            <a:r>
              <a:rPr lang="en-US" b="0" i="1" dirty="0">
                <a:solidFill>
                  <a:srgbClr val="EBA0AC"/>
                </a:solidFill>
                <a:effectLst/>
                <a:latin typeface="Consolas" panose="020B0609020204030204" pitchFamily="49" charset="0"/>
              </a:rPr>
              <a:t>p</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char</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i="1" dirty="0">
                <a:solidFill>
                  <a:srgbClr val="EBA0AC"/>
                </a:solidFill>
                <a:effectLst/>
                <a:latin typeface="Consolas" panose="020B0609020204030204" pitchFamily="49" charset="0"/>
              </a:rPr>
              <a:t>c</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i="1" dirty="0" err="1">
                <a:solidFill>
                  <a:srgbClr val="F9E2AF"/>
                </a:solidFill>
                <a:effectLst/>
                <a:latin typeface="Consolas" panose="020B0609020204030204" pitchFamily="49" charset="0"/>
              </a:rPr>
              <a:t>co_t</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i="1" dirty="0" err="1">
                <a:solidFill>
                  <a:srgbClr val="EBA0AC"/>
                </a:solidFill>
                <a:effectLst/>
                <a:latin typeface="Consolas" panose="020B0609020204030204" pitchFamily="49" charset="0"/>
              </a:rPr>
              <a:t>write_thread</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if</a:t>
            </a:r>
            <a:r>
              <a:rPr lang="en-US" b="0" dirty="0">
                <a:solidFill>
                  <a:srgbClr val="CDD6F4"/>
                </a:solidFill>
                <a:effectLst/>
                <a:latin typeface="Consolas" panose="020B0609020204030204" pitchFamily="49" charset="0"/>
              </a:rPr>
              <a:t> pipe does not exist</a:t>
            </a: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return</a:t>
            </a:r>
            <a:r>
              <a:rPr lang="en-US" b="0" dirty="0">
                <a:solidFill>
                  <a:srgbClr val="CDD6F4"/>
                </a:solidFill>
                <a:effectLst/>
                <a:latin typeface="Consolas" panose="020B0609020204030204" pitchFamily="49" charset="0"/>
              </a:rPr>
              <a:t> error</a:t>
            </a:r>
          </a:p>
          <a:p>
            <a:br>
              <a:rPr lang="en-US" b="0" dirty="0">
                <a:solidFill>
                  <a:srgbClr val="CDD6F4"/>
                </a:solidFill>
                <a:effectLst/>
                <a:latin typeface="Consolas" panose="020B0609020204030204" pitchFamily="49" charset="0"/>
              </a:rPr>
            </a:br>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if</a:t>
            </a:r>
            <a:r>
              <a:rPr lang="en-US" b="0" dirty="0">
                <a:solidFill>
                  <a:srgbClr val="CDD6F4"/>
                </a:solidFill>
                <a:effectLst/>
                <a:latin typeface="Consolas" panose="020B0609020204030204" pitchFamily="49" charset="0"/>
              </a:rPr>
              <a:t> the pipe is open </a:t>
            </a:r>
            <a:r>
              <a:rPr lang="en-US" b="0" dirty="0">
                <a:solidFill>
                  <a:srgbClr val="CBA6F7"/>
                </a:solidFill>
                <a:effectLst/>
                <a:latin typeface="Consolas" panose="020B0609020204030204" pitchFamily="49" charset="0"/>
              </a:rPr>
              <a:t>for</a:t>
            </a:r>
            <a:r>
              <a:rPr lang="en-US" b="0" dirty="0">
                <a:solidFill>
                  <a:srgbClr val="CDD6F4"/>
                </a:solidFill>
                <a:effectLst/>
                <a:latin typeface="Consolas" panose="020B0609020204030204" pitchFamily="49" charset="0"/>
              </a:rPr>
              <a:t> writing and empty</a:t>
            </a:r>
          </a:p>
          <a:p>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mycoroutine_switchto</a:t>
            </a:r>
            <a:r>
              <a:rPr lang="en-US" b="0" dirty="0">
                <a:solidFill>
                  <a:srgbClr val="9399B2"/>
                </a:solidFill>
                <a:effectLst/>
                <a:latin typeface="Consolas" panose="020B0609020204030204" pitchFamily="49" charset="0"/>
              </a:rPr>
              <a:t>(</a:t>
            </a:r>
            <a:r>
              <a:rPr lang="en-US" b="0" dirty="0" err="1">
                <a:solidFill>
                  <a:srgbClr val="CDD6F4"/>
                </a:solidFill>
                <a:effectLst/>
                <a:latin typeface="Consolas" panose="020B0609020204030204" pitchFamily="49" charset="0"/>
              </a:rPr>
              <a:t>write_thread</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br>
              <a:rPr lang="en-US" b="0" dirty="0">
                <a:solidFill>
                  <a:srgbClr val="CDD6F4"/>
                </a:solidFill>
                <a:effectLst/>
                <a:latin typeface="Consolas" panose="020B0609020204030204" pitchFamily="49" charset="0"/>
              </a:rPr>
            </a:br>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if</a:t>
            </a:r>
            <a:r>
              <a:rPr lang="en-US" b="0" dirty="0">
                <a:solidFill>
                  <a:srgbClr val="CDD6F4"/>
                </a:solidFill>
                <a:effectLst/>
                <a:latin typeface="Consolas" panose="020B0609020204030204" pitchFamily="49" charset="0"/>
              </a:rPr>
              <a:t> the pipe is closed </a:t>
            </a:r>
            <a:r>
              <a:rPr lang="en-US" b="0" dirty="0">
                <a:solidFill>
                  <a:srgbClr val="CBA6F7"/>
                </a:solidFill>
                <a:effectLst/>
                <a:latin typeface="Consolas" panose="020B0609020204030204" pitchFamily="49" charset="0"/>
              </a:rPr>
              <a:t>for</a:t>
            </a:r>
            <a:r>
              <a:rPr lang="en-US" b="0" dirty="0">
                <a:solidFill>
                  <a:srgbClr val="CDD6F4"/>
                </a:solidFill>
                <a:effectLst/>
                <a:latin typeface="Consolas" panose="020B0609020204030204" pitchFamily="49" charset="0"/>
              </a:rPr>
              <a:t> writing and empty</a:t>
            </a:r>
          </a:p>
          <a:p>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pipe_remove</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p</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return</a:t>
            </a:r>
            <a:r>
              <a:rPr lang="en-US" b="0" dirty="0">
                <a:solidFill>
                  <a:srgbClr val="CDD6F4"/>
                </a:solidFill>
                <a:effectLst/>
                <a:latin typeface="Consolas" panose="020B0609020204030204" pitchFamily="49" charset="0"/>
              </a:rPr>
              <a:t> </a:t>
            </a:r>
            <a:r>
              <a:rPr lang="en-US" b="0" dirty="0">
                <a:solidFill>
                  <a:srgbClr val="FAB387"/>
                </a:solidFill>
                <a:effectLst/>
                <a:latin typeface="Consolas" panose="020B0609020204030204" pitchFamily="49" charset="0"/>
              </a:rPr>
              <a:t>0</a:t>
            </a:r>
            <a:endParaRPr lang="en-US" b="0" dirty="0">
              <a:solidFill>
                <a:srgbClr val="CDD6F4"/>
              </a:solidFill>
              <a:effectLst/>
              <a:latin typeface="Consolas" panose="020B0609020204030204" pitchFamily="49" charset="0"/>
            </a:endParaRPr>
          </a:p>
          <a:p>
            <a:br>
              <a:rPr lang="en-US" b="0" dirty="0">
                <a:solidFill>
                  <a:srgbClr val="CDD6F4"/>
                </a:solidFill>
                <a:effectLst/>
                <a:latin typeface="Consolas" panose="020B0609020204030204" pitchFamily="49" charset="0"/>
              </a:rPr>
            </a:br>
            <a:r>
              <a:rPr lang="en-US" b="0" dirty="0">
                <a:solidFill>
                  <a:srgbClr val="CDD6F4"/>
                </a:solidFill>
                <a:effectLst/>
                <a:latin typeface="Consolas" panose="020B0609020204030204" pitchFamily="49" charset="0"/>
              </a:rPr>
              <a:t>    set c to the next value of the buffer</a:t>
            </a:r>
          </a:p>
          <a:p>
            <a:r>
              <a:rPr lang="en-US" b="0" dirty="0">
                <a:solidFill>
                  <a:srgbClr val="CDD6F4"/>
                </a:solidFill>
                <a:effectLst/>
                <a:latin typeface="Consolas" panose="020B0609020204030204" pitchFamily="49" charset="0"/>
              </a:rPr>
              <a:t>    update the read pointer</a:t>
            </a: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return</a:t>
            </a:r>
            <a:r>
              <a:rPr lang="en-US" b="0" dirty="0">
                <a:solidFill>
                  <a:srgbClr val="CDD6F4"/>
                </a:solidFill>
                <a:effectLst/>
                <a:latin typeface="Consolas" panose="020B0609020204030204" pitchFamily="49" charset="0"/>
              </a:rPr>
              <a:t> </a:t>
            </a:r>
            <a:r>
              <a:rPr lang="en-US" b="0" dirty="0">
                <a:solidFill>
                  <a:srgbClr val="FAB387"/>
                </a:solidFill>
                <a:effectLst/>
                <a:latin typeface="Consolas" panose="020B0609020204030204" pitchFamily="49" charset="0"/>
              </a:rPr>
              <a:t>1</a:t>
            </a:r>
            <a:endParaRPr lang="en-US" b="0" dirty="0">
              <a:solidFill>
                <a:srgbClr val="CDD6F4"/>
              </a:solidFill>
              <a:effectLst/>
              <a:latin typeface="Consolas" panose="020B0609020204030204" pitchFamily="49" charset="0"/>
            </a:endParaRPr>
          </a:p>
          <a:p>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p:txBody>
      </p:sp>
    </p:spTree>
    <p:extLst>
      <p:ext uri="{BB962C8B-B14F-4D97-AF65-F5344CB8AC3E}">
        <p14:creationId xmlns:p14="http://schemas.microsoft.com/office/powerpoint/2010/main" val="14316294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15699E-95F5-27E9-A678-41715CFF2C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44D7D7-01F7-6260-F934-0E5C075E133A}"/>
              </a:ext>
            </a:extLst>
          </p:cNvPr>
          <p:cNvSpPr>
            <a:spLocks noGrp="1"/>
          </p:cNvSpPr>
          <p:nvPr>
            <p:ph type="ctrTitle"/>
          </p:nvPr>
        </p:nvSpPr>
        <p:spPr>
          <a:xfrm>
            <a:off x="1524000" y="2945034"/>
            <a:ext cx="9144000" cy="967931"/>
          </a:xfrm>
        </p:spPr>
        <p:txBody>
          <a:bodyPr/>
          <a:lstStyle/>
          <a:p>
            <a:r>
              <a:rPr lang="en-US" dirty="0"/>
              <a:t>Assignment 2</a:t>
            </a:r>
          </a:p>
        </p:txBody>
      </p:sp>
    </p:spTree>
    <p:extLst>
      <p:ext uri="{BB962C8B-B14F-4D97-AF65-F5344CB8AC3E}">
        <p14:creationId xmlns:p14="http://schemas.microsoft.com/office/powerpoint/2010/main" val="23929034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269D36-E3D7-472A-47C7-91D54CAD5A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1591D1-2EF6-DDF1-DA83-B752C54BC093}"/>
              </a:ext>
            </a:extLst>
          </p:cNvPr>
          <p:cNvSpPr>
            <a:spLocks noGrp="1"/>
          </p:cNvSpPr>
          <p:nvPr>
            <p:ph type="title"/>
          </p:nvPr>
        </p:nvSpPr>
        <p:spPr/>
        <p:txBody>
          <a:bodyPr/>
          <a:lstStyle/>
          <a:p>
            <a:r>
              <a:rPr lang="en-US" b="1" dirty="0"/>
              <a:t>Assignment 2: </a:t>
            </a:r>
            <a:r>
              <a:rPr lang="en-US" dirty="0" err="1">
                <a:latin typeface="Consolas" panose="020B0609020204030204" pitchFamily="49" charset="0"/>
              </a:rPr>
              <a:t>mythreads</a:t>
            </a:r>
            <a:r>
              <a:rPr lang="en-US" b="1" dirty="0"/>
              <a:t> </a:t>
            </a:r>
            <a:r>
              <a:rPr lang="en-US" dirty="0"/>
              <a:t>API</a:t>
            </a:r>
          </a:p>
        </p:txBody>
      </p:sp>
      <p:sp>
        <p:nvSpPr>
          <p:cNvPr id="10" name="TextBox 9">
            <a:extLst>
              <a:ext uri="{FF2B5EF4-FFF2-40B4-BE49-F238E27FC236}">
                <a16:creationId xmlns:a16="http://schemas.microsoft.com/office/drawing/2014/main" id="{D067A69D-53B6-CC74-6974-F5AFE6496B4C}"/>
              </a:ext>
            </a:extLst>
          </p:cNvPr>
          <p:cNvSpPr txBox="1"/>
          <p:nvPr/>
        </p:nvSpPr>
        <p:spPr>
          <a:xfrm>
            <a:off x="1348546" y="1690688"/>
            <a:ext cx="9494907" cy="4294061"/>
          </a:xfrm>
          <a:prstGeom prst="rect">
            <a:avLst/>
          </a:prstGeom>
          <a:noFill/>
        </p:spPr>
        <p:txBody>
          <a:bodyPr wrap="none" rtlCol="0">
            <a:spAutoFit/>
          </a:bodyPr>
          <a:lstStyle/>
          <a:p>
            <a:pPr>
              <a:lnSpc>
                <a:spcPct val="125000"/>
              </a:lnSpc>
            </a:pPr>
            <a:r>
              <a:rPr lang="en-US" sz="2000" b="0" dirty="0">
                <a:solidFill>
                  <a:srgbClr val="CBA6F7"/>
                </a:solidFill>
                <a:effectLst/>
                <a:latin typeface="Consolas" panose="020B0609020204030204" pitchFamily="49" charset="0"/>
              </a:rPr>
              <a:t>int</a:t>
            </a:r>
            <a:r>
              <a:rPr lang="en-US" sz="2000" b="0" dirty="0">
                <a:solidFill>
                  <a:srgbClr val="CDD6F4"/>
                </a:solidFill>
                <a:effectLst/>
                <a:latin typeface="Consolas" panose="020B0609020204030204" pitchFamily="49" charset="0"/>
              </a:rPr>
              <a:t> </a:t>
            </a:r>
            <a:r>
              <a:rPr lang="en-US" sz="2000" b="0" i="1" dirty="0" err="1">
                <a:solidFill>
                  <a:srgbClr val="89B4FA"/>
                </a:solidFill>
                <a:effectLst/>
                <a:latin typeface="Consolas" panose="020B0609020204030204" pitchFamily="49" charset="0"/>
              </a:rPr>
              <a:t>mythreads_init</a:t>
            </a:r>
            <a:r>
              <a:rPr lang="en-US" sz="2000" b="0" dirty="0">
                <a:solidFill>
                  <a:srgbClr val="9399B2"/>
                </a:solidFill>
                <a:effectLst/>
                <a:latin typeface="Consolas" panose="020B0609020204030204" pitchFamily="49" charset="0"/>
              </a:rPr>
              <a:t>();</a:t>
            </a:r>
            <a:endParaRPr lang="en-US" sz="2000" b="0" dirty="0">
              <a:solidFill>
                <a:srgbClr val="CDD6F4"/>
              </a:solidFill>
              <a:effectLst/>
              <a:latin typeface="Consolas" panose="020B0609020204030204" pitchFamily="49" charset="0"/>
            </a:endParaRPr>
          </a:p>
          <a:p>
            <a:pPr>
              <a:lnSpc>
                <a:spcPct val="125000"/>
              </a:lnSpc>
            </a:pPr>
            <a:r>
              <a:rPr lang="en-US" sz="2000" b="0" dirty="0">
                <a:solidFill>
                  <a:srgbClr val="CBA6F7"/>
                </a:solidFill>
                <a:effectLst/>
                <a:latin typeface="Consolas" panose="020B0609020204030204" pitchFamily="49" charset="0"/>
              </a:rPr>
              <a:t>int</a:t>
            </a:r>
            <a:r>
              <a:rPr lang="en-US" sz="2000" b="0" dirty="0">
                <a:solidFill>
                  <a:srgbClr val="CDD6F4"/>
                </a:solidFill>
                <a:effectLst/>
                <a:latin typeface="Consolas" panose="020B0609020204030204" pitchFamily="49" charset="0"/>
              </a:rPr>
              <a:t> </a:t>
            </a:r>
            <a:r>
              <a:rPr lang="en-US" sz="2000" b="0" i="1" dirty="0" err="1">
                <a:solidFill>
                  <a:srgbClr val="89B4FA"/>
                </a:solidFill>
                <a:effectLst/>
                <a:latin typeface="Consolas" panose="020B0609020204030204" pitchFamily="49" charset="0"/>
              </a:rPr>
              <a:t>mythreads_create</a:t>
            </a:r>
            <a:r>
              <a:rPr lang="en-US" sz="2000" b="0" dirty="0">
                <a:solidFill>
                  <a:srgbClr val="9399B2"/>
                </a:solidFill>
                <a:effectLst/>
                <a:latin typeface="Consolas" panose="020B0609020204030204" pitchFamily="49" charset="0"/>
              </a:rPr>
              <a:t>(</a:t>
            </a:r>
            <a:r>
              <a:rPr lang="en-US" sz="2000" b="0" i="1" dirty="0" err="1">
                <a:solidFill>
                  <a:srgbClr val="F9E2AF"/>
                </a:solidFill>
                <a:effectLst/>
                <a:latin typeface="Consolas" panose="020B0609020204030204" pitchFamily="49" charset="0"/>
              </a:rPr>
              <a:t>mythr_t</a:t>
            </a:r>
            <a:r>
              <a:rPr lang="en-US" sz="2000" b="0" dirty="0">
                <a:solidFill>
                  <a:srgbClr val="CDD6F4"/>
                </a:solidFill>
                <a:effectLst/>
                <a:latin typeface="Consolas" panose="020B0609020204030204" pitchFamily="49" charset="0"/>
              </a:rPr>
              <a:t> </a:t>
            </a:r>
            <a:r>
              <a:rPr lang="en-US" sz="2000" b="0" dirty="0">
                <a:solidFill>
                  <a:srgbClr val="94E2D5"/>
                </a:solidFill>
                <a:effectLst/>
                <a:latin typeface="Consolas" panose="020B0609020204030204" pitchFamily="49" charset="0"/>
              </a:rPr>
              <a:t>*</a:t>
            </a:r>
            <a:r>
              <a:rPr lang="en-US" sz="2000" b="0" i="1" dirty="0" err="1">
                <a:solidFill>
                  <a:srgbClr val="EBA0AC"/>
                </a:solidFill>
                <a:effectLst/>
                <a:latin typeface="Consolas" panose="020B0609020204030204" pitchFamily="49" charset="0"/>
              </a:rPr>
              <a:t>thr</a:t>
            </a:r>
            <a:r>
              <a:rPr lang="en-US" sz="2000" b="0" dirty="0">
                <a:solidFill>
                  <a:srgbClr val="9399B2"/>
                </a:solidFill>
                <a:effectLst/>
                <a:latin typeface="Consolas" panose="020B0609020204030204" pitchFamily="49" charset="0"/>
              </a:rPr>
              <a:t>,</a:t>
            </a:r>
            <a:r>
              <a:rPr lang="en-US" sz="2000" b="0" dirty="0">
                <a:solidFill>
                  <a:srgbClr val="CDD6F4"/>
                </a:solidFill>
                <a:effectLst/>
                <a:latin typeface="Consolas" panose="020B0609020204030204" pitchFamily="49" charset="0"/>
              </a:rPr>
              <a:t> </a:t>
            </a:r>
            <a:r>
              <a:rPr lang="en-US" sz="2000" b="0" dirty="0">
                <a:solidFill>
                  <a:srgbClr val="CBA6F7"/>
                </a:solidFill>
                <a:effectLst/>
                <a:latin typeface="Consolas" panose="020B0609020204030204" pitchFamily="49" charset="0"/>
              </a:rPr>
              <a:t>void</a:t>
            </a:r>
            <a:r>
              <a:rPr lang="en-US" sz="2000" b="0" dirty="0">
                <a:solidFill>
                  <a:srgbClr val="9399B2"/>
                </a:solidFill>
                <a:effectLst/>
                <a:latin typeface="Consolas" panose="020B0609020204030204" pitchFamily="49" charset="0"/>
              </a:rPr>
              <a:t>(</a:t>
            </a:r>
            <a:r>
              <a:rPr lang="en-US" sz="2000" b="0" dirty="0">
                <a:solidFill>
                  <a:srgbClr val="CDD6F4"/>
                </a:solidFill>
                <a:effectLst/>
                <a:latin typeface="Consolas" panose="020B0609020204030204" pitchFamily="49" charset="0"/>
              </a:rPr>
              <a:t>body</a:t>
            </a:r>
            <a:r>
              <a:rPr lang="en-US" sz="2000" b="0" dirty="0">
                <a:solidFill>
                  <a:srgbClr val="9399B2"/>
                </a:solidFill>
                <a:effectLst/>
                <a:latin typeface="Consolas" panose="020B0609020204030204" pitchFamily="49" charset="0"/>
              </a:rPr>
              <a:t>)(</a:t>
            </a:r>
            <a:r>
              <a:rPr lang="en-US" sz="2000" b="0" dirty="0">
                <a:solidFill>
                  <a:srgbClr val="CBA6F7"/>
                </a:solidFill>
                <a:effectLst/>
                <a:latin typeface="Consolas" panose="020B0609020204030204" pitchFamily="49" charset="0"/>
              </a:rPr>
              <a:t>void</a:t>
            </a:r>
            <a:r>
              <a:rPr lang="en-US" sz="2000" b="0" dirty="0">
                <a:solidFill>
                  <a:srgbClr val="CDD6F4"/>
                </a:solidFill>
                <a:effectLst/>
                <a:latin typeface="Consolas" panose="020B0609020204030204" pitchFamily="49" charset="0"/>
              </a:rPr>
              <a:t> </a:t>
            </a:r>
            <a:r>
              <a:rPr lang="en-US" sz="2000" b="0" dirty="0">
                <a:solidFill>
                  <a:srgbClr val="94E2D5"/>
                </a:solidFill>
                <a:effectLst/>
                <a:latin typeface="Consolas" panose="020B0609020204030204" pitchFamily="49" charset="0"/>
              </a:rPr>
              <a:t>*</a:t>
            </a:r>
            <a:r>
              <a:rPr lang="en-US" sz="2000" b="0" dirty="0">
                <a:solidFill>
                  <a:srgbClr val="9399B2"/>
                </a:solidFill>
                <a:effectLst/>
                <a:latin typeface="Consolas" panose="020B0609020204030204" pitchFamily="49" charset="0"/>
              </a:rPr>
              <a:t>),</a:t>
            </a:r>
            <a:r>
              <a:rPr lang="en-US" sz="2000" b="0" dirty="0">
                <a:solidFill>
                  <a:srgbClr val="CDD6F4"/>
                </a:solidFill>
                <a:effectLst/>
                <a:latin typeface="Consolas" panose="020B0609020204030204" pitchFamily="49" charset="0"/>
              </a:rPr>
              <a:t> </a:t>
            </a:r>
            <a:r>
              <a:rPr lang="en-US" sz="2000" b="0" dirty="0">
                <a:solidFill>
                  <a:srgbClr val="CBA6F7"/>
                </a:solidFill>
                <a:effectLst/>
                <a:latin typeface="Consolas" panose="020B0609020204030204" pitchFamily="49" charset="0"/>
              </a:rPr>
              <a:t>void</a:t>
            </a:r>
            <a:r>
              <a:rPr lang="en-US" sz="2000" b="0" dirty="0">
                <a:solidFill>
                  <a:srgbClr val="CDD6F4"/>
                </a:solidFill>
                <a:effectLst/>
                <a:latin typeface="Consolas" panose="020B0609020204030204" pitchFamily="49" charset="0"/>
              </a:rPr>
              <a:t> </a:t>
            </a:r>
            <a:r>
              <a:rPr lang="en-US" sz="2000" b="0" dirty="0">
                <a:solidFill>
                  <a:srgbClr val="94E2D5"/>
                </a:solidFill>
                <a:effectLst/>
                <a:latin typeface="Consolas" panose="020B0609020204030204" pitchFamily="49" charset="0"/>
              </a:rPr>
              <a:t>*</a:t>
            </a:r>
            <a:r>
              <a:rPr lang="en-US" sz="2000" b="0" i="1" dirty="0" err="1">
                <a:solidFill>
                  <a:srgbClr val="EBA0AC"/>
                </a:solidFill>
                <a:effectLst/>
                <a:latin typeface="Consolas" panose="020B0609020204030204" pitchFamily="49" charset="0"/>
              </a:rPr>
              <a:t>arg</a:t>
            </a:r>
            <a:r>
              <a:rPr lang="en-US" sz="2000" b="0" dirty="0">
                <a:solidFill>
                  <a:srgbClr val="9399B2"/>
                </a:solidFill>
                <a:effectLst/>
                <a:latin typeface="Consolas" panose="020B0609020204030204" pitchFamily="49" charset="0"/>
              </a:rPr>
              <a:t>);</a:t>
            </a:r>
            <a:endParaRPr lang="en-US" sz="2000" b="0" dirty="0">
              <a:solidFill>
                <a:srgbClr val="CDD6F4"/>
              </a:solidFill>
              <a:effectLst/>
              <a:latin typeface="Consolas" panose="020B0609020204030204" pitchFamily="49" charset="0"/>
            </a:endParaRPr>
          </a:p>
          <a:p>
            <a:pPr>
              <a:lnSpc>
                <a:spcPct val="125000"/>
              </a:lnSpc>
            </a:pPr>
            <a:r>
              <a:rPr lang="en-US" sz="2000" b="0" dirty="0">
                <a:solidFill>
                  <a:srgbClr val="CBA6F7"/>
                </a:solidFill>
                <a:effectLst/>
                <a:latin typeface="Consolas" panose="020B0609020204030204" pitchFamily="49" charset="0"/>
              </a:rPr>
              <a:t>int</a:t>
            </a:r>
            <a:r>
              <a:rPr lang="en-US" sz="2000" b="0" dirty="0">
                <a:solidFill>
                  <a:srgbClr val="CDD6F4"/>
                </a:solidFill>
                <a:effectLst/>
                <a:latin typeface="Consolas" panose="020B0609020204030204" pitchFamily="49" charset="0"/>
              </a:rPr>
              <a:t> </a:t>
            </a:r>
            <a:r>
              <a:rPr lang="en-US" sz="2000" b="0" i="1" dirty="0" err="1">
                <a:solidFill>
                  <a:srgbClr val="89B4FA"/>
                </a:solidFill>
                <a:effectLst/>
                <a:latin typeface="Consolas" panose="020B0609020204030204" pitchFamily="49" charset="0"/>
              </a:rPr>
              <a:t>mythreads_yield</a:t>
            </a:r>
            <a:r>
              <a:rPr lang="en-US" sz="2000" b="0" dirty="0">
                <a:solidFill>
                  <a:srgbClr val="9399B2"/>
                </a:solidFill>
                <a:effectLst/>
                <a:latin typeface="Consolas" panose="020B0609020204030204" pitchFamily="49" charset="0"/>
              </a:rPr>
              <a:t>();</a:t>
            </a:r>
            <a:endParaRPr lang="en-US" sz="2000" b="0" dirty="0">
              <a:solidFill>
                <a:srgbClr val="CDD6F4"/>
              </a:solidFill>
              <a:effectLst/>
              <a:latin typeface="Consolas" panose="020B0609020204030204" pitchFamily="49" charset="0"/>
            </a:endParaRPr>
          </a:p>
          <a:p>
            <a:pPr>
              <a:lnSpc>
                <a:spcPct val="125000"/>
              </a:lnSpc>
            </a:pPr>
            <a:r>
              <a:rPr lang="en-US" sz="2000" b="0" dirty="0">
                <a:solidFill>
                  <a:srgbClr val="CBA6F7"/>
                </a:solidFill>
                <a:effectLst/>
                <a:latin typeface="Consolas" panose="020B0609020204030204" pitchFamily="49" charset="0"/>
              </a:rPr>
              <a:t>int</a:t>
            </a:r>
            <a:r>
              <a:rPr lang="en-US" sz="2000" b="0" dirty="0">
                <a:solidFill>
                  <a:srgbClr val="CDD6F4"/>
                </a:solidFill>
                <a:effectLst/>
                <a:latin typeface="Consolas" panose="020B0609020204030204" pitchFamily="49" charset="0"/>
              </a:rPr>
              <a:t> </a:t>
            </a:r>
            <a:r>
              <a:rPr lang="en-US" sz="2000" b="0" i="1" dirty="0" err="1">
                <a:solidFill>
                  <a:srgbClr val="89B4FA"/>
                </a:solidFill>
                <a:effectLst/>
                <a:latin typeface="Consolas" panose="020B0609020204030204" pitchFamily="49" charset="0"/>
              </a:rPr>
              <a:t>mythreads_sleep</a:t>
            </a:r>
            <a:r>
              <a:rPr lang="en-US" sz="2000" b="0" dirty="0">
                <a:solidFill>
                  <a:srgbClr val="9399B2"/>
                </a:solidFill>
                <a:effectLst/>
                <a:latin typeface="Consolas" panose="020B0609020204030204" pitchFamily="49" charset="0"/>
              </a:rPr>
              <a:t>(</a:t>
            </a:r>
            <a:r>
              <a:rPr lang="en-US" sz="2000" b="0" dirty="0">
                <a:solidFill>
                  <a:srgbClr val="CBA6F7"/>
                </a:solidFill>
                <a:effectLst/>
                <a:latin typeface="Consolas" panose="020B0609020204030204" pitchFamily="49" charset="0"/>
              </a:rPr>
              <a:t>int</a:t>
            </a:r>
            <a:r>
              <a:rPr lang="en-US" sz="2000" b="0" dirty="0">
                <a:solidFill>
                  <a:srgbClr val="CDD6F4"/>
                </a:solidFill>
                <a:effectLst/>
                <a:latin typeface="Consolas" panose="020B0609020204030204" pitchFamily="49" charset="0"/>
              </a:rPr>
              <a:t> </a:t>
            </a:r>
            <a:r>
              <a:rPr lang="en-US" sz="2000" b="0" i="1" dirty="0">
                <a:solidFill>
                  <a:srgbClr val="EBA0AC"/>
                </a:solidFill>
                <a:effectLst/>
                <a:latin typeface="Consolas" panose="020B0609020204030204" pitchFamily="49" charset="0"/>
              </a:rPr>
              <a:t>secs</a:t>
            </a:r>
            <a:r>
              <a:rPr lang="en-US" sz="2000" b="0" dirty="0">
                <a:solidFill>
                  <a:srgbClr val="9399B2"/>
                </a:solidFill>
                <a:effectLst/>
                <a:latin typeface="Consolas" panose="020B0609020204030204" pitchFamily="49" charset="0"/>
              </a:rPr>
              <a:t>);</a:t>
            </a:r>
            <a:endParaRPr lang="en-US" sz="2000" b="0" dirty="0">
              <a:solidFill>
                <a:srgbClr val="CDD6F4"/>
              </a:solidFill>
              <a:effectLst/>
              <a:latin typeface="Consolas" panose="020B0609020204030204" pitchFamily="49" charset="0"/>
            </a:endParaRPr>
          </a:p>
          <a:p>
            <a:pPr>
              <a:lnSpc>
                <a:spcPct val="125000"/>
              </a:lnSpc>
            </a:pPr>
            <a:r>
              <a:rPr lang="en-US" sz="2000" b="0" dirty="0">
                <a:solidFill>
                  <a:srgbClr val="CBA6F7"/>
                </a:solidFill>
                <a:effectLst/>
                <a:latin typeface="Consolas" panose="020B0609020204030204" pitchFamily="49" charset="0"/>
              </a:rPr>
              <a:t>int</a:t>
            </a:r>
            <a:r>
              <a:rPr lang="en-US" sz="2000" b="0" dirty="0">
                <a:solidFill>
                  <a:srgbClr val="CDD6F4"/>
                </a:solidFill>
                <a:effectLst/>
                <a:latin typeface="Consolas" panose="020B0609020204030204" pitchFamily="49" charset="0"/>
              </a:rPr>
              <a:t> </a:t>
            </a:r>
            <a:r>
              <a:rPr lang="en-US" sz="2000" b="0" i="1" dirty="0" err="1">
                <a:solidFill>
                  <a:srgbClr val="89B4FA"/>
                </a:solidFill>
                <a:effectLst/>
                <a:latin typeface="Consolas" panose="020B0609020204030204" pitchFamily="49" charset="0"/>
              </a:rPr>
              <a:t>mythreads_join</a:t>
            </a:r>
            <a:r>
              <a:rPr lang="en-US" sz="2000" b="0" dirty="0">
                <a:solidFill>
                  <a:srgbClr val="9399B2"/>
                </a:solidFill>
                <a:effectLst/>
                <a:latin typeface="Consolas" panose="020B0609020204030204" pitchFamily="49" charset="0"/>
              </a:rPr>
              <a:t>(</a:t>
            </a:r>
            <a:r>
              <a:rPr lang="en-US" sz="2000" b="0" i="1" dirty="0" err="1">
                <a:solidFill>
                  <a:srgbClr val="F9E2AF"/>
                </a:solidFill>
                <a:effectLst/>
                <a:latin typeface="Consolas" panose="020B0609020204030204" pitchFamily="49" charset="0"/>
              </a:rPr>
              <a:t>mythr_t</a:t>
            </a:r>
            <a:r>
              <a:rPr lang="en-US" sz="2000" b="0" dirty="0">
                <a:solidFill>
                  <a:srgbClr val="CDD6F4"/>
                </a:solidFill>
                <a:effectLst/>
                <a:latin typeface="Consolas" panose="020B0609020204030204" pitchFamily="49" charset="0"/>
              </a:rPr>
              <a:t> </a:t>
            </a:r>
            <a:r>
              <a:rPr lang="en-US" sz="2000" b="0" dirty="0">
                <a:solidFill>
                  <a:srgbClr val="94E2D5"/>
                </a:solidFill>
                <a:effectLst/>
                <a:latin typeface="Consolas" panose="020B0609020204030204" pitchFamily="49" charset="0"/>
              </a:rPr>
              <a:t>*</a:t>
            </a:r>
            <a:r>
              <a:rPr lang="en-US" sz="2000" b="0" i="1" dirty="0" err="1">
                <a:solidFill>
                  <a:srgbClr val="EBA0AC"/>
                </a:solidFill>
                <a:effectLst/>
                <a:latin typeface="Consolas" panose="020B0609020204030204" pitchFamily="49" charset="0"/>
              </a:rPr>
              <a:t>thr</a:t>
            </a:r>
            <a:r>
              <a:rPr lang="en-US" sz="2000" b="0" dirty="0">
                <a:solidFill>
                  <a:srgbClr val="9399B2"/>
                </a:solidFill>
                <a:effectLst/>
                <a:latin typeface="Consolas" panose="020B0609020204030204" pitchFamily="49" charset="0"/>
              </a:rPr>
              <a:t>);</a:t>
            </a:r>
            <a:endParaRPr lang="en-US" sz="2000" b="0" dirty="0">
              <a:solidFill>
                <a:srgbClr val="CDD6F4"/>
              </a:solidFill>
              <a:effectLst/>
              <a:latin typeface="Consolas" panose="020B0609020204030204" pitchFamily="49" charset="0"/>
            </a:endParaRPr>
          </a:p>
          <a:p>
            <a:pPr>
              <a:lnSpc>
                <a:spcPct val="125000"/>
              </a:lnSpc>
            </a:pPr>
            <a:r>
              <a:rPr lang="en-US" sz="2000" b="0" dirty="0">
                <a:solidFill>
                  <a:srgbClr val="CBA6F7"/>
                </a:solidFill>
                <a:effectLst/>
                <a:latin typeface="Consolas" panose="020B0609020204030204" pitchFamily="49" charset="0"/>
              </a:rPr>
              <a:t>int</a:t>
            </a:r>
            <a:r>
              <a:rPr lang="en-US" sz="2000" b="0" dirty="0">
                <a:solidFill>
                  <a:srgbClr val="CDD6F4"/>
                </a:solidFill>
                <a:effectLst/>
                <a:latin typeface="Consolas" panose="020B0609020204030204" pitchFamily="49" charset="0"/>
              </a:rPr>
              <a:t> </a:t>
            </a:r>
            <a:r>
              <a:rPr lang="en-US" sz="2000" b="0" i="1" dirty="0" err="1">
                <a:solidFill>
                  <a:srgbClr val="89B4FA"/>
                </a:solidFill>
                <a:effectLst/>
                <a:latin typeface="Consolas" panose="020B0609020204030204" pitchFamily="49" charset="0"/>
              </a:rPr>
              <a:t>mythreads_destroy</a:t>
            </a:r>
            <a:r>
              <a:rPr lang="en-US" sz="2000" b="0" dirty="0">
                <a:solidFill>
                  <a:srgbClr val="9399B2"/>
                </a:solidFill>
                <a:effectLst/>
                <a:latin typeface="Consolas" panose="020B0609020204030204" pitchFamily="49" charset="0"/>
              </a:rPr>
              <a:t>(</a:t>
            </a:r>
            <a:r>
              <a:rPr lang="en-US" sz="2000" b="0" i="1" dirty="0" err="1">
                <a:solidFill>
                  <a:srgbClr val="F9E2AF"/>
                </a:solidFill>
                <a:effectLst/>
                <a:latin typeface="Consolas" panose="020B0609020204030204" pitchFamily="49" charset="0"/>
              </a:rPr>
              <a:t>mythr_t</a:t>
            </a:r>
            <a:r>
              <a:rPr lang="en-US" sz="2000" b="0" dirty="0">
                <a:solidFill>
                  <a:srgbClr val="CDD6F4"/>
                </a:solidFill>
                <a:effectLst/>
                <a:latin typeface="Consolas" panose="020B0609020204030204" pitchFamily="49" charset="0"/>
              </a:rPr>
              <a:t> </a:t>
            </a:r>
            <a:r>
              <a:rPr lang="en-US" sz="2000" b="0" dirty="0">
                <a:solidFill>
                  <a:srgbClr val="94E2D5"/>
                </a:solidFill>
                <a:effectLst/>
                <a:latin typeface="Consolas" panose="020B0609020204030204" pitchFamily="49" charset="0"/>
              </a:rPr>
              <a:t>*</a:t>
            </a:r>
            <a:r>
              <a:rPr lang="en-US" sz="2000" b="0" i="1" dirty="0" err="1">
                <a:solidFill>
                  <a:srgbClr val="EBA0AC"/>
                </a:solidFill>
                <a:effectLst/>
                <a:latin typeface="Consolas" panose="020B0609020204030204" pitchFamily="49" charset="0"/>
              </a:rPr>
              <a:t>thr</a:t>
            </a:r>
            <a:r>
              <a:rPr lang="en-US" sz="2000" b="0" dirty="0">
                <a:solidFill>
                  <a:srgbClr val="9399B2"/>
                </a:solidFill>
                <a:effectLst/>
                <a:latin typeface="Consolas" panose="020B0609020204030204" pitchFamily="49" charset="0"/>
              </a:rPr>
              <a:t>);</a:t>
            </a:r>
            <a:endParaRPr lang="en-US" sz="2000" b="0" dirty="0">
              <a:solidFill>
                <a:srgbClr val="CDD6F4"/>
              </a:solidFill>
              <a:effectLst/>
              <a:latin typeface="Consolas" panose="020B0609020204030204" pitchFamily="49" charset="0"/>
            </a:endParaRPr>
          </a:p>
          <a:p>
            <a:pPr>
              <a:lnSpc>
                <a:spcPct val="125000"/>
              </a:lnSpc>
            </a:pPr>
            <a:r>
              <a:rPr lang="en-US" sz="2000" b="0" dirty="0">
                <a:solidFill>
                  <a:srgbClr val="CBA6F7"/>
                </a:solidFill>
                <a:effectLst/>
                <a:latin typeface="Consolas" panose="020B0609020204030204" pitchFamily="49" charset="0"/>
              </a:rPr>
              <a:t>int</a:t>
            </a:r>
            <a:r>
              <a:rPr lang="en-US" sz="2000" b="0" dirty="0">
                <a:solidFill>
                  <a:srgbClr val="CDD6F4"/>
                </a:solidFill>
                <a:effectLst/>
                <a:latin typeface="Consolas" panose="020B0609020204030204" pitchFamily="49" charset="0"/>
              </a:rPr>
              <a:t> </a:t>
            </a:r>
            <a:r>
              <a:rPr lang="en-US" sz="2000" b="0" i="1" dirty="0" err="1">
                <a:solidFill>
                  <a:srgbClr val="89B4FA"/>
                </a:solidFill>
                <a:effectLst/>
                <a:latin typeface="Consolas" panose="020B0609020204030204" pitchFamily="49" charset="0"/>
              </a:rPr>
              <a:t>mythreads_sem_create</a:t>
            </a:r>
            <a:r>
              <a:rPr lang="en-US" sz="2000" b="0" dirty="0">
                <a:solidFill>
                  <a:srgbClr val="9399B2"/>
                </a:solidFill>
                <a:effectLst/>
                <a:latin typeface="Consolas" panose="020B0609020204030204" pitchFamily="49" charset="0"/>
              </a:rPr>
              <a:t>(</a:t>
            </a:r>
            <a:r>
              <a:rPr lang="en-US" sz="2000" b="0" i="1" dirty="0" err="1">
                <a:solidFill>
                  <a:srgbClr val="F9E2AF"/>
                </a:solidFill>
                <a:effectLst/>
                <a:latin typeface="Consolas" panose="020B0609020204030204" pitchFamily="49" charset="0"/>
              </a:rPr>
              <a:t>mysem_t</a:t>
            </a:r>
            <a:r>
              <a:rPr lang="en-US" sz="2000" b="0" dirty="0">
                <a:solidFill>
                  <a:srgbClr val="CDD6F4"/>
                </a:solidFill>
                <a:effectLst/>
                <a:latin typeface="Consolas" panose="020B0609020204030204" pitchFamily="49" charset="0"/>
              </a:rPr>
              <a:t> </a:t>
            </a:r>
            <a:r>
              <a:rPr lang="en-US" sz="2000" b="0" dirty="0">
                <a:solidFill>
                  <a:srgbClr val="94E2D5"/>
                </a:solidFill>
                <a:effectLst/>
                <a:latin typeface="Consolas" panose="020B0609020204030204" pitchFamily="49" charset="0"/>
              </a:rPr>
              <a:t>*</a:t>
            </a:r>
            <a:r>
              <a:rPr lang="en-US" sz="2000" b="0" i="1" dirty="0">
                <a:solidFill>
                  <a:srgbClr val="EBA0AC"/>
                </a:solidFill>
                <a:effectLst/>
                <a:latin typeface="Consolas" panose="020B0609020204030204" pitchFamily="49" charset="0"/>
              </a:rPr>
              <a:t>s</a:t>
            </a:r>
            <a:r>
              <a:rPr lang="en-US" sz="2000" b="0" dirty="0">
                <a:solidFill>
                  <a:srgbClr val="9399B2"/>
                </a:solidFill>
                <a:effectLst/>
                <a:latin typeface="Consolas" panose="020B0609020204030204" pitchFamily="49" charset="0"/>
              </a:rPr>
              <a:t>,</a:t>
            </a:r>
            <a:r>
              <a:rPr lang="en-US" sz="2000" b="0" dirty="0">
                <a:solidFill>
                  <a:srgbClr val="CDD6F4"/>
                </a:solidFill>
                <a:effectLst/>
                <a:latin typeface="Consolas" panose="020B0609020204030204" pitchFamily="49" charset="0"/>
              </a:rPr>
              <a:t> </a:t>
            </a:r>
            <a:r>
              <a:rPr lang="en-US" sz="2000" b="0" dirty="0">
                <a:solidFill>
                  <a:srgbClr val="CBA6F7"/>
                </a:solidFill>
                <a:effectLst/>
                <a:latin typeface="Consolas" panose="020B0609020204030204" pitchFamily="49" charset="0"/>
              </a:rPr>
              <a:t>int</a:t>
            </a:r>
            <a:r>
              <a:rPr lang="en-US" sz="2000" b="0" dirty="0">
                <a:solidFill>
                  <a:srgbClr val="CDD6F4"/>
                </a:solidFill>
                <a:effectLst/>
                <a:latin typeface="Consolas" panose="020B0609020204030204" pitchFamily="49" charset="0"/>
              </a:rPr>
              <a:t> </a:t>
            </a:r>
            <a:r>
              <a:rPr lang="en-US" sz="2000" b="0" i="1" dirty="0" err="1">
                <a:solidFill>
                  <a:srgbClr val="EBA0AC"/>
                </a:solidFill>
                <a:effectLst/>
                <a:latin typeface="Consolas" panose="020B0609020204030204" pitchFamily="49" charset="0"/>
              </a:rPr>
              <a:t>val</a:t>
            </a:r>
            <a:r>
              <a:rPr lang="en-US" sz="2000" b="0" dirty="0">
                <a:solidFill>
                  <a:srgbClr val="9399B2"/>
                </a:solidFill>
                <a:effectLst/>
                <a:latin typeface="Consolas" panose="020B0609020204030204" pitchFamily="49" charset="0"/>
              </a:rPr>
              <a:t>);</a:t>
            </a:r>
            <a:endParaRPr lang="en-US" sz="2000" b="0" dirty="0">
              <a:solidFill>
                <a:srgbClr val="CDD6F4"/>
              </a:solidFill>
              <a:effectLst/>
              <a:latin typeface="Consolas" panose="020B0609020204030204" pitchFamily="49" charset="0"/>
            </a:endParaRPr>
          </a:p>
          <a:p>
            <a:pPr>
              <a:lnSpc>
                <a:spcPct val="125000"/>
              </a:lnSpc>
            </a:pPr>
            <a:r>
              <a:rPr lang="en-US" sz="2000" b="0" dirty="0">
                <a:solidFill>
                  <a:srgbClr val="CBA6F7"/>
                </a:solidFill>
                <a:effectLst/>
                <a:latin typeface="Consolas" panose="020B0609020204030204" pitchFamily="49" charset="0"/>
              </a:rPr>
              <a:t>int</a:t>
            </a:r>
            <a:r>
              <a:rPr lang="en-US" sz="2000" b="0" dirty="0">
                <a:solidFill>
                  <a:srgbClr val="CDD6F4"/>
                </a:solidFill>
                <a:effectLst/>
                <a:latin typeface="Consolas" panose="020B0609020204030204" pitchFamily="49" charset="0"/>
              </a:rPr>
              <a:t> </a:t>
            </a:r>
            <a:r>
              <a:rPr lang="en-US" sz="2000" b="0" i="1" dirty="0" err="1">
                <a:solidFill>
                  <a:srgbClr val="89B4FA"/>
                </a:solidFill>
                <a:effectLst/>
                <a:latin typeface="Consolas" panose="020B0609020204030204" pitchFamily="49" charset="0"/>
              </a:rPr>
              <a:t>mythreads_sem_down</a:t>
            </a:r>
            <a:r>
              <a:rPr lang="en-US" sz="2000" b="0" dirty="0">
                <a:solidFill>
                  <a:srgbClr val="9399B2"/>
                </a:solidFill>
                <a:effectLst/>
                <a:latin typeface="Consolas" panose="020B0609020204030204" pitchFamily="49" charset="0"/>
              </a:rPr>
              <a:t>(</a:t>
            </a:r>
            <a:r>
              <a:rPr lang="en-US" sz="2000" b="0" i="1" dirty="0" err="1">
                <a:solidFill>
                  <a:srgbClr val="F9E2AF"/>
                </a:solidFill>
                <a:effectLst/>
                <a:latin typeface="Consolas" panose="020B0609020204030204" pitchFamily="49" charset="0"/>
              </a:rPr>
              <a:t>mysem_t</a:t>
            </a:r>
            <a:r>
              <a:rPr lang="en-US" sz="2000" b="0" dirty="0">
                <a:solidFill>
                  <a:srgbClr val="CDD6F4"/>
                </a:solidFill>
                <a:effectLst/>
                <a:latin typeface="Consolas" panose="020B0609020204030204" pitchFamily="49" charset="0"/>
              </a:rPr>
              <a:t> </a:t>
            </a:r>
            <a:r>
              <a:rPr lang="en-US" sz="2000" b="0" dirty="0">
                <a:solidFill>
                  <a:srgbClr val="94E2D5"/>
                </a:solidFill>
                <a:effectLst/>
                <a:latin typeface="Consolas" panose="020B0609020204030204" pitchFamily="49" charset="0"/>
              </a:rPr>
              <a:t>*</a:t>
            </a:r>
            <a:r>
              <a:rPr lang="en-US" sz="2000" b="0" i="1" dirty="0">
                <a:solidFill>
                  <a:srgbClr val="EBA0AC"/>
                </a:solidFill>
                <a:effectLst/>
                <a:latin typeface="Consolas" panose="020B0609020204030204" pitchFamily="49" charset="0"/>
              </a:rPr>
              <a:t>s</a:t>
            </a:r>
            <a:r>
              <a:rPr lang="en-US" sz="2000" b="0" dirty="0">
                <a:solidFill>
                  <a:srgbClr val="9399B2"/>
                </a:solidFill>
                <a:effectLst/>
                <a:latin typeface="Consolas" panose="020B0609020204030204" pitchFamily="49" charset="0"/>
              </a:rPr>
              <a:t>);</a:t>
            </a:r>
            <a:endParaRPr lang="en-US" sz="2000" b="0" dirty="0">
              <a:solidFill>
                <a:srgbClr val="CDD6F4"/>
              </a:solidFill>
              <a:effectLst/>
              <a:latin typeface="Consolas" panose="020B0609020204030204" pitchFamily="49" charset="0"/>
            </a:endParaRPr>
          </a:p>
          <a:p>
            <a:pPr>
              <a:lnSpc>
                <a:spcPct val="125000"/>
              </a:lnSpc>
            </a:pPr>
            <a:r>
              <a:rPr lang="en-US" sz="2000" b="0" dirty="0">
                <a:solidFill>
                  <a:srgbClr val="CBA6F7"/>
                </a:solidFill>
                <a:effectLst/>
                <a:latin typeface="Consolas" panose="020B0609020204030204" pitchFamily="49" charset="0"/>
              </a:rPr>
              <a:t>int</a:t>
            </a:r>
            <a:r>
              <a:rPr lang="en-US" sz="2000" b="0" dirty="0">
                <a:solidFill>
                  <a:srgbClr val="CDD6F4"/>
                </a:solidFill>
                <a:effectLst/>
                <a:latin typeface="Consolas" panose="020B0609020204030204" pitchFamily="49" charset="0"/>
              </a:rPr>
              <a:t> </a:t>
            </a:r>
            <a:r>
              <a:rPr lang="en-US" sz="2000" b="0" i="1" dirty="0" err="1">
                <a:solidFill>
                  <a:srgbClr val="89B4FA"/>
                </a:solidFill>
                <a:effectLst/>
                <a:latin typeface="Consolas" panose="020B0609020204030204" pitchFamily="49" charset="0"/>
              </a:rPr>
              <a:t>mythreads_sem_up</a:t>
            </a:r>
            <a:r>
              <a:rPr lang="en-US" sz="2000" b="0" dirty="0">
                <a:solidFill>
                  <a:srgbClr val="9399B2"/>
                </a:solidFill>
                <a:effectLst/>
                <a:latin typeface="Consolas" panose="020B0609020204030204" pitchFamily="49" charset="0"/>
              </a:rPr>
              <a:t>(</a:t>
            </a:r>
            <a:r>
              <a:rPr lang="en-US" sz="2000" b="0" i="1" dirty="0" err="1">
                <a:solidFill>
                  <a:srgbClr val="F9E2AF"/>
                </a:solidFill>
                <a:effectLst/>
                <a:latin typeface="Consolas" panose="020B0609020204030204" pitchFamily="49" charset="0"/>
              </a:rPr>
              <a:t>mysem_t</a:t>
            </a:r>
            <a:r>
              <a:rPr lang="en-US" sz="2000" b="0" dirty="0">
                <a:solidFill>
                  <a:srgbClr val="CDD6F4"/>
                </a:solidFill>
                <a:effectLst/>
                <a:latin typeface="Consolas" panose="020B0609020204030204" pitchFamily="49" charset="0"/>
              </a:rPr>
              <a:t> </a:t>
            </a:r>
            <a:r>
              <a:rPr lang="en-US" sz="2000" b="0" dirty="0">
                <a:solidFill>
                  <a:srgbClr val="94E2D5"/>
                </a:solidFill>
                <a:effectLst/>
                <a:latin typeface="Consolas" panose="020B0609020204030204" pitchFamily="49" charset="0"/>
              </a:rPr>
              <a:t>*</a:t>
            </a:r>
            <a:r>
              <a:rPr lang="en-US" sz="2000" b="0" i="1" dirty="0">
                <a:solidFill>
                  <a:srgbClr val="EBA0AC"/>
                </a:solidFill>
                <a:effectLst/>
                <a:latin typeface="Consolas" panose="020B0609020204030204" pitchFamily="49" charset="0"/>
              </a:rPr>
              <a:t>s</a:t>
            </a:r>
            <a:r>
              <a:rPr lang="en-US" sz="2000" b="0" dirty="0">
                <a:solidFill>
                  <a:srgbClr val="9399B2"/>
                </a:solidFill>
                <a:effectLst/>
                <a:latin typeface="Consolas" panose="020B0609020204030204" pitchFamily="49" charset="0"/>
              </a:rPr>
              <a:t>);</a:t>
            </a:r>
            <a:endParaRPr lang="en-US" sz="2000" b="0" dirty="0">
              <a:solidFill>
                <a:srgbClr val="CDD6F4"/>
              </a:solidFill>
              <a:effectLst/>
              <a:latin typeface="Consolas" panose="020B0609020204030204" pitchFamily="49" charset="0"/>
            </a:endParaRPr>
          </a:p>
          <a:p>
            <a:pPr>
              <a:lnSpc>
                <a:spcPct val="125000"/>
              </a:lnSpc>
            </a:pPr>
            <a:r>
              <a:rPr lang="en-US" sz="2000" b="0" dirty="0">
                <a:solidFill>
                  <a:srgbClr val="CBA6F7"/>
                </a:solidFill>
                <a:effectLst/>
                <a:latin typeface="Consolas" panose="020B0609020204030204" pitchFamily="49" charset="0"/>
              </a:rPr>
              <a:t>int</a:t>
            </a:r>
            <a:r>
              <a:rPr lang="en-US" sz="2000" b="0" dirty="0">
                <a:solidFill>
                  <a:srgbClr val="CDD6F4"/>
                </a:solidFill>
                <a:effectLst/>
                <a:latin typeface="Consolas" panose="020B0609020204030204" pitchFamily="49" charset="0"/>
              </a:rPr>
              <a:t> </a:t>
            </a:r>
            <a:r>
              <a:rPr lang="en-US" sz="2000" b="0" i="1" dirty="0" err="1">
                <a:solidFill>
                  <a:srgbClr val="89B4FA"/>
                </a:solidFill>
                <a:effectLst/>
                <a:latin typeface="Consolas" panose="020B0609020204030204" pitchFamily="49" charset="0"/>
              </a:rPr>
              <a:t>mythreads_sem_destroy</a:t>
            </a:r>
            <a:r>
              <a:rPr lang="en-US" sz="2000" b="0" dirty="0">
                <a:solidFill>
                  <a:srgbClr val="9399B2"/>
                </a:solidFill>
                <a:effectLst/>
                <a:latin typeface="Consolas" panose="020B0609020204030204" pitchFamily="49" charset="0"/>
              </a:rPr>
              <a:t>(</a:t>
            </a:r>
            <a:r>
              <a:rPr lang="en-US" sz="2000" b="0" i="1" dirty="0" err="1">
                <a:solidFill>
                  <a:srgbClr val="F9E2AF"/>
                </a:solidFill>
                <a:effectLst/>
                <a:latin typeface="Consolas" panose="020B0609020204030204" pitchFamily="49" charset="0"/>
              </a:rPr>
              <a:t>mysem_t</a:t>
            </a:r>
            <a:r>
              <a:rPr lang="en-US" sz="2000" b="0" dirty="0">
                <a:solidFill>
                  <a:srgbClr val="CDD6F4"/>
                </a:solidFill>
                <a:effectLst/>
                <a:latin typeface="Consolas" panose="020B0609020204030204" pitchFamily="49" charset="0"/>
              </a:rPr>
              <a:t> </a:t>
            </a:r>
            <a:r>
              <a:rPr lang="en-US" sz="2000" b="0" dirty="0">
                <a:solidFill>
                  <a:srgbClr val="94E2D5"/>
                </a:solidFill>
                <a:effectLst/>
                <a:latin typeface="Consolas" panose="020B0609020204030204" pitchFamily="49" charset="0"/>
              </a:rPr>
              <a:t>*</a:t>
            </a:r>
            <a:r>
              <a:rPr lang="en-US" sz="2000" b="0" i="1" dirty="0">
                <a:solidFill>
                  <a:srgbClr val="EBA0AC"/>
                </a:solidFill>
                <a:effectLst/>
                <a:latin typeface="Consolas" panose="020B0609020204030204" pitchFamily="49" charset="0"/>
              </a:rPr>
              <a:t>s</a:t>
            </a:r>
            <a:r>
              <a:rPr lang="en-US" sz="2000" b="0" dirty="0">
                <a:solidFill>
                  <a:srgbClr val="9399B2"/>
                </a:solidFill>
                <a:effectLst/>
                <a:latin typeface="Consolas" panose="020B0609020204030204" pitchFamily="49" charset="0"/>
              </a:rPr>
              <a:t>);</a:t>
            </a:r>
            <a:endParaRPr lang="en-US" sz="2000" b="0" dirty="0">
              <a:solidFill>
                <a:srgbClr val="CDD6F4"/>
              </a:solidFill>
              <a:effectLst/>
              <a:latin typeface="Consolas" panose="020B0609020204030204" pitchFamily="49" charset="0"/>
            </a:endParaRPr>
          </a:p>
          <a:p>
            <a:pPr>
              <a:lnSpc>
                <a:spcPct val="125000"/>
              </a:lnSpc>
            </a:pPr>
            <a:r>
              <a:rPr lang="en-US" sz="2000" b="0" dirty="0">
                <a:solidFill>
                  <a:srgbClr val="CBA6F7"/>
                </a:solidFill>
                <a:effectLst/>
                <a:latin typeface="Consolas" panose="020B0609020204030204" pitchFamily="49" charset="0"/>
              </a:rPr>
              <a:t>void</a:t>
            </a:r>
            <a:r>
              <a:rPr lang="en-US" sz="2000" b="0" dirty="0">
                <a:solidFill>
                  <a:srgbClr val="CDD6F4"/>
                </a:solidFill>
                <a:effectLst/>
                <a:latin typeface="Consolas" panose="020B0609020204030204" pitchFamily="49" charset="0"/>
              </a:rPr>
              <a:t> </a:t>
            </a:r>
            <a:r>
              <a:rPr lang="en-US" sz="2000" b="0" i="1" dirty="0" err="1">
                <a:solidFill>
                  <a:srgbClr val="89B4FA"/>
                </a:solidFill>
                <a:effectLst/>
                <a:latin typeface="Consolas" panose="020B0609020204030204" pitchFamily="49" charset="0"/>
              </a:rPr>
              <a:t>mythreads_exit</a:t>
            </a:r>
            <a:r>
              <a:rPr lang="en-US" sz="2000" b="0" dirty="0">
                <a:solidFill>
                  <a:srgbClr val="9399B2"/>
                </a:solidFill>
                <a:effectLst/>
                <a:latin typeface="Consolas" panose="020B0609020204030204" pitchFamily="49" charset="0"/>
              </a:rPr>
              <a:t>();</a:t>
            </a:r>
            <a:endParaRPr lang="en-US" sz="2000" b="0" dirty="0">
              <a:solidFill>
                <a:srgbClr val="CDD6F4"/>
              </a:solidFill>
              <a:effectLst/>
              <a:latin typeface="Consolas" panose="020B0609020204030204" pitchFamily="49" charset="0"/>
            </a:endParaRPr>
          </a:p>
        </p:txBody>
      </p:sp>
    </p:spTree>
    <p:extLst>
      <p:ext uri="{BB962C8B-B14F-4D97-AF65-F5344CB8AC3E}">
        <p14:creationId xmlns:p14="http://schemas.microsoft.com/office/powerpoint/2010/main" val="28113729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DEB1BC-3A13-F7CE-8E85-0184F84229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DB8719-1380-DBA6-76D7-956CF6F1124B}"/>
              </a:ext>
            </a:extLst>
          </p:cNvPr>
          <p:cNvSpPr>
            <a:spLocks noGrp="1"/>
          </p:cNvSpPr>
          <p:nvPr>
            <p:ph type="title"/>
          </p:nvPr>
        </p:nvSpPr>
        <p:spPr/>
        <p:txBody>
          <a:bodyPr/>
          <a:lstStyle/>
          <a:p>
            <a:r>
              <a:rPr lang="en-US" b="1" dirty="0"/>
              <a:t>Assignment 2: </a:t>
            </a:r>
            <a:r>
              <a:rPr lang="en-US" dirty="0" err="1">
                <a:latin typeface="Consolas" panose="020B0609020204030204" pitchFamily="49" charset="0"/>
              </a:rPr>
              <a:t>mythreads</a:t>
            </a:r>
            <a:r>
              <a:rPr lang="en-US" b="1" dirty="0"/>
              <a:t> </a:t>
            </a:r>
            <a:r>
              <a:rPr lang="en-US" dirty="0"/>
              <a:t>API</a:t>
            </a:r>
          </a:p>
        </p:txBody>
      </p:sp>
      <p:sp>
        <p:nvSpPr>
          <p:cNvPr id="10" name="TextBox 9">
            <a:extLst>
              <a:ext uri="{FF2B5EF4-FFF2-40B4-BE49-F238E27FC236}">
                <a16:creationId xmlns:a16="http://schemas.microsoft.com/office/drawing/2014/main" id="{5E5634FB-4F65-EEB3-BECA-F6B7E773E246}"/>
              </a:ext>
            </a:extLst>
          </p:cNvPr>
          <p:cNvSpPr txBox="1"/>
          <p:nvPr/>
        </p:nvSpPr>
        <p:spPr>
          <a:xfrm>
            <a:off x="838200" y="1690062"/>
            <a:ext cx="4698722" cy="3477875"/>
          </a:xfrm>
          <a:prstGeom prst="rect">
            <a:avLst/>
          </a:prstGeom>
          <a:noFill/>
        </p:spPr>
        <p:txBody>
          <a:bodyPr wrap="none" rtlCol="0">
            <a:spAutoFit/>
          </a:bodyPr>
          <a:lstStyle/>
          <a:p>
            <a:r>
              <a:rPr lang="en-US" sz="2000" b="0" dirty="0">
                <a:solidFill>
                  <a:srgbClr val="CBA6F7"/>
                </a:solidFill>
                <a:effectLst/>
                <a:latin typeface="Consolas" panose="020B0609020204030204" pitchFamily="49" charset="0"/>
              </a:rPr>
              <a:t>typedef</a:t>
            </a:r>
            <a:r>
              <a:rPr lang="en-US" sz="2000" b="0" dirty="0">
                <a:solidFill>
                  <a:srgbClr val="CDD6F4"/>
                </a:solidFill>
                <a:effectLst/>
                <a:latin typeface="Consolas" panose="020B0609020204030204" pitchFamily="49" charset="0"/>
              </a:rPr>
              <a:t> </a:t>
            </a:r>
            <a:r>
              <a:rPr lang="en-US" sz="2000" b="0" dirty="0">
                <a:solidFill>
                  <a:srgbClr val="CBA6F7"/>
                </a:solidFill>
                <a:effectLst/>
                <a:latin typeface="Consolas" panose="020B0609020204030204" pitchFamily="49" charset="0"/>
              </a:rPr>
              <a:t>struct</a:t>
            </a:r>
            <a:r>
              <a:rPr lang="en-US" sz="2000" b="0" dirty="0">
                <a:solidFill>
                  <a:srgbClr val="CDD6F4"/>
                </a:solidFill>
                <a:effectLst/>
                <a:latin typeface="Consolas" panose="020B0609020204030204" pitchFamily="49" charset="0"/>
              </a:rPr>
              <a:t> </a:t>
            </a:r>
            <a:r>
              <a:rPr lang="en-US" sz="2000" b="0" dirty="0" err="1">
                <a:solidFill>
                  <a:srgbClr val="CDD6F4"/>
                </a:solidFill>
                <a:effectLst/>
                <a:latin typeface="Consolas" panose="020B0609020204030204" pitchFamily="49" charset="0"/>
              </a:rPr>
              <a:t>thread_runnable</a:t>
            </a:r>
            <a:r>
              <a:rPr lang="en-US" sz="2000" b="0" dirty="0">
                <a:solidFill>
                  <a:srgbClr val="CDD6F4"/>
                </a:solidFill>
                <a:effectLst/>
                <a:latin typeface="Consolas" panose="020B0609020204030204" pitchFamily="49" charset="0"/>
              </a:rPr>
              <a:t> </a:t>
            </a:r>
            <a:r>
              <a:rPr lang="en-US" sz="2000" b="0" dirty="0">
                <a:solidFill>
                  <a:srgbClr val="9399B2"/>
                </a:solidFill>
                <a:effectLst/>
                <a:latin typeface="Consolas" panose="020B0609020204030204" pitchFamily="49" charset="0"/>
              </a:rPr>
              <a:t>{</a:t>
            </a:r>
            <a:endParaRPr lang="en-US" sz="2000" b="0" dirty="0">
              <a:solidFill>
                <a:srgbClr val="CDD6F4"/>
              </a:solidFill>
              <a:effectLst/>
              <a:latin typeface="Consolas" panose="020B0609020204030204" pitchFamily="49" charset="0"/>
            </a:endParaRPr>
          </a:p>
          <a:p>
            <a:r>
              <a:rPr lang="en-US" sz="2000" b="0" dirty="0">
                <a:solidFill>
                  <a:srgbClr val="CDD6F4"/>
                </a:solidFill>
                <a:effectLst/>
                <a:latin typeface="Consolas" panose="020B0609020204030204" pitchFamily="49" charset="0"/>
              </a:rPr>
              <a:t>    </a:t>
            </a:r>
            <a:r>
              <a:rPr lang="en-US" sz="2000" b="0" dirty="0">
                <a:solidFill>
                  <a:srgbClr val="CBA6F7"/>
                </a:solidFill>
                <a:effectLst/>
                <a:latin typeface="Consolas" panose="020B0609020204030204" pitchFamily="49" charset="0"/>
              </a:rPr>
              <a:t>void</a:t>
            </a:r>
            <a:r>
              <a:rPr lang="en-US" sz="2000" b="0" dirty="0">
                <a:solidFill>
                  <a:srgbClr val="CDD6F4"/>
                </a:solidFill>
                <a:effectLst/>
                <a:latin typeface="Consolas" panose="020B0609020204030204" pitchFamily="49" charset="0"/>
              </a:rPr>
              <a:t> </a:t>
            </a:r>
            <a:r>
              <a:rPr lang="en-US" sz="2000" b="0" dirty="0">
                <a:solidFill>
                  <a:srgbClr val="9399B2"/>
                </a:solidFill>
                <a:effectLst/>
                <a:latin typeface="Consolas" panose="020B0609020204030204" pitchFamily="49" charset="0"/>
              </a:rPr>
              <a:t>(</a:t>
            </a:r>
            <a:r>
              <a:rPr lang="en-US" sz="2000" b="0" dirty="0">
                <a:solidFill>
                  <a:srgbClr val="94E2D5"/>
                </a:solidFill>
                <a:effectLst/>
                <a:latin typeface="Consolas" panose="020B0609020204030204" pitchFamily="49" charset="0"/>
              </a:rPr>
              <a:t>*</a:t>
            </a:r>
            <a:r>
              <a:rPr lang="en-US" sz="2000" b="0" dirty="0">
                <a:solidFill>
                  <a:srgbClr val="CDD6F4"/>
                </a:solidFill>
                <a:effectLst/>
                <a:latin typeface="Consolas" panose="020B0609020204030204" pitchFamily="49" charset="0"/>
              </a:rPr>
              <a:t>body</a:t>
            </a:r>
            <a:r>
              <a:rPr lang="en-US" sz="2000" b="0" dirty="0">
                <a:solidFill>
                  <a:srgbClr val="9399B2"/>
                </a:solidFill>
                <a:effectLst/>
                <a:latin typeface="Consolas" panose="020B0609020204030204" pitchFamily="49" charset="0"/>
              </a:rPr>
              <a:t>)</a:t>
            </a:r>
            <a:r>
              <a:rPr lang="en-US" sz="2000" b="0" dirty="0">
                <a:solidFill>
                  <a:srgbClr val="CDD6F4"/>
                </a:solidFill>
                <a:effectLst/>
                <a:latin typeface="Consolas" panose="020B0609020204030204" pitchFamily="49" charset="0"/>
              </a:rPr>
              <a:t> </a:t>
            </a:r>
            <a:r>
              <a:rPr lang="en-US" sz="2000" b="0" dirty="0">
                <a:solidFill>
                  <a:srgbClr val="9399B2"/>
                </a:solidFill>
                <a:effectLst/>
                <a:latin typeface="Consolas" panose="020B0609020204030204" pitchFamily="49" charset="0"/>
              </a:rPr>
              <a:t>(</a:t>
            </a:r>
            <a:r>
              <a:rPr lang="en-US" sz="2000" b="0" dirty="0">
                <a:solidFill>
                  <a:srgbClr val="CBA6F7"/>
                </a:solidFill>
                <a:effectLst/>
                <a:latin typeface="Consolas" panose="020B0609020204030204" pitchFamily="49" charset="0"/>
              </a:rPr>
              <a:t>void</a:t>
            </a:r>
            <a:r>
              <a:rPr lang="en-US" sz="2000" b="0" dirty="0">
                <a:solidFill>
                  <a:srgbClr val="CDD6F4"/>
                </a:solidFill>
                <a:effectLst/>
                <a:latin typeface="Consolas" panose="020B0609020204030204" pitchFamily="49" charset="0"/>
              </a:rPr>
              <a:t> </a:t>
            </a:r>
            <a:r>
              <a:rPr lang="en-US" sz="2000" b="0" dirty="0">
                <a:solidFill>
                  <a:srgbClr val="94E2D5"/>
                </a:solidFill>
                <a:effectLst/>
                <a:latin typeface="Consolas" panose="020B0609020204030204" pitchFamily="49" charset="0"/>
              </a:rPr>
              <a:t>*</a:t>
            </a:r>
            <a:r>
              <a:rPr lang="en-US" sz="2000" b="0" dirty="0">
                <a:solidFill>
                  <a:srgbClr val="9399B2"/>
                </a:solidFill>
                <a:effectLst/>
                <a:latin typeface="Consolas" panose="020B0609020204030204" pitchFamily="49" charset="0"/>
              </a:rPr>
              <a:t>);</a:t>
            </a:r>
            <a:endParaRPr lang="en-US" sz="2000" b="0" dirty="0">
              <a:solidFill>
                <a:srgbClr val="CDD6F4"/>
              </a:solidFill>
              <a:effectLst/>
              <a:latin typeface="Consolas" panose="020B0609020204030204" pitchFamily="49" charset="0"/>
            </a:endParaRPr>
          </a:p>
          <a:p>
            <a:r>
              <a:rPr lang="en-US" sz="2000" b="0" dirty="0">
                <a:solidFill>
                  <a:srgbClr val="CDD6F4"/>
                </a:solidFill>
                <a:effectLst/>
                <a:latin typeface="Consolas" panose="020B0609020204030204" pitchFamily="49" charset="0"/>
              </a:rPr>
              <a:t>    </a:t>
            </a:r>
            <a:r>
              <a:rPr lang="en-US" sz="2000" b="0" dirty="0">
                <a:solidFill>
                  <a:srgbClr val="CBA6F7"/>
                </a:solidFill>
                <a:effectLst/>
                <a:latin typeface="Consolas" panose="020B0609020204030204" pitchFamily="49" charset="0"/>
              </a:rPr>
              <a:t>void</a:t>
            </a:r>
            <a:r>
              <a:rPr lang="en-US" sz="2000" b="0" dirty="0">
                <a:solidFill>
                  <a:srgbClr val="CDD6F4"/>
                </a:solidFill>
                <a:effectLst/>
                <a:latin typeface="Consolas" panose="020B0609020204030204" pitchFamily="49" charset="0"/>
              </a:rPr>
              <a:t> </a:t>
            </a:r>
            <a:r>
              <a:rPr lang="en-US" sz="2000" b="0" dirty="0">
                <a:solidFill>
                  <a:srgbClr val="94E2D5"/>
                </a:solidFill>
                <a:effectLst/>
                <a:latin typeface="Consolas" panose="020B0609020204030204" pitchFamily="49" charset="0"/>
              </a:rPr>
              <a:t>*</a:t>
            </a:r>
            <a:r>
              <a:rPr lang="en-US" sz="2000" b="0" dirty="0" err="1">
                <a:solidFill>
                  <a:srgbClr val="CDD6F4"/>
                </a:solidFill>
                <a:effectLst/>
                <a:latin typeface="Consolas" panose="020B0609020204030204" pitchFamily="49" charset="0"/>
              </a:rPr>
              <a:t>arg</a:t>
            </a:r>
            <a:r>
              <a:rPr lang="en-US" sz="2000" b="0" dirty="0">
                <a:solidFill>
                  <a:srgbClr val="9399B2"/>
                </a:solidFill>
                <a:effectLst/>
                <a:latin typeface="Consolas" panose="020B0609020204030204" pitchFamily="49" charset="0"/>
              </a:rPr>
              <a:t>;</a:t>
            </a:r>
            <a:endParaRPr lang="en-US" sz="2000" b="0" dirty="0">
              <a:solidFill>
                <a:srgbClr val="CDD6F4"/>
              </a:solidFill>
              <a:effectLst/>
              <a:latin typeface="Consolas" panose="020B0609020204030204" pitchFamily="49" charset="0"/>
            </a:endParaRPr>
          </a:p>
          <a:p>
            <a:r>
              <a:rPr lang="en-US" sz="2000" b="0" dirty="0">
                <a:solidFill>
                  <a:srgbClr val="9399B2"/>
                </a:solidFill>
                <a:effectLst/>
                <a:latin typeface="Consolas" panose="020B0609020204030204" pitchFamily="49" charset="0"/>
              </a:rPr>
              <a:t>}</a:t>
            </a:r>
            <a:r>
              <a:rPr lang="en-US" sz="2000" b="0" dirty="0">
                <a:solidFill>
                  <a:srgbClr val="CDD6F4"/>
                </a:solidFill>
                <a:effectLst/>
                <a:latin typeface="Consolas" panose="020B0609020204030204" pitchFamily="49" charset="0"/>
              </a:rPr>
              <a:t> </a:t>
            </a:r>
            <a:r>
              <a:rPr lang="en-US" sz="2000" b="0" i="1" dirty="0" err="1">
                <a:solidFill>
                  <a:srgbClr val="F9E2AF"/>
                </a:solidFill>
                <a:effectLst/>
                <a:latin typeface="Consolas" panose="020B0609020204030204" pitchFamily="49" charset="0"/>
              </a:rPr>
              <a:t>thread_runnable_t</a:t>
            </a:r>
            <a:r>
              <a:rPr lang="en-US" sz="2000" b="0" dirty="0">
                <a:solidFill>
                  <a:srgbClr val="9399B2"/>
                </a:solidFill>
                <a:effectLst/>
                <a:latin typeface="Consolas" panose="020B0609020204030204" pitchFamily="49" charset="0"/>
              </a:rPr>
              <a:t>;</a:t>
            </a:r>
            <a:endParaRPr lang="en-US" sz="2000" b="0" dirty="0">
              <a:solidFill>
                <a:srgbClr val="CDD6F4"/>
              </a:solidFill>
              <a:effectLst/>
              <a:latin typeface="Consolas" panose="020B0609020204030204" pitchFamily="49" charset="0"/>
            </a:endParaRPr>
          </a:p>
          <a:p>
            <a:br>
              <a:rPr lang="en-US" sz="2000" b="0" dirty="0">
                <a:solidFill>
                  <a:srgbClr val="CDD6F4"/>
                </a:solidFill>
                <a:effectLst/>
                <a:latin typeface="Consolas" panose="020B0609020204030204" pitchFamily="49" charset="0"/>
              </a:rPr>
            </a:br>
            <a:r>
              <a:rPr lang="en-US" sz="2000" b="0" dirty="0" err="1">
                <a:solidFill>
                  <a:srgbClr val="CBA6F7"/>
                </a:solidFill>
                <a:effectLst/>
                <a:latin typeface="Consolas" panose="020B0609020204030204" pitchFamily="49" charset="0"/>
              </a:rPr>
              <a:t>enum</a:t>
            </a:r>
            <a:r>
              <a:rPr lang="en-US" sz="2000" b="0" dirty="0">
                <a:solidFill>
                  <a:srgbClr val="CDD6F4"/>
                </a:solidFill>
                <a:effectLst/>
                <a:latin typeface="Consolas" panose="020B0609020204030204" pitchFamily="49" charset="0"/>
              </a:rPr>
              <a:t> </a:t>
            </a:r>
            <a:r>
              <a:rPr lang="en-US" sz="2000" b="0" dirty="0" err="1">
                <a:solidFill>
                  <a:srgbClr val="CDD6F4"/>
                </a:solidFill>
                <a:effectLst/>
                <a:latin typeface="Consolas" panose="020B0609020204030204" pitchFamily="49" charset="0"/>
              </a:rPr>
              <a:t>thread_state</a:t>
            </a:r>
            <a:r>
              <a:rPr lang="en-US" sz="2000" b="0" dirty="0">
                <a:solidFill>
                  <a:srgbClr val="CDD6F4"/>
                </a:solidFill>
                <a:effectLst/>
                <a:latin typeface="Consolas" panose="020B0609020204030204" pitchFamily="49" charset="0"/>
              </a:rPr>
              <a:t> </a:t>
            </a:r>
            <a:r>
              <a:rPr lang="en-US" sz="2000" b="0" dirty="0">
                <a:solidFill>
                  <a:srgbClr val="9399B2"/>
                </a:solidFill>
                <a:effectLst/>
                <a:latin typeface="Consolas" panose="020B0609020204030204" pitchFamily="49" charset="0"/>
              </a:rPr>
              <a:t>{</a:t>
            </a:r>
            <a:endParaRPr lang="en-US" sz="2000" b="0" dirty="0">
              <a:solidFill>
                <a:srgbClr val="CDD6F4"/>
              </a:solidFill>
              <a:effectLst/>
              <a:latin typeface="Consolas" panose="020B0609020204030204" pitchFamily="49" charset="0"/>
            </a:endParaRPr>
          </a:p>
          <a:p>
            <a:r>
              <a:rPr lang="en-US" sz="2000" b="0" dirty="0">
                <a:solidFill>
                  <a:srgbClr val="CDD6F4"/>
                </a:solidFill>
                <a:effectLst/>
                <a:latin typeface="Consolas" panose="020B0609020204030204" pitchFamily="49" charset="0"/>
              </a:rPr>
              <a:t>    READY</a:t>
            </a:r>
            <a:r>
              <a:rPr lang="en-US" sz="2000" b="0" dirty="0">
                <a:solidFill>
                  <a:srgbClr val="9399B2"/>
                </a:solidFill>
                <a:effectLst/>
                <a:latin typeface="Consolas" panose="020B0609020204030204" pitchFamily="49" charset="0"/>
              </a:rPr>
              <a:t>,</a:t>
            </a:r>
            <a:endParaRPr lang="en-US" sz="2000" b="0" dirty="0">
              <a:solidFill>
                <a:srgbClr val="CDD6F4"/>
              </a:solidFill>
              <a:effectLst/>
              <a:latin typeface="Consolas" panose="020B0609020204030204" pitchFamily="49" charset="0"/>
            </a:endParaRPr>
          </a:p>
          <a:p>
            <a:r>
              <a:rPr lang="en-US" sz="2000" b="0" dirty="0">
                <a:solidFill>
                  <a:srgbClr val="CDD6F4"/>
                </a:solidFill>
                <a:effectLst/>
                <a:latin typeface="Consolas" panose="020B0609020204030204" pitchFamily="49" charset="0"/>
              </a:rPr>
              <a:t>    SLEEPING</a:t>
            </a:r>
            <a:r>
              <a:rPr lang="en-US" sz="2000" b="0" dirty="0">
                <a:solidFill>
                  <a:srgbClr val="9399B2"/>
                </a:solidFill>
                <a:effectLst/>
                <a:latin typeface="Consolas" panose="020B0609020204030204" pitchFamily="49" charset="0"/>
              </a:rPr>
              <a:t>,</a:t>
            </a:r>
            <a:endParaRPr lang="en-US" sz="2000" b="0" dirty="0">
              <a:solidFill>
                <a:srgbClr val="CDD6F4"/>
              </a:solidFill>
              <a:effectLst/>
              <a:latin typeface="Consolas" panose="020B0609020204030204" pitchFamily="49" charset="0"/>
            </a:endParaRPr>
          </a:p>
          <a:p>
            <a:r>
              <a:rPr lang="en-US" sz="2000" b="0" dirty="0">
                <a:solidFill>
                  <a:srgbClr val="CDD6F4"/>
                </a:solidFill>
                <a:effectLst/>
                <a:latin typeface="Consolas" panose="020B0609020204030204" pitchFamily="49" charset="0"/>
              </a:rPr>
              <a:t>    BLOCKED</a:t>
            </a:r>
            <a:r>
              <a:rPr lang="en-US" sz="2000" b="0" dirty="0">
                <a:solidFill>
                  <a:srgbClr val="9399B2"/>
                </a:solidFill>
                <a:effectLst/>
                <a:latin typeface="Consolas" panose="020B0609020204030204" pitchFamily="49" charset="0"/>
              </a:rPr>
              <a:t>,</a:t>
            </a:r>
            <a:endParaRPr lang="en-US" sz="2000" b="0" dirty="0">
              <a:solidFill>
                <a:srgbClr val="CDD6F4"/>
              </a:solidFill>
              <a:effectLst/>
              <a:latin typeface="Consolas" panose="020B0609020204030204" pitchFamily="49" charset="0"/>
            </a:endParaRPr>
          </a:p>
          <a:p>
            <a:r>
              <a:rPr lang="en-US" sz="2000" b="0" dirty="0">
                <a:solidFill>
                  <a:srgbClr val="CDD6F4"/>
                </a:solidFill>
                <a:effectLst/>
                <a:latin typeface="Consolas" panose="020B0609020204030204" pitchFamily="49" charset="0"/>
              </a:rPr>
              <a:t>    TERMINATED</a:t>
            </a:r>
          </a:p>
          <a:p>
            <a:r>
              <a:rPr lang="en-US" sz="2000" b="0" dirty="0">
                <a:solidFill>
                  <a:srgbClr val="9399B2"/>
                </a:solidFill>
                <a:effectLst/>
                <a:latin typeface="Consolas" panose="020B0609020204030204" pitchFamily="49" charset="0"/>
              </a:rPr>
              <a:t>};</a:t>
            </a:r>
            <a:endParaRPr lang="en-US" sz="2000" b="0" dirty="0">
              <a:solidFill>
                <a:srgbClr val="CDD6F4"/>
              </a:solidFill>
              <a:effectLst/>
              <a:latin typeface="Consolas" panose="020B0609020204030204" pitchFamily="49" charset="0"/>
            </a:endParaRPr>
          </a:p>
        </p:txBody>
      </p:sp>
      <p:sp>
        <p:nvSpPr>
          <p:cNvPr id="3" name="TextBox 2">
            <a:extLst>
              <a:ext uri="{FF2B5EF4-FFF2-40B4-BE49-F238E27FC236}">
                <a16:creationId xmlns:a16="http://schemas.microsoft.com/office/drawing/2014/main" id="{89AE92DB-CD69-55B5-6D8D-6B21BD470541}"/>
              </a:ext>
            </a:extLst>
          </p:cNvPr>
          <p:cNvSpPr txBox="1"/>
          <p:nvPr/>
        </p:nvSpPr>
        <p:spPr>
          <a:xfrm>
            <a:off x="6736830" y="1690062"/>
            <a:ext cx="4616970" cy="2308324"/>
          </a:xfrm>
          <a:prstGeom prst="rect">
            <a:avLst/>
          </a:prstGeom>
          <a:noFill/>
        </p:spPr>
        <p:txBody>
          <a:bodyPr wrap="none" rtlCol="0">
            <a:spAutoFit/>
          </a:bodyPr>
          <a:lstStyle/>
          <a:p>
            <a:r>
              <a:rPr lang="en-US" sz="1800" b="0" dirty="0">
                <a:solidFill>
                  <a:srgbClr val="CBA6F7"/>
                </a:solidFill>
                <a:effectLst/>
                <a:latin typeface="Consolas" panose="020B0609020204030204" pitchFamily="49" charset="0"/>
              </a:rPr>
              <a:t>typedef</a:t>
            </a:r>
            <a:r>
              <a:rPr lang="en-US" sz="1800" b="0" dirty="0">
                <a:solidFill>
                  <a:srgbClr val="CDD6F4"/>
                </a:solidFill>
                <a:effectLst/>
                <a:latin typeface="Consolas" panose="020B0609020204030204" pitchFamily="49" charset="0"/>
              </a:rPr>
              <a:t> </a:t>
            </a:r>
            <a:r>
              <a:rPr lang="en-US" sz="1800" b="0" dirty="0">
                <a:solidFill>
                  <a:srgbClr val="CBA6F7"/>
                </a:solidFill>
                <a:effectLst/>
                <a:latin typeface="Consolas" panose="020B0609020204030204" pitchFamily="49" charset="0"/>
              </a:rPr>
              <a:t>struct</a:t>
            </a:r>
            <a:r>
              <a:rPr lang="en-US" sz="1800" b="0" dirty="0">
                <a:solidFill>
                  <a:srgbClr val="CDD6F4"/>
                </a:solidFill>
                <a:effectLst/>
                <a:latin typeface="Consolas" panose="020B0609020204030204" pitchFamily="49" charset="0"/>
              </a:rPr>
              <a:t> </a:t>
            </a:r>
            <a:r>
              <a:rPr lang="en-US" sz="1800" b="0" dirty="0" err="1">
                <a:solidFill>
                  <a:srgbClr val="CDD6F4"/>
                </a:solidFill>
                <a:effectLst/>
                <a:latin typeface="Consolas" panose="020B0609020204030204" pitchFamily="49" charset="0"/>
              </a:rPr>
              <a:t>mythread</a:t>
            </a:r>
            <a:r>
              <a:rPr lang="en-US" sz="1800" b="0" dirty="0">
                <a:solidFill>
                  <a:srgbClr val="CDD6F4"/>
                </a:solidFill>
                <a:effectLst/>
                <a:latin typeface="Consolas" panose="020B0609020204030204" pitchFamily="49" charset="0"/>
              </a:rPr>
              <a:t> </a:t>
            </a:r>
            <a:r>
              <a:rPr lang="en-US" sz="1800" b="0" dirty="0">
                <a:solidFill>
                  <a:srgbClr val="9399B2"/>
                </a:solidFill>
                <a:effectLst/>
                <a:latin typeface="Consolas" panose="020B0609020204030204" pitchFamily="49" charset="0"/>
              </a:rPr>
              <a:t>{</a:t>
            </a:r>
            <a:endParaRPr lang="en-US" sz="1800" b="0" dirty="0">
              <a:solidFill>
                <a:srgbClr val="CDD6F4"/>
              </a:solidFill>
              <a:effectLst/>
              <a:latin typeface="Consolas" panose="020B0609020204030204" pitchFamily="49" charset="0"/>
            </a:endParaRPr>
          </a:p>
          <a:p>
            <a:r>
              <a:rPr lang="en-US" sz="1800" b="0" dirty="0">
                <a:solidFill>
                  <a:srgbClr val="CDD6F4"/>
                </a:solidFill>
                <a:effectLst/>
                <a:latin typeface="Consolas" panose="020B0609020204030204" pitchFamily="49" charset="0"/>
              </a:rPr>
              <a:t>    </a:t>
            </a:r>
            <a:r>
              <a:rPr lang="en-US" sz="1800" b="0" i="1" dirty="0" err="1">
                <a:solidFill>
                  <a:srgbClr val="F9E2AF"/>
                </a:solidFill>
                <a:effectLst/>
                <a:latin typeface="Consolas" panose="020B0609020204030204" pitchFamily="49" charset="0"/>
              </a:rPr>
              <a:t>thread_runnable_t</a:t>
            </a:r>
            <a:r>
              <a:rPr lang="en-US" sz="1800" b="0" dirty="0">
                <a:solidFill>
                  <a:srgbClr val="CDD6F4"/>
                </a:solidFill>
                <a:effectLst/>
                <a:latin typeface="Consolas" panose="020B0609020204030204" pitchFamily="49" charset="0"/>
              </a:rPr>
              <a:t> runnable</a:t>
            </a:r>
            <a:r>
              <a:rPr lang="en-US" sz="1800" b="0" dirty="0">
                <a:solidFill>
                  <a:srgbClr val="9399B2"/>
                </a:solidFill>
                <a:effectLst/>
                <a:latin typeface="Consolas" panose="020B0609020204030204" pitchFamily="49" charset="0"/>
              </a:rPr>
              <a:t>;</a:t>
            </a:r>
            <a:endParaRPr lang="en-US" sz="1800" b="0" dirty="0">
              <a:solidFill>
                <a:srgbClr val="CDD6F4"/>
              </a:solidFill>
              <a:effectLst/>
              <a:latin typeface="Consolas" panose="020B0609020204030204" pitchFamily="49" charset="0"/>
            </a:endParaRPr>
          </a:p>
          <a:p>
            <a:r>
              <a:rPr lang="en-US" sz="1800" b="0" dirty="0">
                <a:solidFill>
                  <a:srgbClr val="CDD6F4"/>
                </a:solidFill>
                <a:effectLst/>
                <a:latin typeface="Consolas" panose="020B0609020204030204" pitchFamily="49" charset="0"/>
              </a:rPr>
              <a:t>    </a:t>
            </a:r>
            <a:r>
              <a:rPr lang="en-US" sz="1800" b="0" i="1" dirty="0" err="1">
                <a:solidFill>
                  <a:srgbClr val="F9E2AF"/>
                </a:solidFill>
                <a:effectLst/>
                <a:latin typeface="Consolas" panose="020B0609020204030204" pitchFamily="49" charset="0"/>
              </a:rPr>
              <a:t>co_t</a:t>
            </a:r>
            <a:r>
              <a:rPr lang="en-US" sz="1800" b="0" dirty="0">
                <a:solidFill>
                  <a:srgbClr val="CDD6F4"/>
                </a:solidFill>
                <a:effectLst/>
                <a:latin typeface="Consolas" panose="020B0609020204030204" pitchFamily="49" charset="0"/>
              </a:rPr>
              <a:t> co</a:t>
            </a:r>
            <a:r>
              <a:rPr lang="en-US" sz="1800" b="0" dirty="0">
                <a:solidFill>
                  <a:srgbClr val="9399B2"/>
                </a:solidFill>
                <a:effectLst/>
                <a:latin typeface="Consolas" panose="020B0609020204030204" pitchFamily="49" charset="0"/>
              </a:rPr>
              <a:t>;</a:t>
            </a:r>
            <a:endParaRPr lang="en-US" sz="1800" b="0" dirty="0">
              <a:solidFill>
                <a:srgbClr val="CDD6F4"/>
              </a:solidFill>
              <a:effectLst/>
              <a:latin typeface="Consolas" panose="020B0609020204030204" pitchFamily="49" charset="0"/>
            </a:endParaRPr>
          </a:p>
          <a:p>
            <a:r>
              <a:rPr lang="en-US" sz="1800" b="0" dirty="0">
                <a:solidFill>
                  <a:srgbClr val="CDD6F4"/>
                </a:solidFill>
                <a:effectLst/>
                <a:latin typeface="Consolas" panose="020B0609020204030204" pitchFamily="49" charset="0"/>
              </a:rPr>
              <a:t>    </a:t>
            </a:r>
            <a:r>
              <a:rPr lang="en-US" sz="1800" b="0" dirty="0" err="1">
                <a:solidFill>
                  <a:srgbClr val="CBA6F7"/>
                </a:solidFill>
                <a:effectLst/>
                <a:latin typeface="Consolas" panose="020B0609020204030204" pitchFamily="49" charset="0"/>
              </a:rPr>
              <a:t>enum</a:t>
            </a:r>
            <a:r>
              <a:rPr lang="en-US" sz="1800" b="0" dirty="0">
                <a:solidFill>
                  <a:srgbClr val="CDD6F4"/>
                </a:solidFill>
                <a:effectLst/>
                <a:latin typeface="Consolas" panose="020B0609020204030204" pitchFamily="49" charset="0"/>
              </a:rPr>
              <a:t> </a:t>
            </a:r>
            <a:r>
              <a:rPr lang="en-US" sz="1800" b="0" dirty="0" err="1">
                <a:solidFill>
                  <a:srgbClr val="CDD6F4"/>
                </a:solidFill>
                <a:effectLst/>
                <a:latin typeface="Consolas" panose="020B0609020204030204" pitchFamily="49" charset="0"/>
              </a:rPr>
              <a:t>thread_state</a:t>
            </a:r>
            <a:r>
              <a:rPr lang="en-US" sz="1800" b="0" dirty="0">
                <a:solidFill>
                  <a:srgbClr val="CDD6F4"/>
                </a:solidFill>
                <a:effectLst/>
                <a:latin typeface="Consolas" panose="020B0609020204030204" pitchFamily="49" charset="0"/>
              </a:rPr>
              <a:t> state</a:t>
            </a:r>
            <a:r>
              <a:rPr lang="en-US" sz="1800" b="0" dirty="0">
                <a:solidFill>
                  <a:srgbClr val="9399B2"/>
                </a:solidFill>
                <a:effectLst/>
                <a:latin typeface="Consolas" panose="020B0609020204030204" pitchFamily="49" charset="0"/>
              </a:rPr>
              <a:t>;</a:t>
            </a:r>
            <a:endParaRPr lang="en-US" sz="1800" b="0" dirty="0">
              <a:solidFill>
                <a:srgbClr val="CDD6F4"/>
              </a:solidFill>
              <a:effectLst/>
              <a:latin typeface="Consolas" panose="020B0609020204030204" pitchFamily="49" charset="0"/>
            </a:endParaRPr>
          </a:p>
          <a:p>
            <a:r>
              <a:rPr lang="en-US" sz="1800" b="0" dirty="0">
                <a:solidFill>
                  <a:srgbClr val="CDD6F4"/>
                </a:solidFill>
                <a:effectLst/>
                <a:latin typeface="Consolas" panose="020B0609020204030204" pitchFamily="49" charset="0"/>
              </a:rPr>
              <a:t>    </a:t>
            </a:r>
            <a:r>
              <a:rPr lang="en-US" sz="1800" b="0" dirty="0">
                <a:solidFill>
                  <a:srgbClr val="CBA6F7"/>
                </a:solidFill>
                <a:effectLst/>
                <a:latin typeface="Consolas" panose="020B0609020204030204" pitchFamily="49" charset="0"/>
              </a:rPr>
              <a:t>unsigned</a:t>
            </a:r>
            <a:r>
              <a:rPr lang="en-US" sz="1800" b="0" dirty="0">
                <a:solidFill>
                  <a:srgbClr val="CDD6F4"/>
                </a:solidFill>
                <a:effectLst/>
                <a:latin typeface="Consolas" panose="020B0609020204030204" pitchFamily="49" charset="0"/>
              </a:rPr>
              <a:t> </a:t>
            </a:r>
            <a:r>
              <a:rPr lang="en-US" sz="1800" b="0" dirty="0">
                <a:solidFill>
                  <a:srgbClr val="CBA6F7"/>
                </a:solidFill>
                <a:effectLst/>
                <a:latin typeface="Consolas" panose="020B0609020204030204" pitchFamily="49" charset="0"/>
              </a:rPr>
              <a:t>long</a:t>
            </a:r>
            <a:r>
              <a:rPr lang="en-US" sz="1800" b="0" dirty="0">
                <a:solidFill>
                  <a:srgbClr val="CDD6F4"/>
                </a:solidFill>
                <a:effectLst/>
                <a:latin typeface="Consolas" panose="020B0609020204030204" pitchFamily="49" charset="0"/>
              </a:rPr>
              <a:t> </a:t>
            </a:r>
            <a:r>
              <a:rPr lang="en-US" sz="1800" b="0" dirty="0" err="1">
                <a:solidFill>
                  <a:srgbClr val="CBA6F7"/>
                </a:solidFill>
                <a:effectLst/>
                <a:latin typeface="Consolas" panose="020B0609020204030204" pitchFamily="49" charset="0"/>
              </a:rPr>
              <a:t>long</a:t>
            </a:r>
            <a:r>
              <a:rPr lang="en-US" sz="1800" b="0" dirty="0">
                <a:solidFill>
                  <a:srgbClr val="CDD6F4"/>
                </a:solidFill>
                <a:effectLst/>
                <a:latin typeface="Consolas" panose="020B0609020204030204" pitchFamily="49" charset="0"/>
              </a:rPr>
              <a:t> </a:t>
            </a:r>
            <a:r>
              <a:rPr lang="en-US" sz="1800" b="0" dirty="0" err="1">
                <a:solidFill>
                  <a:srgbClr val="CDD6F4"/>
                </a:solidFill>
                <a:effectLst/>
                <a:latin typeface="Consolas" panose="020B0609020204030204" pitchFamily="49" charset="0"/>
              </a:rPr>
              <a:t>sleep_until</a:t>
            </a:r>
            <a:r>
              <a:rPr lang="en-US" sz="1800" b="0" dirty="0">
                <a:solidFill>
                  <a:srgbClr val="9399B2"/>
                </a:solidFill>
                <a:effectLst/>
                <a:latin typeface="Consolas" panose="020B0609020204030204" pitchFamily="49" charset="0"/>
              </a:rPr>
              <a:t>;</a:t>
            </a:r>
            <a:endParaRPr lang="en-US" sz="1800" b="0" dirty="0">
              <a:solidFill>
                <a:srgbClr val="CDD6F4"/>
              </a:solidFill>
              <a:effectLst/>
              <a:latin typeface="Consolas" panose="020B0609020204030204" pitchFamily="49" charset="0"/>
            </a:endParaRPr>
          </a:p>
          <a:p>
            <a:r>
              <a:rPr lang="en-US" sz="1800" b="0" dirty="0">
                <a:solidFill>
                  <a:srgbClr val="CDD6F4"/>
                </a:solidFill>
                <a:effectLst/>
                <a:latin typeface="Consolas" panose="020B0609020204030204" pitchFamily="49" charset="0"/>
              </a:rPr>
              <a:t>    </a:t>
            </a:r>
            <a:r>
              <a:rPr lang="en-US" sz="1800" b="0" dirty="0">
                <a:solidFill>
                  <a:srgbClr val="CBA6F7"/>
                </a:solidFill>
                <a:effectLst/>
                <a:latin typeface="Consolas" panose="020B0609020204030204" pitchFamily="49" charset="0"/>
              </a:rPr>
              <a:t>struct</a:t>
            </a:r>
            <a:r>
              <a:rPr lang="en-US" sz="1800" b="0" dirty="0">
                <a:solidFill>
                  <a:srgbClr val="CDD6F4"/>
                </a:solidFill>
                <a:effectLst/>
                <a:latin typeface="Consolas" panose="020B0609020204030204" pitchFamily="49" charset="0"/>
              </a:rPr>
              <a:t> </a:t>
            </a:r>
            <a:r>
              <a:rPr lang="en-US" sz="1800" b="0" dirty="0" err="1">
                <a:solidFill>
                  <a:srgbClr val="CDD6F4"/>
                </a:solidFill>
                <a:effectLst/>
                <a:latin typeface="Consolas" panose="020B0609020204030204" pitchFamily="49" charset="0"/>
              </a:rPr>
              <a:t>mythread</a:t>
            </a:r>
            <a:r>
              <a:rPr lang="en-US" sz="1800" b="0" dirty="0">
                <a:solidFill>
                  <a:srgbClr val="CDD6F4"/>
                </a:solidFill>
                <a:effectLst/>
                <a:latin typeface="Consolas" panose="020B0609020204030204" pitchFamily="49" charset="0"/>
              </a:rPr>
              <a:t> </a:t>
            </a:r>
            <a:r>
              <a:rPr lang="en-US" sz="1800" b="0" dirty="0">
                <a:solidFill>
                  <a:srgbClr val="94E2D5"/>
                </a:solidFill>
                <a:effectLst/>
                <a:latin typeface="Consolas" panose="020B0609020204030204" pitchFamily="49" charset="0"/>
              </a:rPr>
              <a:t>*</a:t>
            </a:r>
            <a:r>
              <a:rPr lang="en-US" sz="1800" b="0" dirty="0" err="1">
                <a:solidFill>
                  <a:srgbClr val="CDD6F4"/>
                </a:solidFill>
                <a:effectLst/>
                <a:latin typeface="Consolas" panose="020B0609020204030204" pitchFamily="49" charset="0"/>
              </a:rPr>
              <a:t>joining_on</a:t>
            </a:r>
            <a:r>
              <a:rPr lang="en-US" sz="1800" b="0" dirty="0">
                <a:solidFill>
                  <a:srgbClr val="9399B2"/>
                </a:solidFill>
                <a:effectLst/>
                <a:latin typeface="Consolas" panose="020B0609020204030204" pitchFamily="49" charset="0"/>
              </a:rPr>
              <a:t>;</a:t>
            </a:r>
            <a:endParaRPr lang="en-US" sz="1800" b="0" dirty="0">
              <a:solidFill>
                <a:srgbClr val="CDD6F4"/>
              </a:solidFill>
              <a:effectLst/>
              <a:latin typeface="Consolas" panose="020B0609020204030204" pitchFamily="49" charset="0"/>
            </a:endParaRPr>
          </a:p>
          <a:p>
            <a:r>
              <a:rPr lang="en-US" sz="1800" b="0" dirty="0">
                <a:solidFill>
                  <a:srgbClr val="9399B2"/>
                </a:solidFill>
                <a:effectLst/>
                <a:latin typeface="Consolas" panose="020B0609020204030204" pitchFamily="49" charset="0"/>
              </a:rPr>
              <a:t>}</a:t>
            </a:r>
            <a:r>
              <a:rPr lang="en-US" sz="1800" b="0" dirty="0">
                <a:solidFill>
                  <a:srgbClr val="CDD6F4"/>
                </a:solidFill>
                <a:effectLst/>
                <a:latin typeface="Consolas" panose="020B0609020204030204" pitchFamily="49" charset="0"/>
              </a:rPr>
              <a:t> </a:t>
            </a:r>
            <a:r>
              <a:rPr lang="en-US" sz="1800" b="0" i="1" dirty="0" err="1">
                <a:solidFill>
                  <a:srgbClr val="F9E2AF"/>
                </a:solidFill>
                <a:effectLst/>
                <a:latin typeface="Consolas" panose="020B0609020204030204" pitchFamily="49" charset="0"/>
              </a:rPr>
              <a:t>mythr_t</a:t>
            </a:r>
            <a:r>
              <a:rPr lang="en-US" sz="1800" b="0" dirty="0">
                <a:solidFill>
                  <a:srgbClr val="9399B2"/>
                </a:solidFill>
                <a:effectLst/>
                <a:latin typeface="Consolas" panose="020B0609020204030204" pitchFamily="49" charset="0"/>
              </a:rPr>
              <a:t>;</a:t>
            </a:r>
            <a:endParaRPr lang="en-US" sz="1800" b="0" dirty="0">
              <a:solidFill>
                <a:srgbClr val="CDD6F4"/>
              </a:solidFill>
              <a:effectLst/>
              <a:latin typeface="Consolas" panose="020B0609020204030204" pitchFamily="49" charset="0"/>
            </a:endParaRPr>
          </a:p>
          <a:p>
            <a:endParaRPr lang="en-US" dirty="0"/>
          </a:p>
        </p:txBody>
      </p:sp>
    </p:spTree>
    <p:extLst>
      <p:ext uri="{BB962C8B-B14F-4D97-AF65-F5344CB8AC3E}">
        <p14:creationId xmlns:p14="http://schemas.microsoft.com/office/powerpoint/2010/main" val="31774435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D602AF-61F5-E9A7-2D0F-AB09D09BC7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9AD395-A546-A469-095F-689B9D6F9BA3}"/>
              </a:ext>
            </a:extLst>
          </p:cNvPr>
          <p:cNvSpPr>
            <a:spLocks noGrp="1"/>
          </p:cNvSpPr>
          <p:nvPr>
            <p:ph type="title"/>
          </p:nvPr>
        </p:nvSpPr>
        <p:spPr/>
        <p:txBody>
          <a:bodyPr/>
          <a:lstStyle/>
          <a:p>
            <a:r>
              <a:rPr lang="en-US" b="1" dirty="0"/>
              <a:t>Assignment 2: </a:t>
            </a:r>
            <a:r>
              <a:rPr lang="en-US" dirty="0" err="1">
                <a:latin typeface="Consolas" panose="020B0609020204030204" pitchFamily="49" charset="0"/>
              </a:rPr>
              <a:t>mythreads</a:t>
            </a:r>
            <a:r>
              <a:rPr lang="en-US" b="1" dirty="0"/>
              <a:t> </a:t>
            </a:r>
            <a:r>
              <a:rPr lang="en-US" dirty="0"/>
              <a:t>internal functions</a:t>
            </a:r>
          </a:p>
        </p:txBody>
      </p:sp>
      <p:sp>
        <p:nvSpPr>
          <p:cNvPr id="10" name="TextBox 9">
            <a:extLst>
              <a:ext uri="{FF2B5EF4-FFF2-40B4-BE49-F238E27FC236}">
                <a16:creationId xmlns:a16="http://schemas.microsoft.com/office/drawing/2014/main" id="{C03655B2-BC4F-86DB-2A66-1B5B36094772}"/>
              </a:ext>
            </a:extLst>
          </p:cNvPr>
          <p:cNvSpPr txBox="1"/>
          <p:nvPr/>
        </p:nvSpPr>
        <p:spPr>
          <a:xfrm>
            <a:off x="78968" y="1690688"/>
            <a:ext cx="12034064" cy="3785652"/>
          </a:xfrm>
          <a:prstGeom prst="rect">
            <a:avLst/>
          </a:prstGeom>
          <a:noFill/>
        </p:spPr>
        <p:txBody>
          <a:bodyPr wrap="none" rtlCol="0">
            <a:spAutoFit/>
          </a:bodyPr>
          <a:lstStyle/>
          <a:p>
            <a:r>
              <a:rPr lang="en-US" sz="2000" b="0" dirty="0">
                <a:effectLst/>
                <a:latin typeface="+mj-lt"/>
              </a:rPr>
              <a:t>Scheduler related functions:</a:t>
            </a:r>
          </a:p>
          <a:p>
            <a:r>
              <a:rPr lang="en-US" sz="2000" b="0" dirty="0">
                <a:solidFill>
                  <a:srgbClr val="CBA6F7"/>
                </a:solidFill>
                <a:effectLst/>
                <a:latin typeface="Consolas" panose="020B0609020204030204" pitchFamily="49" charset="0"/>
              </a:rPr>
              <a:t>void</a:t>
            </a:r>
            <a:r>
              <a:rPr lang="en-US" sz="2000" b="0" dirty="0">
                <a:solidFill>
                  <a:srgbClr val="CDD6F4"/>
                </a:solidFill>
                <a:effectLst/>
                <a:latin typeface="Consolas" panose="020B0609020204030204" pitchFamily="49" charset="0"/>
              </a:rPr>
              <a:t> </a:t>
            </a:r>
            <a:r>
              <a:rPr lang="en-US" sz="2000" b="0" i="1" dirty="0" err="1">
                <a:solidFill>
                  <a:srgbClr val="89B4FA"/>
                </a:solidFill>
                <a:effectLst/>
                <a:latin typeface="Consolas" panose="020B0609020204030204" pitchFamily="49" charset="0"/>
              </a:rPr>
              <a:t>run_scheduler</a:t>
            </a:r>
            <a:r>
              <a:rPr lang="en-US" sz="2000" b="0" dirty="0">
                <a:solidFill>
                  <a:srgbClr val="9399B2"/>
                </a:solidFill>
                <a:effectLst/>
                <a:latin typeface="Consolas" panose="020B0609020204030204" pitchFamily="49" charset="0"/>
              </a:rPr>
              <a:t>(</a:t>
            </a:r>
            <a:r>
              <a:rPr lang="en-US" sz="2000" b="0" dirty="0" err="1">
                <a:solidFill>
                  <a:srgbClr val="CBA6F7"/>
                </a:solidFill>
                <a:effectLst/>
                <a:latin typeface="Consolas" panose="020B0609020204030204" pitchFamily="49" charset="0"/>
              </a:rPr>
              <a:t>enum</a:t>
            </a:r>
            <a:r>
              <a:rPr lang="en-US" sz="2000" b="0" dirty="0">
                <a:solidFill>
                  <a:srgbClr val="CDD6F4"/>
                </a:solidFill>
                <a:effectLst/>
                <a:latin typeface="Consolas" panose="020B0609020204030204" pitchFamily="49" charset="0"/>
              </a:rPr>
              <a:t> </a:t>
            </a:r>
            <a:r>
              <a:rPr lang="en-US" sz="2000" b="0" i="1" dirty="0" err="1">
                <a:solidFill>
                  <a:srgbClr val="F9E2AF"/>
                </a:solidFill>
                <a:effectLst/>
                <a:latin typeface="Consolas" panose="020B0609020204030204" pitchFamily="49" charset="0"/>
              </a:rPr>
              <a:t>thread_state</a:t>
            </a:r>
            <a:r>
              <a:rPr lang="en-US" sz="2000" b="0" dirty="0">
                <a:solidFill>
                  <a:srgbClr val="CDD6F4"/>
                </a:solidFill>
                <a:effectLst/>
                <a:latin typeface="Consolas" panose="020B0609020204030204" pitchFamily="49" charset="0"/>
              </a:rPr>
              <a:t> </a:t>
            </a:r>
            <a:r>
              <a:rPr lang="en-US" sz="2000" b="0" i="1" dirty="0">
                <a:solidFill>
                  <a:srgbClr val="EBA0AC"/>
                </a:solidFill>
                <a:effectLst/>
                <a:latin typeface="Consolas" panose="020B0609020204030204" pitchFamily="49" charset="0"/>
              </a:rPr>
              <a:t>state</a:t>
            </a:r>
            <a:r>
              <a:rPr lang="en-US" sz="2000" b="0" dirty="0">
                <a:solidFill>
                  <a:srgbClr val="9399B2"/>
                </a:solidFill>
                <a:effectLst/>
                <a:latin typeface="Consolas" panose="020B0609020204030204" pitchFamily="49" charset="0"/>
              </a:rPr>
              <a:t>);</a:t>
            </a:r>
            <a:r>
              <a:rPr lang="en-US" sz="2000" b="0" dirty="0">
                <a:solidFill>
                  <a:srgbClr val="CDD6F4"/>
                </a:solidFill>
                <a:effectLst/>
                <a:latin typeface="Consolas" panose="020B0609020204030204" pitchFamily="49" charset="0"/>
              </a:rPr>
              <a:t> </a:t>
            </a:r>
          </a:p>
          <a:p>
            <a:r>
              <a:rPr lang="en-US" sz="2000" b="0" dirty="0">
                <a:solidFill>
                  <a:srgbClr val="CBA6F7"/>
                </a:solidFill>
                <a:effectLst/>
                <a:latin typeface="Consolas" panose="020B0609020204030204" pitchFamily="49" charset="0"/>
              </a:rPr>
              <a:t>void</a:t>
            </a:r>
            <a:r>
              <a:rPr lang="en-US" sz="2000" b="0" dirty="0">
                <a:solidFill>
                  <a:srgbClr val="CDD6F4"/>
                </a:solidFill>
                <a:effectLst/>
                <a:latin typeface="Consolas" panose="020B0609020204030204" pitchFamily="49" charset="0"/>
              </a:rPr>
              <a:t> </a:t>
            </a:r>
            <a:r>
              <a:rPr lang="en-US" sz="2000" b="0" i="1" dirty="0" err="1">
                <a:solidFill>
                  <a:srgbClr val="89B4FA"/>
                </a:solidFill>
                <a:effectLst/>
                <a:latin typeface="Consolas" panose="020B0609020204030204" pitchFamily="49" charset="0"/>
              </a:rPr>
              <a:t>reload_states</a:t>
            </a:r>
            <a:r>
              <a:rPr lang="en-US" sz="2000" b="0" dirty="0">
                <a:solidFill>
                  <a:srgbClr val="9399B2"/>
                </a:solidFill>
                <a:effectLst/>
                <a:latin typeface="Consolas" panose="020B0609020204030204" pitchFamily="49" charset="0"/>
              </a:rPr>
              <a:t>(</a:t>
            </a:r>
            <a:r>
              <a:rPr lang="en-US" sz="2000" b="0" dirty="0" err="1">
                <a:solidFill>
                  <a:srgbClr val="CBA6F7"/>
                </a:solidFill>
                <a:effectLst/>
                <a:latin typeface="Consolas" panose="020B0609020204030204" pitchFamily="49" charset="0"/>
              </a:rPr>
              <a:t>enum</a:t>
            </a:r>
            <a:r>
              <a:rPr lang="en-US" sz="2000" b="0" dirty="0">
                <a:solidFill>
                  <a:srgbClr val="CDD6F4"/>
                </a:solidFill>
                <a:effectLst/>
                <a:latin typeface="Consolas" panose="020B0609020204030204" pitchFamily="49" charset="0"/>
              </a:rPr>
              <a:t> </a:t>
            </a:r>
            <a:r>
              <a:rPr lang="en-US" sz="2000" b="0" i="1" dirty="0" err="1">
                <a:solidFill>
                  <a:srgbClr val="F9E2AF"/>
                </a:solidFill>
                <a:effectLst/>
                <a:latin typeface="Consolas" panose="020B0609020204030204" pitchFamily="49" charset="0"/>
              </a:rPr>
              <a:t>thread_state</a:t>
            </a:r>
            <a:r>
              <a:rPr lang="en-US" sz="2000" b="0" dirty="0">
                <a:solidFill>
                  <a:srgbClr val="CDD6F4"/>
                </a:solidFill>
                <a:effectLst/>
                <a:latin typeface="Consolas" panose="020B0609020204030204" pitchFamily="49" charset="0"/>
              </a:rPr>
              <a:t> </a:t>
            </a:r>
            <a:r>
              <a:rPr lang="en-US" sz="2000" b="0" i="1" dirty="0">
                <a:solidFill>
                  <a:srgbClr val="EBA0AC"/>
                </a:solidFill>
                <a:effectLst/>
                <a:latin typeface="Consolas" panose="020B0609020204030204" pitchFamily="49" charset="0"/>
              </a:rPr>
              <a:t>state</a:t>
            </a:r>
            <a:r>
              <a:rPr lang="en-US" sz="2000" b="0" dirty="0">
                <a:solidFill>
                  <a:srgbClr val="9399B2"/>
                </a:solidFill>
                <a:effectLst/>
                <a:latin typeface="Consolas" panose="020B0609020204030204" pitchFamily="49" charset="0"/>
              </a:rPr>
              <a:t>);</a:t>
            </a:r>
            <a:endParaRPr lang="en-US" sz="2000" b="0" dirty="0">
              <a:solidFill>
                <a:srgbClr val="CDD6F4"/>
              </a:solidFill>
              <a:effectLst/>
              <a:latin typeface="Consolas" panose="020B0609020204030204" pitchFamily="49" charset="0"/>
            </a:endParaRPr>
          </a:p>
          <a:p>
            <a:r>
              <a:rPr lang="en-US" sz="2000" b="0" i="1" dirty="0" err="1">
                <a:solidFill>
                  <a:srgbClr val="F9E2AF"/>
                </a:solidFill>
                <a:effectLst/>
                <a:latin typeface="Consolas" panose="020B0609020204030204" pitchFamily="49" charset="0"/>
              </a:rPr>
              <a:t>mythr_t</a:t>
            </a:r>
            <a:r>
              <a:rPr lang="en-US" sz="2000" b="0" dirty="0">
                <a:solidFill>
                  <a:srgbClr val="CDD6F4"/>
                </a:solidFill>
                <a:effectLst/>
                <a:latin typeface="Consolas" panose="020B0609020204030204" pitchFamily="49" charset="0"/>
              </a:rPr>
              <a:t> </a:t>
            </a:r>
            <a:r>
              <a:rPr lang="en-US" sz="2000" b="0" dirty="0">
                <a:solidFill>
                  <a:srgbClr val="94E2D5"/>
                </a:solidFill>
                <a:effectLst/>
                <a:latin typeface="Consolas" panose="020B0609020204030204" pitchFamily="49" charset="0"/>
              </a:rPr>
              <a:t>*</a:t>
            </a:r>
            <a:r>
              <a:rPr lang="en-US" sz="2000" b="0" i="1" dirty="0" err="1">
                <a:solidFill>
                  <a:srgbClr val="89B4FA"/>
                </a:solidFill>
                <a:effectLst/>
                <a:latin typeface="Consolas" panose="020B0609020204030204" pitchFamily="49" charset="0"/>
              </a:rPr>
              <a:t>search_threads</a:t>
            </a:r>
            <a:r>
              <a:rPr lang="en-US" sz="2000" b="0" dirty="0">
                <a:solidFill>
                  <a:srgbClr val="9399B2"/>
                </a:solidFill>
                <a:effectLst/>
                <a:latin typeface="Consolas" panose="020B0609020204030204" pitchFamily="49" charset="0"/>
              </a:rPr>
              <a:t>(</a:t>
            </a:r>
            <a:r>
              <a:rPr lang="en-US" sz="2000" b="0" i="1" dirty="0">
                <a:solidFill>
                  <a:srgbClr val="89B4FA"/>
                </a:solidFill>
                <a:effectLst/>
                <a:latin typeface="Consolas" panose="020B0609020204030204" pitchFamily="49" charset="0"/>
              </a:rPr>
              <a:t>bool</a:t>
            </a:r>
            <a:r>
              <a:rPr lang="en-US" sz="2000" b="0" dirty="0">
                <a:solidFill>
                  <a:srgbClr val="CDD6F4"/>
                </a:solidFill>
                <a:effectLst/>
                <a:latin typeface="Consolas" panose="020B0609020204030204" pitchFamily="49" charset="0"/>
              </a:rPr>
              <a:t> </a:t>
            </a:r>
            <a:r>
              <a:rPr lang="en-US" sz="2000" b="0" i="1" dirty="0" err="1">
                <a:solidFill>
                  <a:srgbClr val="EBA0AC"/>
                </a:solidFill>
                <a:effectLst/>
                <a:latin typeface="Consolas" panose="020B0609020204030204" pitchFamily="49" charset="0"/>
              </a:rPr>
              <a:t>running_thread_sleeping</a:t>
            </a:r>
            <a:r>
              <a:rPr lang="en-US" sz="2000" b="0" dirty="0">
                <a:solidFill>
                  <a:srgbClr val="9399B2"/>
                </a:solidFill>
                <a:effectLst/>
                <a:latin typeface="Consolas" panose="020B0609020204030204" pitchFamily="49" charset="0"/>
              </a:rPr>
              <a:t>,</a:t>
            </a:r>
            <a:r>
              <a:rPr lang="en-US" sz="2000" b="0" dirty="0">
                <a:solidFill>
                  <a:srgbClr val="CDD6F4"/>
                </a:solidFill>
                <a:effectLst/>
                <a:latin typeface="Consolas" panose="020B0609020204030204" pitchFamily="49" charset="0"/>
              </a:rPr>
              <a:t> </a:t>
            </a:r>
            <a:r>
              <a:rPr lang="en-US" sz="2000" b="0" i="1" dirty="0" err="1">
                <a:solidFill>
                  <a:srgbClr val="F9E2AF"/>
                </a:solidFill>
                <a:effectLst/>
                <a:latin typeface="Consolas" panose="020B0609020204030204" pitchFamily="49" charset="0"/>
              </a:rPr>
              <a:t>mythr_t</a:t>
            </a:r>
            <a:r>
              <a:rPr lang="en-US" sz="2000" b="0" dirty="0">
                <a:solidFill>
                  <a:srgbClr val="CDD6F4"/>
                </a:solidFill>
                <a:effectLst/>
                <a:latin typeface="Consolas" panose="020B0609020204030204" pitchFamily="49" charset="0"/>
              </a:rPr>
              <a:t> </a:t>
            </a:r>
            <a:r>
              <a:rPr lang="en-US" sz="2000" b="0" dirty="0">
                <a:solidFill>
                  <a:srgbClr val="94E2D5"/>
                </a:solidFill>
                <a:effectLst/>
                <a:latin typeface="Consolas" panose="020B0609020204030204" pitchFamily="49" charset="0"/>
              </a:rPr>
              <a:t>**</a:t>
            </a:r>
            <a:r>
              <a:rPr lang="en-US" sz="2000" b="0" i="1" dirty="0" err="1">
                <a:solidFill>
                  <a:srgbClr val="EBA0AC"/>
                </a:solidFill>
                <a:effectLst/>
                <a:latin typeface="Consolas" panose="020B0609020204030204" pitchFamily="49" charset="0"/>
              </a:rPr>
              <a:t>earliest_thread</a:t>
            </a:r>
            <a:r>
              <a:rPr lang="en-US" sz="2000" b="0" dirty="0">
                <a:solidFill>
                  <a:srgbClr val="9399B2"/>
                </a:solidFill>
                <a:effectLst/>
                <a:latin typeface="Consolas" panose="020B0609020204030204" pitchFamily="49" charset="0"/>
              </a:rPr>
              <a:t>);</a:t>
            </a:r>
            <a:endParaRPr lang="en-US" sz="2000" b="0" dirty="0">
              <a:solidFill>
                <a:srgbClr val="CDD6F4"/>
              </a:solidFill>
              <a:effectLst/>
              <a:latin typeface="Consolas" panose="020B0609020204030204" pitchFamily="49" charset="0"/>
            </a:endParaRPr>
          </a:p>
          <a:p>
            <a:r>
              <a:rPr lang="en-US" sz="2000" b="0" dirty="0">
                <a:solidFill>
                  <a:srgbClr val="CBA6F7"/>
                </a:solidFill>
                <a:effectLst/>
                <a:latin typeface="Consolas" panose="020B0609020204030204" pitchFamily="49" charset="0"/>
              </a:rPr>
              <a:t>void</a:t>
            </a:r>
            <a:r>
              <a:rPr lang="en-US" sz="2000" b="0" dirty="0">
                <a:solidFill>
                  <a:srgbClr val="CDD6F4"/>
                </a:solidFill>
                <a:effectLst/>
                <a:latin typeface="Consolas" panose="020B0609020204030204" pitchFamily="49" charset="0"/>
              </a:rPr>
              <a:t> </a:t>
            </a:r>
            <a:r>
              <a:rPr lang="en-US" sz="2000" b="0" i="1" dirty="0" err="1">
                <a:solidFill>
                  <a:srgbClr val="89B4FA"/>
                </a:solidFill>
                <a:effectLst/>
                <a:latin typeface="Consolas" panose="020B0609020204030204" pitchFamily="49" charset="0"/>
              </a:rPr>
              <a:t>switch_thread</a:t>
            </a:r>
            <a:r>
              <a:rPr lang="en-US" sz="2000" b="0" dirty="0">
                <a:solidFill>
                  <a:srgbClr val="9399B2"/>
                </a:solidFill>
                <a:effectLst/>
                <a:latin typeface="Consolas" panose="020B0609020204030204" pitchFamily="49" charset="0"/>
              </a:rPr>
              <a:t>(</a:t>
            </a:r>
            <a:r>
              <a:rPr lang="en-US" sz="2000" b="0" dirty="0" err="1">
                <a:solidFill>
                  <a:srgbClr val="CBA6F7"/>
                </a:solidFill>
                <a:effectLst/>
                <a:latin typeface="Consolas" panose="020B0609020204030204" pitchFamily="49" charset="0"/>
              </a:rPr>
              <a:t>enum</a:t>
            </a:r>
            <a:r>
              <a:rPr lang="en-US" sz="2000" b="0" dirty="0">
                <a:solidFill>
                  <a:srgbClr val="CDD6F4"/>
                </a:solidFill>
                <a:effectLst/>
                <a:latin typeface="Consolas" panose="020B0609020204030204" pitchFamily="49" charset="0"/>
              </a:rPr>
              <a:t> </a:t>
            </a:r>
            <a:r>
              <a:rPr lang="en-US" sz="2000" b="0" i="1" dirty="0" err="1">
                <a:solidFill>
                  <a:srgbClr val="F9E2AF"/>
                </a:solidFill>
                <a:effectLst/>
                <a:latin typeface="Consolas" panose="020B0609020204030204" pitchFamily="49" charset="0"/>
              </a:rPr>
              <a:t>thread_state</a:t>
            </a:r>
            <a:r>
              <a:rPr lang="en-US" sz="2000" b="0" dirty="0">
                <a:solidFill>
                  <a:srgbClr val="CDD6F4"/>
                </a:solidFill>
                <a:effectLst/>
                <a:latin typeface="Consolas" panose="020B0609020204030204" pitchFamily="49" charset="0"/>
              </a:rPr>
              <a:t> </a:t>
            </a:r>
            <a:r>
              <a:rPr lang="en-US" sz="2000" b="0" i="1" dirty="0" err="1">
                <a:solidFill>
                  <a:srgbClr val="EBA0AC"/>
                </a:solidFill>
                <a:effectLst/>
                <a:latin typeface="Consolas" panose="020B0609020204030204" pitchFamily="49" charset="0"/>
              </a:rPr>
              <a:t>running_next_state</a:t>
            </a:r>
            <a:r>
              <a:rPr lang="en-US" sz="2000" b="0" dirty="0">
                <a:solidFill>
                  <a:srgbClr val="9399B2"/>
                </a:solidFill>
                <a:effectLst/>
                <a:latin typeface="Consolas" panose="020B0609020204030204" pitchFamily="49" charset="0"/>
              </a:rPr>
              <a:t>,</a:t>
            </a:r>
            <a:r>
              <a:rPr lang="en-US" sz="2000" b="0" dirty="0">
                <a:solidFill>
                  <a:srgbClr val="CDD6F4"/>
                </a:solidFill>
                <a:effectLst/>
                <a:latin typeface="Consolas" panose="020B0609020204030204" pitchFamily="49" charset="0"/>
              </a:rPr>
              <a:t> </a:t>
            </a:r>
            <a:r>
              <a:rPr lang="en-US" sz="2000" b="0" i="1" dirty="0" err="1">
                <a:solidFill>
                  <a:srgbClr val="F9E2AF"/>
                </a:solidFill>
                <a:effectLst/>
                <a:latin typeface="Consolas" panose="020B0609020204030204" pitchFamily="49" charset="0"/>
              </a:rPr>
              <a:t>mythr_t</a:t>
            </a:r>
            <a:r>
              <a:rPr lang="en-US" sz="2000" b="0" dirty="0">
                <a:solidFill>
                  <a:srgbClr val="CDD6F4"/>
                </a:solidFill>
                <a:effectLst/>
                <a:latin typeface="Consolas" panose="020B0609020204030204" pitchFamily="49" charset="0"/>
              </a:rPr>
              <a:t> </a:t>
            </a:r>
            <a:r>
              <a:rPr lang="en-US" sz="2000" b="0" dirty="0">
                <a:solidFill>
                  <a:srgbClr val="94E2D5"/>
                </a:solidFill>
                <a:effectLst/>
                <a:latin typeface="Consolas" panose="020B0609020204030204" pitchFamily="49" charset="0"/>
              </a:rPr>
              <a:t>*</a:t>
            </a:r>
            <a:r>
              <a:rPr lang="en-US" sz="2000" b="0" i="1" dirty="0" err="1">
                <a:solidFill>
                  <a:srgbClr val="EBA0AC"/>
                </a:solidFill>
                <a:effectLst/>
                <a:latin typeface="Consolas" panose="020B0609020204030204" pitchFamily="49" charset="0"/>
              </a:rPr>
              <a:t>next_thread_node</a:t>
            </a:r>
            <a:r>
              <a:rPr lang="en-US" sz="2000" b="0" dirty="0">
                <a:solidFill>
                  <a:srgbClr val="9399B2"/>
                </a:solidFill>
                <a:effectLst/>
                <a:latin typeface="Consolas" panose="020B0609020204030204" pitchFamily="49" charset="0"/>
              </a:rPr>
              <a:t>);</a:t>
            </a:r>
            <a:endParaRPr lang="en-US" sz="2000" b="0" dirty="0">
              <a:solidFill>
                <a:srgbClr val="CDD6F4"/>
              </a:solidFill>
              <a:effectLst/>
              <a:latin typeface="Consolas" panose="020B0609020204030204" pitchFamily="49" charset="0"/>
            </a:endParaRPr>
          </a:p>
          <a:p>
            <a:endParaRPr lang="en-US" sz="2000" b="0" dirty="0">
              <a:solidFill>
                <a:srgbClr val="CBA6F7"/>
              </a:solidFill>
              <a:effectLst/>
              <a:latin typeface="Consolas" panose="020B0609020204030204" pitchFamily="49" charset="0"/>
            </a:endParaRPr>
          </a:p>
          <a:p>
            <a:endParaRPr lang="en-US" sz="2000" dirty="0">
              <a:solidFill>
                <a:srgbClr val="CBA6F7"/>
              </a:solidFill>
              <a:latin typeface="Consolas" panose="020B0609020204030204" pitchFamily="49" charset="0"/>
            </a:endParaRPr>
          </a:p>
          <a:p>
            <a:r>
              <a:rPr lang="en-US" sz="2000" b="0" dirty="0">
                <a:effectLst/>
                <a:latin typeface="+mj-lt"/>
              </a:rPr>
              <a:t>Utility functions:</a:t>
            </a:r>
          </a:p>
          <a:p>
            <a:r>
              <a:rPr lang="en-US" sz="2000" b="0" dirty="0">
                <a:solidFill>
                  <a:srgbClr val="CBA6F7"/>
                </a:solidFill>
                <a:effectLst/>
                <a:latin typeface="Consolas" panose="020B0609020204030204" pitchFamily="49" charset="0"/>
              </a:rPr>
              <a:t>void</a:t>
            </a:r>
            <a:r>
              <a:rPr lang="en-US" sz="2000" b="0" dirty="0">
                <a:solidFill>
                  <a:srgbClr val="CDD6F4"/>
                </a:solidFill>
                <a:effectLst/>
                <a:latin typeface="Consolas" panose="020B0609020204030204" pitchFamily="49" charset="0"/>
              </a:rPr>
              <a:t> </a:t>
            </a:r>
            <a:r>
              <a:rPr lang="en-US" sz="2000" b="0" i="1" dirty="0" err="1">
                <a:solidFill>
                  <a:srgbClr val="89B4FA"/>
                </a:solidFill>
                <a:effectLst/>
                <a:latin typeface="Consolas" panose="020B0609020204030204" pitchFamily="49" charset="0"/>
              </a:rPr>
              <a:t>run_thread</a:t>
            </a:r>
            <a:r>
              <a:rPr lang="en-US" sz="2000" b="0" dirty="0">
                <a:solidFill>
                  <a:srgbClr val="9399B2"/>
                </a:solidFill>
                <a:effectLst/>
                <a:latin typeface="Consolas" panose="020B0609020204030204" pitchFamily="49" charset="0"/>
              </a:rPr>
              <a:t>(</a:t>
            </a:r>
            <a:r>
              <a:rPr lang="en-US" sz="2000" b="0" dirty="0">
                <a:solidFill>
                  <a:srgbClr val="CBA6F7"/>
                </a:solidFill>
                <a:effectLst/>
                <a:latin typeface="Consolas" panose="020B0609020204030204" pitchFamily="49" charset="0"/>
              </a:rPr>
              <a:t>void</a:t>
            </a:r>
            <a:r>
              <a:rPr lang="en-US" sz="2000" b="0" dirty="0">
                <a:solidFill>
                  <a:srgbClr val="CDD6F4"/>
                </a:solidFill>
                <a:effectLst/>
                <a:latin typeface="Consolas" panose="020B0609020204030204" pitchFamily="49" charset="0"/>
              </a:rPr>
              <a:t> </a:t>
            </a:r>
            <a:r>
              <a:rPr lang="en-US" sz="2000" b="0" dirty="0">
                <a:solidFill>
                  <a:srgbClr val="94E2D5"/>
                </a:solidFill>
                <a:effectLst/>
                <a:latin typeface="Consolas" panose="020B0609020204030204" pitchFamily="49" charset="0"/>
              </a:rPr>
              <a:t>*</a:t>
            </a:r>
            <a:r>
              <a:rPr lang="en-US" sz="2000" b="0" i="1" dirty="0" err="1">
                <a:solidFill>
                  <a:srgbClr val="EBA0AC"/>
                </a:solidFill>
                <a:effectLst/>
                <a:latin typeface="Consolas" panose="020B0609020204030204" pitchFamily="49" charset="0"/>
              </a:rPr>
              <a:t>arg</a:t>
            </a:r>
            <a:r>
              <a:rPr lang="en-US" sz="2000" b="0" dirty="0">
                <a:solidFill>
                  <a:srgbClr val="9399B2"/>
                </a:solidFill>
                <a:effectLst/>
                <a:latin typeface="Consolas" panose="020B0609020204030204" pitchFamily="49" charset="0"/>
              </a:rPr>
              <a:t>);</a:t>
            </a:r>
            <a:endParaRPr lang="en-US" sz="2000" b="0" dirty="0">
              <a:solidFill>
                <a:srgbClr val="CDD6F4"/>
              </a:solidFill>
              <a:effectLst/>
              <a:latin typeface="Consolas" panose="020B0609020204030204" pitchFamily="49" charset="0"/>
            </a:endParaRPr>
          </a:p>
          <a:p>
            <a:r>
              <a:rPr lang="en-US" sz="2000" b="0" dirty="0">
                <a:solidFill>
                  <a:srgbClr val="CBA6F7"/>
                </a:solidFill>
                <a:effectLst/>
                <a:latin typeface="Consolas" panose="020B0609020204030204" pitchFamily="49" charset="0"/>
              </a:rPr>
              <a:t>void</a:t>
            </a:r>
            <a:r>
              <a:rPr lang="en-US" sz="2000" b="0" dirty="0">
                <a:solidFill>
                  <a:srgbClr val="CDD6F4"/>
                </a:solidFill>
                <a:effectLst/>
                <a:latin typeface="Consolas" panose="020B0609020204030204" pitchFamily="49" charset="0"/>
              </a:rPr>
              <a:t> </a:t>
            </a:r>
            <a:r>
              <a:rPr lang="en-US" sz="2000" b="0" i="1" dirty="0" err="1">
                <a:solidFill>
                  <a:srgbClr val="89B4FA"/>
                </a:solidFill>
                <a:effectLst/>
                <a:latin typeface="Consolas" panose="020B0609020204030204" pitchFamily="49" charset="0"/>
              </a:rPr>
              <a:t>alarm_op</a:t>
            </a:r>
            <a:r>
              <a:rPr lang="en-US" sz="2000" b="0" dirty="0">
                <a:solidFill>
                  <a:srgbClr val="9399B2"/>
                </a:solidFill>
                <a:effectLst/>
                <a:latin typeface="Consolas" panose="020B0609020204030204" pitchFamily="49" charset="0"/>
              </a:rPr>
              <a:t>(</a:t>
            </a:r>
            <a:r>
              <a:rPr lang="en-US" sz="2000" b="0" dirty="0" err="1">
                <a:solidFill>
                  <a:srgbClr val="CBA6F7"/>
                </a:solidFill>
                <a:effectLst/>
                <a:latin typeface="Consolas" panose="020B0609020204030204" pitchFamily="49" charset="0"/>
              </a:rPr>
              <a:t>enum</a:t>
            </a:r>
            <a:r>
              <a:rPr lang="en-US" sz="2000" b="0" dirty="0">
                <a:solidFill>
                  <a:srgbClr val="CDD6F4"/>
                </a:solidFill>
                <a:effectLst/>
                <a:latin typeface="Consolas" panose="020B0609020204030204" pitchFamily="49" charset="0"/>
              </a:rPr>
              <a:t> </a:t>
            </a:r>
            <a:r>
              <a:rPr lang="en-US" sz="2000" b="0" i="1" dirty="0" err="1">
                <a:solidFill>
                  <a:srgbClr val="F9E2AF"/>
                </a:solidFill>
                <a:effectLst/>
                <a:latin typeface="Consolas" panose="020B0609020204030204" pitchFamily="49" charset="0"/>
              </a:rPr>
              <a:t>alarm_op</a:t>
            </a:r>
            <a:r>
              <a:rPr lang="en-US" sz="2000" b="0" dirty="0">
                <a:solidFill>
                  <a:srgbClr val="CDD6F4"/>
                </a:solidFill>
                <a:effectLst/>
                <a:latin typeface="Consolas" panose="020B0609020204030204" pitchFamily="49" charset="0"/>
              </a:rPr>
              <a:t> </a:t>
            </a:r>
            <a:r>
              <a:rPr lang="en-US" sz="2000" b="0" i="1" dirty="0">
                <a:solidFill>
                  <a:srgbClr val="EBA0AC"/>
                </a:solidFill>
                <a:effectLst/>
                <a:latin typeface="Consolas" panose="020B0609020204030204" pitchFamily="49" charset="0"/>
              </a:rPr>
              <a:t>operation</a:t>
            </a:r>
            <a:r>
              <a:rPr lang="en-US" sz="2000" b="0" dirty="0">
                <a:solidFill>
                  <a:srgbClr val="9399B2"/>
                </a:solidFill>
                <a:effectLst/>
                <a:latin typeface="Consolas" panose="020B0609020204030204" pitchFamily="49" charset="0"/>
              </a:rPr>
              <a:t>,</a:t>
            </a:r>
            <a:r>
              <a:rPr lang="en-US" sz="2000" b="0" dirty="0">
                <a:solidFill>
                  <a:srgbClr val="CDD6F4"/>
                </a:solidFill>
                <a:effectLst/>
                <a:latin typeface="Consolas" panose="020B0609020204030204" pitchFamily="49" charset="0"/>
              </a:rPr>
              <a:t> </a:t>
            </a:r>
            <a:r>
              <a:rPr lang="en-US" sz="2000" b="0" dirty="0">
                <a:solidFill>
                  <a:srgbClr val="CBA6F7"/>
                </a:solidFill>
                <a:effectLst/>
                <a:latin typeface="Consolas" panose="020B0609020204030204" pitchFamily="49" charset="0"/>
              </a:rPr>
              <a:t>struct</a:t>
            </a:r>
            <a:r>
              <a:rPr lang="en-US" sz="2000" b="0" dirty="0">
                <a:solidFill>
                  <a:srgbClr val="CDD6F4"/>
                </a:solidFill>
                <a:effectLst/>
                <a:latin typeface="Consolas" panose="020B0609020204030204" pitchFamily="49" charset="0"/>
              </a:rPr>
              <a:t> </a:t>
            </a:r>
            <a:r>
              <a:rPr lang="en-US" sz="2000" b="0" i="1" dirty="0" err="1">
                <a:solidFill>
                  <a:srgbClr val="F9E2AF"/>
                </a:solidFill>
                <a:effectLst/>
                <a:latin typeface="Consolas" panose="020B0609020204030204" pitchFamily="49" charset="0"/>
              </a:rPr>
              <a:t>itimerval</a:t>
            </a:r>
            <a:r>
              <a:rPr lang="en-US" sz="2000" b="0" dirty="0">
                <a:solidFill>
                  <a:srgbClr val="CDD6F4"/>
                </a:solidFill>
                <a:effectLst/>
                <a:latin typeface="Consolas" panose="020B0609020204030204" pitchFamily="49" charset="0"/>
              </a:rPr>
              <a:t> </a:t>
            </a:r>
            <a:r>
              <a:rPr lang="en-US" sz="2000" b="0" dirty="0">
                <a:solidFill>
                  <a:srgbClr val="94E2D5"/>
                </a:solidFill>
                <a:effectLst/>
                <a:latin typeface="Consolas" panose="020B0609020204030204" pitchFamily="49" charset="0"/>
              </a:rPr>
              <a:t>*</a:t>
            </a:r>
            <a:r>
              <a:rPr lang="en-US" sz="2000" b="0" i="1" dirty="0">
                <a:solidFill>
                  <a:srgbClr val="EBA0AC"/>
                </a:solidFill>
                <a:effectLst/>
                <a:latin typeface="Consolas" panose="020B0609020204030204" pitchFamily="49" charset="0"/>
              </a:rPr>
              <a:t>previous</a:t>
            </a:r>
            <a:r>
              <a:rPr lang="en-US" sz="2000" b="0" dirty="0">
                <a:solidFill>
                  <a:srgbClr val="9399B2"/>
                </a:solidFill>
                <a:effectLst/>
                <a:latin typeface="Consolas" panose="020B0609020204030204" pitchFamily="49" charset="0"/>
              </a:rPr>
              <a:t>);</a:t>
            </a:r>
            <a:endParaRPr lang="en-US" sz="2000" b="0" dirty="0">
              <a:solidFill>
                <a:srgbClr val="CDD6F4"/>
              </a:solidFill>
              <a:effectLst/>
              <a:latin typeface="Consolas" panose="020B0609020204030204" pitchFamily="49" charset="0"/>
            </a:endParaRPr>
          </a:p>
          <a:p>
            <a:r>
              <a:rPr lang="en-US" sz="2000" b="0" dirty="0">
                <a:solidFill>
                  <a:srgbClr val="CBA6F7"/>
                </a:solidFill>
                <a:effectLst/>
                <a:latin typeface="Consolas" panose="020B0609020204030204" pitchFamily="49" charset="0"/>
              </a:rPr>
              <a:t>void</a:t>
            </a:r>
            <a:r>
              <a:rPr lang="en-US" sz="2000" b="0" dirty="0">
                <a:solidFill>
                  <a:srgbClr val="CDD6F4"/>
                </a:solidFill>
                <a:effectLst/>
                <a:latin typeface="Consolas" panose="020B0609020204030204" pitchFamily="49" charset="0"/>
              </a:rPr>
              <a:t> </a:t>
            </a:r>
            <a:r>
              <a:rPr lang="en-US" sz="2000" b="0" i="1" dirty="0" err="1">
                <a:solidFill>
                  <a:srgbClr val="89B4FA"/>
                </a:solidFill>
                <a:effectLst/>
                <a:latin typeface="Consolas" panose="020B0609020204030204" pitchFamily="49" charset="0"/>
              </a:rPr>
              <a:t>sleep_until</a:t>
            </a:r>
            <a:r>
              <a:rPr lang="en-US" sz="2000" b="0" dirty="0">
                <a:solidFill>
                  <a:srgbClr val="9399B2"/>
                </a:solidFill>
                <a:effectLst/>
                <a:latin typeface="Consolas" panose="020B0609020204030204" pitchFamily="49" charset="0"/>
              </a:rPr>
              <a:t>(</a:t>
            </a:r>
            <a:r>
              <a:rPr lang="en-US" sz="2000" b="0" dirty="0">
                <a:solidFill>
                  <a:srgbClr val="CBA6F7"/>
                </a:solidFill>
                <a:effectLst/>
                <a:latin typeface="Consolas" panose="020B0609020204030204" pitchFamily="49" charset="0"/>
              </a:rPr>
              <a:t>unsigned</a:t>
            </a:r>
            <a:r>
              <a:rPr lang="en-US" sz="2000" b="0" dirty="0">
                <a:solidFill>
                  <a:srgbClr val="CDD6F4"/>
                </a:solidFill>
                <a:effectLst/>
                <a:latin typeface="Consolas" panose="020B0609020204030204" pitchFamily="49" charset="0"/>
              </a:rPr>
              <a:t> </a:t>
            </a:r>
            <a:r>
              <a:rPr lang="en-US" sz="2000" b="0" dirty="0">
                <a:solidFill>
                  <a:srgbClr val="CBA6F7"/>
                </a:solidFill>
                <a:effectLst/>
                <a:latin typeface="Consolas" panose="020B0609020204030204" pitchFamily="49" charset="0"/>
              </a:rPr>
              <a:t>long</a:t>
            </a:r>
            <a:r>
              <a:rPr lang="en-US" sz="2000" b="0" dirty="0">
                <a:solidFill>
                  <a:srgbClr val="CDD6F4"/>
                </a:solidFill>
                <a:effectLst/>
                <a:latin typeface="Consolas" panose="020B0609020204030204" pitchFamily="49" charset="0"/>
              </a:rPr>
              <a:t> </a:t>
            </a:r>
            <a:r>
              <a:rPr lang="en-US" sz="2000" b="0" dirty="0" err="1">
                <a:solidFill>
                  <a:srgbClr val="CBA6F7"/>
                </a:solidFill>
                <a:effectLst/>
                <a:latin typeface="Consolas" panose="020B0609020204030204" pitchFamily="49" charset="0"/>
              </a:rPr>
              <a:t>long</a:t>
            </a:r>
            <a:r>
              <a:rPr lang="en-US" sz="2000" b="0" dirty="0">
                <a:solidFill>
                  <a:srgbClr val="CDD6F4"/>
                </a:solidFill>
                <a:effectLst/>
                <a:latin typeface="Consolas" panose="020B0609020204030204" pitchFamily="49" charset="0"/>
              </a:rPr>
              <a:t> </a:t>
            </a:r>
            <a:r>
              <a:rPr lang="en-US" sz="2000" b="0" i="1" dirty="0">
                <a:solidFill>
                  <a:srgbClr val="EBA0AC"/>
                </a:solidFill>
                <a:effectLst/>
                <a:latin typeface="Consolas" panose="020B0609020204030204" pitchFamily="49" charset="0"/>
              </a:rPr>
              <a:t>timestamp</a:t>
            </a:r>
            <a:r>
              <a:rPr lang="en-US" sz="2000" b="0" dirty="0">
                <a:solidFill>
                  <a:srgbClr val="9399B2"/>
                </a:solidFill>
                <a:effectLst/>
                <a:latin typeface="Consolas" panose="020B0609020204030204" pitchFamily="49" charset="0"/>
              </a:rPr>
              <a:t>);</a:t>
            </a:r>
            <a:endParaRPr lang="en-US" sz="2000" b="0" dirty="0">
              <a:solidFill>
                <a:srgbClr val="CDD6F4"/>
              </a:solidFill>
              <a:effectLst/>
              <a:latin typeface="Consolas" panose="020B0609020204030204" pitchFamily="49" charset="0"/>
            </a:endParaRPr>
          </a:p>
          <a:p>
            <a:r>
              <a:rPr lang="en-US" sz="2000" b="0" dirty="0">
                <a:solidFill>
                  <a:srgbClr val="CBA6F7"/>
                </a:solidFill>
                <a:effectLst/>
                <a:latin typeface="Consolas" panose="020B0609020204030204" pitchFamily="49" charset="0"/>
              </a:rPr>
              <a:t>void</a:t>
            </a:r>
            <a:r>
              <a:rPr lang="en-US" sz="2000" b="0" dirty="0">
                <a:solidFill>
                  <a:srgbClr val="CDD6F4"/>
                </a:solidFill>
                <a:effectLst/>
                <a:latin typeface="Consolas" panose="020B0609020204030204" pitchFamily="49" charset="0"/>
              </a:rPr>
              <a:t> </a:t>
            </a:r>
            <a:r>
              <a:rPr lang="en-US" sz="2000" b="0" i="1" dirty="0" err="1">
                <a:solidFill>
                  <a:srgbClr val="89B4FA"/>
                </a:solidFill>
                <a:effectLst/>
                <a:latin typeface="Consolas" panose="020B0609020204030204" pitchFamily="49" charset="0"/>
              </a:rPr>
              <a:t>thread_timeout_handler</a:t>
            </a:r>
            <a:r>
              <a:rPr lang="en-US" sz="2000" b="0" dirty="0">
                <a:solidFill>
                  <a:srgbClr val="9399B2"/>
                </a:solidFill>
                <a:effectLst/>
                <a:latin typeface="Consolas" panose="020B0609020204030204" pitchFamily="49" charset="0"/>
              </a:rPr>
              <a:t>(</a:t>
            </a:r>
            <a:r>
              <a:rPr lang="en-US" sz="2000" b="0" dirty="0">
                <a:solidFill>
                  <a:srgbClr val="CBA6F7"/>
                </a:solidFill>
                <a:effectLst/>
                <a:latin typeface="Consolas" panose="020B0609020204030204" pitchFamily="49" charset="0"/>
              </a:rPr>
              <a:t>int</a:t>
            </a:r>
            <a:r>
              <a:rPr lang="en-US" sz="2000" b="0" dirty="0">
                <a:solidFill>
                  <a:srgbClr val="CDD6F4"/>
                </a:solidFill>
                <a:effectLst/>
                <a:latin typeface="Consolas" panose="020B0609020204030204" pitchFamily="49" charset="0"/>
              </a:rPr>
              <a:t> </a:t>
            </a:r>
            <a:r>
              <a:rPr lang="en-US" sz="2000" b="0" i="1" dirty="0">
                <a:solidFill>
                  <a:srgbClr val="EBA0AC"/>
                </a:solidFill>
                <a:effectLst/>
                <a:latin typeface="Consolas" panose="020B0609020204030204" pitchFamily="49" charset="0"/>
              </a:rPr>
              <a:t>signum</a:t>
            </a:r>
            <a:r>
              <a:rPr lang="en-US" sz="2000" b="0" dirty="0">
                <a:solidFill>
                  <a:srgbClr val="9399B2"/>
                </a:solidFill>
                <a:effectLst/>
                <a:latin typeface="Consolas" panose="020B0609020204030204" pitchFamily="49" charset="0"/>
              </a:rPr>
              <a:t>);</a:t>
            </a:r>
            <a:endParaRPr lang="en-US" sz="2000" b="0" dirty="0">
              <a:solidFill>
                <a:srgbClr val="CDD6F4"/>
              </a:solidFill>
              <a:effectLst/>
              <a:latin typeface="Consolas" panose="020B0609020204030204" pitchFamily="49" charset="0"/>
            </a:endParaRPr>
          </a:p>
        </p:txBody>
      </p:sp>
    </p:spTree>
    <p:extLst>
      <p:ext uri="{BB962C8B-B14F-4D97-AF65-F5344CB8AC3E}">
        <p14:creationId xmlns:p14="http://schemas.microsoft.com/office/powerpoint/2010/main" val="42046139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F9AFCB-5B9B-1504-F8E0-4ABE12C9F5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A09CFF-F04B-AB6C-C977-222D355E9B89}"/>
              </a:ext>
            </a:extLst>
          </p:cNvPr>
          <p:cNvSpPr>
            <a:spLocks noGrp="1"/>
          </p:cNvSpPr>
          <p:nvPr>
            <p:ph type="title"/>
          </p:nvPr>
        </p:nvSpPr>
        <p:spPr/>
        <p:txBody>
          <a:bodyPr/>
          <a:lstStyle/>
          <a:p>
            <a:r>
              <a:rPr lang="en-US" b="1" dirty="0"/>
              <a:t>Assignment 2: </a:t>
            </a:r>
            <a:r>
              <a:rPr lang="en-US" dirty="0"/>
              <a:t>Avoiding race conditions</a:t>
            </a:r>
          </a:p>
        </p:txBody>
      </p:sp>
      <p:sp>
        <p:nvSpPr>
          <p:cNvPr id="5" name="TextBox 4">
            <a:extLst>
              <a:ext uri="{FF2B5EF4-FFF2-40B4-BE49-F238E27FC236}">
                <a16:creationId xmlns:a16="http://schemas.microsoft.com/office/drawing/2014/main" id="{4C1CE8AC-7F6D-3212-8118-3696944A1BC0}"/>
              </a:ext>
            </a:extLst>
          </p:cNvPr>
          <p:cNvSpPr txBox="1"/>
          <p:nvPr/>
        </p:nvSpPr>
        <p:spPr>
          <a:xfrm>
            <a:off x="838200" y="1690688"/>
            <a:ext cx="10515600" cy="1938992"/>
          </a:xfrm>
          <a:prstGeom prst="rect">
            <a:avLst/>
          </a:prstGeom>
          <a:noFill/>
        </p:spPr>
        <p:txBody>
          <a:bodyPr wrap="square" rtlCol="0">
            <a:spAutoFit/>
          </a:bodyPr>
          <a:lstStyle/>
          <a:p>
            <a:r>
              <a:rPr lang="en-US" sz="2400" dirty="0"/>
              <a:t>When certain functions of the library are called by different threads race conditions may occur. To prevent this all functions that can cause a race condition run with the alarm disarmed. This resembles the OS behavior when running atomic operations. After the operation has been completed the alarm is reactivated with the user’s remaining time.</a:t>
            </a:r>
          </a:p>
        </p:txBody>
      </p:sp>
    </p:spTree>
    <p:extLst>
      <p:ext uri="{BB962C8B-B14F-4D97-AF65-F5344CB8AC3E}">
        <p14:creationId xmlns:p14="http://schemas.microsoft.com/office/powerpoint/2010/main" val="23887974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6A70C6-D1F9-BA81-1C98-876F041DF4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78CC5E-85F6-121A-6D44-D611E7E015AA}"/>
              </a:ext>
            </a:extLst>
          </p:cNvPr>
          <p:cNvSpPr>
            <a:spLocks noGrp="1"/>
          </p:cNvSpPr>
          <p:nvPr>
            <p:ph type="title"/>
          </p:nvPr>
        </p:nvSpPr>
        <p:spPr/>
        <p:txBody>
          <a:bodyPr/>
          <a:lstStyle/>
          <a:p>
            <a:r>
              <a:rPr lang="en-US" b="1" dirty="0"/>
              <a:t>Assignment 2: </a:t>
            </a:r>
            <a:r>
              <a:rPr lang="en-US" dirty="0"/>
              <a:t>The scheduler</a:t>
            </a:r>
          </a:p>
        </p:txBody>
      </p:sp>
      <p:sp>
        <p:nvSpPr>
          <p:cNvPr id="5" name="TextBox 4">
            <a:extLst>
              <a:ext uri="{FF2B5EF4-FFF2-40B4-BE49-F238E27FC236}">
                <a16:creationId xmlns:a16="http://schemas.microsoft.com/office/drawing/2014/main" id="{894A8E3E-918C-116E-34E1-751C054490B0}"/>
              </a:ext>
            </a:extLst>
          </p:cNvPr>
          <p:cNvSpPr txBox="1"/>
          <p:nvPr/>
        </p:nvSpPr>
        <p:spPr>
          <a:xfrm>
            <a:off x="838200" y="2690336"/>
            <a:ext cx="10515600" cy="1938992"/>
          </a:xfrm>
          <a:prstGeom prst="rect">
            <a:avLst/>
          </a:prstGeom>
          <a:noFill/>
        </p:spPr>
        <p:txBody>
          <a:bodyPr wrap="square" rtlCol="0">
            <a:spAutoFit/>
          </a:bodyPr>
          <a:lstStyle/>
          <a:p>
            <a:r>
              <a:rPr lang="en-US" sz="2400" dirty="0"/>
              <a:t>The scheduler’s job is to determine if switching to another thread is needed based on the state of the previously running thread and finding which thread needs to run after. The logic of the scheduler is broken into 2 parts:</a:t>
            </a:r>
          </a:p>
          <a:p>
            <a:pPr marL="342900" indent="-342900">
              <a:buFont typeface="+mj-lt"/>
              <a:buAutoNum type="arabicPeriod"/>
            </a:pPr>
            <a:r>
              <a:rPr lang="en-US" sz="2400" dirty="0"/>
              <a:t>Only one thread currently exists</a:t>
            </a:r>
          </a:p>
          <a:p>
            <a:pPr marL="342900" indent="-342900">
              <a:buFont typeface="+mj-lt"/>
              <a:buAutoNum type="arabicPeriod"/>
            </a:pPr>
            <a:r>
              <a:rPr lang="en-US" sz="2400" dirty="0"/>
              <a:t>More than one threads currently exist</a:t>
            </a:r>
          </a:p>
        </p:txBody>
      </p:sp>
    </p:spTree>
    <p:extLst>
      <p:ext uri="{BB962C8B-B14F-4D97-AF65-F5344CB8AC3E}">
        <p14:creationId xmlns:p14="http://schemas.microsoft.com/office/powerpoint/2010/main" val="9245882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C2A6E-7DF9-3982-F6F7-FD2208A5D2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827DF5-9A20-41EE-91C2-99CCAE5FE62F}"/>
              </a:ext>
            </a:extLst>
          </p:cNvPr>
          <p:cNvSpPr>
            <a:spLocks noGrp="1"/>
          </p:cNvSpPr>
          <p:nvPr>
            <p:ph type="title"/>
          </p:nvPr>
        </p:nvSpPr>
        <p:spPr/>
        <p:txBody>
          <a:bodyPr/>
          <a:lstStyle/>
          <a:p>
            <a:r>
              <a:rPr lang="en-US" b="1" dirty="0"/>
              <a:t>Assignment 2: </a:t>
            </a:r>
            <a:r>
              <a:rPr lang="en-US" dirty="0"/>
              <a:t>The scheduler</a:t>
            </a:r>
          </a:p>
        </p:txBody>
      </p:sp>
      <p:sp>
        <p:nvSpPr>
          <p:cNvPr id="5" name="TextBox 4">
            <a:extLst>
              <a:ext uri="{FF2B5EF4-FFF2-40B4-BE49-F238E27FC236}">
                <a16:creationId xmlns:a16="http://schemas.microsoft.com/office/drawing/2014/main" id="{946F76CF-C549-C2A5-BF46-FAFDAC70203B}"/>
              </a:ext>
            </a:extLst>
          </p:cNvPr>
          <p:cNvSpPr txBox="1"/>
          <p:nvPr/>
        </p:nvSpPr>
        <p:spPr>
          <a:xfrm>
            <a:off x="838200" y="1405041"/>
            <a:ext cx="8738995" cy="369332"/>
          </a:xfrm>
          <a:prstGeom prst="rect">
            <a:avLst/>
          </a:prstGeom>
          <a:noFill/>
        </p:spPr>
        <p:txBody>
          <a:bodyPr wrap="square" rtlCol="0">
            <a:spAutoFit/>
          </a:bodyPr>
          <a:lstStyle/>
          <a:p>
            <a:r>
              <a:rPr lang="en-US" dirty="0"/>
              <a:t>On the first case when only one thread exists the logic of the scheduler is shown below</a:t>
            </a:r>
          </a:p>
        </p:txBody>
      </p:sp>
      <p:pic>
        <p:nvPicPr>
          <p:cNvPr id="11" name="Picture 10">
            <a:extLst>
              <a:ext uri="{FF2B5EF4-FFF2-40B4-BE49-F238E27FC236}">
                <a16:creationId xmlns:a16="http://schemas.microsoft.com/office/drawing/2014/main" id="{A3E66422-78AB-72E1-BC65-EAE434F11392}"/>
              </a:ext>
            </a:extLst>
          </p:cNvPr>
          <p:cNvPicPr>
            <a:picLocks noChangeAspect="1"/>
          </p:cNvPicPr>
          <p:nvPr/>
        </p:nvPicPr>
        <p:blipFill>
          <a:blip r:embed="rId2"/>
          <a:stretch>
            <a:fillRect/>
          </a:stretch>
        </p:blipFill>
        <p:spPr>
          <a:xfrm>
            <a:off x="2000250" y="2404959"/>
            <a:ext cx="8191500" cy="3048000"/>
          </a:xfrm>
          <a:prstGeom prst="rect">
            <a:avLst/>
          </a:prstGeom>
        </p:spPr>
      </p:pic>
    </p:spTree>
    <p:extLst>
      <p:ext uri="{BB962C8B-B14F-4D97-AF65-F5344CB8AC3E}">
        <p14:creationId xmlns:p14="http://schemas.microsoft.com/office/powerpoint/2010/main" val="39723447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90BBB3-8922-EAB3-B860-893490A4B7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B4BC0-AE25-508E-E665-9886CE7C600F}"/>
              </a:ext>
            </a:extLst>
          </p:cNvPr>
          <p:cNvSpPr>
            <a:spLocks noGrp="1"/>
          </p:cNvSpPr>
          <p:nvPr>
            <p:ph type="title"/>
          </p:nvPr>
        </p:nvSpPr>
        <p:spPr/>
        <p:txBody>
          <a:bodyPr/>
          <a:lstStyle/>
          <a:p>
            <a:r>
              <a:rPr lang="en-US" b="1" dirty="0"/>
              <a:t>Assignment 2: </a:t>
            </a:r>
            <a:r>
              <a:rPr lang="en-US" dirty="0"/>
              <a:t>The scheduler</a:t>
            </a:r>
          </a:p>
        </p:txBody>
      </p:sp>
      <p:sp>
        <p:nvSpPr>
          <p:cNvPr id="5" name="TextBox 4">
            <a:extLst>
              <a:ext uri="{FF2B5EF4-FFF2-40B4-BE49-F238E27FC236}">
                <a16:creationId xmlns:a16="http://schemas.microsoft.com/office/drawing/2014/main" id="{A3316C2B-391A-59CE-DBE5-D3C8EA94A4E1}"/>
              </a:ext>
            </a:extLst>
          </p:cNvPr>
          <p:cNvSpPr txBox="1"/>
          <p:nvPr/>
        </p:nvSpPr>
        <p:spPr>
          <a:xfrm>
            <a:off x="838200" y="1405041"/>
            <a:ext cx="8738995" cy="369332"/>
          </a:xfrm>
          <a:prstGeom prst="rect">
            <a:avLst/>
          </a:prstGeom>
          <a:noFill/>
        </p:spPr>
        <p:txBody>
          <a:bodyPr wrap="square" rtlCol="0">
            <a:spAutoFit/>
          </a:bodyPr>
          <a:lstStyle/>
          <a:p>
            <a:r>
              <a:rPr lang="en-US" dirty="0"/>
              <a:t>On the second case the logic of the scheduler is the following</a:t>
            </a:r>
          </a:p>
        </p:txBody>
      </p:sp>
      <p:pic>
        <p:nvPicPr>
          <p:cNvPr id="7" name="Picture 6">
            <a:extLst>
              <a:ext uri="{FF2B5EF4-FFF2-40B4-BE49-F238E27FC236}">
                <a16:creationId xmlns:a16="http://schemas.microsoft.com/office/drawing/2014/main" id="{57418CA5-EC31-2428-7B95-81535CA7CFED}"/>
              </a:ext>
            </a:extLst>
          </p:cNvPr>
          <p:cNvPicPr>
            <a:picLocks noChangeAspect="1"/>
          </p:cNvPicPr>
          <p:nvPr/>
        </p:nvPicPr>
        <p:blipFill>
          <a:blip r:embed="rId2"/>
          <a:stretch>
            <a:fillRect/>
          </a:stretch>
        </p:blipFill>
        <p:spPr>
          <a:xfrm>
            <a:off x="2985637" y="1774373"/>
            <a:ext cx="6220725" cy="4780742"/>
          </a:xfrm>
          <a:prstGeom prst="rect">
            <a:avLst/>
          </a:prstGeom>
        </p:spPr>
      </p:pic>
    </p:spTree>
    <p:extLst>
      <p:ext uri="{BB962C8B-B14F-4D97-AF65-F5344CB8AC3E}">
        <p14:creationId xmlns:p14="http://schemas.microsoft.com/office/powerpoint/2010/main" val="37674133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651078-DFF7-6A05-2FB9-0A60A38073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379B8C-E615-59D0-1FE9-67F626127F01}"/>
              </a:ext>
            </a:extLst>
          </p:cNvPr>
          <p:cNvSpPr>
            <a:spLocks noGrp="1"/>
          </p:cNvSpPr>
          <p:nvPr>
            <p:ph type="title"/>
          </p:nvPr>
        </p:nvSpPr>
        <p:spPr/>
        <p:txBody>
          <a:bodyPr/>
          <a:lstStyle/>
          <a:p>
            <a:r>
              <a:rPr lang="en-US" b="1" dirty="0"/>
              <a:t>Assignment 2: </a:t>
            </a:r>
            <a:r>
              <a:rPr lang="en-US" dirty="0"/>
              <a:t>Scheduler related functions</a:t>
            </a:r>
          </a:p>
        </p:txBody>
      </p:sp>
      <p:sp>
        <p:nvSpPr>
          <p:cNvPr id="3" name="TextBox 2">
            <a:extLst>
              <a:ext uri="{FF2B5EF4-FFF2-40B4-BE49-F238E27FC236}">
                <a16:creationId xmlns:a16="http://schemas.microsoft.com/office/drawing/2014/main" id="{33096D62-162A-042A-13B9-FC770199CCE3}"/>
              </a:ext>
            </a:extLst>
          </p:cNvPr>
          <p:cNvSpPr txBox="1"/>
          <p:nvPr/>
        </p:nvSpPr>
        <p:spPr>
          <a:xfrm>
            <a:off x="494947" y="1690688"/>
            <a:ext cx="11202106" cy="3416320"/>
          </a:xfrm>
          <a:prstGeom prst="rect">
            <a:avLst/>
          </a:prstGeom>
          <a:noFill/>
        </p:spPr>
        <p:txBody>
          <a:bodyPr wrap="none" rtlCol="0">
            <a:spAutoFit/>
          </a:bodyPr>
          <a:lstStyle/>
          <a:p>
            <a:r>
              <a:rPr lang="en-US" b="0" dirty="0">
                <a:solidFill>
                  <a:srgbClr val="CBA6F7"/>
                </a:solidFill>
                <a:effectLst/>
                <a:latin typeface="Consolas" panose="020B0609020204030204" pitchFamily="49" charset="0"/>
              </a:rPr>
              <a:t>void</a:t>
            </a:r>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reload_states</a:t>
            </a:r>
            <a:r>
              <a:rPr lang="en-US" b="0" dirty="0">
                <a:solidFill>
                  <a:srgbClr val="9399B2"/>
                </a:solidFill>
                <a:effectLst/>
                <a:latin typeface="Consolas" panose="020B0609020204030204" pitchFamily="49" charset="0"/>
              </a:rPr>
              <a:t>(</a:t>
            </a:r>
            <a:r>
              <a:rPr lang="en-US" b="0" dirty="0" err="1">
                <a:solidFill>
                  <a:srgbClr val="CBA6F7"/>
                </a:solidFill>
                <a:effectLst/>
                <a:latin typeface="Consolas" panose="020B0609020204030204" pitchFamily="49" charset="0"/>
              </a:rPr>
              <a:t>enum</a:t>
            </a:r>
            <a:r>
              <a:rPr lang="en-US" b="0" dirty="0">
                <a:solidFill>
                  <a:srgbClr val="CDD6F4"/>
                </a:solidFill>
                <a:effectLst/>
                <a:latin typeface="Consolas" panose="020B0609020204030204" pitchFamily="49" charset="0"/>
              </a:rPr>
              <a:t> </a:t>
            </a:r>
            <a:r>
              <a:rPr lang="en-US" b="0" i="1" dirty="0" err="1">
                <a:solidFill>
                  <a:srgbClr val="F9E2AF"/>
                </a:solidFill>
                <a:effectLst/>
                <a:latin typeface="Consolas" panose="020B0609020204030204" pitchFamily="49" charset="0"/>
              </a:rPr>
              <a:t>thread_state_t</a:t>
            </a:r>
            <a:r>
              <a:rPr lang="en-US" b="0" dirty="0">
                <a:solidFill>
                  <a:srgbClr val="CDD6F4"/>
                </a:solidFill>
                <a:effectLst/>
                <a:latin typeface="Consolas" panose="020B0609020204030204" pitchFamily="49" charset="0"/>
              </a:rPr>
              <a:t> </a:t>
            </a:r>
            <a:r>
              <a:rPr lang="en-US" b="0" i="1" dirty="0" err="1">
                <a:solidFill>
                  <a:srgbClr val="EBA0AC"/>
                </a:solidFill>
                <a:effectLst/>
                <a:latin typeface="Consolas" panose="020B0609020204030204" pitchFamily="49" charset="0"/>
              </a:rPr>
              <a:t>running_next_state</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i="1" dirty="0" err="1">
                <a:solidFill>
                  <a:srgbClr val="F9E2AF"/>
                </a:solidFill>
                <a:effectLst/>
                <a:latin typeface="Consolas" panose="020B0609020204030204" pitchFamily="49" charset="0"/>
              </a:rPr>
              <a:t>node_t</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dirty="0" err="1">
                <a:solidFill>
                  <a:srgbClr val="CDD6F4"/>
                </a:solidFill>
                <a:effectLst/>
                <a:latin typeface="Consolas" panose="020B0609020204030204" pitchFamily="49" charset="0"/>
              </a:rPr>
              <a:t>running_node</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list_find</a:t>
            </a:r>
            <a:r>
              <a:rPr lang="en-US" b="0" dirty="0">
                <a:solidFill>
                  <a:srgbClr val="9399B2"/>
                </a:solidFill>
                <a:effectLst/>
                <a:latin typeface="Consolas" panose="020B0609020204030204" pitchFamily="49" charset="0"/>
              </a:rPr>
              <a:t>(</a:t>
            </a:r>
            <a:r>
              <a:rPr lang="en-US" b="0" dirty="0" err="1">
                <a:solidFill>
                  <a:srgbClr val="CDD6F4"/>
                </a:solidFill>
                <a:effectLst/>
                <a:latin typeface="Consolas" panose="020B0609020204030204" pitchFamily="49" charset="0"/>
              </a:rPr>
              <a:t>thrs</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err="1">
                <a:solidFill>
                  <a:srgbClr val="CDD6F4"/>
                </a:solidFill>
                <a:effectLst/>
                <a:latin typeface="Consolas" panose="020B0609020204030204" pitchFamily="49" charset="0"/>
              </a:rPr>
              <a:t>running_thr</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F38BA8"/>
                </a:solidFill>
                <a:effectLst/>
                <a:latin typeface="Consolas" panose="020B0609020204030204" pitchFamily="49" charset="0"/>
              </a:rPr>
              <a:t>NULL</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br>
              <a:rPr lang="en-US" b="0" dirty="0">
                <a:solidFill>
                  <a:srgbClr val="CDD6F4"/>
                </a:solidFill>
                <a:effectLst/>
                <a:latin typeface="Consolas" panose="020B0609020204030204" pitchFamily="49" charset="0"/>
              </a:rPr>
            </a:br>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for</a:t>
            </a:r>
            <a:r>
              <a:rPr lang="en-US" b="0" dirty="0">
                <a:solidFill>
                  <a:srgbClr val="CDD6F4"/>
                </a:solidFill>
                <a:effectLst/>
                <a:latin typeface="Consolas" panose="020B0609020204030204" pitchFamily="49" charset="0"/>
              </a:rPr>
              <a:t> all threads starting from the currently running thread</a:t>
            </a:r>
          </a:p>
          <a:p>
            <a:r>
              <a:rPr lang="en-US" b="0" dirty="0">
                <a:solidFill>
                  <a:srgbClr val="CDD6F4"/>
                </a:solidFill>
                <a:effectLst/>
                <a:latin typeface="Consolas" panose="020B0609020204030204" pitchFamily="49" charset="0"/>
              </a:rPr>
              <a:t>        </a:t>
            </a:r>
            <a:r>
              <a:rPr lang="en-US" b="0" dirty="0" err="1">
                <a:solidFill>
                  <a:srgbClr val="CDD6F4"/>
                </a:solidFill>
                <a:effectLst/>
                <a:latin typeface="Consolas" panose="020B0609020204030204" pitchFamily="49" charset="0"/>
              </a:rPr>
              <a:t>sleep_expired</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dirty="0">
                <a:solidFill>
                  <a:srgbClr val="CDD6F4"/>
                </a:solidFill>
                <a:effectLst/>
                <a:latin typeface="Consolas" panose="020B0609020204030204" pitchFamily="49" charset="0"/>
              </a:rPr>
              <a:t> thread is sleeping </a:t>
            </a:r>
          </a:p>
          <a:p>
            <a:r>
              <a:rPr lang="en-US" b="0" dirty="0">
                <a:solidFill>
                  <a:srgbClr val="CDD6F4"/>
                </a:solidFill>
                <a:effectLst/>
                <a:latin typeface="Consolas" panose="020B0609020204030204" pitchFamily="49" charset="0"/>
              </a:rPr>
              <a:t>                        and sleep timestamp has expired</a:t>
            </a:r>
          </a:p>
          <a:p>
            <a:r>
              <a:rPr lang="en-US" b="0" dirty="0">
                <a:solidFill>
                  <a:srgbClr val="CDD6F4"/>
                </a:solidFill>
                <a:effectLst/>
                <a:latin typeface="Consolas" panose="020B0609020204030204" pitchFamily="49" charset="0"/>
              </a:rPr>
              <a:t>        </a:t>
            </a:r>
            <a:r>
              <a:rPr lang="en-US" b="0" dirty="0" err="1">
                <a:solidFill>
                  <a:srgbClr val="CDD6F4"/>
                </a:solidFill>
                <a:effectLst/>
                <a:latin typeface="Consolas" panose="020B0609020204030204" pitchFamily="49" charset="0"/>
              </a:rPr>
              <a:t>joining_thread_terminated</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dirty="0">
                <a:solidFill>
                  <a:srgbClr val="CDD6F4"/>
                </a:solidFill>
                <a:effectLst/>
                <a:latin typeface="Consolas" panose="020B0609020204030204" pitchFamily="49" charset="0"/>
              </a:rPr>
              <a:t> thread is blocked </a:t>
            </a:r>
          </a:p>
          <a:p>
            <a:r>
              <a:rPr lang="en-US" b="0" dirty="0">
                <a:solidFill>
                  <a:srgbClr val="CDD6F4"/>
                </a:solidFill>
                <a:effectLst/>
                <a:latin typeface="Consolas" panose="020B0609020204030204" pitchFamily="49" charset="0"/>
              </a:rPr>
              <a:t>                                    and the thread that it is joining on has terminated</a:t>
            </a:r>
          </a:p>
          <a:p>
            <a:br>
              <a:rPr lang="en-US" b="0" dirty="0">
                <a:solidFill>
                  <a:srgbClr val="CDD6F4"/>
                </a:solidFill>
                <a:effectLst/>
                <a:latin typeface="Consolas" panose="020B0609020204030204" pitchFamily="49" charset="0"/>
              </a:rPr>
            </a:br>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if</a:t>
            </a:r>
            <a:r>
              <a:rPr lang="en-US" b="0" dirty="0">
                <a:solidFill>
                  <a:srgbClr val="CDD6F4"/>
                </a:solidFill>
                <a:effectLst/>
                <a:latin typeface="Consolas" panose="020B0609020204030204" pitchFamily="49" charset="0"/>
              </a:rPr>
              <a:t> </a:t>
            </a:r>
            <a:r>
              <a:rPr lang="en-US" b="0" dirty="0" err="1">
                <a:solidFill>
                  <a:srgbClr val="CDD6F4"/>
                </a:solidFill>
                <a:effectLst/>
                <a:latin typeface="Consolas" panose="020B0609020204030204" pitchFamily="49" charset="0"/>
              </a:rPr>
              <a:t>sleep_expired</a:t>
            </a:r>
            <a:r>
              <a:rPr lang="en-US" b="0" dirty="0">
                <a:solidFill>
                  <a:srgbClr val="CDD6F4"/>
                </a:solidFill>
                <a:effectLst/>
                <a:latin typeface="Consolas" panose="020B0609020204030204" pitchFamily="49" charset="0"/>
              </a:rPr>
              <a:t> or </a:t>
            </a:r>
            <a:r>
              <a:rPr lang="en-US" b="0" dirty="0" err="1">
                <a:solidFill>
                  <a:srgbClr val="CDD6F4"/>
                </a:solidFill>
                <a:effectLst/>
                <a:latin typeface="Consolas" panose="020B0609020204030204" pitchFamily="49" charset="0"/>
              </a:rPr>
              <a:t>joining_thread_terminated</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set thread state to READY</a:t>
            </a:r>
          </a:p>
          <a:p>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p:txBody>
      </p:sp>
    </p:spTree>
    <p:extLst>
      <p:ext uri="{BB962C8B-B14F-4D97-AF65-F5344CB8AC3E}">
        <p14:creationId xmlns:p14="http://schemas.microsoft.com/office/powerpoint/2010/main" val="251610488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F77C7D-8A3E-0653-539D-40A5B25BB4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C38035-E9CB-B89D-D141-7035E00796D5}"/>
              </a:ext>
            </a:extLst>
          </p:cNvPr>
          <p:cNvSpPr>
            <a:spLocks noGrp="1"/>
          </p:cNvSpPr>
          <p:nvPr>
            <p:ph type="title"/>
          </p:nvPr>
        </p:nvSpPr>
        <p:spPr/>
        <p:txBody>
          <a:bodyPr/>
          <a:lstStyle/>
          <a:p>
            <a:r>
              <a:rPr lang="en-US" b="1" dirty="0"/>
              <a:t>Assignment 2: </a:t>
            </a:r>
            <a:r>
              <a:rPr lang="en-US" dirty="0"/>
              <a:t>Scheduler related functions</a:t>
            </a:r>
          </a:p>
        </p:txBody>
      </p:sp>
      <p:sp>
        <p:nvSpPr>
          <p:cNvPr id="3" name="TextBox 2">
            <a:extLst>
              <a:ext uri="{FF2B5EF4-FFF2-40B4-BE49-F238E27FC236}">
                <a16:creationId xmlns:a16="http://schemas.microsoft.com/office/drawing/2014/main" id="{9F96A329-C6EC-0C96-81DA-DC3161B40295}"/>
              </a:ext>
            </a:extLst>
          </p:cNvPr>
          <p:cNvSpPr txBox="1"/>
          <p:nvPr/>
        </p:nvSpPr>
        <p:spPr>
          <a:xfrm>
            <a:off x="494947" y="1690688"/>
            <a:ext cx="10568919" cy="3970318"/>
          </a:xfrm>
          <a:prstGeom prst="rect">
            <a:avLst/>
          </a:prstGeom>
          <a:noFill/>
        </p:spPr>
        <p:txBody>
          <a:bodyPr wrap="none" rtlCol="0">
            <a:spAutoFit/>
          </a:bodyPr>
          <a:lstStyle/>
          <a:p>
            <a:r>
              <a:rPr lang="en-US" b="0" i="1" dirty="0" err="1">
                <a:solidFill>
                  <a:srgbClr val="F9E2AF"/>
                </a:solidFill>
                <a:effectLst/>
                <a:latin typeface="Consolas" panose="020B0609020204030204" pitchFamily="49" charset="0"/>
              </a:rPr>
              <a:t>mythr_t</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i="1" dirty="0" err="1">
                <a:solidFill>
                  <a:srgbClr val="89B4FA"/>
                </a:solidFill>
                <a:effectLst/>
                <a:latin typeface="Consolas" panose="020B0609020204030204" pitchFamily="49" charset="0"/>
              </a:rPr>
              <a:t>search_threads</a:t>
            </a:r>
            <a:r>
              <a:rPr lang="en-US" b="0" dirty="0">
                <a:solidFill>
                  <a:srgbClr val="9399B2"/>
                </a:solidFill>
                <a:effectLst/>
                <a:latin typeface="Consolas" panose="020B0609020204030204" pitchFamily="49" charset="0"/>
              </a:rPr>
              <a:t>(</a:t>
            </a:r>
            <a:r>
              <a:rPr lang="en-US" b="0" dirty="0">
                <a:solidFill>
                  <a:srgbClr val="CBA6F7"/>
                </a:solidFill>
                <a:effectLst/>
                <a:latin typeface="Consolas" panose="020B0609020204030204" pitchFamily="49" charset="0"/>
              </a:rPr>
              <a:t>bool</a:t>
            </a:r>
            <a:r>
              <a:rPr lang="en-US" b="0" dirty="0">
                <a:solidFill>
                  <a:srgbClr val="CDD6F4"/>
                </a:solidFill>
                <a:effectLst/>
                <a:latin typeface="Consolas" panose="020B0609020204030204" pitchFamily="49" charset="0"/>
              </a:rPr>
              <a:t> </a:t>
            </a:r>
            <a:r>
              <a:rPr lang="en-US" b="0" i="1" dirty="0" err="1">
                <a:solidFill>
                  <a:srgbClr val="EBA0AC"/>
                </a:solidFill>
                <a:effectLst/>
                <a:latin typeface="Consolas" panose="020B0609020204030204" pitchFamily="49" charset="0"/>
              </a:rPr>
              <a:t>running_thread_sleeping</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i="1" dirty="0" err="1">
                <a:solidFill>
                  <a:srgbClr val="F9E2AF"/>
                </a:solidFill>
                <a:effectLst/>
                <a:latin typeface="Consolas" panose="020B0609020204030204" pitchFamily="49" charset="0"/>
              </a:rPr>
              <a:t>mythr_t</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i="1" dirty="0" err="1">
                <a:solidFill>
                  <a:srgbClr val="EBA0AC"/>
                </a:solidFill>
                <a:effectLst/>
                <a:latin typeface="Consolas" panose="020B0609020204030204" pitchFamily="49" charset="0"/>
              </a:rPr>
              <a:t>earliest_thread</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i="1" dirty="0" err="1">
                <a:solidFill>
                  <a:srgbClr val="F9E2AF"/>
                </a:solidFill>
                <a:effectLst/>
                <a:latin typeface="Consolas" panose="020B0609020204030204" pitchFamily="49" charset="0"/>
              </a:rPr>
              <a:t>mythr_t</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dirty="0" err="1">
                <a:solidFill>
                  <a:srgbClr val="CDD6F4"/>
                </a:solidFill>
                <a:effectLst/>
                <a:latin typeface="Consolas" panose="020B0609020204030204" pitchFamily="49" charset="0"/>
              </a:rPr>
              <a:t>next_ready</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F38BA8"/>
                </a:solidFill>
                <a:effectLst/>
                <a:latin typeface="Consolas" panose="020B0609020204030204" pitchFamily="49" charset="0"/>
              </a:rPr>
              <a:t>NULL</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i="1" dirty="0" err="1">
                <a:solidFill>
                  <a:srgbClr val="F9E2AF"/>
                </a:solidFill>
                <a:effectLst/>
                <a:latin typeface="Consolas" panose="020B0609020204030204" pitchFamily="49" charset="0"/>
              </a:rPr>
              <a:t>mythr_t</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dirty="0">
                <a:solidFill>
                  <a:srgbClr val="CDD6F4"/>
                </a:solidFill>
                <a:effectLst/>
                <a:latin typeface="Consolas" panose="020B0609020204030204" pitchFamily="49" charset="0"/>
              </a:rPr>
              <a:t>earliest </a:t>
            </a:r>
            <a:r>
              <a:rPr lang="en-US" b="0" dirty="0">
                <a:solidFill>
                  <a:srgbClr val="94E2D5"/>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err="1">
                <a:solidFill>
                  <a:srgbClr val="CDD6F4"/>
                </a:solidFill>
                <a:effectLst/>
                <a:latin typeface="Consolas" panose="020B0609020204030204" pitchFamily="49" charset="0"/>
              </a:rPr>
              <a:t>running_thread_sleeping</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err="1">
                <a:solidFill>
                  <a:srgbClr val="CDD6F4"/>
                </a:solidFill>
                <a:effectLst/>
                <a:latin typeface="Consolas" panose="020B0609020204030204" pitchFamily="49" charset="0"/>
              </a:rPr>
              <a:t>running_thr</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F38BA8"/>
                </a:solidFill>
                <a:effectLst/>
                <a:latin typeface="Consolas" panose="020B0609020204030204" pitchFamily="49" charset="0"/>
              </a:rPr>
              <a:t>NULL</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for</a:t>
            </a:r>
            <a:r>
              <a:rPr lang="en-US" b="0" dirty="0">
                <a:solidFill>
                  <a:srgbClr val="CDD6F4"/>
                </a:solidFill>
                <a:effectLst/>
                <a:latin typeface="Consolas" panose="020B0609020204030204" pitchFamily="49" charset="0"/>
              </a:rPr>
              <a:t> all threads starting from the currently running thread</a:t>
            </a: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if</a:t>
            </a:r>
            <a:r>
              <a:rPr lang="en-US" b="0" dirty="0">
                <a:solidFill>
                  <a:srgbClr val="CDD6F4"/>
                </a:solidFill>
                <a:effectLst/>
                <a:latin typeface="Consolas" panose="020B0609020204030204" pitchFamily="49" charset="0"/>
              </a:rPr>
              <a:t> thread is READY</a:t>
            </a:r>
          </a:p>
          <a:p>
            <a:r>
              <a:rPr lang="en-US" b="0" dirty="0">
                <a:solidFill>
                  <a:srgbClr val="CDD6F4"/>
                </a:solidFill>
                <a:effectLst/>
                <a:latin typeface="Consolas" panose="020B0609020204030204" pitchFamily="49" charset="0"/>
              </a:rPr>
              <a:t>            </a:t>
            </a:r>
            <a:r>
              <a:rPr lang="en-US" b="0" dirty="0" err="1">
                <a:solidFill>
                  <a:srgbClr val="CDD6F4"/>
                </a:solidFill>
                <a:effectLst/>
                <a:latin typeface="Consolas" panose="020B0609020204030204" pitchFamily="49" charset="0"/>
              </a:rPr>
              <a:t>next_ready</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dirty="0">
                <a:solidFill>
                  <a:srgbClr val="CDD6F4"/>
                </a:solidFill>
                <a:effectLst/>
                <a:latin typeface="Consolas" panose="020B0609020204030204" pitchFamily="49" charset="0"/>
              </a:rPr>
              <a:t> thread</a:t>
            </a: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break</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else</a:t>
            </a:r>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if</a:t>
            </a:r>
            <a:r>
              <a:rPr lang="en-US" b="0" dirty="0">
                <a:solidFill>
                  <a:srgbClr val="CDD6F4"/>
                </a:solidFill>
                <a:effectLst/>
                <a:latin typeface="Consolas" panose="020B0609020204030204" pitchFamily="49" charset="0"/>
              </a:rPr>
              <a:t> thread is SLEEPING and is the earliest thread to wake up</a:t>
            </a:r>
          </a:p>
          <a:p>
            <a:r>
              <a:rPr lang="en-US" b="0" dirty="0">
                <a:solidFill>
                  <a:srgbClr val="CDD6F4"/>
                </a:solidFill>
                <a:effectLst/>
                <a:latin typeface="Consolas" panose="020B0609020204030204" pitchFamily="49" charset="0"/>
              </a:rPr>
              <a:t>            earliest </a:t>
            </a:r>
            <a:r>
              <a:rPr lang="en-US" b="0" dirty="0">
                <a:solidFill>
                  <a:srgbClr val="94E2D5"/>
                </a:solidFill>
                <a:effectLst/>
                <a:latin typeface="Consolas" panose="020B0609020204030204" pitchFamily="49" charset="0"/>
              </a:rPr>
              <a:t>=</a:t>
            </a:r>
            <a:r>
              <a:rPr lang="en-US" b="0" dirty="0">
                <a:solidFill>
                  <a:srgbClr val="CDD6F4"/>
                </a:solidFill>
                <a:effectLst/>
                <a:latin typeface="Consolas" panose="020B0609020204030204" pitchFamily="49" charset="0"/>
              </a:rPr>
              <a:t> thread</a:t>
            </a:r>
          </a:p>
          <a:p>
            <a:r>
              <a:rPr lang="en-US" b="0" dirty="0">
                <a:solidFill>
                  <a:srgbClr val="CDD6F4"/>
                </a:solidFill>
                <a:effectLst/>
                <a:latin typeface="Consolas" panose="020B0609020204030204" pitchFamily="49" charset="0"/>
              </a:rPr>
              <a:t>    </a:t>
            </a:r>
          </a:p>
          <a:p>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dirty="0" err="1">
                <a:solidFill>
                  <a:srgbClr val="CDD6F4"/>
                </a:solidFill>
                <a:effectLst/>
                <a:latin typeface="Consolas" panose="020B0609020204030204" pitchFamily="49" charset="0"/>
              </a:rPr>
              <a:t>earliest_thread</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dirty="0">
                <a:solidFill>
                  <a:srgbClr val="CDD6F4"/>
                </a:solidFill>
                <a:effectLst/>
                <a:latin typeface="Consolas" panose="020B0609020204030204" pitchFamily="49" charset="0"/>
              </a:rPr>
              <a:t> earliest</a:t>
            </a: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return</a:t>
            </a:r>
            <a:r>
              <a:rPr lang="en-US" b="0" dirty="0">
                <a:solidFill>
                  <a:srgbClr val="CDD6F4"/>
                </a:solidFill>
                <a:effectLst/>
                <a:latin typeface="Consolas" panose="020B0609020204030204" pitchFamily="49" charset="0"/>
              </a:rPr>
              <a:t> </a:t>
            </a:r>
            <a:r>
              <a:rPr lang="en-US" b="0" dirty="0" err="1">
                <a:solidFill>
                  <a:srgbClr val="CDD6F4"/>
                </a:solidFill>
                <a:effectLst/>
                <a:latin typeface="Consolas" panose="020B0609020204030204" pitchFamily="49" charset="0"/>
              </a:rPr>
              <a:t>next_ready</a:t>
            </a:r>
            <a:endParaRPr lang="en-US" b="0" dirty="0">
              <a:solidFill>
                <a:srgbClr val="CDD6F4"/>
              </a:solidFill>
              <a:effectLst/>
              <a:latin typeface="Consolas" panose="020B0609020204030204" pitchFamily="49" charset="0"/>
            </a:endParaRPr>
          </a:p>
          <a:p>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p:txBody>
      </p:sp>
      <p:sp>
        <p:nvSpPr>
          <p:cNvPr id="4" name="TextBox 3">
            <a:extLst>
              <a:ext uri="{FF2B5EF4-FFF2-40B4-BE49-F238E27FC236}">
                <a16:creationId xmlns:a16="http://schemas.microsoft.com/office/drawing/2014/main" id="{1F7CFE5A-5DB1-742C-69A0-CFA22026351D}"/>
              </a:ext>
            </a:extLst>
          </p:cNvPr>
          <p:cNvSpPr txBox="1"/>
          <p:nvPr/>
        </p:nvSpPr>
        <p:spPr>
          <a:xfrm>
            <a:off x="494947" y="5661006"/>
            <a:ext cx="9101531" cy="923330"/>
          </a:xfrm>
          <a:prstGeom prst="rect">
            <a:avLst/>
          </a:prstGeom>
          <a:noFill/>
        </p:spPr>
        <p:txBody>
          <a:bodyPr wrap="none" rtlCol="0">
            <a:spAutoFit/>
          </a:bodyPr>
          <a:lstStyle/>
          <a:p>
            <a:r>
              <a:rPr lang="en-US" dirty="0"/>
              <a:t>This function finds the first ready thread after the currently running thread (if there is any) </a:t>
            </a:r>
          </a:p>
          <a:p>
            <a:r>
              <a:rPr lang="en-US" dirty="0"/>
              <a:t>and finds the thread that is sleeping and needs to wake up the earliest of any other thread. </a:t>
            </a:r>
          </a:p>
          <a:p>
            <a:r>
              <a:rPr lang="en-US" dirty="0"/>
              <a:t>It is called by the scheduler to find out which thread should be the next  to run.</a:t>
            </a:r>
          </a:p>
        </p:txBody>
      </p:sp>
    </p:spTree>
    <p:extLst>
      <p:ext uri="{BB962C8B-B14F-4D97-AF65-F5344CB8AC3E}">
        <p14:creationId xmlns:p14="http://schemas.microsoft.com/office/powerpoint/2010/main" val="159398546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1BBBA3-AE4E-CD00-F1C5-F19412FFE3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768865-E506-C318-35B4-7A67FC0DEEE4}"/>
              </a:ext>
            </a:extLst>
          </p:cNvPr>
          <p:cNvSpPr>
            <a:spLocks noGrp="1"/>
          </p:cNvSpPr>
          <p:nvPr>
            <p:ph type="title"/>
          </p:nvPr>
        </p:nvSpPr>
        <p:spPr/>
        <p:txBody>
          <a:bodyPr/>
          <a:lstStyle/>
          <a:p>
            <a:r>
              <a:rPr lang="en-US" b="1" dirty="0"/>
              <a:t>Assignment 2: </a:t>
            </a:r>
            <a:r>
              <a:rPr lang="en-US" dirty="0"/>
              <a:t>Scheduler related functions</a:t>
            </a:r>
          </a:p>
        </p:txBody>
      </p:sp>
      <p:sp>
        <p:nvSpPr>
          <p:cNvPr id="3" name="TextBox 2">
            <a:extLst>
              <a:ext uri="{FF2B5EF4-FFF2-40B4-BE49-F238E27FC236}">
                <a16:creationId xmlns:a16="http://schemas.microsoft.com/office/drawing/2014/main" id="{10263B61-60C3-24BB-7B15-4EE91E24B13F}"/>
              </a:ext>
            </a:extLst>
          </p:cNvPr>
          <p:cNvSpPr txBox="1"/>
          <p:nvPr/>
        </p:nvSpPr>
        <p:spPr>
          <a:xfrm>
            <a:off x="494947" y="1690688"/>
            <a:ext cx="10568919" cy="2308324"/>
          </a:xfrm>
          <a:prstGeom prst="rect">
            <a:avLst/>
          </a:prstGeom>
          <a:noFill/>
        </p:spPr>
        <p:txBody>
          <a:bodyPr wrap="none" rtlCol="0">
            <a:spAutoFit/>
          </a:bodyPr>
          <a:lstStyle/>
          <a:p>
            <a:r>
              <a:rPr lang="en-US" b="0" dirty="0">
                <a:solidFill>
                  <a:srgbClr val="CBA6F7"/>
                </a:solidFill>
                <a:effectLst/>
                <a:latin typeface="Consolas" panose="020B0609020204030204" pitchFamily="49" charset="0"/>
              </a:rPr>
              <a:t>void</a:t>
            </a:r>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switch_thread</a:t>
            </a:r>
            <a:r>
              <a:rPr lang="en-US" b="0" dirty="0">
                <a:solidFill>
                  <a:srgbClr val="9399B2"/>
                </a:solidFill>
                <a:effectLst/>
                <a:latin typeface="Consolas" panose="020B0609020204030204" pitchFamily="49" charset="0"/>
              </a:rPr>
              <a:t>(</a:t>
            </a:r>
            <a:r>
              <a:rPr lang="en-US" b="0" dirty="0" err="1">
                <a:solidFill>
                  <a:srgbClr val="CBA6F7"/>
                </a:solidFill>
                <a:effectLst/>
                <a:latin typeface="Consolas" panose="020B0609020204030204" pitchFamily="49" charset="0"/>
              </a:rPr>
              <a:t>enum</a:t>
            </a:r>
            <a:r>
              <a:rPr lang="en-US" b="0" dirty="0">
                <a:solidFill>
                  <a:srgbClr val="CDD6F4"/>
                </a:solidFill>
                <a:effectLst/>
                <a:latin typeface="Consolas" panose="020B0609020204030204" pitchFamily="49" charset="0"/>
              </a:rPr>
              <a:t> </a:t>
            </a:r>
            <a:r>
              <a:rPr lang="en-US" b="0" i="1" dirty="0" err="1">
                <a:solidFill>
                  <a:srgbClr val="F9E2AF"/>
                </a:solidFill>
                <a:effectLst/>
                <a:latin typeface="Consolas" panose="020B0609020204030204" pitchFamily="49" charset="0"/>
              </a:rPr>
              <a:t>thread_state_t</a:t>
            </a:r>
            <a:r>
              <a:rPr lang="en-US" b="0" dirty="0">
                <a:solidFill>
                  <a:srgbClr val="CDD6F4"/>
                </a:solidFill>
                <a:effectLst/>
                <a:latin typeface="Consolas" panose="020B0609020204030204" pitchFamily="49" charset="0"/>
              </a:rPr>
              <a:t> </a:t>
            </a:r>
            <a:r>
              <a:rPr lang="en-US" b="0" i="1" dirty="0" err="1">
                <a:solidFill>
                  <a:srgbClr val="EBA0AC"/>
                </a:solidFill>
                <a:effectLst/>
                <a:latin typeface="Consolas" panose="020B0609020204030204" pitchFamily="49" charset="0"/>
              </a:rPr>
              <a:t>running_next_state</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i="1" dirty="0" err="1">
                <a:solidFill>
                  <a:srgbClr val="F9E2AF"/>
                </a:solidFill>
                <a:effectLst/>
                <a:latin typeface="Consolas" panose="020B0609020204030204" pitchFamily="49" charset="0"/>
              </a:rPr>
              <a:t>mythr_t</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i="1" dirty="0" err="1">
                <a:solidFill>
                  <a:srgbClr val="EBA0AC"/>
                </a:solidFill>
                <a:effectLst/>
                <a:latin typeface="Consolas" panose="020B0609020204030204" pitchFamily="49" charset="0"/>
              </a:rPr>
              <a:t>next_thread</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set currently running thread state to </a:t>
            </a:r>
            <a:r>
              <a:rPr lang="en-US" b="0" dirty="0" err="1">
                <a:solidFill>
                  <a:srgbClr val="CDD6F4"/>
                </a:solidFill>
                <a:effectLst/>
                <a:latin typeface="Consolas" panose="020B0609020204030204" pitchFamily="49" charset="0"/>
              </a:rPr>
              <a:t>running_next_state</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set currently running thread to next thread</a:t>
            </a:r>
          </a:p>
          <a:p>
            <a:br>
              <a:rPr lang="en-US" b="0" dirty="0">
                <a:solidFill>
                  <a:srgbClr val="CDD6F4"/>
                </a:solidFill>
                <a:effectLst/>
                <a:latin typeface="Consolas" panose="020B0609020204030204" pitchFamily="49" charset="0"/>
              </a:rPr>
            </a:br>
            <a:r>
              <a:rPr lang="en-US" b="0" dirty="0">
                <a:solidFill>
                  <a:srgbClr val="CDD6F4"/>
                </a:solidFill>
                <a:effectLst/>
                <a:latin typeface="Consolas" panose="020B0609020204030204" pitchFamily="49" charset="0"/>
              </a:rPr>
              <a:t>    set </a:t>
            </a:r>
            <a:r>
              <a:rPr lang="en-US" b="0" dirty="0" err="1">
                <a:solidFill>
                  <a:srgbClr val="CDD6F4"/>
                </a:solidFill>
                <a:effectLst/>
                <a:latin typeface="Consolas" panose="020B0609020204030204" pitchFamily="49" charset="0"/>
              </a:rPr>
              <a:t>next_thread</a:t>
            </a:r>
            <a:r>
              <a:rPr lang="en-US" b="0" dirty="0">
                <a:solidFill>
                  <a:srgbClr val="CDD6F4"/>
                </a:solidFill>
                <a:effectLst/>
                <a:latin typeface="Consolas" panose="020B0609020204030204" pitchFamily="49" charset="0"/>
              </a:rPr>
              <a:t> state to READY</a:t>
            </a:r>
          </a:p>
          <a:p>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mycoroutine_switchto</a:t>
            </a:r>
            <a:r>
              <a:rPr lang="en-US" b="0" dirty="0">
                <a:solidFill>
                  <a:srgbClr val="9399B2"/>
                </a:solidFill>
                <a:effectLst/>
                <a:latin typeface="Consolas" panose="020B0609020204030204" pitchFamily="49" charset="0"/>
              </a:rPr>
              <a:t>(</a:t>
            </a:r>
            <a:r>
              <a:rPr lang="en-US" b="0" dirty="0">
                <a:solidFill>
                  <a:srgbClr val="94E2D5"/>
                </a:solidFill>
                <a:effectLst/>
                <a:latin typeface="Consolas" panose="020B0609020204030204" pitchFamily="49" charset="0"/>
              </a:rPr>
              <a:t>&amp;</a:t>
            </a:r>
            <a:r>
              <a:rPr lang="en-US" b="0" dirty="0" err="1">
                <a:solidFill>
                  <a:srgbClr val="CDD6F4"/>
                </a:solidFill>
                <a:effectLst/>
                <a:latin typeface="Consolas" panose="020B0609020204030204" pitchFamily="49" charset="0"/>
              </a:rPr>
              <a:t>next_thread</a:t>
            </a:r>
            <a:r>
              <a:rPr lang="en-US" b="0" dirty="0">
                <a:solidFill>
                  <a:srgbClr val="9399B2"/>
                </a:solidFill>
                <a:effectLst/>
                <a:latin typeface="Consolas" panose="020B0609020204030204" pitchFamily="49" charset="0"/>
              </a:rPr>
              <a:t>-&gt;</a:t>
            </a:r>
            <a:r>
              <a:rPr lang="en-US" b="0" dirty="0">
                <a:solidFill>
                  <a:srgbClr val="CDD6F4"/>
                </a:solidFill>
                <a:effectLst/>
                <a:latin typeface="Consolas" panose="020B0609020204030204" pitchFamily="49" charset="0"/>
              </a:rPr>
              <a:t>co</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alarm_op</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RESET</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F38BA8"/>
                </a:solidFill>
                <a:effectLst/>
                <a:latin typeface="Consolas" panose="020B0609020204030204" pitchFamily="49" charset="0"/>
              </a:rPr>
              <a:t>NULL</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p:txBody>
      </p:sp>
      <p:sp>
        <p:nvSpPr>
          <p:cNvPr id="4" name="TextBox 3">
            <a:extLst>
              <a:ext uri="{FF2B5EF4-FFF2-40B4-BE49-F238E27FC236}">
                <a16:creationId xmlns:a16="http://schemas.microsoft.com/office/drawing/2014/main" id="{298726A1-288E-7E85-DC03-A9D89A4B16CE}"/>
              </a:ext>
            </a:extLst>
          </p:cNvPr>
          <p:cNvSpPr txBox="1"/>
          <p:nvPr/>
        </p:nvSpPr>
        <p:spPr>
          <a:xfrm>
            <a:off x="494947" y="3999012"/>
            <a:ext cx="9474325" cy="1200329"/>
          </a:xfrm>
          <a:prstGeom prst="rect">
            <a:avLst/>
          </a:prstGeom>
          <a:noFill/>
        </p:spPr>
        <p:txBody>
          <a:bodyPr wrap="none" rtlCol="0">
            <a:spAutoFit/>
          </a:bodyPr>
          <a:lstStyle/>
          <a:p>
            <a:r>
              <a:rPr lang="en-US" dirty="0"/>
              <a:t>This function performs the context switching between the threads. At first it might seem like </a:t>
            </a:r>
          </a:p>
          <a:p>
            <a:r>
              <a:rPr lang="en-US" dirty="0"/>
              <a:t>the line after the coroutine switch will never run but as explained previously this is done so </a:t>
            </a:r>
          </a:p>
          <a:p>
            <a:r>
              <a:rPr lang="en-US" dirty="0"/>
              <a:t>that there is no race condition when switching threads. This line along ensures that any thread </a:t>
            </a:r>
          </a:p>
          <a:p>
            <a:r>
              <a:rPr lang="en-US" dirty="0"/>
              <a:t>that is resumed resets the alarm for itself.</a:t>
            </a:r>
          </a:p>
        </p:txBody>
      </p:sp>
    </p:spTree>
    <p:extLst>
      <p:ext uri="{BB962C8B-B14F-4D97-AF65-F5344CB8AC3E}">
        <p14:creationId xmlns:p14="http://schemas.microsoft.com/office/powerpoint/2010/main" val="3306971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211A80-0132-A408-7F7D-6D3E841CFA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862B14-0CBB-C83E-3821-A5979CC9A11F}"/>
              </a:ext>
            </a:extLst>
          </p:cNvPr>
          <p:cNvSpPr>
            <a:spLocks noGrp="1"/>
          </p:cNvSpPr>
          <p:nvPr>
            <p:ph type="title"/>
          </p:nvPr>
        </p:nvSpPr>
        <p:spPr/>
        <p:txBody>
          <a:bodyPr/>
          <a:lstStyle/>
          <a:p>
            <a:r>
              <a:rPr lang="en-US" b="1" dirty="0"/>
              <a:t>Assignment 2: </a:t>
            </a:r>
            <a:r>
              <a:rPr lang="en-US" dirty="0"/>
              <a:t>Scheduler related functions</a:t>
            </a:r>
          </a:p>
        </p:txBody>
      </p:sp>
      <p:sp>
        <p:nvSpPr>
          <p:cNvPr id="3" name="TextBox 2">
            <a:extLst>
              <a:ext uri="{FF2B5EF4-FFF2-40B4-BE49-F238E27FC236}">
                <a16:creationId xmlns:a16="http://schemas.microsoft.com/office/drawing/2014/main" id="{FC63D5C1-057A-5855-052B-418BEA4EE6F8}"/>
              </a:ext>
            </a:extLst>
          </p:cNvPr>
          <p:cNvSpPr txBox="1"/>
          <p:nvPr/>
        </p:nvSpPr>
        <p:spPr>
          <a:xfrm>
            <a:off x="494947" y="1690688"/>
            <a:ext cx="10568919" cy="2308324"/>
          </a:xfrm>
          <a:prstGeom prst="rect">
            <a:avLst/>
          </a:prstGeom>
          <a:noFill/>
        </p:spPr>
        <p:txBody>
          <a:bodyPr wrap="none" rtlCol="0">
            <a:spAutoFit/>
          </a:bodyPr>
          <a:lstStyle/>
          <a:p>
            <a:r>
              <a:rPr lang="en-US" b="0" dirty="0">
                <a:solidFill>
                  <a:srgbClr val="CBA6F7"/>
                </a:solidFill>
                <a:effectLst/>
                <a:latin typeface="Consolas" panose="020B0609020204030204" pitchFamily="49" charset="0"/>
              </a:rPr>
              <a:t>void</a:t>
            </a:r>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switch_thread</a:t>
            </a:r>
            <a:r>
              <a:rPr lang="en-US" b="0" dirty="0">
                <a:solidFill>
                  <a:srgbClr val="9399B2"/>
                </a:solidFill>
                <a:effectLst/>
                <a:latin typeface="Consolas" panose="020B0609020204030204" pitchFamily="49" charset="0"/>
              </a:rPr>
              <a:t>(</a:t>
            </a:r>
            <a:r>
              <a:rPr lang="en-US" b="0" dirty="0" err="1">
                <a:solidFill>
                  <a:srgbClr val="CBA6F7"/>
                </a:solidFill>
                <a:effectLst/>
                <a:latin typeface="Consolas" panose="020B0609020204030204" pitchFamily="49" charset="0"/>
              </a:rPr>
              <a:t>enum</a:t>
            </a:r>
            <a:r>
              <a:rPr lang="en-US" b="0" dirty="0">
                <a:solidFill>
                  <a:srgbClr val="CDD6F4"/>
                </a:solidFill>
                <a:effectLst/>
                <a:latin typeface="Consolas" panose="020B0609020204030204" pitchFamily="49" charset="0"/>
              </a:rPr>
              <a:t> </a:t>
            </a:r>
            <a:r>
              <a:rPr lang="en-US" b="0" i="1" dirty="0" err="1">
                <a:solidFill>
                  <a:srgbClr val="F9E2AF"/>
                </a:solidFill>
                <a:effectLst/>
                <a:latin typeface="Consolas" panose="020B0609020204030204" pitchFamily="49" charset="0"/>
              </a:rPr>
              <a:t>thread_state_t</a:t>
            </a:r>
            <a:r>
              <a:rPr lang="en-US" b="0" dirty="0">
                <a:solidFill>
                  <a:srgbClr val="CDD6F4"/>
                </a:solidFill>
                <a:effectLst/>
                <a:latin typeface="Consolas" panose="020B0609020204030204" pitchFamily="49" charset="0"/>
              </a:rPr>
              <a:t> </a:t>
            </a:r>
            <a:r>
              <a:rPr lang="en-US" b="0" i="1" dirty="0" err="1">
                <a:solidFill>
                  <a:srgbClr val="EBA0AC"/>
                </a:solidFill>
                <a:effectLst/>
                <a:latin typeface="Consolas" panose="020B0609020204030204" pitchFamily="49" charset="0"/>
              </a:rPr>
              <a:t>running_next_state</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i="1" dirty="0" err="1">
                <a:solidFill>
                  <a:srgbClr val="F9E2AF"/>
                </a:solidFill>
                <a:effectLst/>
                <a:latin typeface="Consolas" panose="020B0609020204030204" pitchFamily="49" charset="0"/>
              </a:rPr>
              <a:t>mythr_t</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i="1" dirty="0" err="1">
                <a:solidFill>
                  <a:srgbClr val="EBA0AC"/>
                </a:solidFill>
                <a:effectLst/>
                <a:latin typeface="Consolas" panose="020B0609020204030204" pitchFamily="49" charset="0"/>
              </a:rPr>
              <a:t>next_thread</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set currently running thread state to </a:t>
            </a:r>
            <a:r>
              <a:rPr lang="en-US" b="0" dirty="0" err="1">
                <a:solidFill>
                  <a:srgbClr val="CDD6F4"/>
                </a:solidFill>
                <a:effectLst/>
                <a:latin typeface="Consolas" panose="020B0609020204030204" pitchFamily="49" charset="0"/>
              </a:rPr>
              <a:t>running_next_state</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set currently running thread to next thread</a:t>
            </a:r>
          </a:p>
          <a:p>
            <a:br>
              <a:rPr lang="en-US" b="0" dirty="0">
                <a:solidFill>
                  <a:srgbClr val="CDD6F4"/>
                </a:solidFill>
                <a:effectLst/>
                <a:latin typeface="Consolas" panose="020B0609020204030204" pitchFamily="49" charset="0"/>
              </a:rPr>
            </a:br>
            <a:r>
              <a:rPr lang="en-US" b="0" dirty="0">
                <a:solidFill>
                  <a:srgbClr val="CDD6F4"/>
                </a:solidFill>
                <a:effectLst/>
                <a:latin typeface="Consolas" panose="020B0609020204030204" pitchFamily="49" charset="0"/>
              </a:rPr>
              <a:t>    set </a:t>
            </a:r>
            <a:r>
              <a:rPr lang="en-US" b="0" dirty="0" err="1">
                <a:solidFill>
                  <a:srgbClr val="CDD6F4"/>
                </a:solidFill>
                <a:effectLst/>
                <a:latin typeface="Consolas" panose="020B0609020204030204" pitchFamily="49" charset="0"/>
              </a:rPr>
              <a:t>next_thread</a:t>
            </a:r>
            <a:r>
              <a:rPr lang="en-US" b="0" dirty="0">
                <a:solidFill>
                  <a:srgbClr val="CDD6F4"/>
                </a:solidFill>
                <a:effectLst/>
                <a:latin typeface="Consolas" panose="020B0609020204030204" pitchFamily="49" charset="0"/>
              </a:rPr>
              <a:t> state to READY</a:t>
            </a:r>
          </a:p>
          <a:p>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mycoroutine_switchto</a:t>
            </a:r>
            <a:r>
              <a:rPr lang="en-US" b="0" dirty="0">
                <a:solidFill>
                  <a:srgbClr val="9399B2"/>
                </a:solidFill>
                <a:effectLst/>
                <a:latin typeface="Consolas" panose="020B0609020204030204" pitchFamily="49" charset="0"/>
              </a:rPr>
              <a:t>(</a:t>
            </a:r>
            <a:r>
              <a:rPr lang="en-US" b="0" dirty="0">
                <a:solidFill>
                  <a:srgbClr val="94E2D5"/>
                </a:solidFill>
                <a:effectLst/>
                <a:latin typeface="Consolas" panose="020B0609020204030204" pitchFamily="49" charset="0"/>
              </a:rPr>
              <a:t>&amp;</a:t>
            </a:r>
            <a:r>
              <a:rPr lang="en-US" b="0" dirty="0" err="1">
                <a:solidFill>
                  <a:srgbClr val="CDD6F4"/>
                </a:solidFill>
                <a:effectLst/>
                <a:latin typeface="Consolas" panose="020B0609020204030204" pitchFamily="49" charset="0"/>
              </a:rPr>
              <a:t>next_thread</a:t>
            </a:r>
            <a:r>
              <a:rPr lang="en-US" b="0" dirty="0">
                <a:solidFill>
                  <a:srgbClr val="9399B2"/>
                </a:solidFill>
                <a:effectLst/>
                <a:latin typeface="Consolas" panose="020B0609020204030204" pitchFamily="49" charset="0"/>
              </a:rPr>
              <a:t>-&gt;</a:t>
            </a:r>
            <a:r>
              <a:rPr lang="en-US" b="0" dirty="0">
                <a:solidFill>
                  <a:srgbClr val="CDD6F4"/>
                </a:solidFill>
                <a:effectLst/>
                <a:latin typeface="Consolas" panose="020B0609020204030204" pitchFamily="49" charset="0"/>
              </a:rPr>
              <a:t>co</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alarm_op</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RESET</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F38BA8"/>
                </a:solidFill>
                <a:effectLst/>
                <a:latin typeface="Consolas" panose="020B0609020204030204" pitchFamily="49" charset="0"/>
              </a:rPr>
              <a:t>NULL</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p:txBody>
      </p:sp>
      <p:sp>
        <p:nvSpPr>
          <p:cNvPr id="4" name="TextBox 3">
            <a:extLst>
              <a:ext uri="{FF2B5EF4-FFF2-40B4-BE49-F238E27FC236}">
                <a16:creationId xmlns:a16="http://schemas.microsoft.com/office/drawing/2014/main" id="{48F593FD-D525-D06C-3B3F-6FB2CCCB0E5C}"/>
              </a:ext>
            </a:extLst>
          </p:cNvPr>
          <p:cNvSpPr txBox="1"/>
          <p:nvPr/>
        </p:nvSpPr>
        <p:spPr>
          <a:xfrm>
            <a:off x="494947" y="3999012"/>
            <a:ext cx="9474325" cy="1200329"/>
          </a:xfrm>
          <a:prstGeom prst="rect">
            <a:avLst/>
          </a:prstGeom>
          <a:noFill/>
        </p:spPr>
        <p:txBody>
          <a:bodyPr wrap="none" rtlCol="0">
            <a:spAutoFit/>
          </a:bodyPr>
          <a:lstStyle/>
          <a:p>
            <a:r>
              <a:rPr lang="en-US" dirty="0"/>
              <a:t>This function performs the context switching between the threads. At first it might seem like </a:t>
            </a:r>
          </a:p>
          <a:p>
            <a:r>
              <a:rPr lang="en-US" dirty="0"/>
              <a:t>the line after the coroutine switch will never run but as explained previously this is done so </a:t>
            </a:r>
          </a:p>
          <a:p>
            <a:r>
              <a:rPr lang="en-US" dirty="0"/>
              <a:t>that there is no race condition when switching threads. This line along ensures that any thread </a:t>
            </a:r>
          </a:p>
          <a:p>
            <a:r>
              <a:rPr lang="en-US" dirty="0"/>
              <a:t>that is resumed resets the alarm for itself.</a:t>
            </a:r>
          </a:p>
        </p:txBody>
      </p:sp>
    </p:spTree>
    <p:extLst>
      <p:ext uri="{BB962C8B-B14F-4D97-AF65-F5344CB8AC3E}">
        <p14:creationId xmlns:p14="http://schemas.microsoft.com/office/powerpoint/2010/main" val="48325322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20B4C8-09AB-A594-72B4-E3C8AA6E9C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555DBE-CF51-3FE5-A92D-A1AD78E420A7}"/>
              </a:ext>
            </a:extLst>
          </p:cNvPr>
          <p:cNvSpPr>
            <a:spLocks noGrp="1"/>
          </p:cNvSpPr>
          <p:nvPr>
            <p:ph type="title"/>
          </p:nvPr>
        </p:nvSpPr>
        <p:spPr>
          <a:xfrm>
            <a:off x="838200" y="337015"/>
            <a:ext cx="10515600" cy="1325563"/>
          </a:xfrm>
        </p:spPr>
        <p:txBody>
          <a:bodyPr/>
          <a:lstStyle/>
          <a:p>
            <a:r>
              <a:rPr lang="en-US" b="1" dirty="0"/>
              <a:t>Assignment 2: </a:t>
            </a:r>
            <a:r>
              <a:rPr lang="en-US" dirty="0"/>
              <a:t>Utility functions</a:t>
            </a:r>
          </a:p>
        </p:txBody>
      </p:sp>
      <p:sp>
        <p:nvSpPr>
          <p:cNvPr id="3" name="TextBox 2">
            <a:extLst>
              <a:ext uri="{FF2B5EF4-FFF2-40B4-BE49-F238E27FC236}">
                <a16:creationId xmlns:a16="http://schemas.microsoft.com/office/drawing/2014/main" id="{C26BA4CB-E602-DDF5-324C-55D9EB75BD7D}"/>
              </a:ext>
            </a:extLst>
          </p:cNvPr>
          <p:cNvSpPr txBox="1"/>
          <p:nvPr/>
        </p:nvSpPr>
        <p:spPr>
          <a:xfrm>
            <a:off x="2917886" y="1662578"/>
            <a:ext cx="6356227" cy="2062103"/>
          </a:xfrm>
          <a:prstGeom prst="rect">
            <a:avLst/>
          </a:prstGeom>
          <a:noFill/>
        </p:spPr>
        <p:txBody>
          <a:bodyPr wrap="none" rtlCol="0">
            <a:spAutoFit/>
          </a:bodyPr>
          <a:lstStyle/>
          <a:p>
            <a:r>
              <a:rPr lang="en-US" sz="1600" b="0" dirty="0">
                <a:solidFill>
                  <a:srgbClr val="CBA6F7"/>
                </a:solidFill>
                <a:effectLst/>
                <a:latin typeface="Consolas" panose="020B0609020204030204" pitchFamily="49" charset="0"/>
              </a:rPr>
              <a:t>void</a:t>
            </a:r>
            <a:r>
              <a:rPr lang="en-US" sz="1600" b="0" dirty="0">
                <a:solidFill>
                  <a:srgbClr val="CDD6F4"/>
                </a:solidFill>
                <a:effectLst/>
                <a:latin typeface="Consolas" panose="020B0609020204030204" pitchFamily="49" charset="0"/>
              </a:rPr>
              <a:t> </a:t>
            </a:r>
            <a:r>
              <a:rPr lang="en-US" sz="1600" b="0" i="1" dirty="0" err="1">
                <a:solidFill>
                  <a:srgbClr val="89B4FA"/>
                </a:solidFill>
                <a:effectLst/>
                <a:latin typeface="Consolas" panose="020B0609020204030204" pitchFamily="49" charset="0"/>
              </a:rPr>
              <a:t>run_thread</a:t>
            </a:r>
            <a:r>
              <a:rPr lang="en-US" sz="1600" b="0" dirty="0">
                <a:solidFill>
                  <a:srgbClr val="9399B2"/>
                </a:solidFill>
                <a:effectLst/>
                <a:latin typeface="Consolas" panose="020B0609020204030204" pitchFamily="49" charset="0"/>
              </a:rPr>
              <a:t>(</a:t>
            </a:r>
            <a:r>
              <a:rPr lang="en-US" sz="1600" b="0" dirty="0">
                <a:solidFill>
                  <a:srgbClr val="CBA6F7"/>
                </a:solidFill>
                <a:effectLst/>
                <a:latin typeface="Consolas" panose="020B0609020204030204" pitchFamily="49" charset="0"/>
              </a:rPr>
              <a:t>void</a:t>
            </a:r>
            <a:r>
              <a:rPr lang="en-US" sz="1600" b="0" dirty="0">
                <a:solidFill>
                  <a:srgbClr val="CDD6F4"/>
                </a:solidFill>
                <a:effectLst/>
                <a:latin typeface="Consolas" panose="020B0609020204030204" pitchFamily="49" charset="0"/>
              </a:rPr>
              <a:t> </a:t>
            </a:r>
            <a:r>
              <a:rPr lang="en-US" sz="1600" b="0" dirty="0">
                <a:solidFill>
                  <a:srgbClr val="94E2D5"/>
                </a:solidFill>
                <a:effectLst/>
                <a:latin typeface="Consolas" panose="020B0609020204030204" pitchFamily="49" charset="0"/>
              </a:rPr>
              <a:t>*</a:t>
            </a:r>
            <a:r>
              <a:rPr lang="en-US" sz="1600" b="0" i="1" dirty="0" err="1">
                <a:solidFill>
                  <a:srgbClr val="EBA0AC"/>
                </a:solidFill>
                <a:effectLst/>
                <a:latin typeface="Consolas" panose="020B0609020204030204" pitchFamily="49" charset="0"/>
              </a:rPr>
              <a:t>arg</a:t>
            </a:r>
            <a:r>
              <a:rPr lang="en-US" sz="1600" b="0" dirty="0">
                <a:solidFill>
                  <a:srgbClr val="9399B2"/>
                </a:solidFill>
                <a:effectLst/>
                <a:latin typeface="Consolas" panose="020B0609020204030204" pitchFamily="49" charset="0"/>
              </a:rPr>
              <a:t>)</a:t>
            </a:r>
            <a:r>
              <a:rPr lang="en-US" sz="1600" b="0" dirty="0">
                <a:solidFill>
                  <a:srgbClr val="CDD6F4"/>
                </a:solidFill>
                <a:effectLst/>
                <a:latin typeface="Consolas" panose="020B0609020204030204" pitchFamily="49" charset="0"/>
              </a:rPr>
              <a:t> </a:t>
            </a:r>
            <a:r>
              <a:rPr lang="en-US" sz="1600" b="0" dirty="0">
                <a:solidFill>
                  <a:srgbClr val="9399B2"/>
                </a:solidFill>
                <a:effectLst/>
                <a:latin typeface="Consolas" panose="020B0609020204030204" pitchFamily="49" charset="0"/>
              </a:rPr>
              <a:t>{</a:t>
            </a:r>
            <a:endParaRPr lang="en-US" sz="1600" b="0" dirty="0">
              <a:solidFill>
                <a:srgbClr val="CDD6F4"/>
              </a:solidFill>
              <a:effectLst/>
              <a:latin typeface="Consolas" panose="020B0609020204030204" pitchFamily="49" charset="0"/>
            </a:endParaRPr>
          </a:p>
          <a:p>
            <a:r>
              <a:rPr lang="en-US" sz="1600" b="0" dirty="0">
                <a:solidFill>
                  <a:srgbClr val="CDD6F4"/>
                </a:solidFill>
                <a:effectLst/>
                <a:latin typeface="Consolas" panose="020B0609020204030204" pitchFamily="49" charset="0"/>
              </a:rPr>
              <a:t>    </a:t>
            </a:r>
            <a:r>
              <a:rPr lang="en-US" sz="1600" b="0" dirty="0">
                <a:solidFill>
                  <a:srgbClr val="CBA6F7"/>
                </a:solidFill>
                <a:effectLst/>
                <a:latin typeface="Consolas" panose="020B0609020204030204" pitchFamily="49" charset="0"/>
              </a:rPr>
              <a:t>void</a:t>
            </a:r>
            <a:r>
              <a:rPr lang="en-US" sz="1600" b="0" dirty="0">
                <a:solidFill>
                  <a:srgbClr val="CDD6F4"/>
                </a:solidFill>
                <a:effectLst/>
                <a:latin typeface="Consolas" panose="020B0609020204030204" pitchFamily="49" charset="0"/>
              </a:rPr>
              <a:t> </a:t>
            </a:r>
            <a:r>
              <a:rPr lang="en-US" sz="1600" b="0" dirty="0">
                <a:solidFill>
                  <a:srgbClr val="9399B2"/>
                </a:solidFill>
                <a:effectLst/>
                <a:latin typeface="Consolas" panose="020B0609020204030204" pitchFamily="49" charset="0"/>
              </a:rPr>
              <a:t>(</a:t>
            </a:r>
            <a:r>
              <a:rPr lang="en-US" sz="1600" b="0" dirty="0">
                <a:solidFill>
                  <a:srgbClr val="94E2D5"/>
                </a:solidFill>
                <a:effectLst/>
                <a:latin typeface="Consolas" panose="020B0609020204030204" pitchFamily="49" charset="0"/>
              </a:rPr>
              <a:t>*</a:t>
            </a:r>
            <a:r>
              <a:rPr lang="en-US" sz="1600" b="0" dirty="0">
                <a:solidFill>
                  <a:srgbClr val="CDD6F4"/>
                </a:solidFill>
                <a:effectLst/>
                <a:latin typeface="Consolas" panose="020B0609020204030204" pitchFamily="49" charset="0"/>
              </a:rPr>
              <a:t>body</a:t>
            </a:r>
            <a:r>
              <a:rPr lang="en-US" sz="1600" b="0" dirty="0">
                <a:solidFill>
                  <a:srgbClr val="9399B2"/>
                </a:solidFill>
                <a:effectLst/>
                <a:latin typeface="Consolas" panose="020B0609020204030204" pitchFamily="49" charset="0"/>
              </a:rPr>
              <a:t>)</a:t>
            </a:r>
            <a:r>
              <a:rPr lang="en-US" sz="1600" b="0" dirty="0">
                <a:solidFill>
                  <a:srgbClr val="CDD6F4"/>
                </a:solidFill>
                <a:effectLst/>
                <a:latin typeface="Consolas" panose="020B0609020204030204" pitchFamily="49" charset="0"/>
              </a:rPr>
              <a:t> </a:t>
            </a:r>
            <a:r>
              <a:rPr lang="en-US" sz="1600" b="0" dirty="0">
                <a:solidFill>
                  <a:srgbClr val="9399B2"/>
                </a:solidFill>
                <a:effectLst/>
                <a:latin typeface="Consolas" panose="020B0609020204030204" pitchFamily="49" charset="0"/>
              </a:rPr>
              <a:t>(</a:t>
            </a:r>
            <a:r>
              <a:rPr lang="en-US" sz="1600" b="0" dirty="0">
                <a:solidFill>
                  <a:srgbClr val="CBA6F7"/>
                </a:solidFill>
                <a:effectLst/>
                <a:latin typeface="Consolas" panose="020B0609020204030204" pitchFamily="49" charset="0"/>
              </a:rPr>
              <a:t>void</a:t>
            </a:r>
            <a:r>
              <a:rPr lang="en-US" sz="1600" b="0" dirty="0">
                <a:solidFill>
                  <a:srgbClr val="CDD6F4"/>
                </a:solidFill>
                <a:effectLst/>
                <a:latin typeface="Consolas" panose="020B0609020204030204" pitchFamily="49" charset="0"/>
              </a:rPr>
              <a:t> </a:t>
            </a:r>
            <a:r>
              <a:rPr lang="en-US" sz="1600" b="0" dirty="0">
                <a:solidFill>
                  <a:srgbClr val="94E2D5"/>
                </a:solidFill>
                <a:effectLst/>
                <a:latin typeface="Consolas" panose="020B0609020204030204" pitchFamily="49" charset="0"/>
              </a:rPr>
              <a:t>*</a:t>
            </a:r>
            <a:r>
              <a:rPr lang="en-US" sz="1600" b="0" dirty="0">
                <a:solidFill>
                  <a:srgbClr val="9399B2"/>
                </a:solidFill>
                <a:effectLst/>
                <a:latin typeface="Consolas" panose="020B0609020204030204" pitchFamily="49" charset="0"/>
              </a:rPr>
              <a:t>)</a:t>
            </a:r>
            <a:r>
              <a:rPr lang="en-US" sz="1600" b="0" dirty="0">
                <a:solidFill>
                  <a:srgbClr val="CDD6F4"/>
                </a:solidFill>
                <a:effectLst/>
                <a:latin typeface="Consolas" panose="020B0609020204030204" pitchFamily="49" charset="0"/>
              </a:rPr>
              <a:t> </a:t>
            </a:r>
            <a:r>
              <a:rPr lang="en-US" sz="1600" b="0" dirty="0">
                <a:solidFill>
                  <a:srgbClr val="94E2D5"/>
                </a:solidFill>
                <a:effectLst/>
                <a:latin typeface="Consolas" panose="020B0609020204030204" pitchFamily="49" charset="0"/>
              </a:rPr>
              <a:t>=</a:t>
            </a:r>
            <a:r>
              <a:rPr lang="en-US" sz="1600" b="0" dirty="0">
                <a:solidFill>
                  <a:srgbClr val="CDD6F4"/>
                </a:solidFill>
                <a:effectLst/>
                <a:latin typeface="Consolas" panose="020B0609020204030204" pitchFamily="49" charset="0"/>
              </a:rPr>
              <a:t> get body of thread from </a:t>
            </a:r>
            <a:r>
              <a:rPr lang="en-US" sz="1600" b="0" dirty="0" err="1">
                <a:solidFill>
                  <a:srgbClr val="CDD6F4"/>
                </a:solidFill>
                <a:effectLst/>
                <a:latin typeface="Consolas" panose="020B0609020204030204" pitchFamily="49" charset="0"/>
              </a:rPr>
              <a:t>arg</a:t>
            </a:r>
            <a:endParaRPr lang="en-US" sz="1600" b="0" dirty="0">
              <a:solidFill>
                <a:srgbClr val="CDD6F4"/>
              </a:solidFill>
              <a:effectLst/>
              <a:latin typeface="Consolas" panose="020B0609020204030204" pitchFamily="49" charset="0"/>
            </a:endParaRPr>
          </a:p>
          <a:p>
            <a:r>
              <a:rPr lang="en-US" sz="1600" b="0" dirty="0">
                <a:solidFill>
                  <a:srgbClr val="CDD6F4"/>
                </a:solidFill>
                <a:effectLst/>
                <a:latin typeface="Consolas" panose="020B0609020204030204" pitchFamily="49" charset="0"/>
              </a:rPr>
              <a:t>    </a:t>
            </a:r>
            <a:r>
              <a:rPr lang="en-US" sz="1600" b="0" dirty="0">
                <a:solidFill>
                  <a:srgbClr val="CBA6F7"/>
                </a:solidFill>
                <a:effectLst/>
                <a:latin typeface="Consolas" panose="020B0609020204030204" pitchFamily="49" charset="0"/>
              </a:rPr>
              <a:t>void</a:t>
            </a:r>
            <a:r>
              <a:rPr lang="en-US" sz="1600" b="0" dirty="0">
                <a:solidFill>
                  <a:srgbClr val="CDD6F4"/>
                </a:solidFill>
                <a:effectLst/>
                <a:latin typeface="Consolas" panose="020B0609020204030204" pitchFamily="49" charset="0"/>
              </a:rPr>
              <a:t> </a:t>
            </a:r>
            <a:r>
              <a:rPr lang="en-US" sz="1600" b="0" dirty="0">
                <a:solidFill>
                  <a:srgbClr val="94E2D5"/>
                </a:solidFill>
                <a:effectLst/>
                <a:latin typeface="Consolas" panose="020B0609020204030204" pitchFamily="49" charset="0"/>
              </a:rPr>
              <a:t>*</a:t>
            </a:r>
            <a:r>
              <a:rPr lang="en-US" sz="1600" b="0" dirty="0" err="1">
                <a:solidFill>
                  <a:srgbClr val="CDD6F4"/>
                </a:solidFill>
                <a:effectLst/>
                <a:latin typeface="Consolas" panose="020B0609020204030204" pitchFamily="49" charset="0"/>
              </a:rPr>
              <a:t>body_arg</a:t>
            </a:r>
            <a:r>
              <a:rPr lang="en-US" sz="1600" b="0" dirty="0">
                <a:solidFill>
                  <a:srgbClr val="CDD6F4"/>
                </a:solidFill>
                <a:effectLst/>
                <a:latin typeface="Consolas" panose="020B0609020204030204" pitchFamily="49" charset="0"/>
              </a:rPr>
              <a:t> </a:t>
            </a:r>
            <a:r>
              <a:rPr lang="en-US" sz="1600" b="0" dirty="0">
                <a:solidFill>
                  <a:srgbClr val="94E2D5"/>
                </a:solidFill>
                <a:effectLst/>
                <a:latin typeface="Consolas" panose="020B0609020204030204" pitchFamily="49" charset="0"/>
              </a:rPr>
              <a:t>=</a:t>
            </a:r>
            <a:r>
              <a:rPr lang="en-US" sz="1600" b="0" dirty="0">
                <a:solidFill>
                  <a:srgbClr val="CDD6F4"/>
                </a:solidFill>
                <a:effectLst/>
                <a:latin typeface="Consolas" panose="020B0609020204030204" pitchFamily="49" charset="0"/>
              </a:rPr>
              <a:t> get </a:t>
            </a:r>
            <a:r>
              <a:rPr lang="en-US" sz="1600" b="0" dirty="0" err="1">
                <a:solidFill>
                  <a:srgbClr val="CDD6F4"/>
                </a:solidFill>
                <a:effectLst/>
                <a:latin typeface="Consolas" panose="020B0609020204030204" pitchFamily="49" charset="0"/>
              </a:rPr>
              <a:t>arg</a:t>
            </a:r>
            <a:r>
              <a:rPr lang="en-US" sz="1600" b="0" dirty="0">
                <a:solidFill>
                  <a:srgbClr val="CDD6F4"/>
                </a:solidFill>
                <a:effectLst/>
                <a:latin typeface="Consolas" panose="020B0609020204030204" pitchFamily="49" charset="0"/>
              </a:rPr>
              <a:t> of thread from </a:t>
            </a:r>
            <a:r>
              <a:rPr lang="en-US" sz="1600" b="0" dirty="0" err="1">
                <a:solidFill>
                  <a:srgbClr val="CDD6F4"/>
                </a:solidFill>
                <a:effectLst/>
                <a:latin typeface="Consolas" panose="020B0609020204030204" pitchFamily="49" charset="0"/>
              </a:rPr>
              <a:t>arg</a:t>
            </a:r>
            <a:endParaRPr lang="en-US" sz="1600" b="0" dirty="0">
              <a:solidFill>
                <a:srgbClr val="CDD6F4"/>
              </a:solidFill>
              <a:effectLst/>
              <a:latin typeface="Consolas" panose="020B0609020204030204" pitchFamily="49" charset="0"/>
            </a:endParaRPr>
          </a:p>
          <a:p>
            <a:br>
              <a:rPr lang="en-US" sz="1600" b="0" dirty="0">
                <a:solidFill>
                  <a:srgbClr val="CDD6F4"/>
                </a:solidFill>
                <a:effectLst/>
                <a:latin typeface="Consolas" panose="020B0609020204030204" pitchFamily="49" charset="0"/>
              </a:rPr>
            </a:br>
            <a:r>
              <a:rPr lang="en-US" sz="1600" b="0" dirty="0">
                <a:solidFill>
                  <a:srgbClr val="CDD6F4"/>
                </a:solidFill>
                <a:effectLst/>
                <a:latin typeface="Consolas" panose="020B0609020204030204" pitchFamily="49" charset="0"/>
              </a:rPr>
              <a:t>    </a:t>
            </a:r>
            <a:r>
              <a:rPr lang="en-US" sz="1600" dirty="0">
                <a:solidFill>
                  <a:srgbClr val="CDD6F4"/>
                </a:solidFill>
                <a:latin typeface="Consolas" panose="020B0609020204030204" pitchFamily="49" charset="0"/>
              </a:rPr>
              <a:t>reset alarm</a:t>
            </a:r>
          </a:p>
          <a:p>
            <a:r>
              <a:rPr lang="en-US" sz="1600" b="0" dirty="0">
                <a:solidFill>
                  <a:srgbClr val="CDD6F4"/>
                </a:solidFill>
                <a:effectLst/>
                <a:latin typeface="Consolas" panose="020B0609020204030204" pitchFamily="49" charset="0"/>
              </a:rPr>
              <a:t>    </a:t>
            </a:r>
            <a:r>
              <a:rPr lang="en-US" sz="1600" b="0" i="1" dirty="0">
                <a:solidFill>
                  <a:srgbClr val="89B4FA"/>
                </a:solidFill>
                <a:effectLst/>
                <a:latin typeface="Consolas" panose="020B0609020204030204" pitchFamily="49" charset="0"/>
              </a:rPr>
              <a:t>body</a:t>
            </a:r>
            <a:r>
              <a:rPr lang="en-US" sz="1600" b="0" dirty="0">
                <a:solidFill>
                  <a:srgbClr val="9399B2"/>
                </a:solidFill>
                <a:effectLst/>
                <a:latin typeface="Consolas" panose="020B0609020204030204" pitchFamily="49" charset="0"/>
              </a:rPr>
              <a:t>(</a:t>
            </a:r>
            <a:r>
              <a:rPr lang="en-US" sz="1600" b="0" dirty="0" err="1">
                <a:solidFill>
                  <a:srgbClr val="CDD6F4"/>
                </a:solidFill>
                <a:effectLst/>
                <a:latin typeface="Consolas" panose="020B0609020204030204" pitchFamily="49" charset="0"/>
              </a:rPr>
              <a:t>body_arg</a:t>
            </a:r>
            <a:r>
              <a:rPr lang="en-US" sz="1600" b="0" dirty="0">
                <a:solidFill>
                  <a:srgbClr val="9399B2"/>
                </a:solidFill>
                <a:effectLst/>
                <a:latin typeface="Consolas" panose="020B0609020204030204" pitchFamily="49" charset="0"/>
              </a:rPr>
              <a:t>)</a:t>
            </a:r>
            <a:endParaRPr lang="en-US" sz="1600" b="0" dirty="0">
              <a:solidFill>
                <a:srgbClr val="CDD6F4"/>
              </a:solidFill>
              <a:effectLst/>
              <a:latin typeface="Consolas" panose="020B0609020204030204" pitchFamily="49" charset="0"/>
            </a:endParaRPr>
          </a:p>
          <a:p>
            <a:r>
              <a:rPr lang="en-US" sz="1600" b="0" dirty="0">
                <a:solidFill>
                  <a:srgbClr val="CDD6F4"/>
                </a:solidFill>
                <a:effectLst/>
                <a:latin typeface="Consolas" panose="020B0609020204030204" pitchFamily="49" charset="0"/>
              </a:rPr>
              <a:t>    </a:t>
            </a:r>
            <a:r>
              <a:rPr lang="en-US" sz="1600" b="0" i="1" dirty="0" err="1">
                <a:solidFill>
                  <a:srgbClr val="89B4FA"/>
                </a:solidFill>
                <a:effectLst/>
                <a:latin typeface="Consolas" panose="020B0609020204030204" pitchFamily="49" charset="0"/>
              </a:rPr>
              <a:t>run_scheduler</a:t>
            </a:r>
            <a:r>
              <a:rPr lang="en-US" sz="1600" b="0" dirty="0">
                <a:solidFill>
                  <a:srgbClr val="9399B2"/>
                </a:solidFill>
                <a:effectLst/>
                <a:latin typeface="Consolas" panose="020B0609020204030204" pitchFamily="49" charset="0"/>
              </a:rPr>
              <a:t>(</a:t>
            </a:r>
            <a:r>
              <a:rPr lang="en-US" sz="1600" b="0" dirty="0">
                <a:solidFill>
                  <a:srgbClr val="CDD6F4"/>
                </a:solidFill>
                <a:effectLst/>
                <a:latin typeface="Consolas" panose="020B0609020204030204" pitchFamily="49" charset="0"/>
              </a:rPr>
              <a:t>TERMINATED</a:t>
            </a:r>
            <a:r>
              <a:rPr lang="en-US" sz="1600" b="0" dirty="0">
                <a:solidFill>
                  <a:srgbClr val="9399B2"/>
                </a:solidFill>
                <a:effectLst/>
                <a:latin typeface="Consolas" panose="020B0609020204030204" pitchFamily="49" charset="0"/>
              </a:rPr>
              <a:t>)</a:t>
            </a:r>
            <a:endParaRPr lang="en-US" sz="1600" b="0" dirty="0">
              <a:solidFill>
                <a:srgbClr val="CDD6F4"/>
              </a:solidFill>
              <a:effectLst/>
              <a:latin typeface="Consolas" panose="020B0609020204030204" pitchFamily="49" charset="0"/>
            </a:endParaRPr>
          </a:p>
          <a:p>
            <a:r>
              <a:rPr lang="en-US" sz="1600" b="0" dirty="0">
                <a:solidFill>
                  <a:srgbClr val="9399B2"/>
                </a:solidFill>
                <a:effectLst/>
                <a:latin typeface="Consolas" panose="020B0609020204030204" pitchFamily="49" charset="0"/>
              </a:rPr>
              <a:t>}</a:t>
            </a:r>
            <a:endParaRPr lang="en-US" sz="1600" b="0" dirty="0">
              <a:solidFill>
                <a:srgbClr val="CDD6F4"/>
              </a:solidFill>
              <a:effectLst/>
              <a:latin typeface="Consolas" panose="020B0609020204030204" pitchFamily="49" charset="0"/>
            </a:endParaRPr>
          </a:p>
        </p:txBody>
      </p:sp>
      <p:sp>
        <p:nvSpPr>
          <p:cNvPr id="4" name="TextBox 3">
            <a:extLst>
              <a:ext uri="{FF2B5EF4-FFF2-40B4-BE49-F238E27FC236}">
                <a16:creationId xmlns:a16="http://schemas.microsoft.com/office/drawing/2014/main" id="{DCFAE228-2CF6-76D4-1456-5C34C8C634E8}"/>
              </a:ext>
            </a:extLst>
          </p:cNvPr>
          <p:cNvSpPr txBox="1"/>
          <p:nvPr/>
        </p:nvSpPr>
        <p:spPr>
          <a:xfrm>
            <a:off x="838200" y="3724681"/>
            <a:ext cx="9070368" cy="923330"/>
          </a:xfrm>
          <a:prstGeom prst="rect">
            <a:avLst/>
          </a:prstGeom>
          <a:noFill/>
        </p:spPr>
        <p:txBody>
          <a:bodyPr wrap="none" rtlCol="0">
            <a:spAutoFit/>
          </a:bodyPr>
          <a:lstStyle/>
          <a:p>
            <a:r>
              <a:rPr lang="en-US" dirty="0"/>
              <a:t>This function is a wrapper of the function that is run by a thread. This is used in order to </a:t>
            </a:r>
          </a:p>
          <a:p>
            <a:r>
              <a:rPr lang="en-US" dirty="0"/>
              <a:t>reset the alarm every time a new thread starts and to return to the scheduler once it needs</a:t>
            </a:r>
          </a:p>
          <a:p>
            <a:r>
              <a:rPr lang="en-US" dirty="0"/>
              <a:t>to terminate.</a:t>
            </a:r>
          </a:p>
        </p:txBody>
      </p:sp>
    </p:spTree>
    <p:extLst>
      <p:ext uri="{BB962C8B-B14F-4D97-AF65-F5344CB8AC3E}">
        <p14:creationId xmlns:p14="http://schemas.microsoft.com/office/powerpoint/2010/main" val="297934548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D20F5D-FAD2-04E3-F773-E534C3199C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DC6C48-78F8-18ED-E236-77D9BAD412B7}"/>
              </a:ext>
            </a:extLst>
          </p:cNvPr>
          <p:cNvSpPr>
            <a:spLocks noGrp="1"/>
          </p:cNvSpPr>
          <p:nvPr>
            <p:ph type="title"/>
          </p:nvPr>
        </p:nvSpPr>
        <p:spPr>
          <a:xfrm>
            <a:off x="838200" y="337015"/>
            <a:ext cx="10515600" cy="1325563"/>
          </a:xfrm>
        </p:spPr>
        <p:txBody>
          <a:bodyPr/>
          <a:lstStyle/>
          <a:p>
            <a:r>
              <a:rPr lang="en-US" b="1" dirty="0"/>
              <a:t>Assignment 2: </a:t>
            </a:r>
            <a:r>
              <a:rPr lang="en-US" dirty="0"/>
              <a:t>Utility functions</a:t>
            </a:r>
          </a:p>
        </p:txBody>
      </p:sp>
      <p:sp>
        <p:nvSpPr>
          <p:cNvPr id="3" name="TextBox 2">
            <a:extLst>
              <a:ext uri="{FF2B5EF4-FFF2-40B4-BE49-F238E27FC236}">
                <a16:creationId xmlns:a16="http://schemas.microsoft.com/office/drawing/2014/main" id="{AB404D86-8726-8235-F623-85C8DBB09612}"/>
              </a:ext>
            </a:extLst>
          </p:cNvPr>
          <p:cNvSpPr txBox="1"/>
          <p:nvPr/>
        </p:nvSpPr>
        <p:spPr>
          <a:xfrm>
            <a:off x="838200" y="1456769"/>
            <a:ext cx="7141699" cy="4185761"/>
          </a:xfrm>
          <a:prstGeom prst="rect">
            <a:avLst/>
          </a:prstGeom>
          <a:noFill/>
        </p:spPr>
        <p:txBody>
          <a:bodyPr wrap="none" rtlCol="0">
            <a:spAutoFit/>
          </a:bodyPr>
          <a:lstStyle/>
          <a:p>
            <a:r>
              <a:rPr lang="en-US" sz="1400" b="0" dirty="0">
                <a:solidFill>
                  <a:srgbClr val="CBA6F7"/>
                </a:solidFill>
                <a:effectLst/>
                <a:latin typeface="Consolas" panose="020B0609020204030204" pitchFamily="49" charset="0"/>
              </a:rPr>
              <a:t>void</a:t>
            </a:r>
            <a:r>
              <a:rPr lang="en-US" sz="1400" b="0" dirty="0">
                <a:solidFill>
                  <a:srgbClr val="CDD6F4"/>
                </a:solidFill>
                <a:effectLst/>
                <a:latin typeface="Consolas" panose="020B0609020204030204" pitchFamily="49" charset="0"/>
              </a:rPr>
              <a:t> </a:t>
            </a:r>
            <a:r>
              <a:rPr lang="en-US" sz="1400" b="0" i="1" dirty="0" err="1">
                <a:solidFill>
                  <a:srgbClr val="89B4FA"/>
                </a:solidFill>
                <a:effectLst/>
                <a:latin typeface="Consolas" panose="020B0609020204030204" pitchFamily="49" charset="0"/>
              </a:rPr>
              <a:t>alarm_op</a:t>
            </a:r>
            <a:r>
              <a:rPr lang="en-US" sz="1400" b="0" dirty="0">
                <a:solidFill>
                  <a:srgbClr val="9399B2"/>
                </a:solidFill>
                <a:effectLst/>
                <a:latin typeface="Consolas" panose="020B0609020204030204" pitchFamily="49" charset="0"/>
              </a:rPr>
              <a:t>(</a:t>
            </a:r>
            <a:r>
              <a:rPr lang="en-US" sz="1400" b="0" dirty="0" err="1">
                <a:solidFill>
                  <a:srgbClr val="CBA6F7"/>
                </a:solidFill>
                <a:effectLst/>
                <a:latin typeface="Consolas" panose="020B0609020204030204" pitchFamily="49" charset="0"/>
              </a:rPr>
              <a:t>enum</a:t>
            </a:r>
            <a:r>
              <a:rPr lang="en-US" sz="1400" b="0" dirty="0">
                <a:solidFill>
                  <a:srgbClr val="CDD6F4"/>
                </a:solidFill>
                <a:effectLst/>
                <a:latin typeface="Consolas" panose="020B0609020204030204" pitchFamily="49" charset="0"/>
              </a:rPr>
              <a:t> </a:t>
            </a:r>
            <a:r>
              <a:rPr lang="en-US" sz="1400" b="0" i="1" dirty="0" err="1">
                <a:solidFill>
                  <a:srgbClr val="F9E2AF"/>
                </a:solidFill>
                <a:effectLst/>
                <a:latin typeface="Consolas" panose="020B0609020204030204" pitchFamily="49" charset="0"/>
              </a:rPr>
              <a:t>alarm_op_t</a:t>
            </a:r>
            <a:r>
              <a:rPr lang="en-US" sz="1400" b="0" dirty="0">
                <a:solidFill>
                  <a:srgbClr val="CDD6F4"/>
                </a:solidFill>
                <a:effectLst/>
                <a:latin typeface="Consolas" panose="020B0609020204030204" pitchFamily="49" charset="0"/>
              </a:rPr>
              <a:t> </a:t>
            </a:r>
            <a:r>
              <a:rPr lang="en-US" sz="1400" b="0" i="1" dirty="0">
                <a:solidFill>
                  <a:srgbClr val="EBA0AC"/>
                </a:solidFill>
                <a:effectLst/>
                <a:latin typeface="Consolas" panose="020B0609020204030204" pitchFamily="49" charset="0"/>
              </a:rPr>
              <a:t>operation</a:t>
            </a:r>
            <a:r>
              <a:rPr lang="en-US" sz="1400" b="0" dirty="0">
                <a:solidFill>
                  <a:srgbClr val="9399B2"/>
                </a:solidFill>
                <a:effectLst/>
                <a:latin typeface="Consolas" panose="020B0609020204030204" pitchFamily="49" charset="0"/>
              </a:rPr>
              <a:t>,</a:t>
            </a:r>
            <a:r>
              <a:rPr lang="en-US" sz="1400" b="0" dirty="0">
                <a:solidFill>
                  <a:srgbClr val="CDD6F4"/>
                </a:solidFill>
                <a:effectLst/>
                <a:latin typeface="Consolas" panose="020B0609020204030204" pitchFamily="49" charset="0"/>
              </a:rPr>
              <a:t> </a:t>
            </a:r>
            <a:r>
              <a:rPr lang="en-US" sz="1400" b="0" dirty="0">
                <a:solidFill>
                  <a:srgbClr val="CBA6F7"/>
                </a:solidFill>
                <a:effectLst/>
                <a:latin typeface="Consolas" panose="020B0609020204030204" pitchFamily="49" charset="0"/>
              </a:rPr>
              <a:t>struct</a:t>
            </a:r>
            <a:r>
              <a:rPr lang="en-US" sz="1400" b="0" dirty="0">
                <a:solidFill>
                  <a:srgbClr val="CDD6F4"/>
                </a:solidFill>
                <a:effectLst/>
                <a:latin typeface="Consolas" panose="020B0609020204030204" pitchFamily="49" charset="0"/>
              </a:rPr>
              <a:t> </a:t>
            </a:r>
            <a:r>
              <a:rPr lang="en-US" sz="1400" i="1" dirty="0" err="1">
                <a:solidFill>
                  <a:srgbClr val="F9E2AF"/>
                </a:solidFill>
                <a:latin typeface="Consolas" panose="020B0609020204030204" pitchFamily="49" charset="0"/>
              </a:rPr>
              <a:t>itimerval</a:t>
            </a:r>
            <a:r>
              <a:rPr lang="en-US" sz="1400" b="0" dirty="0">
                <a:solidFill>
                  <a:srgbClr val="CDD6F4"/>
                </a:solidFill>
                <a:effectLst/>
                <a:latin typeface="Consolas" panose="020B0609020204030204" pitchFamily="49" charset="0"/>
              </a:rPr>
              <a:t> </a:t>
            </a:r>
            <a:r>
              <a:rPr lang="en-US" sz="1400" b="0" dirty="0">
                <a:solidFill>
                  <a:srgbClr val="94E2D5"/>
                </a:solidFill>
                <a:effectLst/>
                <a:latin typeface="Consolas" panose="020B0609020204030204" pitchFamily="49" charset="0"/>
              </a:rPr>
              <a:t>*</a:t>
            </a:r>
            <a:r>
              <a:rPr lang="en-US" sz="1400" b="0" i="1" dirty="0">
                <a:solidFill>
                  <a:srgbClr val="EBA0AC"/>
                </a:solidFill>
                <a:effectLst/>
                <a:latin typeface="Consolas" panose="020B0609020204030204" pitchFamily="49" charset="0"/>
              </a:rPr>
              <a:t>previous</a:t>
            </a:r>
            <a:r>
              <a:rPr lang="en-US" sz="1400" b="0" dirty="0">
                <a:solidFill>
                  <a:srgbClr val="9399B2"/>
                </a:solidFill>
                <a:effectLst/>
                <a:latin typeface="Consolas" panose="020B0609020204030204" pitchFamily="49" charset="0"/>
              </a:rPr>
              <a:t>)</a:t>
            </a:r>
            <a:r>
              <a:rPr lang="en-US" sz="1400" b="0" dirty="0">
                <a:solidFill>
                  <a:srgbClr val="CDD6F4"/>
                </a:solidFill>
                <a:effectLst/>
                <a:latin typeface="Consolas" panose="020B0609020204030204" pitchFamily="49" charset="0"/>
              </a:rPr>
              <a:t> </a:t>
            </a:r>
            <a:r>
              <a:rPr lang="en-US" sz="1400" b="0" dirty="0">
                <a:solidFill>
                  <a:srgbClr val="9399B2"/>
                </a:solidFill>
                <a:effectLst/>
                <a:latin typeface="Consolas" panose="020B0609020204030204" pitchFamily="49" charset="0"/>
              </a:rPr>
              <a:t>{</a:t>
            </a:r>
            <a:endParaRPr lang="en-US" sz="1400" b="0" dirty="0">
              <a:solidFill>
                <a:srgbClr val="CDD6F4"/>
              </a:solidFill>
              <a:effectLst/>
              <a:latin typeface="Consolas" panose="020B0609020204030204" pitchFamily="49" charset="0"/>
            </a:endParaRPr>
          </a:p>
          <a:p>
            <a:r>
              <a:rPr lang="en-US" sz="1400" b="0" dirty="0">
                <a:solidFill>
                  <a:srgbClr val="CDD6F4"/>
                </a:solidFill>
                <a:effectLst/>
                <a:latin typeface="Consolas" panose="020B0609020204030204" pitchFamily="49" charset="0"/>
              </a:rPr>
              <a:t>    </a:t>
            </a:r>
            <a:r>
              <a:rPr lang="en-US" sz="1400" b="0" dirty="0">
                <a:solidFill>
                  <a:srgbClr val="CBA6F7"/>
                </a:solidFill>
                <a:effectLst/>
                <a:latin typeface="Consolas" panose="020B0609020204030204" pitchFamily="49" charset="0"/>
              </a:rPr>
              <a:t>switch</a:t>
            </a:r>
            <a:r>
              <a:rPr lang="en-US" sz="1400" b="0" dirty="0">
                <a:solidFill>
                  <a:srgbClr val="CDD6F4"/>
                </a:solidFill>
                <a:effectLst/>
                <a:latin typeface="Consolas" panose="020B0609020204030204" pitchFamily="49" charset="0"/>
              </a:rPr>
              <a:t> </a:t>
            </a:r>
            <a:r>
              <a:rPr lang="en-US" sz="1400" b="0" dirty="0">
                <a:solidFill>
                  <a:srgbClr val="9399B2"/>
                </a:solidFill>
                <a:effectLst/>
                <a:latin typeface="Consolas" panose="020B0609020204030204" pitchFamily="49" charset="0"/>
              </a:rPr>
              <a:t>(</a:t>
            </a:r>
            <a:r>
              <a:rPr lang="en-US" sz="1400" i="1" dirty="0">
                <a:solidFill>
                  <a:srgbClr val="EBA0AC"/>
                </a:solidFill>
                <a:latin typeface="Consolas" panose="020B0609020204030204" pitchFamily="49" charset="0"/>
              </a:rPr>
              <a:t>operation</a:t>
            </a:r>
            <a:r>
              <a:rPr lang="en-US" sz="1400" b="0" dirty="0">
                <a:solidFill>
                  <a:srgbClr val="9399B2"/>
                </a:solidFill>
                <a:effectLst/>
                <a:latin typeface="Consolas" panose="020B0609020204030204" pitchFamily="49" charset="0"/>
              </a:rPr>
              <a:t>)</a:t>
            </a:r>
            <a:r>
              <a:rPr lang="en-US" sz="1400" b="0" dirty="0">
                <a:solidFill>
                  <a:srgbClr val="CDD6F4"/>
                </a:solidFill>
                <a:effectLst/>
                <a:latin typeface="Consolas" panose="020B0609020204030204" pitchFamily="49" charset="0"/>
              </a:rPr>
              <a:t> </a:t>
            </a:r>
            <a:r>
              <a:rPr lang="en-US" sz="1400" b="0" dirty="0">
                <a:solidFill>
                  <a:srgbClr val="9399B2"/>
                </a:solidFill>
                <a:effectLst/>
                <a:latin typeface="Consolas" panose="020B0609020204030204" pitchFamily="49" charset="0"/>
              </a:rPr>
              <a:t>{</a:t>
            </a:r>
          </a:p>
          <a:p>
            <a:r>
              <a:rPr lang="en-US" sz="1400" b="0" dirty="0">
                <a:solidFill>
                  <a:srgbClr val="CDD6F4"/>
                </a:solidFill>
                <a:effectLst/>
                <a:latin typeface="Consolas" panose="020B0609020204030204" pitchFamily="49" charset="0"/>
              </a:rPr>
              <a:t>        </a:t>
            </a:r>
            <a:r>
              <a:rPr lang="en-US" sz="1400" b="0" dirty="0">
                <a:solidFill>
                  <a:srgbClr val="CBA6F7"/>
                </a:solidFill>
                <a:effectLst/>
                <a:latin typeface="Consolas" panose="020B0609020204030204" pitchFamily="49" charset="0"/>
              </a:rPr>
              <a:t>case</a:t>
            </a:r>
            <a:r>
              <a:rPr lang="en-US" sz="1400" b="0" dirty="0">
                <a:solidFill>
                  <a:srgbClr val="CDD6F4"/>
                </a:solidFill>
                <a:effectLst/>
                <a:latin typeface="Consolas" panose="020B0609020204030204" pitchFamily="49" charset="0"/>
              </a:rPr>
              <a:t> DISABLE</a:t>
            </a:r>
            <a:r>
              <a:rPr lang="en-US" sz="1400" b="0" dirty="0">
                <a:solidFill>
                  <a:srgbClr val="9399B2"/>
                </a:solidFill>
                <a:effectLst/>
                <a:latin typeface="Consolas" panose="020B0609020204030204" pitchFamily="49" charset="0"/>
              </a:rPr>
              <a:t>:</a:t>
            </a:r>
            <a:endParaRPr lang="en-US" sz="1400" b="0" dirty="0">
              <a:solidFill>
                <a:srgbClr val="CDD6F4"/>
              </a:solidFill>
              <a:effectLst/>
              <a:latin typeface="Consolas" panose="020B0609020204030204" pitchFamily="49" charset="0"/>
            </a:endParaRPr>
          </a:p>
          <a:p>
            <a:r>
              <a:rPr lang="en-US" sz="1400" b="0" dirty="0">
                <a:solidFill>
                  <a:srgbClr val="CDD6F4"/>
                </a:solidFill>
                <a:effectLst/>
                <a:latin typeface="Consolas" panose="020B0609020204030204" pitchFamily="49" charset="0"/>
              </a:rPr>
              <a:t>            set signal handler to ignore SIGALRM</a:t>
            </a:r>
          </a:p>
          <a:p>
            <a:r>
              <a:rPr lang="en-US" sz="1400" b="0" dirty="0">
                <a:solidFill>
                  <a:srgbClr val="CDD6F4"/>
                </a:solidFill>
                <a:effectLst/>
                <a:latin typeface="Consolas" panose="020B0609020204030204" pitchFamily="49" charset="0"/>
              </a:rPr>
              <a:t>            disable timer and store the previous</a:t>
            </a:r>
          </a:p>
          <a:p>
            <a:r>
              <a:rPr lang="en-US" sz="1400" b="0" dirty="0">
                <a:solidFill>
                  <a:srgbClr val="CDD6F4"/>
                </a:solidFill>
                <a:effectLst/>
                <a:latin typeface="Consolas" panose="020B0609020204030204" pitchFamily="49" charset="0"/>
              </a:rPr>
              <a:t>            </a:t>
            </a:r>
            <a:r>
              <a:rPr lang="en-US" sz="1400" b="0" dirty="0">
                <a:solidFill>
                  <a:srgbClr val="CBA6F7"/>
                </a:solidFill>
                <a:effectLst/>
                <a:latin typeface="Consolas" panose="020B0609020204030204" pitchFamily="49" charset="0"/>
              </a:rPr>
              <a:t>break</a:t>
            </a:r>
            <a:r>
              <a:rPr lang="en-US" sz="1400" b="0" dirty="0">
                <a:solidFill>
                  <a:srgbClr val="9399B2"/>
                </a:solidFill>
                <a:effectLst/>
                <a:latin typeface="Consolas" panose="020B0609020204030204" pitchFamily="49" charset="0"/>
              </a:rPr>
              <a:t>;</a:t>
            </a:r>
            <a:endParaRPr lang="en-US" sz="1400" b="0" dirty="0">
              <a:solidFill>
                <a:srgbClr val="CDD6F4"/>
              </a:solidFill>
              <a:effectLst/>
              <a:latin typeface="Consolas" panose="020B0609020204030204" pitchFamily="49" charset="0"/>
            </a:endParaRPr>
          </a:p>
          <a:p>
            <a:r>
              <a:rPr lang="en-US" sz="1400" b="0" dirty="0">
                <a:solidFill>
                  <a:srgbClr val="CDD6F4"/>
                </a:solidFill>
                <a:effectLst/>
                <a:latin typeface="Consolas" panose="020B0609020204030204" pitchFamily="49" charset="0"/>
              </a:rPr>
              <a:t>        </a:t>
            </a:r>
            <a:r>
              <a:rPr lang="en-US" sz="1400" b="0" dirty="0">
                <a:solidFill>
                  <a:srgbClr val="CBA6F7"/>
                </a:solidFill>
                <a:effectLst/>
                <a:latin typeface="Consolas" panose="020B0609020204030204" pitchFamily="49" charset="0"/>
              </a:rPr>
              <a:t>case</a:t>
            </a:r>
            <a:r>
              <a:rPr lang="en-US" sz="1400" b="0" dirty="0">
                <a:solidFill>
                  <a:srgbClr val="CDD6F4"/>
                </a:solidFill>
                <a:effectLst/>
                <a:latin typeface="Consolas" panose="020B0609020204030204" pitchFamily="49" charset="0"/>
              </a:rPr>
              <a:t> ENABLE_PREVIOUS</a:t>
            </a:r>
            <a:r>
              <a:rPr lang="en-US" sz="1400" b="0" dirty="0">
                <a:solidFill>
                  <a:srgbClr val="9399B2"/>
                </a:solidFill>
                <a:effectLst/>
                <a:latin typeface="Consolas" panose="020B0609020204030204" pitchFamily="49" charset="0"/>
              </a:rPr>
              <a:t>:</a:t>
            </a:r>
            <a:endParaRPr lang="en-US" sz="1400" b="0" dirty="0">
              <a:solidFill>
                <a:srgbClr val="CDD6F4"/>
              </a:solidFill>
              <a:effectLst/>
              <a:latin typeface="Consolas" panose="020B0609020204030204" pitchFamily="49" charset="0"/>
            </a:endParaRPr>
          </a:p>
          <a:p>
            <a:r>
              <a:rPr lang="en-US" sz="1400" b="0" dirty="0">
                <a:solidFill>
                  <a:srgbClr val="CDD6F4"/>
                </a:solidFill>
                <a:effectLst/>
                <a:latin typeface="Consolas" panose="020B0609020204030204" pitchFamily="49" charset="0"/>
              </a:rPr>
              <a:t>            </a:t>
            </a:r>
            <a:r>
              <a:rPr lang="en-US" sz="1400" b="0" dirty="0">
                <a:solidFill>
                  <a:srgbClr val="CBA6F7"/>
                </a:solidFill>
                <a:effectLst/>
                <a:latin typeface="Consolas" panose="020B0609020204030204" pitchFamily="49" charset="0"/>
              </a:rPr>
              <a:t>if</a:t>
            </a:r>
            <a:r>
              <a:rPr lang="en-US" sz="1400" b="0" dirty="0">
                <a:solidFill>
                  <a:srgbClr val="CDD6F4"/>
                </a:solidFill>
                <a:effectLst/>
                <a:latin typeface="Consolas" panose="020B0609020204030204" pitchFamily="49" charset="0"/>
              </a:rPr>
              <a:t> </a:t>
            </a:r>
            <a:r>
              <a:rPr lang="en-US" sz="1400" i="1" dirty="0">
                <a:solidFill>
                  <a:srgbClr val="EBA0AC"/>
                </a:solidFill>
                <a:latin typeface="Consolas" panose="020B0609020204030204" pitchFamily="49" charset="0"/>
              </a:rPr>
              <a:t>previous </a:t>
            </a:r>
            <a:r>
              <a:rPr lang="en-US" sz="1400" dirty="0">
                <a:solidFill>
                  <a:srgbClr val="CDD6F4"/>
                </a:solidFill>
                <a:latin typeface="Consolas" panose="020B0609020204030204" pitchFamily="49" charset="0"/>
              </a:rPr>
              <a:t>has run out</a:t>
            </a:r>
          </a:p>
          <a:p>
            <a:r>
              <a:rPr lang="en-US" sz="1400" b="0" dirty="0">
                <a:solidFill>
                  <a:srgbClr val="CDD6F4"/>
                </a:solidFill>
                <a:effectLst/>
                <a:latin typeface="Consolas" panose="020B0609020204030204" pitchFamily="49" charset="0"/>
              </a:rPr>
              <a:t>                </a:t>
            </a:r>
            <a:r>
              <a:rPr lang="en-US" sz="1400" b="0" i="1" dirty="0" err="1">
                <a:solidFill>
                  <a:srgbClr val="89B4FA"/>
                </a:solidFill>
                <a:effectLst/>
                <a:latin typeface="Consolas" panose="020B0609020204030204" pitchFamily="49" charset="0"/>
              </a:rPr>
              <a:t>run_scheduler</a:t>
            </a:r>
            <a:r>
              <a:rPr lang="en-US" sz="1400" b="0" dirty="0">
                <a:solidFill>
                  <a:srgbClr val="9399B2"/>
                </a:solidFill>
                <a:effectLst/>
                <a:latin typeface="Consolas" panose="020B0609020204030204" pitchFamily="49" charset="0"/>
              </a:rPr>
              <a:t>(</a:t>
            </a:r>
            <a:r>
              <a:rPr lang="en-US" sz="1400" b="0" dirty="0">
                <a:solidFill>
                  <a:srgbClr val="CDD6F4"/>
                </a:solidFill>
                <a:effectLst/>
                <a:latin typeface="Consolas" panose="020B0609020204030204" pitchFamily="49" charset="0"/>
              </a:rPr>
              <a:t>READY</a:t>
            </a:r>
            <a:r>
              <a:rPr lang="en-US" sz="1400" b="0" dirty="0">
                <a:solidFill>
                  <a:srgbClr val="9399B2"/>
                </a:solidFill>
                <a:effectLst/>
                <a:latin typeface="Consolas" panose="020B0609020204030204" pitchFamily="49" charset="0"/>
              </a:rPr>
              <a:t>);</a:t>
            </a:r>
            <a:endParaRPr lang="en-US" sz="1400" b="0" dirty="0">
              <a:solidFill>
                <a:srgbClr val="CDD6F4"/>
              </a:solidFill>
              <a:effectLst/>
              <a:latin typeface="Consolas" panose="020B0609020204030204" pitchFamily="49" charset="0"/>
            </a:endParaRPr>
          </a:p>
          <a:p>
            <a:r>
              <a:rPr lang="en-US" sz="1400" b="0" dirty="0">
                <a:solidFill>
                  <a:srgbClr val="CDD6F4"/>
                </a:solidFill>
                <a:effectLst/>
                <a:latin typeface="Consolas" panose="020B0609020204030204" pitchFamily="49" charset="0"/>
              </a:rPr>
              <a:t>            </a:t>
            </a:r>
            <a:r>
              <a:rPr lang="en-US" sz="1400" b="0" dirty="0">
                <a:solidFill>
                  <a:srgbClr val="CBA6F7"/>
                </a:solidFill>
                <a:effectLst/>
                <a:latin typeface="Consolas" panose="020B0609020204030204" pitchFamily="49" charset="0"/>
              </a:rPr>
              <a:t>else</a:t>
            </a:r>
            <a:endParaRPr lang="en-US" sz="1400" b="0" dirty="0">
              <a:solidFill>
                <a:srgbClr val="CDD6F4"/>
              </a:solidFill>
              <a:effectLst/>
              <a:latin typeface="Consolas" panose="020B0609020204030204" pitchFamily="49" charset="0"/>
            </a:endParaRPr>
          </a:p>
          <a:p>
            <a:r>
              <a:rPr lang="en-US" sz="1400" b="0" dirty="0">
                <a:solidFill>
                  <a:srgbClr val="CDD6F4"/>
                </a:solidFill>
                <a:effectLst/>
                <a:latin typeface="Consolas" panose="020B0609020204030204" pitchFamily="49" charset="0"/>
              </a:rPr>
              <a:t>                set signal handler to normal handling</a:t>
            </a:r>
          </a:p>
          <a:p>
            <a:r>
              <a:rPr lang="en-US" sz="1400" b="0" dirty="0">
                <a:solidFill>
                  <a:srgbClr val="CDD6F4"/>
                </a:solidFill>
                <a:effectLst/>
                <a:latin typeface="Consolas" panose="020B0609020204030204" pitchFamily="49" charset="0"/>
              </a:rPr>
              <a:t>                enable timer and restore previous alarm</a:t>
            </a:r>
          </a:p>
          <a:p>
            <a:r>
              <a:rPr lang="en-US" sz="1400" b="0" dirty="0">
                <a:solidFill>
                  <a:srgbClr val="CDD6F4"/>
                </a:solidFill>
                <a:effectLst/>
                <a:latin typeface="Consolas" panose="020B0609020204030204" pitchFamily="49" charset="0"/>
              </a:rPr>
              <a:t>            </a:t>
            </a:r>
            <a:r>
              <a:rPr lang="en-US" sz="1400" b="0" dirty="0">
                <a:solidFill>
                  <a:srgbClr val="CBA6F7"/>
                </a:solidFill>
                <a:effectLst/>
                <a:latin typeface="Consolas" panose="020B0609020204030204" pitchFamily="49" charset="0"/>
              </a:rPr>
              <a:t>break</a:t>
            </a:r>
            <a:r>
              <a:rPr lang="en-US" sz="1400" b="0" dirty="0">
                <a:solidFill>
                  <a:srgbClr val="9399B2"/>
                </a:solidFill>
                <a:effectLst/>
                <a:latin typeface="Consolas" panose="020B0609020204030204" pitchFamily="49" charset="0"/>
              </a:rPr>
              <a:t>;</a:t>
            </a:r>
            <a:endParaRPr lang="en-US" sz="1400" b="0" dirty="0">
              <a:solidFill>
                <a:srgbClr val="CDD6F4"/>
              </a:solidFill>
              <a:effectLst/>
              <a:latin typeface="Consolas" panose="020B0609020204030204" pitchFamily="49" charset="0"/>
            </a:endParaRPr>
          </a:p>
          <a:p>
            <a:r>
              <a:rPr lang="en-US" sz="1400" b="0" dirty="0">
                <a:solidFill>
                  <a:srgbClr val="CDD6F4"/>
                </a:solidFill>
                <a:effectLst/>
                <a:latin typeface="Consolas" panose="020B0609020204030204" pitchFamily="49" charset="0"/>
              </a:rPr>
              <a:t>        </a:t>
            </a:r>
            <a:r>
              <a:rPr lang="en-US" sz="1400" b="0" dirty="0">
                <a:solidFill>
                  <a:srgbClr val="CBA6F7"/>
                </a:solidFill>
                <a:effectLst/>
                <a:latin typeface="Consolas" panose="020B0609020204030204" pitchFamily="49" charset="0"/>
              </a:rPr>
              <a:t>case</a:t>
            </a:r>
            <a:r>
              <a:rPr lang="en-US" sz="1400" b="0" dirty="0">
                <a:solidFill>
                  <a:srgbClr val="CDD6F4"/>
                </a:solidFill>
                <a:effectLst/>
                <a:latin typeface="Consolas" panose="020B0609020204030204" pitchFamily="49" charset="0"/>
              </a:rPr>
              <a:t> RESET</a:t>
            </a:r>
            <a:r>
              <a:rPr lang="en-US" sz="1400" b="0" dirty="0">
                <a:solidFill>
                  <a:srgbClr val="9399B2"/>
                </a:solidFill>
                <a:effectLst/>
                <a:latin typeface="Consolas" panose="020B0609020204030204" pitchFamily="49" charset="0"/>
              </a:rPr>
              <a:t>:</a:t>
            </a:r>
            <a:endParaRPr lang="en-US" sz="1400" b="0" dirty="0">
              <a:solidFill>
                <a:srgbClr val="CDD6F4"/>
              </a:solidFill>
              <a:effectLst/>
              <a:latin typeface="Consolas" panose="020B0609020204030204" pitchFamily="49" charset="0"/>
            </a:endParaRPr>
          </a:p>
          <a:p>
            <a:r>
              <a:rPr lang="en-US" sz="1400" b="0" dirty="0">
                <a:solidFill>
                  <a:srgbClr val="CDD6F4"/>
                </a:solidFill>
                <a:effectLst/>
                <a:latin typeface="Consolas" panose="020B0609020204030204" pitchFamily="49" charset="0"/>
              </a:rPr>
              <a:t>            set signal handler to normal handling</a:t>
            </a:r>
          </a:p>
          <a:p>
            <a:r>
              <a:rPr lang="en-US" sz="1400" b="0" dirty="0">
                <a:solidFill>
                  <a:srgbClr val="CDD6F4"/>
                </a:solidFill>
                <a:effectLst/>
                <a:latin typeface="Consolas" panose="020B0609020204030204" pitchFamily="49" charset="0"/>
              </a:rPr>
              <a:t>            enable timer and reset alarm</a:t>
            </a:r>
          </a:p>
          <a:p>
            <a:r>
              <a:rPr lang="en-US" sz="1400" b="0" dirty="0">
                <a:solidFill>
                  <a:srgbClr val="CDD6F4"/>
                </a:solidFill>
                <a:effectLst/>
                <a:latin typeface="Consolas" panose="020B0609020204030204" pitchFamily="49" charset="0"/>
              </a:rPr>
              <a:t>            </a:t>
            </a:r>
            <a:r>
              <a:rPr lang="en-US" sz="1400" b="0" dirty="0">
                <a:solidFill>
                  <a:srgbClr val="CBA6F7"/>
                </a:solidFill>
                <a:effectLst/>
                <a:latin typeface="Consolas" panose="020B0609020204030204" pitchFamily="49" charset="0"/>
              </a:rPr>
              <a:t>break</a:t>
            </a:r>
            <a:r>
              <a:rPr lang="en-US" sz="1400" b="0" dirty="0">
                <a:solidFill>
                  <a:srgbClr val="9399B2"/>
                </a:solidFill>
                <a:effectLst/>
                <a:latin typeface="Consolas" panose="020B0609020204030204" pitchFamily="49" charset="0"/>
              </a:rPr>
              <a:t>;</a:t>
            </a:r>
            <a:endParaRPr lang="en-US" sz="1400" b="0" dirty="0">
              <a:solidFill>
                <a:srgbClr val="CDD6F4"/>
              </a:solidFill>
              <a:effectLst/>
              <a:latin typeface="Consolas" panose="020B0609020204030204" pitchFamily="49" charset="0"/>
            </a:endParaRPr>
          </a:p>
          <a:p>
            <a:r>
              <a:rPr lang="en-US" sz="1400" b="0" dirty="0">
                <a:solidFill>
                  <a:srgbClr val="CDD6F4"/>
                </a:solidFill>
                <a:effectLst/>
                <a:latin typeface="Consolas" panose="020B0609020204030204" pitchFamily="49" charset="0"/>
              </a:rPr>
              <a:t>    </a:t>
            </a:r>
            <a:r>
              <a:rPr lang="en-US" sz="1400" b="0" dirty="0">
                <a:solidFill>
                  <a:srgbClr val="9399B2"/>
                </a:solidFill>
                <a:effectLst/>
                <a:latin typeface="Consolas" panose="020B0609020204030204" pitchFamily="49" charset="0"/>
              </a:rPr>
              <a:t>}</a:t>
            </a:r>
            <a:endParaRPr lang="en-US" sz="1400" b="0" dirty="0">
              <a:solidFill>
                <a:srgbClr val="CDD6F4"/>
              </a:solidFill>
              <a:effectLst/>
              <a:latin typeface="Consolas" panose="020B0609020204030204" pitchFamily="49" charset="0"/>
            </a:endParaRPr>
          </a:p>
          <a:p>
            <a:r>
              <a:rPr lang="en-US" sz="1400" b="0" dirty="0">
                <a:solidFill>
                  <a:srgbClr val="9399B2"/>
                </a:solidFill>
                <a:effectLst/>
                <a:latin typeface="Consolas" panose="020B0609020204030204" pitchFamily="49" charset="0"/>
              </a:rPr>
              <a:t>}</a:t>
            </a:r>
            <a:endParaRPr lang="en-US" sz="1400" b="0" dirty="0">
              <a:solidFill>
                <a:srgbClr val="CDD6F4"/>
              </a:solidFill>
              <a:effectLst/>
              <a:latin typeface="Consolas" panose="020B0609020204030204" pitchFamily="49" charset="0"/>
            </a:endParaRPr>
          </a:p>
        </p:txBody>
      </p:sp>
      <p:sp>
        <p:nvSpPr>
          <p:cNvPr id="4" name="TextBox 3">
            <a:extLst>
              <a:ext uri="{FF2B5EF4-FFF2-40B4-BE49-F238E27FC236}">
                <a16:creationId xmlns:a16="http://schemas.microsoft.com/office/drawing/2014/main" id="{60C38F5D-92FC-DAF4-39BF-D08015EDB8B5}"/>
              </a:ext>
            </a:extLst>
          </p:cNvPr>
          <p:cNvSpPr txBox="1"/>
          <p:nvPr/>
        </p:nvSpPr>
        <p:spPr>
          <a:xfrm>
            <a:off x="838200" y="5642530"/>
            <a:ext cx="7405810" cy="369332"/>
          </a:xfrm>
          <a:prstGeom prst="rect">
            <a:avLst/>
          </a:prstGeom>
          <a:noFill/>
        </p:spPr>
        <p:txBody>
          <a:bodyPr wrap="none" rtlCol="0">
            <a:spAutoFit/>
          </a:bodyPr>
          <a:lstStyle/>
          <a:p>
            <a:r>
              <a:rPr lang="en-US" dirty="0"/>
              <a:t>This function performs an operation on the timer and the signal handling. </a:t>
            </a:r>
          </a:p>
        </p:txBody>
      </p:sp>
    </p:spTree>
    <p:extLst>
      <p:ext uri="{BB962C8B-B14F-4D97-AF65-F5344CB8AC3E}">
        <p14:creationId xmlns:p14="http://schemas.microsoft.com/office/powerpoint/2010/main" val="144173622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30A66E-F58D-345B-CD05-FA202D3541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7234B9-3E9A-F7E8-8906-129AF706F93E}"/>
              </a:ext>
            </a:extLst>
          </p:cNvPr>
          <p:cNvSpPr>
            <a:spLocks noGrp="1"/>
          </p:cNvSpPr>
          <p:nvPr>
            <p:ph type="title"/>
          </p:nvPr>
        </p:nvSpPr>
        <p:spPr>
          <a:xfrm>
            <a:off x="838200" y="337015"/>
            <a:ext cx="10515600" cy="1325563"/>
          </a:xfrm>
        </p:spPr>
        <p:txBody>
          <a:bodyPr/>
          <a:lstStyle/>
          <a:p>
            <a:r>
              <a:rPr lang="en-US" b="1" dirty="0"/>
              <a:t>Assignment 2: </a:t>
            </a:r>
            <a:r>
              <a:rPr lang="en-US" dirty="0"/>
              <a:t>Utility functions</a:t>
            </a:r>
          </a:p>
        </p:txBody>
      </p:sp>
      <p:sp>
        <p:nvSpPr>
          <p:cNvPr id="3" name="TextBox 2">
            <a:extLst>
              <a:ext uri="{FF2B5EF4-FFF2-40B4-BE49-F238E27FC236}">
                <a16:creationId xmlns:a16="http://schemas.microsoft.com/office/drawing/2014/main" id="{B64435B1-4625-F653-6DC5-E76E369A8CDD}"/>
              </a:ext>
            </a:extLst>
          </p:cNvPr>
          <p:cNvSpPr txBox="1"/>
          <p:nvPr/>
        </p:nvSpPr>
        <p:spPr>
          <a:xfrm>
            <a:off x="2964373" y="1582340"/>
            <a:ext cx="6263253" cy="3693319"/>
          </a:xfrm>
          <a:prstGeom prst="rect">
            <a:avLst/>
          </a:prstGeom>
          <a:noFill/>
        </p:spPr>
        <p:txBody>
          <a:bodyPr wrap="none" rtlCol="0">
            <a:spAutoFit/>
          </a:bodyPr>
          <a:lstStyle/>
          <a:p>
            <a:r>
              <a:rPr lang="en-US" b="0" dirty="0">
                <a:solidFill>
                  <a:srgbClr val="CBA6F7"/>
                </a:solidFill>
                <a:effectLst/>
                <a:latin typeface="Consolas" panose="020B0609020204030204" pitchFamily="49" charset="0"/>
              </a:rPr>
              <a:t>void</a:t>
            </a:r>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sleep_until</a:t>
            </a:r>
            <a:r>
              <a:rPr lang="en-US" b="0" dirty="0">
                <a:solidFill>
                  <a:srgbClr val="9399B2"/>
                </a:solidFill>
                <a:effectLst/>
                <a:latin typeface="Consolas" panose="020B0609020204030204" pitchFamily="49" charset="0"/>
              </a:rPr>
              <a:t>(</a:t>
            </a:r>
            <a:r>
              <a:rPr lang="en-US" b="0" dirty="0">
                <a:solidFill>
                  <a:srgbClr val="CBA6F7"/>
                </a:solidFill>
                <a:effectLst/>
                <a:latin typeface="Consolas" panose="020B0609020204030204" pitchFamily="49" charset="0"/>
              </a:rPr>
              <a:t>unsigned</a:t>
            </a:r>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long</a:t>
            </a:r>
            <a:r>
              <a:rPr lang="en-US" b="0" dirty="0">
                <a:solidFill>
                  <a:srgbClr val="CDD6F4"/>
                </a:solidFill>
                <a:effectLst/>
                <a:latin typeface="Consolas" panose="020B0609020204030204" pitchFamily="49" charset="0"/>
              </a:rPr>
              <a:t> </a:t>
            </a:r>
            <a:r>
              <a:rPr lang="en-US" b="0" dirty="0" err="1">
                <a:solidFill>
                  <a:srgbClr val="CBA6F7"/>
                </a:solidFill>
                <a:effectLst/>
                <a:latin typeface="Consolas" panose="020B0609020204030204" pitchFamily="49" charset="0"/>
              </a:rPr>
              <a:t>long</a:t>
            </a:r>
            <a:r>
              <a:rPr lang="en-US" b="0" dirty="0">
                <a:solidFill>
                  <a:srgbClr val="CDD6F4"/>
                </a:solidFill>
                <a:effectLst/>
                <a:latin typeface="Consolas" panose="020B0609020204030204" pitchFamily="49" charset="0"/>
              </a:rPr>
              <a:t> </a:t>
            </a:r>
            <a:r>
              <a:rPr lang="en-US" b="0" i="1" dirty="0">
                <a:solidFill>
                  <a:srgbClr val="EBA0AC"/>
                </a:solidFill>
                <a:effectLst/>
                <a:latin typeface="Consolas" panose="020B0609020204030204" pitchFamily="49" charset="0"/>
              </a:rPr>
              <a:t>timestamp</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calculate sleep amount based on </a:t>
            </a:r>
            <a:r>
              <a:rPr lang="en-US" i="1" dirty="0">
                <a:solidFill>
                  <a:srgbClr val="EBA0AC"/>
                </a:solidFill>
                <a:latin typeface="Consolas" panose="020B0609020204030204" pitchFamily="49" charset="0"/>
              </a:rPr>
              <a:t>timestamp</a:t>
            </a:r>
          </a:p>
          <a:p>
            <a:br>
              <a:rPr lang="en-US" b="0" dirty="0">
                <a:solidFill>
                  <a:srgbClr val="CDD6F4"/>
                </a:solidFill>
                <a:effectLst/>
                <a:latin typeface="Consolas" panose="020B0609020204030204" pitchFamily="49" charset="0"/>
              </a:rPr>
            </a:br>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while</a:t>
            </a:r>
            <a:r>
              <a:rPr lang="en-US" b="0" dirty="0">
                <a:solidFill>
                  <a:srgbClr val="CDD6F4"/>
                </a:solidFill>
                <a:effectLst/>
                <a:latin typeface="Consolas" panose="020B0609020204030204" pitchFamily="49" charset="0"/>
              </a:rPr>
              <a:t> sleep amount is not </a:t>
            </a:r>
            <a:r>
              <a:rPr lang="en-US" b="0" dirty="0">
                <a:solidFill>
                  <a:srgbClr val="FAB387"/>
                </a:solidFill>
                <a:effectLst/>
                <a:latin typeface="Consolas" panose="020B0609020204030204" pitchFamily="49" charset="0"/>
              </a:rPr>
              <a:t>0</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usleep</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sleep amount</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recalculate sleep amount</a:t>
            </a:r>
          </a:p>
          <a:p>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endParaRPr lang="en-US" b="0" dirty="0">
              <a:solidFill>
                <a:srgbClr val="CDD6F4"/>
              </a:solidFill>
              <a:effectLst/>
              <a:latin typeface="Consolas" panose="020B0609020204030204" pitchFamily="49" charset="0"/>
            </a:endParaRPr>
          </a:p>
          <a:p>
            <a:br>
              <a:rPr lang="en-US" b="0" dirty="0">
                <a:solidFill>
                  <a:srgbClr val="CDD6F4"/>
                </a:solidFill>
                <a:effectLst/>
                <a:latin typeface="Consolas" panose="020B0609020204030204" pitchFamily="49" charset="0"/>
              </a:rPr>
            </a:br>
            <a:r>
              <a:rPr lang="en-US" b="0" dirty="0">
                <a:solidFill>
                  <a:srgbClr val="CBA6F7"/>
                </a:solidFill>
                <a:effectLst/>
                <a:latin typeface="Consolas" panose="020B0609020204030204" pitchFamily="49" charset="0"/>
              </a:rPr>
              <a:t>void</a:t>
            </a:r>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thread_timeout_handler</a:t>
            </a:r>
            <a:r>
              <a:rPr lang="en-US" b="0" dirty="0">
                <a:solidFill>
                  <a:srgbClr val="9399B2"/>
                </a:solidFill>
                <a:effectLst/>
                <a:latin typeface="Consolas" panose="020B0609020204030204" pitchFamily="49" charset="0"/>
              </a:rPr>
              <a:t>(</a:t>
            </a:r>
            <a:r>
              <a:rPr lang="en-US" b="0" dirty="0">
                <a:solidFill>
                  <a:srgbClr val="CBA6F7"/>
                </a:solidFill>
                <a:effectLst/>
                <a:latin typeface="Consolas" panose="020B0609020204030204" pitchFamily="49" charset="0"/>
              </a:rPr>
              <a:t>int</a:t>
            </a:r>
            <a:r>
              <a:rPr lang="en-US" b="0" dirty="0">
                <a:solidFill>
                  <a:srgbClr val="CDD6F4"/>
                </a:solidFill>
                <a:effectLst/>
                <a:latin typeface="Consolas" panose="020B0609020204030204" pitchFamily="49" charset="0"/>
              </a:rPr>
              <a:t> </a:t>
            </a:r>
            <a:r>
              <a:rPr lang="en-US" b="0" i="1" dirty="0">
                <a:solidFill>
                  <a:srgbClr val="EBA0AC"/>
                </a:solidFill>
                <a:effectLst/>
                <a:latin typeface="Consolas" panose="020B0609020204030204" pitchFamily="49" charset="0"/>
              </a:rPr>
              <a:t>signum</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run_scheduler</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state of current thread</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p:txBody>
      </p:sp>
    </p:spTree>
    <p:extLst>
      <p:ext uri="{BB962C8B-B14F-4D97-AF65-F5344CB8AC3E}">
        <p14:creationId xmlns:p14="http://schemas.microsoft.com/office/powerpoint/2010/main" val="40037966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46F76B-979B-83FF-5760-16FFD472BB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77D175-2618-E895-C43E-EBA15949C10E}"/>
              </a:ext>
            </a:extLst>
          </p:cNvPr>
          <p:cNvSpPr>
            <a:spLocks noGrp="1"/>
          </p:cNvSpPr>
          <p:nvPr>
            <p:ph type="title"/>
          </p:nvPr>
        </p:nvSpPr>
        <p:spPr>
          <a:xfrm>
            <a:off x="838200" y="337015"/>
            <a:ext cx="10515600" cy="1325563"/>
          </a:xfrm>
        </p:spPr>
        <p:txBody>
          <a:bodyPr/>
          <a:lstStyle/>
          <a:p>
            <a:r>
              <a:rPr lang="en-US" b="1" dirty="0"/>
              <a:t>Assignment 2: </a:t>
            </a:r>
            <a:r>
              <a:rPr lang="en-US" dirty="0"/>
              <a:t>API functions</a:t>
            </a:r>
          </a:p>
        </p:txBody>
      </p:sp>
      <p:sp>
        <p:nvSpPr>
          <p:cNvPr id="4" name="TextBox 3">
            <a:extLst>
              <a:ext uri="{FF2B5EF4-FFF2-40B4-BE49-F238E27FC236}">
                <a16:creationId xmlns:a16="http://schemas.microsoft.com/office/drawing/2014/main" id="{7BE91A84-60E2-D784-868B-321B3B0DB80E}"/>
              </a:ext>
            </a:extLst>
          </p:cNvPr>
          <p:cNvSpPr txBox="1"/>
          <p:nvPr/>
        </p:nvSpPr>
        <p:spPr>
          <a:xfrm>
            <a:off x="838200" y="1662578"/>
            <a:ext cx="5123518" cy="3416320"/>
          </a:xfrm>
          <a:prstGeom prst="rect">
            <a:avLst/>
          </a:prstGeom>
          <a:noFill/>
        </p:spPr>
        <p:txBody>
          <a:bodyPr wrap="none" rtlCol="0">
            <a:spAutoFit/>
          </a:bodyPr>
          <a:lstStyle/>
          <a:p>
            <a:r>
              <a:rPr lang="en-US" b="0" dirty="0">
                <a:solidFill>
                  <a:srgbClr val="CBA6F7"/>
                </a:solidFill>
                <a:effectLst/>
                <a:latin typeface="Consolas" panose="020B0609020204030204" pitchFamily="49" charset="0"/>
              </a:rPr>
              <a:t>int</a:t>
            </a:r>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mythreads_init</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initialize threads list</a:t>
            </a:r>
          </a:p>
          <a:p>
            <a:r>
              <a:rPr lang="en-US" b="0" dirty="0">
                <a:solidFill>
                  <a:srgbClr val="CDD6F4"/>
                </a:solidFill>
                <a:effectLst/>
                <a:latin typeface="Consolas" panose="020B0609020204030204" pitchFamily="49" charset="0"/>
              </a:rPr>
              <a:t>    initialize semaphore list</a:t>
            </a:r>
          </a:p>
          <a:p>
            <a:r>
              <a:rPr lang="en-US" b="0" dirty="0">
                <a:solidFill>
                  <a:srgbClr val="CDD6F4"/>
                </a:solidFill>
                <a:effectLst/>
                <a:latin typeface="Consolas" panose="020B0609020204030204" pitchFamily="49" charset="0"/>
              </a:rPr>
              <a:t>    add main thread to the list</a:t>
            </a:r>
          </a:p>
          <a:p>
            <a:r>
              <a:rPr lang="en-US" b="0" dirty="0">
                <a:solidFill>
                  <a:srgbClr val="CDD6F4"/>
                </a:solidFill>
                <a:effectLst/>
                <a:latin typeface="Consolas" panose="020B0609020204030204" pitchFamily="49" charset="0"/>
              </a:rPr>
              <a:t>    </a:t>
            </a:r>
          </a:p>
          <a:p>
            <a:r>
              <a:rPr lang="en-US" b="0" dirty="0">
                <a:solidFill>
                  <a:srgbClr val="CDD6F4"/>
                </a:solidFill>
                <a:effectLst/>
                <a:latin typeface="Consolas" panose="020B0609020204030204" pitchFamily="49" charset="0"/>
              </a:rPr>
              <a:t>    initialize alarm and signal handler</a:t>
            </a:r>
          </a:p>
          <a:p>
            <a:r>
              <a:rPr lang="en-US" b="0" dirty="0">
                <a:solidFill>
                  <a:srgbClr val="CDD6F4"/>
                </a:solidFill>
                <a:effectLst/>
                <a:latin typeface="Consolas" panose="020B0609020204030204" pitchFamily="49" charset="0"/>
              </a:rPr>
              <a:t>    disarm the alarm</a:t>
            </a:r>
          </a:p>
          <a:p>
            <a:br>
              <a:rPr lang="en-US" b="0" dirty="0">
                <a:solidFill>
                  <a:srgbClr val="CDD6F4"/>
                </a:solidFill>
                <a:effectLst/>
                <a:latin typeface="Consolas" panose="020B0609020204030204" pitchFamily="49" charset="0"/>
              </a:rPr>
            </a:br>
            <a:r>
              <a:rPr lang="en-US" b="0" dirty="0">
                <a:solidFill>
                  <a:srgbClr val="CDD6F4"/>
                </a:solidFill>
                <a:effectLst/>
                <a:latin typeface="Consolas" panose="020B0609020204030204" pitchFamily="49" charset="0"/>
              </a:rPr>
              <a:t>    initialize main thread fields</a:t>
            </a: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return</a:t>
            </a:r>
            <a:r>
              <a:rPr lang="en-US" b="0" dirty="0">
                <a:solidFill>
                  <a:srgbClr val="CDD6F4"/>
                </a:solidFill>
                <a:effectLst/>
                <a:latin typeface="Consolas" panose="020B0609020204030204" pitchFamily="49" charset="0"/>
              </a:rPr>
              <a:t> </a:t>
            </a:r>
            <a:r>
              <a:rPr lang="en-US" b="0" dirty="0">
                <a:solidFill>
                  <a:srgbClr val="FAB387"/>
                </a:solidFill>
                <a:effectLst/>
                <a:latin typeface="Consolas" panose="020B0609020204030204" pitchFamily="49" charset="0"/>
              </a:rPr>
              <a:t>1</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endParaRPr lang="en-US" dirty="0"/>
          </a:p>
        </p:txBody>
      </p:sp>
      <p:sp>
        <p:nvSpPr>
          <p:cNvPr id="5" name="TextBox 4">
            <a:extLst>
              <a:ext uri="{FF2B5EF4-FFF2-40B4-BE49-F238E27FC236}">
                <a16:creationId xmlns:a16="http://schemas.microsoft.com/office/drawing/2014/main" id="{13695449-C52F-BC6E-2CEA-BD12EF166953}"/>
              </a:ext>
            </a:extLst>
          </p:cNvPr>
          <p:cNvSpPr txBox="1"/>
          <p:nvPr/>
        </p:nvSpPr>
        <p:spPr>
          <a:xfrm>
            <a:off x="6863468" y="1662578"/>
            <a:ext cx="3477234" cy="1477328"/>
          </a:xfrm>
          <a:prstGeom prst="rect">
            <a:avLst/>
          </a:prstGeom>
          <a:noFill/>
        </p:spPr>
        <p:txBody>
          <a:bodyPr wrap="none" rtlCol="0">
            <a:spAutoFit/>
          </a:bodyPr>
          <a:lstStyle/>
          <a:p>
            <a:r>
              <a:rPr lang="en-US" b="0" dirty="0">
                <a:solidFill>
                  <a:srgbClr val="CBA6F7"/>
                </a:solidFill>
                <a:effectLst/>
                <a:latin typeface="Consolas" panose="020B0609020204030204" pitchFamily="49" charset="0"/>
              </a:rPr>
              <a:t>void</a:t>
            </a:r>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mythreads_exit</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p>
          <a:p>
            <a:r>
              <a:rPr lang="en-US" dirty="0">
                <a:solidFill>
                  <a:srgbClr val="9399B2"/>
                </a:solidFill>
                <a:latin typeface="Consolas" panose="020B0609020204030204" pitchFamily="49" charset="0"/>
              </a:rPr>
              <a:t>    </a:t>
            </a:r>
            <a:r>
              <a:rPr lang="en-US" dirty="0">
                <a:solidFill>
                  <a:srgbClr val="CDD6F4"/>
                </a:solidFill>
                <a:latin typeface="Consolas" panose="020B0609020204030204" pitchFamily="49" charset="0"/>
              </a:rPr>
              <a:t>destroy main coroutine</a:t>
            </a:r>
          </a:p>
          <a:p>
            <a:r>
              <a:rPr lang="en-US" b="0" dirty="0">
                <a:solidFill>
                  <a:srgbClr val="CDD6F4"/>
                </a:solidFill>
                <a:effectLst/>
                <a:latin typeface="Consolas" panose="020B0609020204030204" pitchFamily="49" charset="0"/>
              </a:rPr>
              <a:t>    </a:t>
            </a:r>
            <a:r>
              <a:rPr lang="en-US" dirty="0">
                <a:solidFill>
                  <a:srgbClr val="CDD6F4"/>
                </a:solidFill>
                <a:latin typeface="Consolas" panose="020B0609020204030204" pitchFamily="49" charset="0"/>
              </a:rPr>
              <a:t>destroy threads list</a:t>
            </a:r>
          </a:p>
          <a:p>
            <a:r>
              <a:rPr lang="en-US" i="1" dirty="0">
                <a:solidFill>
                  <a:srgbClr val="89B4FA"/>
                </a:solidFill>
                <a:latin typeface="Consolas" panose="020B0609020204030204" pitchFamily="49" charset="0"/>
              </a:rPr>
              <a:t>    </a:t>
            </a:r>
            <a:r>
              <a:rPr lang="en-US" dirty="0">
                <a:solidFill>
                  <a:srgbClr val="CDD6F4"/>
                </a:solidFill>
                <a:latin typeface="Consolas" panose="020B0609020204030204" pitchFamily="49" charset="0"/>
              </a:rPr>
              <a:t>destroy semaphore list</a:t>
            </a:r>
          </a:p>
          <a:p>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p:txBody>
      </p:sp>
    </p:spTree>
    <p:extLst>
      <p:ext uri="{BB962C8B-B14F-4D97-AF65-F5344CB8AC3E}">
        <p14:creationId xmlns:p14="http://schemas.microsoft.com/office/powerpoint/2010/main" val="1813538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98319-30AF-F140-091C-9C7102DA14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87C336-8004-82F3-372B-D6EECC41647D}"/>
              </a:ext>
            </a:extLst>
          </p:cNvPr>
          <p:cNvSpPr>
            <a:spLocks noGrp="1"/>
          </p:cNvSpPr>
          <p:nvPr>
            <p:ph type="title"/>
          </p:nvPr>
        </p:nvSpPr>
        <p:spPr>
          <a:xfrm>
            <a:off x="838200" y="337015"/>
            <a:ext cx="10515600" cy="1325563"/>
          </a:xfrm>
        </p:spPr>
        <p:txBody>
          <a:bodyPr/>
          <a:lstStyle/>
          <a:p>
            <a:r>
              <a:rPr lang="en-US" b="1" dirty="0"/>
              <a:t>Assignment 2: </a:t>
            </a:r>
            <a:r>
              <a:rPr lang="en-US" dirty="0"/>
              <a:t>API functions</a:t>
            </a:r>
          </a:p>
        </p:txBody>
      </p:sp>
      <p:sp>
        <p:nvSpPr>
          <p:cNvPr id="4" name="TextBox 3">
            <a:extLst>
              <a:ext uri="{FF2B5EF4-FFF2-40B4-BE49-F238E27FC236}">
                <a16:creationId xmlns:a16="http://schemas.microsoft.com/office/drawing/2014/main" id="{E5F30F09-698E-DDF5-5E01-A04D4B7F1E80}"/>
              </a:ext>
            </a:extLst>
          </p:cNvPr>
          <p:cNvSpPr txBox="1"/>
          <p:nvPr/>
        </p:nvSpPr>
        <p:spPr>
          <a:xfrm>
            <a:off x="838200" y="1662578"/>
            <a:ext cx="3350597" cy="1200329"/>
          </a:xfrm>
          <a:prstGeom prst="rect">
            <a:avLst/>
          </a:prstGeom>
          <a:noFill/>
        </p:spPr>
        <p:txBody>
          <a:bodyPr wrap="none" rtlCol="0">
            <a:spAutoFit/>
          </a:bodyPr>
          <a:lstStyle/>
          <a:p>
            <a:r>
              <a:rPr lang="en-US" b="0" dirty="0">
                <a:solidFill>
                  <a:srgbClr val="CBA6F7"/>
                </a:solidFill>
                <a:effectLst/>
                <a:latin typeface="Consolas" panose="020B0609020204030204" pitchFamily="49" charset="0"/>
              </a:rPr>
              <a:t>int</a:t>
            </a:r>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mythreads_yield</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run_scheduler</a:t>
            </a:r>
            <a:r>
              <a:rPr lang="en-US" b="0" dirty="0">
                <a:solidFill>
                  <a:srgbClr val="9399B2"/>
                </a:solidFill>
                <a:effectLst/>
                <a:latin typeface="Consolas" panose="020B0609020204030204" pitchFamily="49" charset="0"/>
              </a:rPr>
              <a:t>(</a:t>
            </a:r>
            <a:r>
              <a:rPr lang="en-US" b="0" dirty="0">
                <a:solidFill>
                  <a:srgbClr val="94E2D5"/>
                </a:solidFill>
                <a:effectLst/>
                <a:latin typeface="Consolas" panose="020B0609020204030204" pitchFamily="49" charset="0"/>
              </a:rPr>
              <a:t>READY</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return</a:t>
            </a:r>
            <a:r>
              <a:rPr lang="en-US" b="0" dirty="0">
                <a:solidFill>
                  <a:srgbClr val="CDD6F4"/>
                </a:solidFill>
                <a:effectLst/>
                <a:latin typeface="Consolas" panose="020B0609020204030204" pitchFamily="49" charset="0"/>
              </a:rPr>
              <a:t> </a:t>
            </a:r>
            <a:r>
              <a:rPr lang="en-US" b="0" dirty="0">
                <a:solidFill>
                  <a:srgbClr val="FAB387"/>
                </a:solidFill>
                <a:effectLst/>
                <a:latin typeface="Consolas" panose="020B0609020204030204" pitchFamily="49" charset="0"/>
              </a:rPr>
              <a:t>1</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p:txBody>
      </p:sp>
      <p:sp>
        <p:nvSpPr>
          <p:cNvPr id="5" name="TextBox 4">
            <a:extLst>
              <a:ext uri="{FF2B5EF4-FFF2-40B4-BE49-F238E27FC236}">
                <a16:creationId xmlns:a16="http://schemas.microsoft.com/office/drawing/2014/main" id="{1B375E6B-253C-FC94-A82D-63FB911E0C5A}"/>
              </a:ext>
            </a:extLst>
          </p:cNvPr>
          <p:cNvSpPr txBox="1"/>
          <p:nvPr/>
        </p:nvSpPr>
        <p:spPr>
          <a:xfrm>
            <a:off x="5345818" y="1662578"/>
            <a:ext cx="6136616" cy="2031325"/>
          </a:xfrm>
          <a:prstGeom prst="rect">
            <a:avLst/>
          </a:prstGeom>
          <a:noFill/>
        </p:spPr>
        <p:txBody>
          <a:bodyPr wrap="none" rtlCol="0">
            <a:spAutoFit/>
          </a:bodyPr>
          <a:lstStyle/>
          <a:p>
            <a:r>
              <a:rPr lang="en-US" b="0" dirty="0">
                <a:solidFill>
                  <a:srgbClr val="CBA6F7"/>
                </a:solidFill>
                <a:effectLst/>
                <a:latin typeface="Consolas" panose="020B0609020204030204" pitchFamily="49" charset="0"/>
              </a:rPr>
              <a:t>int</a:t>
            </a:r>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mythreads_sleep</a:t>
            </a:r>
            <a:r>
              <a:rPr lang="en-US" b="0" dirty="0">
                <a:solidFill>
                  <a:srgbClr val="9399B2"/>
                </a:solidFill>
                <a:effectLst/>
                <a:latin typeface="Consolas" panose="020B0609020204030204" pitchFamily="49" charset="0"/>
              </a:rPr>
              <a:t>(</a:t>
            </a:r>
            <a:r>
              <a:rPr lang="en-US" b="0" dirty="0">
                <a:solidFill>
                  <a:srgbClr val="CBA6F7"/>
                </a:solidFill>
                <a:effectLst/>
                <a:latin typeface="Consolas" panose="020B0609020204030204" pitchFamily="49" charset="0"/>
              </a:rPr>
              <a:t>int</a:t>
            </a:r>
            <a:r>
              <a:rPr lang="en-US" b="0" dirty="0">
                <a:solidFill>
                  <a:srgbClr val="CDD6F4"/>
                </a:solidFill>
                <a:effectLst/>
                <a:latin typeface="Consolas" panose="020B0609020204030204" pitchFamily="49" charset="0"/>
              </a:rPr>
              <a:t> </a:t>
            </a:r>
            <a:r>
              <a:rPr lang="en-US" b="0" i="1" dirty="0">
                <a:solidFill>
                  <a:srgbClr val="EBA0AC"/>
                </a:solidFill>
                <a:effectLst/>
                <a:latin typeface="Consolas" panose="020B0609020204030204" pitchFamily="49" charset="0"/>
              </a:rPr>
              <a:t>secs</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disable alarm</a:t>
            </a:r>
          </a:p>
          <a:p>
            <a:r>
              <a:rPr lang="en-US" b="0" dirty="0">
                <a:solidFill>
                  <a:srgbClr val="CDD6F4"/>
                </a:solidFill>
                <a:effectLst/>
                <a:latin typeface="Consolas" panose="020B0609020204030204" pitchFamily="49" charset="0"/>
              </a:rPr>
              <a:t>    set sleep until timestamp on current thread</a:t>
            </a:r>
          </a:p>
          <a:p>
            <a:r>
              <a:rPr lang="en-US" b="0" dirty="0">
                <a:solidFill>
                  <a:srgbClr val="CDD6F4"/>
                </a:solidFill>
                <a:effectLst/>
                <a:latin typeface="Consolas" panose="020B0609020204030204" pitchFamily="49" charset="0"/>
              </a:rPr>
              <a:t>    </a:t>
            </a:r>
          </a:p>
          <a:p>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run_scheduler</a:t>
            </a:r>
            <a:r>
              <a:rPr lang="en-US" b="0" dirty="0">
                <a:solidFill>
                  <a:srgbClr val="9399B2"/>
                </a:solidFill>
                <a:effectLst/>
                <a:latin typeface="Consolas" panose="020B0609020204030204" pitchFamily="49" charset="0"/>
              </a:rPr>
              <a:t>(</a:t>
            </a:r>
            <a:r>
              <a:rPr lang="en-US" b="0" dirty="0">
                <a:solidFill>
                  <a:srgbClr val="94E2D5"/>
                </a:solidFill>
                <a:effectLst/>
                <a:latin typeface="Consolas" panose="020B0609020204030204" pitchFamily="49" charset="0"/>
              </a:rPr>
              <a:t>SLEEPING</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return</a:t>
            </a:r>
            <a:r>
              <a:rPr lang="en-US" b="0" dirty="0">
                <a:solidFill>
                  <a:srgbClr val="CDD6F4"/>
                </a:solidFill>
                <a:effectLst/>
                <a:latin typeface="Consolas" panose="020B0609020204030204" pitchFamily="49" charset="0"/>
              </a:rPr>
              <a:t> </a:t>
            </a:r>
            <a:r>
              <a:rPr lang="en-US" b="0" dirty="0">
                <a:solidFill>
                  <a:srgbClr val="FAB387"/>
                </a:solidFill>
                <a:effectLst/>
                <a:latin typeface="Consolas" panose="020B0609020204030204" pitchFamily="49" charset="0"/>
              </a:rPr>
              <a:t>1</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p:txBody>
      </p:sp>
    </p:spTree>
    <p:extLst>
      <p:ext uri="{BB962C8B-B14F-4D97-AF65-F5344CB8AC3E}">
        <p14:creationId xmlns:p14="http://schemas.microsoft.com/office/powerpoint/2010/main" val="304503335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EC3BB7-AE74-355B-9580-73C0FEAF1E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F16B1E-C6B7-B40C-D311-9980E373632C}"/>
              </a:ext>
            </a:extLst>
          </p:cNvPr>
          <p:cNvSpPr>
            <a:spLocks noGrp="1"/>
          </p:cNvSpPr>
          <p:nvPr>
            <p:ph type="title"/>
          </p:nvPr>
        </p:nvSpPr>
        <p:spPr>
          <a:xfrm>
            <a:off x="838200" y="337015"/>
            <a:ext cx="10515600" cy="1325563"/>
          </a:xfrm>
        </p:spPr>
        <p:txBody>
          <a:bodyPr/>
          <a:lstStyle/>
          <a:p>
            <a:r>
              <a:rPr lang="en-US" b="1" dirty="0"/>
              <a:t>Assignment 2: </a:t>
            </a:r>
            <a:r>
              <a:rPr lang="en-US" dirty="0"/>
              <a:t>API functions</a:t>
            </a:r>
          </a:p>
        </p:txBody>
      </p:sp>
      <p:sp>
        <p:nvSpPr>
          <p:cNvPr id="4" name="TextBox 3">
            <a:extLst>
              <a:ext uri="{FF2B5EF4-FFF2-40B4-BE49-F238E27FC236}">
                <a16:creationId xmlns:a16="http://schemas.microsoft.com/office/drawing/2014/main" id="{00F8E469-4551-732C-CA2B-F21FC872FEE1}"/>
              </a:ext>
            </a:extLst>
          </p:cNvPr>
          <p:cNvSpPr txBox="1"/>
          <p:nvPr/>
        </p:nvSpPr>
        <p:spPr>
          <a:xfrm>
            <a:off x="2394505" y="1662578"/>
            <a:ext cx="7402989" cy="2862322"/>
          </a:xfrm>
          <a:prstGeom prst="rect">
            <a:avLst/>
          </a:prstGeom>
          <a:noFill/>
        </p:spPr>
        <p:txBody>
          <a:bodyPr wrap="none" rtlCol="0">
            <a:spAutoFit/>
          </a:bodyPr>
          <a:lstStyle/>
          <a:p>
            <a:r>
              <a:rPr lang="en-US" b="0" dirty="0">
                <a:solidFill>
                  <a:srgbClr val="CBA6F7"/>
                </a:solidFill>
                <a:effectLst/>
                <a:latin typeface="Consolas" panose="020B0609020204030204" pitchFamily="49" charset="0"/>
              </a:rPr>
              <a:t>int</a:t>
            </a:r>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mythreads_join</a:t>
            </a:r>
            <a:r>
              <a:rPr lang="en-US" b="0" dirty="0">
                <a:solidFill>
                  <a:srgbClr val="9399B2"/>
                </a:solidFill>
                <a:effectLst/>
                <a:latin typeface="Consolas" panose="020B0609020204030204" pitchFamily="49" charset="0"/>
              </a:rPr>
              <a:t>(</a:t>
            </a:r>
            <a:r>
              <a:rPr lang="en-US" b="0" i="1" dirty="0" err="1">
                <a:solidFill>
                  <a:srgbClr val="F9E2AF"/>
                </a:solidFill>
                <a:effectLst/>
                <a:latin typeface="Consolas" panose="020B0609020204030204" pitchFamily="49" charset="0"/>
              </a:rPr>
              <a:t>mythr_t</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i="1" dirty="0" err="1">
                <a:solidFill>
                  <a:srgbClr val="EBA0AC"/>
                </a:solidFill>
                <a:effectLst/>
                <a:latin typeface="Consolas" panose="020B0609020204030204" pitchFamily="49" charset="0"/>
              </a:rPr>
              <a:t>thr</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disable alarm and store previous alarm</a:t>
            </a: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if</a:t>
            </a:r>
            <a:r>
              <a:rPr lang="en-US" b="0" dirty="0">
                <a:solidFill>
                  <a:srgbClr val="CDD6F4"/>
                </a:solidFill>
                <a:effectLst/>
                <a:latin typeface="Consolas" panose="020B0609020204030204" pitchFamily="49" charset="0"/>
              </a:rPr>
              <a:t> </a:t>
            </a:r>
            <a:r>
              <a:rPr lang="en-US" i="1" dirty="0" err="1">
                <a:solidFill>
                  <a:srgbClr val="EBA0AC"/>
                </a:solidFill>
                <a:latin typeface="Consolas" panose="020B0609020204030204" pitchFamily="49" charset="0"/>
              </a:rPr>
              <a:t>thr</a:t>
            </a:r>
            <a:r>
              <a:rPr lang="en-US" b="0" dirty="0">
                <a:solidFill>
                  <a:srgbClr val="CDD6F4"/>
                </a:solidFill>
                <a:effectLst/>
                <a:latin typeface="Consolas" panose="020B0609020204030204" pitchFamily="49" charset="0"/>
              </a:rPr>
              <a:t> does not exist or has terminated</a:t>
            </a:r>
          </a:p>
          <a:p>
            <a:r>
              <a:rPr lang="en-US" b="0" dirty="0">
                <a:solidFill>
                  <a:srgbClr val="CDD6F4"/>
                </a:solidFill>
                <a:effectLst/>
                <a:latin typeface="Consolas" panose="020B0609020204030204" pitchFamily="49" charset="0"/>
              </a:rPr>
              <a:t>        enable previous alarm</a:t>
            </a: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return</a:t>
            </a:r>
            <a:r>
              <a:rPr lang="en-US" b="0" dirty="0">
                <a:solidFill>
                  <a:srgbClr val="CDD6F4"/>
                </a:solidFill>
                <a:effectLst/>
                <a:latin typeface="Consolas" panose="020B0609020204030204" pitchFamily="49" charset="0"/>
              </a:rPr>
              <a:t> </a:t>
            </a:r>
            <a:r>
              <a:rPr lang="en-US" b="0" dirty="0">
                <a:solidFill>
                  <a:srgbClr val="FAB387"/>
                </a:solidFill>
                <a:effectLst/>
                <a:latin typeface="Consolas" panose="020B0609020204030204" pitchFamily="49" charset="0"/>
              </a:rPr>
              <a:t>1</a:t>
            </a:r>
            <a:endParaRPr lang="en-US" b="0" dirty="0">
              <a:solidFill>
                <a:srgbClr val="CDD6F4"/>
              </a:solidFill>
              <a:effectLst/>
              <a:latin typeface="Consolas" panose="020B0609020204030204" pitchFamily="49" charset="0"/>
            </a:endParaRPr>
          </a:p>
          <a:p>
            <a:br>
              <a:rPr lang="en-US" b="0" dirty="0">
                <a:solidFill>
                  <a:srgbClr val="CDD6F4"/>
                </a:solidFill>
                <a:effectLst/>
                <a:latin typeface="Consolas" panose="020B0609020204030204" pitchFamily="49" charset="0"/>
              </a:rPr>
            </a:br>
            <a:r>
              <a:rPr lang="en-US" b="0" dirty="0">
                <a:solidFill>
                  <a:srgbClr val="CDD6F4"/>
                </a:solidFill>
                <a:effectLst/>
                <a:latin typeface="Consolas" panose="020B0609020204030204" pitchFamily="49" charset="0"/>
              </a:rPr>
              <a:t>    set joining thread of currently running thread to </a:t>
            </a:r>
            <a:r>
              <a:rPr lang="en-US" i="1" dirty="0" err="1">
                <a:solidFill>
                  <a:srgbClr val="EBA0AC"/>
                </a:solidFill>
                <a:latin typeface="Consolas" panose="020B0609020204030204" pitchFamily="49" charset="0"/>
              </a:rPr>
              <a:t>thr</a:t>
            </a:r>
            <a:endParaRPr lang="en-US" i="1" dirty="0">
              <a:solidFill>
                <a:srgbClr val="EBA0AC"/>
              </a:solidFill>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run_scheduler</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BLOCKED</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return</a:t>
            </a:r>
            <a:r>
              <a:rPr lang="en-US" b="0" dirty="0">
                <a:solidFill>
                  <a:srgbClr val="CDD6F4"/>
                </a:solidFill>
                <a:effectLst/>
                <a:latin typeface="Consolas" panose="020B0609020204030204" pitchFamily="49" charset="0"/>
              </a:rPr>
              <a:t> </a:t>
            </a:r>
            <a:r>
              <a:rPr lang="en-US" b="0" dirty="0">
                <a:solidFill>
                  <a:srgbClr val="FAB387"/>
                </a:solidFill>
                <a:effectLst/>
                <a:latin typeface="Consolas" panose="020B0609020204030204" pitchFamily="49" charset="0"/>
              </a:rPr>
              <a:t>1</a:t>
            </a:r>
            <a:endParaRPr lang="en-US" b="0" dirty="0">
              <a:solidFill>
                <a:srgbClr val="CDD6F4"/>
              </a:solidFill>
              <a:effectLst/>
              <a:latin typeface="Consolas" panose="020B0609020204030204" pitchFamily="49" charset="0"/>
            </a:endParaRPr>
          </a:p>
          <a:p>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p:txBody>
      </p:sp>
    </p:spTree>
    <p:extLst>
      <p:ext uri="{BB962C8B-B14F-4D97-AF65-F5344CB8AC3E}">
        <p14:creationId xmlns:p14="http://schemas.microsoft.com/office/powerpoint/2010/main" val="77879983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466B4-4C92-851D-2250-B2AB85EDF7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1DFA79-F565-143C-4E8C-2D56F923BCD3}"/>
              </a:ext>
            </a:extLst>
          </p:cNvPr>
          <p:cNvSpPr>
            <a:spLocks noGrp="1"/>
          </p:cNvSpPr>
          <p:nvPr>
            <p:ph type="title"/>
          </p:nvPr>
        </p:nvSpPr>
        <p:spPr>
          <a:xfrm>
            <a:off x="838200" y="337015"/>
            <a:ext cx="10515600" cy="1325563"/>
          </a:xfrm>
        </p:spPr>
        <p:txBody>
          <a:bodyPr/>
          <a:lstStyle/>
          <a:p>
            <a:r>
              <a:rPr lang="en-US" b="1" dirty="0"/>
              <a:t>Assignment 2: </a:t>
            </a:r>
            <a:r>
              <a:rPr lang="en-US" dirty="0"/>
              <a:t>API functions</a:t>
            </a:r>
          </a:p>
        </p:txBody>
      </p:sp>
      <p:sp>
        <p:nvSpPr>
          <p:cNvPr id="4" name="TextBox 3">
            <a:extLst>
              <a:ext uri="{FF2B5EF4-FFF2-40B4-BE49-F238E27FC236}">
                <a16:creationId xmlns:a16="http://schemas.microsoft.com/office/drawing/2014/main" id="{5C3193B2-62D1-1287-9398-58663FD8D06D}"/>
              </a:ext>
            </a:extLst>
          </p:cNvPr>
          <p:cNvSpPr txBox="1"/>
          <p:nvPr/>
        </p:nvSpPr>
        <p:spPr>
          <a:xfrm>
            <a:off x="2394505" y="1662578"/>
            <a:ext cx="7402989" cy="2862322"/>
          </a:xfrm>
          <a:prstGeom prst="rect">
            <a:avLst/>
          </a:prstGeom>
          <a:noFill/>
        </p:spPr>
        <p:txBody>
          <a:bodyPr wrap="none" rtlCol="0">
            <a:spAutoFit/>
          </a:bodyPr>
          <a:lstStyle/>
          <a:p>
            <a:r>
              <a:rPr lang="en-US" b="0" dirty="0">
                <a:solidFill>
                  <a:srgbClr val="CBA6F7"/>
                </a:solidFill>
                <a:effectLst/>
                <a:latin typeface="Consolas" panose="020B0609020204030204" pitchFamily="49" charset="0"/>
              </a:rPr>
              <a:t>int</a:t>
            </a:r>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mythreads_join</a:t>
            </a:r>
            <a:r>
              <a:rPr lang="en-US" b="0" dirty="0">
                <a:solidFill>
                  <a:srgbClr val="9399B2"/>
                </a:solidFill>
                <a:effectLst/>
                <a:latin typeface="Consolas" panose="020B0609020204030204" pitchFamily="49" charset="0"/>
              </a:rPr>
              <a:t>(</a:t>
            </a:r>
            <a:r>
              <a:rPr lang="en-US" b="0" i="1" dirty="0" err="1">
                <a:solidFill>
                  <a:srgbClr val="F9E2AF"/>
                </a:solidFill>
                <a:effectLst/>
                <a:latin typeface="Consolas" panose="020B0609020204030204" pitchFamily="49" charset="0"/>
              </a:rPr>
              <a:t>mythr_t</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i="1" dirty="0" err="1">
                <a:solidFill>
                  <a:srgbClr val="EBA0AC"/>
                </a:solidFill>
                <a:effectLst/>
                <a:latin typeface="Consolas" panose="020B0609020204030204" pitchFamily="49" charset="0"/>
              </a:rPr>
              <a:t>thr</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disable alarm and store previous alarm</a:t>
            </a: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if</a:t>
            </a:r>
            <a:r>
              <a:rPr lang="en-US" b="0" dirty="0">
                <a:solidFill>
                  <a:srgbClr val="CDD6F4"/>
                </a:solidFill>
                <a:effectLst/>
                <a:latin typeface="Consolas" panose="020B0609020204030204" pitchFamily="49" charset="0"/>
              </a:rPr>
              <a:t> </a:t>
            </a:r>
            <a:r>
              <a:rPr lang="en-US" i="1" dirty="0" err="1">
                <a:solidFill>
                  <a:srgbClr val="EBA0AC"/>
                </a:solidFill>
                <a:latin typeface="Consolas" panose="020B0609020204030204" pitchFamily="49" charset="0"/>
              </a:rPr>
              <a:t>thr</a:t>
            </a:r>
            <a:r>
              <a:rPr lang="en-US" b="0" dirty="0">
                <a:solidFill>
                  <a:srgbClr val="CDD6F4"/>
                </a:solidFill>
                <a:effectLst/>
                <a:latin typeface="Consolas" panose="020B0609020204030204" pitchFamily="49" charset="0"/>
              </a:rPr>
              <a:t> does not exist or has terminated</a:t>
            </a:r>
          </a:p>
          <a:p>
            <a:r>
              <a:rPr lang="en-US" b="0" dirty="0">
                <a:solidFill>
                  <a:srgbClr val="CDD6F4"/>
                </a:solidFill>
                <a:effectLst/>
                <a:latin typeface="Consolas" panose="020B0609020204030204" pitchFamily="49" charset="0"/>
              </a:rPr>
              <a:t>        enable previous alarm</a:t>
            </a: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return</a:t>
            </a:r>
            <a:r>
              <a:rPr lang="en-US" b="0" dirty="0">
                <a:solidFill>
                  <a:srgbClr val="CDD6F4"/>
                </a:solidFill>
                <a:effectLst/>
                <a:latin typeface="Consolas" panose="020B0609020204030204" pitchFamily="49" charset="0"/>
              </a:rPr>
              <a:t> </a:t>
            </a:r>
            <a:r>
              <a:rPr lang="en-US" b="0" dirty="0">
                <a:solidFill>
                  <a:srgbClr val="FAB387"/>
                </a:solidFill>
                <a:effectLst/>
                <a:latin typeface="Consolas" panose="020B0609020204030204" pitchFamily="49" charset="0"/>
              </a:rPr>
              <a:t>1</a:t>
            </a:r>
            <a:endParaRPr lang="en-US" b="0" dirty="0">
              <a:solidFill>
                <a:srgbClr val="CDD6F4"/>
              </a:solidFill>
              <a:effectLst/>
              <a:latin typeface="Consolas" panose="020B0609020204030204" pitchFamily="49" charset="0"/>
            </a:endParaRPr>
          </a:p>
          <a:p>
            <a:br>
              <a:rPr lang="en-US" b="0" dirty="0">
                <a:solidFill>
                  <a:srgbClr val="CDD6F4"/>
                </a:solidFill>
                <a:effectLst/>
                <a:latin typeface="Consolas" panose="020B0609020204030204" pitchFamily="49" charset="0"/>
              </a:rPr>
            </a:br>
            <a:r>
              <a:rPr lang="en-US" b="0" dirty="0">
                <a:solidFill>
                  <a:srgbClr val="CDD6F4"/>
                </a:solidFill>
                <a:effectLst/>
                <a:latin typeface="Consolas" panose="020B0609020204030204" pitchFamily="49" charset="0"/>
              </a:rPr>
              <a:t>    set joining thread of currently running thread to </a:t>
            </a:r>
            <a:r>
              <a:rPr lang="en-US" i="1" dirty="0" err="1">
                <a:solidFill>
                  <a:srgbClr val="EBA0AC"/>
                </a:solidFill>
                <a:latin typeface="Consolas" panose="020B0609020204030204" pitchFamily="49" charset="0"/>
              </a:rPr>
              <a:t>thr</a:t>
            </a:r>
            <a:endParaRPr lang="en-US" i="1" dirty="0">
              <a:solidFill>
                <a:srgbClr val="EBA0AC"/>
              </a:solidFill>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run_scheduler</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BLOCKED</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return</a:t>
            </a:r>
            <a:r>
              <a:rPr lang="en-US" b="0" dirty="0">
                <a:solidFill>
                  <a:srgbClr val="CDD6F4"/>
                </a:solidFill>
                <a:effectLst/>
                <a:latin typeface="Consolas" panose="020B0609020204030204" pitchFamily="49" charset="0"/>
              </a:rPr>
              <a:t> </a:t>
            </a:r>
            <a:r>
              <a:rPr lang="en-US" b="0" dirty="0">
                <a:solidFill>
                  <a:srgbClr val="FAB387"/>
                </a:solidFill>
                <a:effectLst/>
                <a:latin typeface="Consolas" panose="020B0609020204030204" pitchFamily="49" charset="0"/>
              </a:rPr>
              <a:t>1</a:t>
            </a:r>
            <a:endParaRPr lang="en-US" b="0" dirty="0">
              <a:solidFill>
                <a:srgbClr val="CDD6F4"/>
              </a:solidFill>
              <a:effectLst/>
              <a:latin typeface="Consolas" panose="020B0609020204030204" pitchFamily="49" charset="0"/>
            </a:endParaRPr>
          </a:p>
          <a:p>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p:txBody>
      </p:sp>
    </p:spTree>
    <p:extLst>
      <p:ext uri="{BB962C8B-B14F-4D97-AF65-F5344CB8AC3E}">
        <p14:creationId xmlns:p14="http://schemas.microsoft.com/office/powerpoint/2010/main" val="159506257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81885-93EB-51D3-0853-B7ECDD729A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F7FEEF-500A-1AD0-E030-62D677AECE80}"/>
              </a:ext>
            </a:extLst>
          </p:cNvPr>
          <p:cNvSpPr>
            <a:spLocks noGrp="1"/>
          </p:cNvSpPr>
          <p:nvPr>
            <p:ph type="title"/>
          </p:nvPr>
        </p:nvSpPr>
        <p:spPr>
          <a:xfrm>
            <a:off x="838200" y="337015"/>
            <a:ext cx="10515600" cy="1325563"/>
          </a:xfrm>
        </p:spPr>
        <p:txBody>
          <a:bodyPr/>
          <a:lstStyle/>
          <a:p>
            <a:r>
              <a:rPr lang="en-US" b="1" dirty="0"/>
              <a:t>Assignment 2: </a:t>
            </a:r>
            <a:r>
              <a:rPr lang="en-US" dirty="0"/>
              <a:t>API functions</a:t>
            </a:r>
          </a:p>
        </p:txBody>
      </p:sp>
      <p:sp>
        <p:nvSpPr>
          <p:cNvPr id="4" name="TextBox 3">
            <a:extLst>
              <a:ext uri="{FF2B5EF4-FFF2-40B4-BE49-F238E27FC236}">
                <a16:creationId xmlns:a16="http://schemas.microsoft.com/office/drawing/2014/main" id="{4F1E213E-0AB0-0F54-EAE9-CC6DC6B95DF1}"/>
              </a:ext>
            </a:extLst>
          </p:cNvPr>
          <p:cNvSpPr txBox="1"/>
          <p:nvPr/>
        </p:nvSpPr>
        <p:spPr>
          <a:xfrm>
            <a:off x="1698001" y="1516528"/>
            <a:ext cx="8795998" cy="4801314"/>
          </a:xfrm>
          <a:prstGeom prst="rect">
            <a:avLst/>
          </a:prstGeom>
          <a:noFill/>
        </p:spPr>
        <p:txBody>
          <a:bodyPr wrap="none" rtlCol="0">
            <a:spAutoFit/>
          </a:bodyPr>
          <a:lstStyle/>
          <a:p>
            <a:r>
              <a:rPr lang="en-US" b="0" dirty="0">
                <a:solidFill>
                  <a:srgbClr val="CBA6F7"/>
                </a:solidFill>
                <a:effectLst/>
                <a:latin typeface="Consolas" panose="020B0609020204030204" pitchFamily="49" charset="0"/>
              </a:rPr>
              <a:t>int</a:t>
            </a:r>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mythreads_create</a:t>
            </a:r>
            <a:r>
              <a:rPr lang="en-US" b="0" dirty="0">
                <a:solidFill>
                  <a:srgbClr val="9399B2"/>
                </a:solidFill>
                <a:effectLst/>
                <a:latin typeface="Consolas" panose="020B0609020204030204" pitchFamily="49" charset="0"/>
              </a:rPr>
              <a:t>(</a:t>
            </a:r>
            <a:r>
              <a:rPr lang="en-US" b="0" i="1" dirty="0" err="1">
                <a:solidFill>
                  <a:srgbClr val="F9E2AF"/>
                </a:solidFill>
                <a:effectLst/>
                <a:latin typeface="Consolas" panose="020B0609020204030204" pitchFamily="49" charset="0"/>
              </a:rPr>
              <a:t>mythr_t</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i="1" dirty="0" err="1">
                <a:solidFill>
                  <a:srgbClr val="EBA0AC"/>
                </a:solidFill>
                <a:effectLst/>
                <a:latin typeface="Consolas" panose="020B0609020204030204" pitchFamily="49" charset="0"/>
              </a:rPr>
              <a:t>thr</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void</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body</a:t>
            </a:r>
            <a:r>
              <a:rPr lang="en-US" b="0" dirty="0">
                <a:solidFill>
                  <a:srgbClr val="9399B2"/>
                </a:solidFill>
                <a:effectLst/>
                <a:latin typeface="Consolas" panose="020B0609020204030204" pitchFamily="49" charset="0"/>
              </a:rPr>
              <a:t>)(</a:t>
            </a:r>
            <a:r>
              <a:rPr lang="en-US" b="0" dirty="0">
                <a:solidFill>
                  <a:srgbClr val="CBA6F7"/>
                </a:solidFill>
                <a:effectLst/>
                <a:latin typeface="Consolas" panose="020B0609020204030204" pitchFamily="49" charset="0"/>
              </a:rPr>
              <a:t>void</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void</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i="1" dirty="0" err="1">
                <a:solidFill>
                  <a:srgbClr val="EBA0AC"/>
                </a:solidFill>
                <a:effectLst/>
                <a:latin typeface="Consolas" panose="020B0609020204030204" pitchFamily="49" charset="0"/>
              </a:rPr>
              <a:t>arg</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disable alarm and store previous alarm</a:t>
            </a: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if</a:t>
            </a:r>
            <a:r>
              <a:rPr lang="en-US" b="0" dirty="0">
                <a:solidFill>
                  <a:srgbClr val="CDD6F4"/>
                </a:solidFill>
                <a:effectLst/>
                <a:latin typeface="Consolas" panose="020B0609020204030204" pitchFamily="49" charset="0"/>
              </a:rPr>
              <a:t> </a:t>
            </a:r>
            <a:r>
              <a:rPr lang="en-US" i="1" dirty="0" err="1">
                <a:solidFill>
                  <a:srgbClr val="EBA0AC"/>
                </a:solidFill>
                <a:latin typeface="Consolas" panose="020B0609020204030204" pitchFamily="49" charset="0"/>
              </a:rPr>
              <a:t>thr</a:t>
            </a:r>
            <a:r>
              <a:rPr lang="en-US" b="0" dirty="0">
                <a:solidFill>
                  <a:srgbClr val="CDD6F4"/>
                </a:solidFill>
                <a:effectLst/>
                <a:latin typeface="Consolas" panose="020B0609020204030204" pitchFamily="49" charset="0"/>
              </a:rPr>
              <a:t> exists</a:t>
            </a:r>
          </a:p>
          <a:p>
            <a:r>
              <a:rPr lang="en-US" b="0" dirty="0">
                <a:solidFill>
                  <a:srgbClr val="CDD6F4"/>
                </a:solidFill>
                <a:effectLst/>
                <a:latin typeface="Consolas" panose="020B0609020204030204" pitchFamily="49" charset="0"/>
              </a:rPr>
              <a:t>        enable previous alarm</a:t>
            </a: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return</a:t>
            </a:r>
            <a:r>
              <a:rPr lang="en-US" b="0" dirty="0">
                <a:solidFill>
                  <a:srgbClr val="CDD6F4"/>
                </a:solidFill>
                <a:effectLst/>
                <a:latin typeface="Consolas" panose="020B0609020204030204" pitchFamily="49" charset="0"/>
              </a:rPr>
              <a:t> error</a:t>
            </a:r>
          </a:p>
          <a:p>
            <a:br>
              <a:rPr lang="en-US" b="0" dirty="0">
                <a:solidFill>
                  <a:srgbClr val="CDD6F4"/>
                </a:solidFill>
                <a:effectLst/>
                <a:latin typeface="Consolas" panose="020B0609020204030204" pitchFamily="49" charset="0"/>
              </a:rPr>
            </a:br>
            <a:r>
              <a:rPr lang="en-US" b="0" dirty="0">
                <a:solidFill>
                  <a:srgbClr val="CDD6F4"/>
                </a:solidFill>
                <a:effectLst/>
                <a:latin typeface="Consolas" panose="020B0609020204030204" pitchFamily="49" charset="0"/>
              </a:rPr>
              <a:t>    add </a:t>
            </a:r>
            <a:r>
              <a:rPr lang="en-US" i="1" dirty="0" err="1">
                <a:solidFill>
                  <a:srgbClr val="EBA0AC"/>
                </a:solidFill>
                <a:latin typeface="Consolas" panose="020B0609020204030204" pitchFamily="49" charset="0"/>
              </a:rPr>
              <a:t>thr</a:t>
            </a:r>
            <a:r>
              <a:rPr lang="en-US" b="0" dirty="0">
                <a:solidFill>
                  <a:srgbClr val="CDD6F4"/>
                </a:solidFill>
                <a:effectLst/>
                <a:latin typeface="Consolas" panose="020B0609020204030204" pitchFamily="49" charset="0"/>
              </a:rPr>
              <a:t> to thread list</a:t>
            </a:r>
          </a:p>
          <a:p>
            <a:r>
              <a:rPr lang="en-US" b="0" dirty="0">
                <a:solidFill>
                  <a:srgbClr val="CDD6F4"/>
                </a:solidFill>
                <a:effectLst/>
                <a:latin typeface="Consolas" panose="020B0609020204030204" pitchFamily="49" charset="0"/>
              </a:rPr>
              <a:t>    </a:t>
            </a:r>
          </a:p>
          <a:p>
            <a:r>
              <a:rPr lang="en-US" b="0" dirty="0">
                <a:solidFill>
                  <a:srgbClr val="CDD6F4"/>
                </a:solidFill>
                <a:effectLst/>
                <a:latin typeface="Consolas" panose="020B0609020204030204" pitchFamily="49" charset="0"/>
              </a:rPr>
              <a:t>    initialize thread fields</a:t>
            </a:r>
          </a:p>
          <a:p>
            <a:br>
              <a:rPr lang="en-US" b="0" dirty="0">
                <a:solidFill>
                  <a:srgbClr val="CDD6F4"/>
                </a:solidFill>
                <a:effectLst/>
                <a:latin typeface="Consolas" panose="020B0609020204030204" pitchFamily="49" charset="0"/>
              </a:rPr>
            </a:br>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if</a:t>
            </a:r>
            <a:r>
              <a:rPr lang="en-US" b="0" dirty="0">
                <a:solidFill>
                  <a:srgbClr val="CDD6F4"/>
                </a:solidFill>
                <a:effectLst/>
                <a:latin typeface="Consolas" panose="020B0609020204030204" pitchFamily="49" charset="0"/>
              </a:rPr>
              <a:t> thread list size is </a:t>
            </a:r>
            <a:r>
              <a:rPr lang="en-US" b="0" dirty="0">
                <a:solidFill>
                  <a:srgbClr val="FAB387"/>
                </a:solidFill>
                <a:effectLst/>
                <a:latin typeface="Consolas" panose="020B0609020204030204" pitchFamily="49" charset="0"/>
              </a:rPr>
              <a:t>2</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reset alarm</a:t>
            </a: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else</a:t>
            </a:r>
            <a:r>
              <a:rPr lang="en-US" b="0" dirty="0">
                <a:solidFill>
                  <a:srgbClr val="CDD6F4"/>
                </a:solidFill>
                <a:effectLst/>
                <a:latin typeface="Consolas" panose="020B0609020204030204" pitchFamily="49" charset="0"/>
              </a:rPr>
              <a:t> </a:t>
            </a:r>
          </a:p>
          <a:p>
            <a:r>
              <a:rPr lang="en-US" b="0" dirty="0">
                <a:solidFill>
                  <a:srgbClr val="CDD6F4"/>
                </a:solidFill>
                <a:effectLst/>
                <a:latin typeface="Consolas" panose="020B0609020204030204" pitchFamily="49" charset="0"/>
              </a:rPr>
              <a:t>        enable previous alarm</a:t>
            </a:r>
          </a:p>
          <a:p>
            <a:r>
              <a:rPr lang="en-US" b="0" dirty="0">
                <a:solidFill>
                  <a:srgbClr val="CDD6F4"/>
                </a:solidFill>
                <a:effectLst/>
                <a:latin typeface="Consolas" panose="020B0609020204030204" pitchFamily="49" charset="0"/>
              </a:rPr>
              <a:t>    </a:t>
            </a: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return</a:t>
            </a:r>
            <a:r>
              <a:rPr lang="en-US" b="0" dirty="0">
                <a:solidFill>
                  <a:srgbClr val="CDD6F4"/>
                </a:solidFill>
                <a:effectLst/>
                <a:latin typeface="Consolas" panose="020B0609020204030204" pitchFamily="49" charset="0"/>
              </a:rPr>
              <a:t> </a:t>
            </a:r>
            <a:r>
              <a:rPr lang="en-US" b="0" dirty="0">
                <a:solidFill>
                  <a:srgbClr val="FAB387"/>
                </a:solidFill>
                <a:effectLst/>
                <a:latin typeface="Consolas" panose="020B0609020204030204" pitchFamily="49" charset="0"/>
              </a:rPr>
              <a:t>1</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p:txBody>
      </p:sp>
    </p:spTree>
    <p:extLst>
      <p:ext uri="{BB962C8B-B14F-4D97-AF65-F5344CB8AC3E}">
        <p14:creationId xmlns:p14="http://schemas.microsoft.com/office/powerpoint/2010/main" val="157848631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AA5DDB-4496-1DC9-7688-7995ECA8F2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75B0EC-2145-AEDA-EE22-F001F0EB368D}"/>
              </a:ext>
            </a:extLst>
          </p:cNvPr>
          <p:cNvSpPr>
            <a:spLocks noGrp="1"/>
          </p:cNvSpPr>
          <p:nvPr>
            <p:ph type="title"/>
          </p:nvPr>
        </p:nvSpPr>
        <p:spPr>
          <a:xfrm>
            <a:off x="838200" y="337015"/>
            <a:ext cx="10515600" cy="1325563"/>
          </a:xfrm>
        </p:spPr>
        <p:txBody>
          <a:bodyPr/>
          <a:lstStyle/>
          <a:p>
            <a:r>
              <a:rPr lang="en-US" b="1" dirty="0"/>
              <a:t>Assignment 2: </a:t>
            </a:r>
            <a:r>
              <a:rPr lang="en-US" dirty="0"/>
              <a:t>API functions</a:t>
            </a:r>
          </a:p>
        </p:txBody>
      </p:sp>
      <p:sp>
        <p:nvSpPr>
          <p:cNvPr id="4" name="TextBox 3">
            <a:extLst>
              <a:ext uri="{FF2B5EF4-FFF2-40B4-BE49-F238E27FC236}">
                <a16:creationId xmlns:a16="http://schemas.microsoft.com/office/drawing/2014/main" id="{94CDC819-7C46-53C6-25F4-218F2C91E44F}"/>
              </a:ext>
            </a:extLst>
          </p:cNvPr>
          <p:cNvSpPr txBox="1"/>
          <p:nvPr/>
        </p:nvSpPr>
        <p:spPr>
          <a:xfrm>
            <a:off x="1704351" y="1421278"/>
            <a:ext cx="5630067" cy="4524315"/>
          </a:xfrm>
          <a:prstGeom prst="rect">
            <a:avLst/>
          </a:prstGeom>
          <a:noFill/>
        </p:spPr>
        <p:txBody>
          <a:bodyPr wrap="none" rtlCol="0">
            <a:spAutoFit/>
          </a:bodyPr>
          <a:lstStyle/>
          <a:p>
            <a:r>
              <a:rPr lang="en-US" b="0" dirty="0">
                <a:solidFill>
                  <a:srgbClr val="CBA6F7"/>
                </a:solidFill>
                <a:effectLst/>
                <a:latin typeface="Consolas" panose="020B0609020204030204" pitchFamily="49" charset="0"/>
              </a:rPr>
              <a:t>int</a:t>
            </a:r>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mythreads_destroy</a:t>
            </a:r>
            <a:r>
              <a:rPr lang="en-US" b="0" dirty="0">
                <a:solidFill>
                  <a:srgbClr val="9399B2"/>
                </a:solidFill>
                <a:effectLst/>
                <a:latin typeface="Consolas" panose="020B0609020204030204" pitchFamily="49" charset="0"/>
              </a:rPr>
              <a:t>(</a:t>
            </a:r>
            <a:r>
              <a:rPr lang="en-US" b="0" i="1" dirty="0" err="1">
                <a:solidFill>
                  <a:srgbClr val="F9E2AF"/>
                </a:solidFill>
                <a:effectLst/>
                <a:latin typeface="Consolas" panose="020B0609020204030204" pitchFamily="49" charset="0"/>
              </a:rPr>
              <a:t>mythr_t</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i="1" dirty="0" err="1">
                <a:solidFill>
                  <a:srgbClr val="EBA0AC"/>
                </a:solidFill>
                <a:effectLst/>
                <a:latin typeface="Consolas" panose="020B0609020204030204" pitchFamily="49" charset="0"/>
              </a:rPr>
              <a:t>thr</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disable alarm and store previous alarm</a:t>
            </a: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if</a:t>
            </a:r>
            <a:r>
              <a:rPr lang="en-US" b="0" dirty="0">
                <a:solidFill>
                  <a:srgbClr val="CDD6F4"/>
                </a:solidFill>
                <a:effectLst/>
                <a:latin typeface="Consolas" panose="020B0609020204030204" pitchFamily="49" charset="0"/>
              </a:rPr>
              <a:t> </a:t>
            </a:r>
            <a:r>
              <a:rPr lang="en-US" b="0" dirty="0" err="1">
                <a:solidFill>
                  <a:srgbClr val="CDD6F4"/>
                </a:solidFill>
                <a:effectLst/>
                <a:latin typeface="Consolas" panose="020B0609020204030204" pitchFamily="49" charset="0"/>
              </a:rPr>
              <a:t>thr</a:t>
            </a:r>
            <a:r>
              <a:rPr lang="en-US" b="0" dirty="0">
                <a:solidFill>
                  <a:srgbClr val="CDD6F4"/>
                </a:solidFill>
                <a:effectLst/>
                <a:latin typeface="Consolas" panose="020B0609020204030204" pitchFamily="49" charset="0"/>
              </a:rPr>
              <a:t> does not exist or has terminated</a:t>
            </a:r>
          </a:p>
          <a:p>
            <a:r>
              <a:rPr lang="en-US" b="0" dirty="0">
                <a:solidFill>
                  <a:srgbClr val="CDD6F4"/>
                </a:solidFill>
                <a:effectLst/>
                <a:latin typeface="Consolas" panose="020B0609020204030204" pitchFamily="49" charset="0"/>
              </a:rPr>
              <a:t>        enable previous alarm</a:t>
            </a: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return</a:t>
            </a:r>
            <a:r>
              <a:rPr lang="en-US" b="0" dirty="0">
                <a:solidFill>
                  <a:srgbClr val="CDD6F4"/>
                </a:solidFill>
                <a:effectLst/>
                <a:latin typeface="Consolas" panose="020B0609020204030204" pitchFamily="49" charset="0"/>
              </a:rPr>
              <a:t> </a:t>
            </a:r>
            <a:r>
              <a:rPr lang="en-US" b="0" dirty="0">
                <a:solidFill>
                  <a:srgbClr val="FAB387"/>
                </a:solidFill>
                <a:effectLst/>
                <a:latin typeface="Consolas" panose="020B0609020204030204" pitchFamily="49" charset="0"/>
              </a:rPr>
              <a:t>1</a:t>
            </a:r>
            <a:endParaRPr lang="en-US" b="0" dirty="0">
              <a:solidFill>
                <a:srgbClr val="CDD6F4"/>
              </a:solidFill>
              <a:effectLst/>
              <a:latin typeface="Consolas" panose="020B0609020204030204" pitchFamily="49" charset="0"/>
            </a:endParaRPr>
          </a:p>
          <a:p>
            <a:endParaRPr lang="en-US" b="0">
              <a:solidFill>
                <a:srgbClr val="CDD6F4"/>
              </a:solidFill>
              <a:effectLst/>
              <a:latin typeface="Consolas" panose="020B0609020204030204" pitchFamily="49" charset="0"/>
            </a:endParaRPr>
          </a:p>
          <a:p>
            <a:r>
              <a:rPr lang="en-US" b="0">
                <a:solidFill>
                  <a:srgbClr val="CDD6F4"/>
                </a:solidFill>
                <a:effectLst/>
                <a:latin typeface="Consolas" panose="020B0609020204030204" pitchFamily="49" charset="0"/>
              </a:rPr>
              <a:t>    </a:t>
            </a:r>
            <a:r>
              <a:rPr lang="en-US" b="0" dirty="0">
                <a:solidFill>
                  <a:srgbClr val="CDD6F4"/>
                </a:solidFill>
                <a:effectLst/>
                <a:latin typeface="Consolas" panose="020B0609020204030204" pitchFamily="49" charset="0"/>
              </a:rPr>
              <a:t>destroy thread coroutine</a:t>
            </a:r>
          </a:p>
          <a:p>
            <a:r>
              <a:rPr lang="en-US" b="0" dirty="0">
                <a:solidFill>
                  <a:srgbClr val="CDD6F4"/>
                </a:solidFill>
                <a:effectLst/>
                <a:latin typeface="Consolas" panose="020B0609020204030204" pitchFamily="49" charset="0"/>
              </a:rPr>
              <a:t>    remove thread from thread list</a:t>
            </a:r>
          </a:p>
          <a:p>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if</a:t>
            </a:r>
            <a:r>
              <a:rPr lang="en-US" b="0" dirty="0">
                <a:solidFill>
                  <a:srgbClr val="CDD6F4"/>
                </a:solidFill>
                <a:effectLst/>
                <a:latin typeface="Consolas" panose="020B0609020204030204" pitchFamily="49" charset="0"/>
              </a:rPr>
              <a:t> thread list size is </a:t>
            </a:r>
            <a:r>
              <a:rPr lang="en-US" b="0" dirty="0">
                <a:solidFill>
                  <a:srgbClr val="FAB387"/>
                </a:solidFill>
                <a:effectLst/>
                <a:latin typeface="Consolas" panose="020B0609020204030204" pitchFamily="49" charset="0"/>
              </a:rPr>
              <a:t>1</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enable previous alarm</a:t>
            </a: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else</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reset alarm</a:t>
            </a:r>
          </a:p>
          <a:p>
            <a:r>
              <a:rPr lang="en-US" b="0" dirty="0">
                <a:solidFill>
                  <a:srgbClr val="CDD6F4"/>
                </a:solidFill>
                <a:effectLst/>
                <a:latin typeface="Consolas" panose="020B0609020204030204" pitchFamily="49" charset="0"/>
              </a:rPr>
              <a:t>    </a:t>
            </a: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return</a:t>
            </a:r>
            <a:r>
              <a:rPr lang="en-US" b="0" dirty="0">
                <a:solidFill>
                  <a:srgbClr val="CDD6F4"/>
                </a:solidFill>
                <a:effectLst/>
                <a:latin typeface="Consolas" panose="020B0609020204030204" pitchFamily="49" charset="0"/>
              </a:rPr>
              <a:t> </a:t>
            </a:r>
            <a:r>
              <a:rPr lang="en-US" b="0" dirty="0">
                <a:solidFill>
                  <a:srgbClr val="FAB387"/>
                </a:solidFill>
                <a:effectLst/>
                <a:latin typeface="Consolas" panose="020B0609020204030204" pitchFamily="49" charset="0"/>
              </a:rPr>
              <a:t>1</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p:txBody>
      </p:sp>
    </p:spTree>
    <p:extLst>
      <p:ext uri="{BB962C8B-B14F-4D97-AF65-F5344CB8AC3E}">
        <p14:creationId xmlns:p14="http://schemas.microsoft.com/office/powerpoint/2010/main" val="33966892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37D399-9C00-E7F1-C1C0-BD4F40BDCC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3D7B91-040E-C45E-5FAF-C8BA4BF62E4C}"/>
              </a:ext>
            </a:extLst>
          </p:cNvPr>
          <p:cNvSpPr>
            <a:spLocks noGrp="1"/>
          </p:cNvSpPr>
          <p:nvPr>
            <p:ph type="ctrTitle"/>
          </p:nvPr>
        </p:nvSpPr>
        <p:spPr>
          <a:xfrm>
            <a:off x="1524000" y="2945034"/>
            <a:ext cx="9144000" cy="967931"/>
          </a:xfrm>
        </p:spPr>
        <p:txBody>
          <a:bodyPr/>
          <a:lstStyle/>
          <a:p>
            <a:r>
              <a:rPr lang="en-US" dirty="0"/>
              <a:t>Assignment 3</a:t>
            </a:r>
          </a:p>
        </p:txBody>
      </p:sp>
    </p:spTree>
    <p:extLst>
      <p:ext uri="{BB962C8B-B14F-4D97-AF65-F5344CB8AC3E}">
        <p14:creationId xmlns:p14="http://schemas.microsoft.com/office/powerpoint/2010/main" val="26363474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942FD4-BF26-9EBB-5971-7872A76A15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659D05-F676-D1A3-5162-FADF972B122D}"/>
              </a:ext>
            </a:extLst>
          </p:cNvPr>
          <p:cNvSpPr>
            <a:spLocks noGrp="1"/>
          </p:cNvSpPr>
          <p:nvPr>
            <p:ph type="title"/>
          </p:nvPr>
        </p:nvSpPr>
        <p:spPr>
          <a:xfrm>
            <a:off x="838200" y="337015"/>
            <a:ext cx="10515600" cy="1325563"/>
          </a:xfrm>
        </p:spPr>
        <p:txBody>
          <a:bodyPr/>
          <a:lstStyle/>
          <a:p>
            <a:r>
              <a:rPr lang="en-US" b="1" dirty="0"/>
              <a:t>Assignment 3: </a:t>
            </a:r>
            <a:r>
              <a:rPr lang="en-US" dirty="0"/>
              <a:t>Variables</a:t>
            </a:r>
          </a:p>
        </p:txBody>
      </p:sp>
      <p:sp>
        <p:nvSpPr>
          <p:cNvPr id="3" name="TextBox 2">
            <a:extLst>
              <a:ext uri="{FF2B5EF4-FFF2-40B4-BE49-F238E27FC236}">
                <a16:creationId xmlns:a16="http://schemas.microsoft.com/office/drawing/2014/main" id="{3C869C81-9948-6937-DC41-0870C2E164AB}"/>
              </a:ext>
            </a:extLst>
          </p:cNvPr>
          <p:cNvSpPr txBox="1"/>
          <p:nvPr/>
        </p:nvSpPr>
        <p:spPr>
          <a:xfrm>
            <a:off x="692150" y="1955800"/>
            <a:ext cx="184731" cy="369332"/>
          </a:xfrm>
          <a:prstGeom prst="rect">
            <a:avLst/>
          </a:prstGeom>
          <a:noFill/>
        </p:spPr>
        <p:txBody>
          <a:bodyPr wrap="none" rtlCol="0">
            <a:spAutoFit/>
          </a:bodyPr>
          <a:lstStyle/>
          <a:p>
            <a:endParaRPr lang="en-US" dirty="0"/>
          </a:p>
        </p:txBody>
      </p:sp>
      <p:sp>
        <p:nvSpPr>
          <p:cNvPr id="4" name="TextBox 3">
            <a:extLst>
              <a:ext uri="{FF2B5EF4-FFF2-40B4-BE49-F238E27FC236}">
                <a16:creationId xmlns:a16="http://schemas.microsoft.com/office/drawing/2014/main" id="{32FCA5A8-3B93-CB8B-6F23-2C7360A39CD0}"/>
              </a:ext>
            </a:extLst>
          </p:cNvPr>
          <p:cNvSpPr txBox="1"/>
          <p:nvPr/>
        </p:nvSpPr>
        <p:spPr>
          <a:xfrm>
            <a:off x="3534241" y="1997839"/>
            <a:ext cx="5123518" cy="2862322"/>
          </a:xfrm>
          <a:prstGeom prst="rect">
            <a:avLst/>
          </a:prstGeom>
          <a:noFill/>
        </p:spPr>
        <p:txBody>
          <a:bodyPr wrap="none" rtlCol="0">
            <a:spAutoFit/>
          </a:bodyPr>
          <a:lstStyle/>
          <a:p>
            <a:r>
              <a:rPr lang="en-US" b="0" i="1" dirty="0" err="1">
                <a:solidFill>
                  <a:srgbClr val="F9E2AF"/>
                </a:solidFill>
                <a:effectLst/>
                <a:latin typeface="Consolas" panose="020B0609020204030204" pitchFamily="49" charset="0"/>
              </a:rPr>
              <a:t>mythreads_sem_t</a:t>
            </a:r>
            <a:r>
              <a:rPr lang="en-US" b="0" dirty="0">
                <a:solidFill>
                  <a:srgbClr val="CDD6F4"/>
                </a:solidFill>
                <a:effectLst/>
                <a:latin typeface="Consolas" panose="020B0609020204030204" pitchFamily="49" charset="0"/>
              </a:rPr>
              <a:t> </a:t>
            </a:r>
            <a:r>
              <a:rPr lang="en-US" b="0" dirty="0" err="1">
                <a:solidFill>
                  <a:srgbClr val="CDD6F4"/>
                </a:solidFill>
                <a:effectLst/>
                <a:latin typeface="Consolas" panose="020B0609020204030204" pitchFamily="49" charset="0"/>
              </a:rPr>
              <a:t>mtx</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i="1" dirty="0" err="1">
                <a:solidFill>
                  <a:srgbClr val="F9E2AF"/>
                </a:solidFill>
                <a:effectLst/>
                <a:latin typeface="Consolas" panose="020B0609020204030204" pitchFamily="49" charset="0"/>
              </a:rPr>
              <a:t>mythreads_sem_t</a:t>
            </a:r>
            <a:r>
              <a:rPr lang="en-US" b="0" dirty="0">
                <a:solidFill>
                  <a:srgbClr val="CDD6F4"/>
                </a:solidFill>
                <a:effectLst/>
                <a:latin typeface="Consolas" panose="020B0609020204030204" pitchFamily="49" charset="0"/>
              </a:rPr>
              <a:t> </a:t>
            </a:r>
            <a:r>
              <a:rPr lang="en-US" b="0" dirty="0" err="1">
                <a:solidFill>
                  <a:srgbClr val="CDD6F4"/>
                </a:solidFill>
                <a:effectLst/>
                <a:latin typeface="Consolas" panose="020B0609020204030204" pitchFamily="49" charset="0"/>
              </a:rPr>
              <a:t>readers_queue</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i="1" dirty="0" err="1">
                <a:solidFill>
                  <a:srgbClr val="F9E2AF"/>
                </a:solidFill>
                <a:effectLst/>
                <a:latin typeface="Consolas" panose="020B0609020204030204" pitchFamily="49" charset="0"/>
              </a:rPr>
              <a:t>mythreads_sem_t</a:t>
            </a:r>
            <a:r>
              <a:rPr lang="en-US" b="0" dirty="0">
                <a:solidFill>
                  <a:srgbClr val="CDD6F4"/>
                </a:solidFill>
                <a:effectLst/>
                <a:latin typeface="Consolas" panose="020B0609020204030204" pitchFamily="49" charset="0"/>
              </a:rPr>
              <a:t> </a:t>
            </a:r>
            <a:r>
              <a:rPr lang="en-US" b="0" dirty="0" err="1">
                <a:solidFill>
                  <a:srgbClr val="CDD6F4"/>
                </a:solidFill>
                <a:effectLst/>
                <a:latin typeface="Consolas" panose="020B0609020204030204" pitchFamily="49" charset="0"/>
              </a:rPr>
              <a:t>writers_queue</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BA6F7"/>
                </a:solidFill>
                <a:effectLst/>
                <a:latin typeface="Consolas" panose="020B0609020204030204" pitchFamily="49" charset="0"/>
              </a:rPr>
              <a:t>int</a:t>
            </a:r>
            <a:r>
              <a:rPr lang="en-US" b="0" dirty="0">
                <a:solidFill>
                  <a:srgbClr val="CDD6F4"/>
                </a:solidFill>
                <a:effectLst/>
                <a:latin typeface="Consolas" panose="020B0609020204030204" pitchFamily="49" charset="0"/>
              </a:rPr>
              <a:t> </a:t>
            </a:r>
            <a:r>
              <a:rPr lang="en-US" b="0" dirty="0" err="1">
                <a:solidFill>
                  <a:srgbClr val="CDD6F4"/>
                </a:solidFill>
                <a:effectLst/>
                <a:latin typeface="Consolas" panose="020B0609020204030204" pitchFamily="49" charset="0"/>
              </a:rPr>
              <a:t>readers_waiting</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FAB387"/>
                </a:solidFill>
                <a:effectLst/>
                <a:latin typeface="Consolas" panose="020B0609020204030204" pitchFamily="49" charset="0"/>
              </a:rPr>
              <a:t>0</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BA6F7"/>
                </a:solidFill>
                <a:effectLst/>
                <a:latin typeface="Consolas" panose="020B0609020204030204" pitchFamily="49" charset="0"/>
              </a:rPr>
              <a:t>int</a:t>
            </a:r>
            <a:r>
              <a:rPr lang="en-US" b="0" dirty="0">
                <a:solidFill>
                  <a:srgbClr val="CDD6F4"/>
                </a:solidFill>
                <a:effectLst/>
                <a:latin typeface="Consolas" panose="020B0609020204030204" pitchFamily="49" charset="0"/>
              </a:rPr>
              <a:t> </a:t>
            </a:r>
            <a:r>
              <a:rPr lang="en-US" b="0" dirty="0" err="1">
                <a:solidFill>
                  <a:srgbClr val="CDD6F4"/>
                </a:solidFill>
                <a:effectLst/>
                <a:latin typeface="Consolas" panose="020B0609020204030204" pitchFamily="49" charset="0"/>
              </a:rPr>
              <a:t>writers_wating</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FAB387"/>
                </a:solidFill>
                <a:effectLst/>
                <a:latin typeface="Consolas" panose="020B0609020204030204" pitchFamily="49" charset="0"/>
              </a:rPr>
              <a:t>0</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BA6F7"/>
                </a:solidFill>
                <a:effectLst/>
                <a:latin typeface="Consolas" panose="020B0609020204030204" pitchFamily="49" charset="0"/>
              </a:rPr>
              <a:t>int</a:t>
            </a:r>
            <a:r>
              <a:rPr lang="en-US" b="0" dirty="0">
                <a:solidFill>
                  <a:srgbClr val="CDD6F4"/>
                </a:solidFill>
                <a:effectLst/>
                <a:latin typeface="Consolas" panose="020B0609020204030204" pitchFamily="49" charset="0"/>
              </a:rPr>
              <a:t> readers </a:t>
            </a:r>
            <a:r>
              <a:rPr lang="en-US" b="0" dirty="0">
                <a:solidFill>
                  <a:srgbClr val="94E2D5"/>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FAB387"/>
                </a:solidFill>
                <a:effectLst/>
                <a:latin typeface="Consolas" panose="020B0609020204030204" pitchFamily="49" charset="0"/>
              </a:rPr>
              <a:t>0</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BA6F7"/>
                </a:solidFill>
                <a:effectLst/>
                <a:latin typeface="Consolas" panose="020B0609020204030204" pitchFamily="49" charset="0"/>
              </a:rPr>
              <a:t>int</a:t>
            </a:r>
            <a:r>
              <a:rPr lang="en-US" b="0" dirty="0">
                <a:solidFill>
                  <a:srgbClr val="CDD6F4"/>
                </a:solidFill>
                <a:effectLst/>
                <a:latin typeface="Consolas" panose="020B0609020204030204" pitchFamily="49" charset="0"/>
              </a:rPr>
              <a:t> writers </a:t>
            </a:r>
            <a:r>
              <a:rPr lang="en-US" b="0" dirty="0">
                <a:solidFill>
                  <a:srgbClr val="94E2D5"/>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FAB387"/>
                </a:solidFill>
                <a:effectLst/>
                <a:latin typeface="Consolas" panose="020B0609020204030204" pitchFamily="49" charset="0"/>
              </a:rPr>
              <a:t>0</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i="1" dirty="0" err="1">
                <a:solidFill>
                  <a:srgbClr val="89B4FA"/>
                </a:solidFill>
                <a:effectLst/>
                <a:latin typeface="Consolas" panose="020B0609020204030204" pitchFamily="49" charset="0"/>
              </a:rPr>
              <a:t>mythreads_sem_create</a:t>
            </a:r>
            <a:r>
              <a:rPr lang="en-US" b="0" dirty="0">
                <a:solidFill>
                  <a:srgbClr val="9399B2"/>
                </a:solidFill>
                <a:effectLst/>
                <a:latin typeface="Consolas" panose="020B0609020204030204" pitchFamily="49" charset="0"/>
              </a:rPr>
              <a:t>(</a:t>
            </a:r>
            <a:r>
              <a:rPr lang="en-US" b="0" dirty="0" err="1">
                <a:solidFill>
                  <a:srgbClr val="CDD6F4"/>
                </a:solidFill>
                <a:effectLst/>
                <a:latin typeface="Consolas" panose="020B0609020204030204" pitchFamily="49" charset="0"/>
              </a:rPr>
              <a:t>mtx</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FAB387"/>
                </a:solidFill>
                <a:effectLst/>
                <a:latin typeface="Consolas" panose="020B0609020204030204" pitchFamily="49" charset="0"/>
              </a:rPr>
              <a:t>1</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i="1" dirty="0" err="1">
                <a:solidFill>
                  <a:srgbClr val="89B4FA"/>
                </a:solidFill>
                <a:effectLst/>
                <a:latin typeface="Consolas" panose="020B0609020204030204" pitchFamily="49" charset="0"/>
              </a:rPr>
              <a:t>mythreads_sem_create</a:t>
            </a:r>
            <a:r>
              <a:rPr lang="en-US" b="0" dirty="0">
                <a:solidFill>
                  <a:srgbClr val="9399B2"/>
                </a:solidFill>
                <a:effectLst/>
                <a:latin typeface="Consolas" panose="020B0609020204030204" pitchFamily="49" charset="0"/>
              </a:rPr>
              <a:t>(</a:t>
            </a:r>
            <a:r>
              <a:rPr lang="en-US" b="0" dirty="0" err="1">
                <a:solidFill>
                  <a:srgbClr val="CDD6F4"/>
                </a:solidFill>
                <a:effectLst/>
                <a:latin typeface="Consolas" panose="020B0609020204030204" pitchFamily="49" charset="0"/>
              </a:rPr>
              <a:t>writers_queue</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FAB387"/>
                </a:solidFill>
                <a:effectLst/>
                <a:latin typeface="Consolas" panose="020B0609020204030204" pitchFamily="49" charset="0"/>
              </a:rPr>
              <a:t>0</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i="1" dirty="0" err="1">
                <a:solidFill>
                  <a:srgbClr val="89B4FA"/>
                </a:solidFill>
                <a:effectLst/>
                <a:latin typeface="Consolas" panose="020B0609020204030204" pitchFamily="49" charset="0"/>
              </a:rPr>
              <a:t>mythreads_sem_create</a:t>
            </a:r>
            <a:r>
              <a:rPr lang="en-US" b="0" dirty="0">
                <a:solidFill>
                  <a:srgbClr val="9399B2"/>
                </a:solidFill>
                <a:effectLst/>
                <a:latin typeface="Consolas" panose="020B0609020204030204" pitchFamily="49" charset="0"/>
              </a:rPr>
              <a:t>(</a:t>
            </a:r>
            <a:r>
              <a:rPr lang="en-US" b="0" dirty="0" err="1">
                <a:solidFill>
                  <a:srgbClr val="CDD6F4"/>
                </a:solidFill>
                <a:effectLst/>
                <a:latin typeface="Consolas" panose="020B0609020204030204" pitchFamily="49" charset="0"/>
              </a:rPr>
              <a:t>readers_queue</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FAB387"/>
                </a:solidFill>
                <a:effectLst/>
                <a:latin typeface="Consolas" panose="020B0609020204030204" pitchFamily="49" charset="0"/>
              </a:rPr>
              <a:t>0</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p:txBody>
      </p:sp>
    </p:spTree>
    <p:extLst>
      <p:ext uri="{BB962C8B-B14F-4D97-AF65-F5344CB8AC3E}">
        <p14:creationId xmlns:p14="http://schemas.microsoft.com/office/powerpoint/2010/main" val="214746970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187923-F4F6-646E-91B3-54C890C55D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1F4BA3-D1B3-5A7D-39BE-EE685A38433C}"/>
              </a:ext>
            </a:extLst>
          </p:cNvPr>
          <p:cNvSpPr>
            <a:spLocks noGrp="1"/>
          </p:cNvSpPr>
          <p:nvPr>
            <p:ph type="title"/>
          </p:nvPr>
        </p:nvSpPr>
        <p:spPr>
          <a:xfrm>
            <a:off x="838200" y="337015"/>
            <a:ext cx="10515600" cy="1325563"/>
          </a:xfrm>
        </p:spPr>
        <p:txBody>
          <a:bodyPr/>
          <a:lstStyle/>
          <a:p>
            <a:r>
              <a:rPr lang="en-US" b="1" dirty="0"/>
              <a:t>Assignment 3: </a:t>
            </a:r>
            <a:r>
              <a:rPr lang="en-US" dirty="0"/>
              <a:t>Reader function</a:t>
            </a:r>
          </a:p>
        </p:txBody>
      </p:sp>
      <p:sp>
        <p:nvSpPr>
          <p:cNvPr id="3" name="TextBox 2">
            <a:extLst>
              <a:ext uri="{FF2B5EF4-FFF2-40B4-BE49-F238E27FC236}">
                <a16:creationId xmlns:a16="http://schemas.microsoft.com/office/drawing/2014/main" id="{C0F7E705-2117-EBF2-A733-95A63432AC72}"/>
              </a:ext>
            </a:extLst>
          </p:cNvPr>
          <p:cNvSpPr txBox="1"/>
          <p:nvPr/>
        </p:nvSpPr>
        <p:spPr>
          <a:xfrm>
            <a:off x="692150" y="1955800"/>
            <a:ext cx="184731" cy="369332"/>
          </a:xfrm>
          <a:prstGeom prst="rect">
            <a:avLst/>
          </a:prstGeom>
          <a:noFill/>
        </p:spPr>
        <p:txBody>
          <a:bodyPr wrap="none" rtlCol="0">
            <a:spAutoFit/>
          </a:bodyPr>
          <a:lstStyle/>
          <a:p>
            <a:endParaRPr lang="en-US" dirty="0"/>
          </a:p>
        </p:txBody>
      </p:sp>
      <p:sp>
        <p:nvSpPr>
          <p:cNvPr id="4" name="TextBox 3">
            <a:extLst>
              <a:ext uri="{FF2B5EF4-FFF2-40B4-BE49-F238E27FC236}">
                <a16:creationId xmlns:a16="http://schemas.microsoft.com/office/drawing/2014/main" id="{0FFD53D7-44E5-2F16-DCBB-BD31AE146988}"/>
              </a:ext>
            </a:extLst>
          </p:cNvPr>
          <p:cNvSpPr txBox="1"/>
          <p:nvPr/>
        </p:nvSpPr>
        <p:spPr>
          <a:xfrm>
            <a:off x="2203450" y="1289050"/>
            <a:ext cx="6136616" cy="5355312"/>
          </a:xfrm>
          <a:prstGeom prst="rect">
            <a:avLst/>
          </a:prstGeom>
          <a:noFill/>
        </p:spPr>
        <p:txBody>
          <a:bodyPr wrap="none" rtlCol="0">
            <a:spAutoFit/>
          </a:bodyPr>
          <a:lstStyle/>
          <a:p>
            <a:r>
              <a:rPr lang="en-US" b="0" dirty="0">
                <a:solidFill>
                  <a:srgbClr val="CBA6F7"/>
                </a:solidFill>
                <a:effectLst/>
                <a:latin typeface="Consolas" panose="020B0609020204030204" pitchFamily="49" charset="0"/>
              </a:rPr>
              <a:t>void</a:t>
            </a:r>
            <a:r>
              <a:rPr lang="en-US" b="0" dirty="0">
                <a:solidFill>
                  <a:srgbClr val="CDD6F4"/>
                </a:solidFill>
                <a:effectLst/>
                <a:latin typeface="Consolas" panose="020B0609020204030204" pitchFamily="49" charset="0"/>
              </a:rPr>
              <a:t> </a:t>
            </a:r>
            <a:r>
              <a:rPr lang="en-US" b="0" i="1" dirty="0">
                <a:solidFill>
                  <a:srgbClr val="89B4FA"/>
                </a:solidFill>
                <a:effectLst/>
                <a:latin typeface="Consolas" panose="020B0609020204030204" pitchFamily="49" charset="0"/>
              </a:rPr>
              <a:t>reader</a:t>
            </a:r>
            <a:r>
              <a:rPr lang="en-US" b="0" dirty="0">
                <a:solidFill>
                  <a:srgbClr val="9399B2"/>
                </a:solidFill>
                <a:effectLst/>
                <a:latin typeface="Consolas" panose="020B0609020204030204" pitchFamily="49" charset="0"/>
              </a:rPr>
              <a:t>(</a:t>
            </a:r>
            <a:r>
              <a:rPr lang="en-US" b="0" dirty="0">
                <a:solidFill>
                  <a:srgbClr val="CBA6F7"/>
                </a:solidFill>
                <a:effectLst/>
                <a:latin typeface="Consolas" panose="020B0609020204030204" pitchFamily="49" charset="0"/>
              </a:rPr>
              <a:t>void</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i="1" dirty="0" err="1">
                <a:solidFill>
                  <a:srgbClr val="EBA0AC"/>
                </a:solidFill>
                <a:effectLst/>
                <a:latin typeface="Consolas" panose="020B0609020204030204" pitchFamily="49" charset="0"/>
              </a:rPr>
              <a:t>arg</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mythread_sem_down</a:t>
            </a:r>
            <a:r>
              <a:rPr lang="en-US" b="0" dirty="0">
                <a:solidFill>
                  <a:srgbClr val="9399B2"/>
                </a:solidFill>
                <a:effectLst/>
                <a:latin typeface="Consolas" panose="020B0609020204030204" pitchFamily="49" charset="0"/>
              </a:rPr>
              <a:t>(</a:t>
            </a:r>
            <a:r>
              <a:rPr lang="en-US" b="0" dirty="0" err="1">
                <a:solidFill>
                  <a:srgbClr val="CDD6F4"/>
                </a:solidFill>
                <a:effectLst/>
                <a:latin typeface="Consolas" panose="020B0609020204030204" pitchFamily="49" charset="0"/>
              </a:rPr>
              <a:t>mtx</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if</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writers are </a:t>
            </a:r>
            <a:r>
              <a:rPr lang="en-US" b="0" dirty="0" err="1">
                <a:solidFill>
                  <a:srgbClr val="CDD6F4"/>
                </a:solidFill>
                <a:effectLst/>
                <a:latin typeface="Consolas" panose="020B0609020204030204" pitchFamily="49" charset="0"/>
              </a:rPr>
              <a:t>wating</a:t>
            </a:r>
            <a:r>
              <a:rPr lang="en-US" b="0" dirty="0">
                <a:solidFill>
                  <a:srgbClr val="CDD6F4"/>
                </a:solidFill>
                <a:effectLst/>
                <a:latin typeface="Consolas" panose="020B0609020204030204" pitchFamily="49" charset="0"/>
              </a:rPr>
              <a:t> OR a writer in CS</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increase </a:t>
            </a:r>
            <a:r>
              <a:rPr lang="en-US" b="0" dirty="0" err="1">
                <a:solidFill>
                  <a:srgbClr val="CDD6F4"/>
                </a:solidFill>
                <a:effectLst/>
                <a:latin typeface="Consolas" panose="020B0609020204030204" pitchFamily="49" charset="0"/>
              </a:rPr>
              <a:t>readers_waiting</a:t>
            </a:r>
            <a:r>
              <a:rPr lang="en-US" b="0" dirty="0">
                <a:solidFill>
                  <a:srgbClr val="CDD6F4"/>
                </a:solidFill>
                <a:effectLst/>
                <a:latin typeface="Consolas" panose="020B0609020204030204" pitchFamily="49" charset="0"/>
              </a:rPr>
              <a:t> by </a:t>
            </a:r>
            <a:r>
              <a:rPr lang="en-US" b="0" dirty="0">
                <a:solidFill>
                  <a:srgbClr val="FAB387"/>
                </a:solidFill>
                <a:effectLst/>
                <a:latin typeface="Consolas" panose="020B0609020204030204" pitchFamily="49" charset="0"/>
              </a:rPr>
              <a:t>1</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mythreads_sem_up</a:t>
            </a:r>
            <a:r>
              <a:rPr lang="en-US" b="0" dirty="0">
                <a:solidFill>
                  <a:srgbClr val="9399B2"/>
                </a:solidFill>
                <a:effectLst/>
                <a:latin typeface="Consolas" panose="020B0609020204030204" pitchFamily="49" charset="0"/>
              </a:rPr>
              <a:t>(</a:t>
            </a:r>
            <a:r>
              <a:rPr lang="en-US" b="0" dirty="0" err="1">
                <a:solidFill>
                  <a:srgbClr val="CDD6F4"/>
                </a:solidFill>
                <a:effectLst/>
                <a:latin typeface="Consolas" panose="020B0609020204030204" pitchFamily="49" charset="0"/>
              </a:rPr>
              <a:t>mtx</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mythreads_sem_down</a:t>
            </a:r>
            <a:r>
              <a:rPr lang="en-US" b="0" dirty="0">
                <a:solidFill>
                  <a:srgbClr val="9399B2"/>
                </a:solidFill>
                <a:effectLst/>
                <a:latin typeface="Consolas" panose="020B0609020204030204" pitchFamily="49" charset="0"/>
              </a:rPr>
              <a:t>(</a:t>
            </a:r>
            <a:r>
              <a:rPr lang="en-US" b="0" dirty="0" err="1">
                <a:solidFill>
                  <a:srgbClr val="CDD6F4"/>
                </a:solidFill>
                <a:effectLst/>
                <a:latin typeface="Consolas" panose="020B0609020204030204" pitchFamily="49" charset="0"/>
              </a:rPr>
              <a:t>readers_queue</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if</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readers are waiting</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decrease </a:t>
            </a:r>
            <a:r>
              <a:rPr lang="en-US" b="0" dirty="0" err="1">
                <a:solidFill>
                  <a:srgbClr val="CDD6F4"/>
                </a:solidFill>
                <a:effectLst/>
                <a:latin typeface="Consolas" panose="020B0609020204030204" pitchFamily="49" charset="0"/>
              </a:rPr>
              <a:t>readers_waiting</a:t>
            </a:r>
            <a:r>
              <a:rPr lang="en-US" b="0" dirty="0">
                <a:solidFill>
                  <a:srgbClr val="CDD6F4"/>
                </a:solidFill>
                <a:effectLst/>
                <a:latin typeface="Consolas" panose="020B0609020204030204" pitchFamily="49" charset="0"/>
              </a:rPr>
              <a:t> by </a:t>
            </a:r>
            <a:r>
              <a:rPr lang="en-US" b="0" dirty="0">
                <a:solidFill>
                  <a:srgbClr val="FAB387"/>
                </a:solidFill>
                <a:effectLst/>
                <a:latin typeface="Consolas" panose="020B0609020204030204" pitchFamily="49" charset="0"/>
              </a:rPr>
              <a:t>1</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increase readers by </a:t>
            </a:r>
            <a:r>
              <a:rPr lang="en-US" b="0" dirty="0">
                <a:solidFill>
                  <a:srgbClr val="FAB387"/>
                </a:solidFill>
                <a:effectLst/>
                <a:latin typeface="Consolas" panose="020B0609020204030204" pitchFamily="49" charset="0"/>
              </a:rPr>
              <a:t>1</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mythreads_sem_up</a:t>
            </a:r>
            <a:r>
              <a:rPr lang="en-US" b="0" dirty="0">
                <a:solidFill>
                  <a:srgbClr val="9399B2"/>
                </a:solidFill>
                <a:effectLst/>
                <a:latin typeface="Consolas" panose="020B0609020204030204" pitchFamily="49" charset="0"/>
              </a:rPr>
              <a:t>(</a:t>
            </a:r>
            <a:r>
              <a:rPr lang="en-US" b="0" dirty="0" err="1">
                <a:solidFill>
                  <a:srgbClr val="CDD6F4"/>
                </a:solidFill>
                <a:effectLst/>
                <a:latin typeface="Consolas" panose="020B0609020204030204" pitchFamily="49" charset="0"/>
              </a:rPr>
              <a:t>readers_queue</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else</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mythreads_sem_up</a:t>
            </a:r>
            <a:r>
              <a:rPr lang="en-US" b="0" dirty="0">
                <a:solidFill>
                  <a:srgbClr val="9399B2"/>
                </a:solidFill>
                <a:effectLst/>
                <a:latin typeface="Consolas" panose="020B0609020204030204" pitchFamily="49" charset="0"/>
              </a:rPr>
              <a:t>(</a:t>
            </a:r>
            <a:r>
              <a:rPr lang="en-US" b="0" dirty="0" err="1">
                <a:solidFill>
                  <a:srgbClr val="CDD6F4"/>
                </a:solidFill>
                <a:effectLst/>
                <a:latin typeface="Consolas" panose="020B0609020204030204" pitchFamily="49" charset="0"/>
              </a:rPr>
              <a:t>mtx</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else</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increase readers by </a:t>
            </a:r>
            <a:r>
              <a:rPr lang="en-US" b="0" dirty="0">
                <a:solidFill>
                  <a:srgbClr val="FAB387"/>
                </a:solidFill>
                <a:effectLst/>
                <a:latin typeface="Consolas" panose="020B0609020204030204" pitchFamily="49" charset="0"/>
              </a:rPr>
              <a:t>1</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mythreads_sem_up</a:t>
            </a:r>
            <a:r>
              <a:rPr lang="en-US" b="0" dirty="0">
                <a:solidFill>
                  <a:srgbClr val="9399B2"/>
                </a:solidFill>
                <a:effectLst/>
                <a:latin typeface="Consolas" panose="020B0609020204030204" pitchFamily="49" charset="0"/>
              </a:rPr>
              <a:t>(</a:t>
            </a:r>
            <a:r>
              <a:rPr lang="en-US" b="0" dirty="0" err="1">
                <a:solidFill>
                  <a:srgbClr val="CDD6F4"/>
                </a:solidFill>
                <a:effectLst/>
                <a:latin typeface="Consolas" panose="020B0609020204030204" pitchFamily="49" charset="0"/>
              </a:rPr>
              <a:t>mtx</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p>
          <a:p>
            <a:r>
              <a:rPr lang="en-US" b="0" i="1" dirty="0">
                <a:solidFill>
                  <a:srgbClr val="6C7086"/>
                </a:solidFill>
                <a:effectLst/>
                <a:latin typeface="Consolas" panose="020B0609020204030204" pitchFamily="49" charset="0"/>
              </a:rPr>
              <a:t>    /* read */</a:t>
            </a:r>
            <a:endParaRPr lang="en-US" b="0" dirty="0">
              <a:solidFill>
                <a:srgbClr val="CDD6F4"/>
              </a:solidFill>
              <a:effectLst/>
              <a:latin typeface="Consolas" panose="020B0609020204030204" pitchFamily="49" charset="0"/>
            </a:endParaRPr>
          </a:p>
        </p:txBody>
      </p:sp>
    </p:spTree>
    <p:extLst>
      <p:ext uri="{BB962C8B-B14F-4D97-AF65-F5344CB8AC3E}">
        <p14:creationId xmlns:p14="http://schemas.microsoft.com/office/powerpoint/2010/main" val="11092346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FB4D0-4308-3ABF-A45D-3F30947B25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3D0CB1-924E-D43E-512F-C41F2C118ECE}"/>
              </a:ext>
            </a:extLst>
          </p:cNvPr>
          <p:cNvSpPr>
            <a:spLocks noGrp="1"/>
          </p:cNvSpPr>
          <p:nvPr>
            <p:ph type="title"/>
          </p:nvPr>
        </p:nvSpPr>
        <p:spPr>
          <a:xfrm>
            <a:off x="838200" y="337015"/>
            <a:ext cx="10515600" cy="1325563"/>
          </a:xfrm>
        </p:spPr>
        <p:txBody>
          <a:bodyPr/>
          <a:lstStyle/>
          <a:p>
            <a:r>
              <a:rPr lang="en-US" b="1" dirty="0"/>
              <a:t>Assignment 3: </a:t>
            </a:r>
            <a:r>
              <a:rPr lang="en-US" dirty="0"/>
              <a:t>Reader function</a:t>
            </a:r>
          </a:p>
        </p:txBody>
      </p:sp>
      <p:sp>
        <p:nvSpPr>
          <p:cNvPr id="3" name="TextBox 2">
            <a:extLst>
              <a:ext uri="{FF2B5EF4-FFF2-40B4-BE49-F238E27FC236}">
                <a16:creationId xmlns:a16="http://schemas.microsoft.com/office/drawing/2014/main" id="{A1B3F336-4087-5DC3-128F-4F81E17436F9}"/>
              </a:ext>
            </a:extLst>
          </p:cNvPr>
          <p:cNvSpPr txBox="1"/>
          <p:nvPr/>
        </p:nvSpPr>
        <p:spPr>
          <a:xfrm>
            <a:off x="692150" y="1955800"/>
            <a:ext cx="184731" cy="369332"/>
          </a:xfrm>
          <a:prstGeom prst="rect">
            <a:avLst/>
          </a:prstGeom>
          <a:noFill/>
        </p:spPr>
        <p:txBody>
          <a:bodyPr wrap="none" rtlCol="0">
            <a:spAutoFit/>
          </a:bodyPr>
          <a:lstStyle/>
          <a:p>
            <a:endParaRPr lang="en-US" dirty="0"/>
          </a:p>
        </p:txBody>
      </p:sp>
      <p:sp>
        <p:nvSpPr>
          <p:cNvPr id="4" name="TextBox 3">
            <a:extLst>
              <a:ext uri="{FF2B5EF4-FFF2-40B4-BE49-F238E27FC236}">
                <a16:creationId xmlns:a16="http://schemas.microsoft.com/office/drawing/2014/main" id="{8BBED873-F31C-D439-E85B-F5B3DC5814A7}"/>
              </a:ext>
            </a:extLst>
          </p:cNvPr>
          <p:cNvSpPr txBox="1"/>
          <p:nvPr/>
        </p:nvSpPr>
        <p:spPr>
          <a:xfrm>
            <a:off x="1955800" y="1562100"/>
            <a:ext cx="6136616" cy="2585323"/>
          </a:xfrm>
          <a:prstGeom prst="rect">
            <a:avLst/>
          </a:prstGeom>
          <a:noFill/>
        </p:spPr>
        <p:txBody>
          <a:bodyPr wrap="none" rtlCol="0">
            <a:spAutoFit/>
          </a:bodyPr>
          <a:lstStyle/>
          <a:p>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mythreads_sem_down</a:t>
            </a:r>
            <a:r>
              <a:rPr lang="en-US" b="0" dirty="0">
                <a:solidFill>
                  <a:srgbClr val="9399B2"/>
                </a:solidFill>
                <a:effectLst/>
                <a:latin typeface="Consolas" panose="020B0609020204030204" pitchFamily="49" charset="0"/>
              </a:rPr>
              <a:t>(</a:t>
            </a:r>
            <a:r>
              <a:rPr lang="en-US" b="0" dirty="0" err="1">
                <a:solidFill>
                  <a:srgbClr val="CDD6F4"/>
                </a:solidFill>
                <a:effectLst/>
                <a:latin typeface="Consolas" panose="020B0609020204030204" pitchFamily="49" charset="0"/>
              </a:rPr>
              <a:t>mtx</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decrease readers by </a:t>
            </a:r>
            <a:r>
              <a:rPr lang="en-US" b="0" dirty="0">
                <a:solidFill>
                  <a:srgbClr val="FAB387"/>
                </a:solidFill>
                <a:effectLst/>
                <a:latin typeface="Consolas" panose="020B0609020204030204" pitchFamily="49" charset="0"/>
              </a:rPr>
              <a:t>1</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if</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NO readers in CS AND writers blocked</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decrease </a:t>
            </a:r>
            <a:r>
              <a:rPr lang="en-US" b="0" dirty="0" err="1">
                <a:solidFill>
                  <a:srgbClr val="CDD6F4"/>
                </a:solidFill>
                <a:effectLst/>
                <a:latin typeface="Consolas" panose="020B0609020204030204" pitchFamily="49" charset="0"/>
              </a:rPr>
              <a:t>writers_wating</a:t>
            </a:r>
            <a:r>
              <a:rPr lang="en-US" b="0" dirty="0">
                <a:solidFill>
                  <a:srgbClr val="CDD6F4"/>
                </a:solidFill>
                <a:effectLst/>
                <a:latin typeface="Consolas" panose="020B0609020204030204" pitchFamily="49" charset="0"/>
              </a:rPr>
              <a:t> by </a:t>
            </a:r>
            <a:r>
              <a:rPr lang="en-US" b="0" dirty="0">
                <a:solidFill>
                  <a:srgbClr val="FAB387"/>
                </a:solidFill>
                <a:effectLst/>
                <a:latin typeface="Consolas" panose="020B0609020204030204" pitchFamily="49" charset="0"/>
              </a:rPr>
              <a:t>1</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increase writers by </a:t>
            </a:r>
            <a:r>
              <a:rPr lang="en-US" b="0" dirty="0">
                <a:solidFill>
                  <a:srgbClr val="FAB387"/>
                </a:solidFill>
                <a:effectLst/>
                <a:latin typeface="Consolas" panose="020B0609020204030204" pitchFamily="49" charset="0"/>
              </a:rPr>
              <a:t>1</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mythreads_sem_up</a:t>
            </a:r>
            <a:r>
              <a:rPr lang="en-US" b="0" dirty="0">
                <a:solidFill>
                  <a:srgbClr val="9399B2"/>
                </a:solidFill>
                <a:effectLst/>
                <a:latin typeface="Consolas" panose="020B0609020204030204" pitchFamily="49" charset="0"/>
              </a:rPr>
              <a:t>(</a:t>
            </a:r>
            <a:r>
              <a:rPr lang="en-US" b="0" dirty="0" err="1">
                <a:solidFill>
                  <a:srgbClr val="CDD6F4"/>
                </a:solidFill>
                <a:effectLst/>
                <a:latin typeface="Consolas" panose="020B0609020204030204" pitchFamily="49" charset="0"/>
              </a:rPr>
              <a:t>writers_queue</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mythreads_sem_up</a:t>
            </a:r>
            <a:r>
              <a:rPr lang="en-US" b="0" dirty="0">
                <a:solidFill>
                  <a:srgbClr val="9399B2"/>
                </a:solidFill>
                <a:effectLst/>
                <a:latin typeface="Consolas" panose="020B0609020204030204" pitchFamily="49" charset="0"/>
              </a:rPr>
              <a:t>(</a:t>
            </a:r>
            <a:r>
              <a:rPr lang="en-US" b="0" dirty="0" err="1">
                <a:solidFill>
                  <a:srgbClr val="CDD6F4"/>
                </a:solidFill>
                <a:effectLst/>
                <a:latin typeface="Consolas" panose="020B0609020204030204" pitchFamily="49" charset="0"/>
              </a:rPr>
              <a:t>mtx</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p>
          <a:p>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p:txBody>
      </p:sp>
    </p:spTree>
    <p:extLst>
      <p:ext uri="{BB962C8B-B14F-4D97-AF65-F5344CB8AC3E}">
        <p14:creationId xmlns:p14="http://schemas.microsoft.com/office/powerpoint/2010/main" val="145375115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4A442-D65B-D971-CA13-246039DC4F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2C5E2C-95FA-F4C8-5950-1D547AC08ED8}"/>
              </a:ext>
            </a:extLst>
          </p:cNvPr>
          <p:cNvSpPr>
            <a:spLocks noGrp="1"/>
          </p:cNvSpPr>
          <p:nvPr>
            <p:ph type="title"/>
          </p:nvPr>
        </p:nvSpPr>
        <p:spPr>
          <a:xfrm>
            <a:off x="838200" y="337015"/>
            <a:ext cx="10515600" cy="1325563"/>
          </a:xfrm>
        </p:spPr>
        <p:txBody>
          <a:bodyPr/>
          <a:lstStyle/>
          <a:p>
            <a:r>
              <a:rPr lang="en-US" b="1" dirty="0"/>
              <a:t>Assignment 3: </a:t>
            </a:r>
            <a:r>
              <a:rPr lang="en-US" dirty="0"/>
              <a:t>Writer function</a:t>
            </a:r>
          </a:p>
        </p:txBody>
      </p:sp>
      <p:sp>
        <p:nvSpPr>
          <p:cNvPr id="3" name="TextBox 2">
            <a:extLst>
              <a:ext uri="{FF2B5EF4-FFF2-40B4-BE49-F238E27FC236}">
                <a16:creationId xmlns:a16="http://schemas.microsoft.com/office/drawing/2014/main" id="{BC315AAB-34ED-41F9-9167-FF0D7610FF02}"/>
              </a:ext>
            </a:extLst>
          </p:cNvPr>
          <p:cNvSpPr txBox="1"/>
          <p:nvPr/>
        </p:nvSpPr>
        <p:spPr>
          <a:xfrm>
            <a:off x="2736850" y="1662578"/>
            <a:ext cx="5503430" cy="3416320"/>
          </a:xfrm>
          <a:prstGeom prst="rect">
            <a:avLst/>
          </a:prstGeom>
          <a:noFill/>
        </p:spPr>
        <p:txBody>
          <a:bodyPr wrap="none" rtlCol="0">
            <a:spAutoFit/>
          </a:bodyPr>
          <a:lstStyle/>
          <a:p>
            <a:r>
              <a:rPr lang="en-US" b="0" dirty="0">
                <a:solidFill>
                  <a:srgbClr val="CBA6F7"/>
                </a:solidFill>
                <a:effectLst/>
                <a:latin typeface="Consolas" panose="020B0609020204030204" pitchFamily="49" charset="0"/>
              </a:rPr>
              <a:t>void</a:t>
            </a:r>
            <a:r>
              <a:rPr lang="en-US" b="0" dirty="0">
                <a:solidFill>
                  <a:srgbClr val="CDD6F4"/>
                </a:solidFill>
                <a:effectLst/>
                <a:latin typeface="Consolas" panose="020B0609020204030204" pitchFamily="49" charset="0"/>
              </a:rPr>
              <a:t> </a:t>
            </a:r>
            <a:r>
              <a:rPr lang="en-US" b="0" i="1" dirty="0">
                <a:solidFill>
                  <a:srgbClr val="89B4FA"/>
                </a:solidFill>
                <a:effectLst/>
                <a:latin typeface="Consolas" panose="020B0609020204030204" pitchFamily="49" charset="0"/>
              </a:rPr>
              <a:t>writer</a:t>
            </a:r>
            <a:r>
              <a:rPr lang="en-US" b="0" dirty="0">
                <a:solidFill>
                  <a:srgbClr val="9399B2"/>
                </a:solidFill>
                <a:effectLst/>
                <a:latin typeface="Consolas" panose="020B0609020204030204" pitchFamily="49" charset="0"/>
              </a:rPr>
              <a:t>(</a:t>
            </a:r>
            <a:r>
              <a:rPr lang="en-US" b="0" dirty="0">
                <a:solidFill>
                  <a:srgbClr val="CBA6F7"/>
                </a:solidFill>
                <a:effectLst/>
                <a:latin typeface="Consolas" panose="020B0609020204030204" pitchFamily="49" charset="0"/>
              </a:rPr>
              <a:t>void</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a:t>
            </a:r>
            <a:r>
              <a:rPr lang="en-US" b="0" i="1" dirty="0" err="1">
                <a:solidFill>
                  <a:srgbClr val="EBA0AC"/>
                </a:solidFill>
                <a:effectLst/>
                <a:latin typeface="Consolas" panose="020B0609020204030204" pitchFamily="49" charset="0"/>
              </a:rPr>
              <a:t>arg</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mythreads_sem_down</a:t>
            </a:r>
            <a:r>
              <a:rPr lang="en-US" b="0" dirty="0">
                <a:solidFill>
                  <a:srgbClr val="9399B2"/>
                </a:solidFill>
                <a:effectLst/>
                <a:latin typeface="Consolas" panose="020B0609020204030204" pitchFamily="49" charset="0"/>
              </a:rPr>
              <a:t>(</a:t>
            </a:r>
            <a:r>
              <a:rPr lang="en-US" b="0" dirty="0" err="1">
                <a:solidFill>
                  <a:srgbClr val="CDD6F4"/>
                </a:solidFill>
                <a:effectLst/>
                <a:latin typeface="Consolas" panose="020B0609020204030204" pitchFamily="49" charset="0"/>
              </a:rPr>
              <a:t>mtx</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if</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readers OR writers in CS</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increase </a:t>
            </a:r>
            <a:r>
              <a:rPr lang="en-US" b="0" dirty="0" err="1">
                <a:solidFill>
                  <a:srgbClr val="CDD6F4"/>
                </a:solidFill>
                <a:effectLst/>
                <a:latin typeface="Consolas" panose="020B0609020204030204" pitchFamily="49" charset="0"/>
              </a:rPr>
              <a:t>writers_waiting</a:t>
            </a:r>
            <a:r>
              <a:rPr lang="en-US" b="0" dirty="0">
                <a:solidFill>
                  <a:srgbClr val="CDD6F4"/>
                </a:solidFill>
                <a:effectLst/>
                <a:latin typeface="Consolas" panose="020B0609020204030204" pitchFamily="49" charset="0"/>
              </a:rPr>
              <a:t> by </a:t>
            </a:r>
            <a:r>
              <a:rPr lang="en-US" b="0" dirty="0">
                <a:solidFill>
                  <a:srgbClr val="FAB387"/>
                </a:solidFill>
                <a:effectLst/>
                <a:latin typeface="Consolas" panose="020B0609020204030204" pitchFamily="49" charset="0"/>
              </a:rPr>
              <a:t>1</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mythreads_sem_up</a:t>
            </a:r>
            <a:r>
              <a:rPr lang="en-US" b="0" dirty="0">
                <a:solidFill>
                  <a:srgbClr val="9399B2"/>
                </a:solidFill>
                <a:effectLst/>
                <a:latin typeface="Consolas" panose="020B0609020204030204" pitchFamily="49" charset="0"/>
              </a:rPr>
              <a:t>(</a:t>
            </a:r>
            <a:r>
              <a:rPr lang="en-US" b="0" dirty="0" err="1">
                <a:solidFill>
                  <a:srgbClr val="CDD6F4"/>
                </a:solidFill>
                <a:effectLst/>
                <a:latin typeface="Consolas" panose="020B0609020204030204" pitchFamily="49" charset="0"/>
              </a:rPr>
              <a:t>mtx</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mythreads_sem_down</a:t>
            </a:r>
            <a:r>
              <a:rPr lang="en-US" b="0" dirty="0">
                <a:solidFill>
                  <a:srgbClr val="9399B2"/>
                </a:solidFill>
                <a:effectLst/>
                <a:latin typeface="Consolas" panose="020B0609020204030204" pitchFamily="49" charset="0"/>
              </a:rPr>
              <a:t>(</a:t>
            </a:r>
            <a:r>
              <a:rPr lang="en-US" b="0" dirty="0" err="1">
                <a:solidFill>
                  <a:srgbClr val="CDD6F4"/>
                </a:solidFill>
                <a:effectLst/>
                <a:latin typeface="Consolas" panose="020B0609020204030204" pitchFamily="49" charset="0"/>
              </a:rPr>
              <a:t>writers_queue</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else</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increase writers by </a:t>
            </a:r>
            <a:r>
              <a:rPr lang="en-US" b="0" dirty="0">
                <a:solidFill>
                  <a:srgbClr val="FAB387"/>
                </a:solidFill>
                <a:effectLst/>
                <a:latin typeface="Consolas" panose="020B0609020204030204" pitchFamily="49" charset="0"/>
              </a:rPr>
              <a:t>1</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mythreads_sem_up</a:t>
            </a:r>
            <a:r>
              <a:rPr lang="en-US" b="0" dirty="0">
                <a:solidFill>
                  <a:srgbClr val="9399B2"/>
                </a:solidFill>
                <a:effectLst/>
                <a:latin typeface="Consolas" panose="020B0609020204030204" pitchFamily="49" charset="0"/>
              </a:rPr>
              <a:t>(</a:t>
            </a:r>
            <a:r>
              <a:rPr lang="en-US" b="0" dirty="0" err="1">
                <a:solidFill>
                  <a:srgbClr val="CDD6F4"/>
                </a:solidFill>
                <a:effectLst/>
                <a:latin typeface="Consolas" panose="020B0609020204030204" pitchFamily="49" charset="0"/>
              </a:rPr>
              <a:t>mtx</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br>
              <a:rPr lang="en-US" b="0" dirty="0">
                <a:solidFill>
                  <a:srgbClr val="CDD6F4"/>
                </a:solidFill>
                <a:effectLst/>
                <a:latin typeface="Consolas" panose="020B0609020204030204" pitchFamily="49" charset="0"/>
              </a:rPr>
            </a:br>
            <a:r>
              <a:rPr lang="en-US" b="0" i="1" dirty="0">
                <a:solidFill>
                  <a:srgbClr val="6C7086"/>
                </a:solidFill>
                <a:effectLst/>
                <a:latin typeface="Consolas" panose="020B0609020204030204" pitchFamily="49" charset="0"/>
              </a:rPr>
              <a:t>    /* write */</a:t>
            </a:r>
            <a:endParaRPr lang="en-US" b="0" dirty="0">
              <a:solidFill>
                <a:srgbClr val="CDD6F4"/>
              </a:solidFill>
              <a:effectLst/>
              <a:latin typeface="Consolas" panose="020B0609020204030204" pitchFamily="49" charset="0"/>
            </a:endParaRPr>
          </a:p>
        </p:txBody>
      </p:sp>
    </p:spTree>
    <p:extLst>
      <p:ext uri="{BB962C8B-B14F-4D97-AF65-F5344CB8AC3E}">
        <p14:creationId xmlns:p14="http://schemas.microsoft.com/office/powerpoint/2010/main" val="25941566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72FA5B-9A34-617D-09BC-9432077858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6CC3CA-8292-A943-A7E7-CFC28AA492ED}"/>
              </a:ext>
            </a:extLst>
          </p:cNvPr>
          <p:cNvSpPr>
            <a:spLocks noGrp="1"/>
          </p:cNvSpPr>
          <p:nvPr>
            <p:ph type="title"/>
          </p:nvPr>
        </p:nvSpPr>
        <p:spPr>
          <a:xfrm>
            <a:off x="838200" y="337015"/>
            <a:ext cx="10515600" cy="1325563"/>
          </a:xfrm>
        </p:spPr>
        <p:txBody>
          <a:bodyPr/>
          <a:lstStyle/>
          <a:p>
            <a:r>
              <a:rPr lang="en-US" b="1" dirty="0"/>
              <a:t>Assignment 3: </a:t>
            </a:r>
            <a:r>
              <a:rPr lang="en-US" dirty="0"/>
              <a:t>Writer function</a:t>
            </a:r>
          </a:p>
        </p:txBody>
      </p:sp>
      <p:sp>
        <p:nvSpPr>
          <p:cNvPr id="3" name="TextBox 2">
            <a:extLst>
              <a:ext uri="{FF2B5EF4-FFF2-40B4-BE49-F238E27FC236}">
                <a16:creationId xmlns:a16="http://schemas.microsoft.com/office/drawing/2014/main" id="{B2A4346E-D191-C4CC-72E8-36B611ED950B}"/>
              </a:ext>
            </a:extLst>
          </p:cNvPr>
          <p:cNvSpPr txBox="1"/>
          <p:nvPr/>
        </p:nvSpPr>
        <p:spPr>
          <a:xfrm>
            <a:off x="2736850" y="1662578"/>
            <a:ext cx="5756704" cy="4524315"/>
          </a:xfrm>
          <a:prstGeom prst="rect">
            <a:avLst/>
          </a:prstGeom>
          <a:noFill/>
        </p:spPr>
        <p:txBody>
          <a:bodyPr wrap="none" rtlCol="0">
            <a:spAutoFit/>
          </a:bodyPr>
          <a:lstStyle/>
          <a:p>
            <a:r>
              <a:rPr lang="en-US" i="1" dirty="0">
                <a:solidFill>
                  <a:srgbClr val="CDD6F4"/>
                </a:solidFill>
                <a:latin typeface="Consolas" panose="020B0609020204030204" pitchFamily="49" charset="0"/>
              </a:rPr>
              <a:t>    </a:t>
            </a:r>
            <a:r>
              <a:rPr lang="en-US" b="0" i="1" dirty="0" err="1">
                <a:solidFill>
                  <a:srgbClr val="89B4FA"/>
                </a:solidFill>
                <a:effectLst/>
                <a:latin typeface="Consolas" panose="020B0609020204030204" pitchFamily="49" charset="0"/>
              </a:rPr>
              <a:t>mythreads_sem_down</a:t>
            </a:r>
            <a:r>
              <a:rPr lang="en-US" b="0" dirty="0">
                <a:solidFill>
                  <a:srgbClr val="9399B2"/>
                </a:solidFill>
                <a:effectLst/>
                <a:latin typeface="Consolas" panose="020B0609020204030204" pitchFamily="49" charset="0"/>
              </a:rPr>
              <a:t>(</a:t>
            </a:r>
            <a:r>
              <a:rPr lang="en-US" b="0" dirty="0" err="1">
                <a:solidFill>
                  <a:srgbClr val="CDD6F4"/>
                </a:solidFill>
                <a:effectLst/>
                <a:latin typeface="Consolas" panose="020B0609020204030204" pitchFamily="49" charset="0"/>
              </a:rPr>
              <a:t>mtx</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decrease writers by </a:t>
            </a:r>
            <a:r>
              <a:rPr lang="en-US" b="0" dirty="0">
                <a:solidFill>
                  <a:srgbClr val="FAB387"/>
                </a:solidFill>
                <a:effectLst/>
                <a:latin typeface="Consolas" panose="020B0609020204030204" pitchFamily="49" charset="0"/>
              </a:rPr>
              <a:t>1</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if</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r>
              <a:rPr lang="en-US" b="0" dirty="0" err="1">
                <a:solidFill>
                  <a:srgbClr val="CDD6F4"/>
                </a:solidFill>
                <a:effectLst/>
                <a:latin typeface="Consolas" panose="020B0609020204030204" pitchFamily="49" charset="0"/>
              </a:rPr>
              <a:t>readers_waiting</a:t>
            </a:r>
            <a:r>
              <a:rPr lang="en-US" b="0" dirty="0">
                <a:solidFill>
                  <a:srgbClr val="CDD6F4"/>
                </a:solidFill>
                <a:effectLst/>
                <a:latin typeface="Consolas" panose="020B0609020204030204" pitchFamily="49" charset="0"/>
              </a:rPr>
              <a:t> </a:t>
            </a:r>
            <a:r>
              <a:rPr lang="en-US" b="0" dirty="0">
                <a:solidFill>
                  <a:srgbClr val="94E2D5"/>
                </a:solidFill>
                <a:effectLst/>
                <a:latin typeface="Consolas" panose="020B0609020204030204" pitchFamily="49" charset="0"/>
              </a:rPr>
              <a:t>&gt;</a:t>
            </a:r>
            <a:r>
              <a:rPr lang="en-US" b="0" dirty="0">
                <a:solidFill>
                  <a:srgbClr val="CDD6F4"/>
                </a:solidFill>
                <a:effectLst/>
                <a:latin typeface="Consolas" panose="020B0609020204030204" pitchFamily="49" charset="0"/>
              </a:rPr>
              <a:t> </a:t>
            </a:r>
            <a:r>
              <a:rPr lang="en-US" b="0" dirty="0">
                <a:solidFill>
                  <a:srgbClr val="FAB387"/>
                </a:solidFill>
                <a:effectLst/>
                <a:latin typeface="Consolas" panose="020B0609020204030204" pitchFamily="49" charset="0"/>
              </a:rPr>
              <a:t>0</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decrease </a:t>
            </a:r>
            <a:r>
              <a:rPr lang="en-US" b="0" dirty="0" err="1">
                <a:solidFill>
                  <a:srgbClr val="CDD6F4"/>
                </a:solidFill>
                <a:effectLst/>
                <a:latin typeface="Consolas" panose="020B0609020204030204" pitchFamily="49" charset="0"/>
              </a:rPr>
              <a:t>readers_waiting</a:t>
            </a:r>
            <a:r>
              <a:rPr lang="en-US" b="0" dirty="0">
                <a:solidFill>
                  <a:srgbClr val="CDD6F4"/>
                </a:solidFill>
                <a:effectLst/>
                <a:latin typeface="Consolas" panose="020B0609020204030204" pitchFamily="49" charset="0"/>
              </a:rPr>
              <a:t> by </a:t>
            </a:r>
            <a:r>
              <a:rPr lang="en-US" b="0" dirty="0">
                <a:solidFill>
                  <a:srgbClr val="FAB387"/>
                </a:solidFill>
                <a:effectLst/>
                <a:latin typeface="Consolas" panose="020B0609020204030204" pitchFamily="49" charset="0"/>
              </a:rPr>
              <a:t>1</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p>
          <a:p>
            <a:r>
              <a:rPr lang="en-US" b="0" dirty="0">
                <a:solidFill>
                  <a:srgbClr val="CDD6F4"/>
                </a:solidFill>
                <a:effectLst/>
                <a:latin typeface="Consolas" panose="020B0609020204030204" pitchFamily="49" charset="0"/>
              </a:rPr>
              <a:t>        decrease readers by </a:t>
            </a:r>
            <a:r>
              <a:rPr lang="en-US" b="0" dirty="0">
                <a:solidFill>
                  <a:srgbClr val="FAB387"/>
                </a:solidFill>
                <a:effectLst/>
                <a:latin typeface="Consolas" panose="020B0609020204030204" pitchFamily="49" charset="0"/>
              </a:rPr>
              <a:t>1</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p>
          <a:p>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mythreads_sem_up</a:t>
            </a:r>
            <a:r>
              <a:rPr lang="en-US" b="0" dirty="0">
                <a:solidFill>
                  <a:srgbClr val="9399B2"/>
                </a:solidFill>
                <a:effectLst/>
                <a:latin typeface="Consolas" panose="020B0609020204030204" pitchFamily="49" charset="0"/>
              </a:rPr>
              <a:t>(</a:t>
            </a:r>
            <a:r>
              <a:rPr lang="en-US" b="0" dirty="0" err="1">
                <a:solidFill>
                  <a:srgbClr val="CDD6F4"/>
                </a:solidFill>
                <a:effectLst/>
                <a:latin typeface="Consolas" panose="020B0609020204030204" pitchFamily="49" charset="0"/>
              </a:rPr>
              <a:t>readers_queue</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else</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dirty="0">
                <a:solidFill>
                  <a:srgbClr val="CBA6F7"/>
                </a:solidFill>
                <a:effectLst/>
                <a:latin typeface="Consolas" panose="020B0609020204030204" pitchFamily="49" charset="0"/>
              </a:rPr>
              <a:t>if</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there are blocked writers</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decrease </a:t>
            </a:r>
            <a:r>
              <a:rPr lang="en-US" b="0" dirty="0" err="1">
                <a:solidFill>
                  <a:srgbClr val="CDD6F4"/>
                </a:solidFill>
                <a:effectLst/>
                <a:latin typeface="Consolas" panose="020B0609020204030204" pitchFamily="49" charset="0"/>
              </a:rPr>
              <a:t>writers_waiting</a:t>
            </a:r>
            <a:r>
              <a:rPr lang="en-US" b="0" dirty="0">
                <a:solidFill>
                  <a:srgbClr val="CDD6F4"/>
                </a:solidFill>
                <a:effectLst/>
                <a:latin typeface="Consolas" panose="020B0609020204030204" pitchFamily="49" charset="0"/>
              </a:rPr>
              <a:t> by </a:t>
            </a:r>
            <a:r>
              <a:rPr lang="en-US" b="0" dirty="0">
                <a:solidFill>
                  <a:srgbClr val="FAB387"/>
                </a:solidFill>
                <a:effectLst/>
                <a:latin typeface="Consolas" panose="020B0609020204030204" pitchFamily="49" charset="0"/>
              </a:rPr>
              <a:t>1</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p>
          <a:p>
            <a:r>
              <a:rPr lang="en-US" b="0" dirty="0">
                <a:solidFill>
                  <a:srgbClr val="CDD6F4"/>
                </a:solidFill>
                <a:effectLst/>
                <a:latin typeface="Consolas" panose="020B0609020204030204" pitchFamily="49" charset="0"/>
              </a:rPr>
              <a:t>            increase writers by </a:t>
            </a:r>
            <a:r>
              <a:rPr lang="en-US" b="0" dirty="0">
                <a:solidFill>
                  <a:srgbClr val="FAB387"/>
                </a:solidFill>
                <a:effectLst/>
                <a:latin typeface="Consolas" panose="020B0609020204030204" pitchFamily="49" charset="0"/>
              </a:rPr>
              <a:t>1</a:t>
            </a:r>
            <a:r>
              <a:rPr lang="en-US" b="0" dirty="0">
                <a:solidFill>
                  <a:srgbClr val="9399B2"/>
                </a:solidFill>
                <a:effectLst/>
                <a:latin typeface="Consolas" panose="020B0609020204030204" pitchFamily="49" charset="0"/>
              </a:rPr>
              <a:t>;</a:t>
            </a:r>
            <a:r>
              <a:rPr lang="en-US" b="0" dirty="0">
                <a:solidFill>
                  <a:srgbClr val="CDD6F4"/>
                </a:solidFill>
                <a:effectLst/>
                <a:latin typeface="Consolas" panose="020B0609020204030204" pitchFamily="49" charset="0"/>
              </a:rPr>
              <a:t> </a:t>
            </a:r>
          </a:p>
          <a:p>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mythreads_sem_up</a:t>
            </a:r>
            <a:r>
              <a:rPr lang="en-US" b="0" dirty="0">
                <a:solidFill>
                  <a:srgbClr val="9399B2"/>
                </a:solidFill>
                <a:effectLst/>
                <a:latin typeface="Consolas" panose="020B0609020204030204" pitchFamily="49" charset="0"/>
              </a:rPr>
              <a:t>(</a:t>
            </a:r>
            <a:r>
              <a:rPr lang="en-US" b="0" dirty="0" err="1">
                <a:solidFill>
                  <a:srgbClr val="CDD6F4"/>
                </a:solidFill>
                <a:effectLst/>
                <a:latin typeface="Consolas" panose="020B0609020204030204" pitchFamily="49" charset="0"/>
              </a:rPr>
              <a:t>writers_queue</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i="1" dirty="0" err="1">
                <a:solidFill>
                  <a:srgbClr val="89B4FA"/>
                </a:solidFill>
                <a:effectLst/>
                <a:latin typeface="Consolas" panose="020B0609020204030204" pitchFamily="49" charset="0"/>
              </a:rPr>
              <a:t>mythreads_sem_up</a:t>
            </a:r>
            <a:r>
              <a:rPr lang="en-US" b="0" dirty="0">
                <a:solidFill>
                  <a:srgbClr val="9399B2"/>
                </a:solidFill>
                <a:effectLst/>
                <a:latin typeface="Consolas" panose="020B0609020204030204" pitchFamily="49" charset="0"/>
              </a:rPr>
              <a:t>(</a:t>
            </a:r>
            <a:r>
              <a:rPr lang="en-US" b="0" dirty="0" err="1">
                <a:solidFill>
                  <a:srgbClr val="CDD6F4"/>
                </a:solidFill>
                <a:effectLst/>
                <a:latin typeface="Consolas" panose="020B0609020204030204" pitchFamily="49" charset="0"/>
              </a:rPr>
              <a:t>mtx</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r>
              <a:rPr lang="en-US" b="0" dirty="0">
                <a:solidFill>
                  <a:srgbClr val="CDD6F4"/>
                </a:solidFill>
                <a:effectLst/>
                <a:latin typeface="Consolas" panose="020B0609020204030204" pitchFamily="49" charset="0"/>
              </a:rPr>
              <a:t>    </a:t>
            </a: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a:p>
            <a:br>
              <a:rPr lang="en-US" b="0" dirty="0">
                <a:solidFill>
                  <a:srgbClr val="CDD6F4"/>
                </a:solidFill>
                <a:effectLst/>
                <a:latin typeface="Consolas" panose="020B0609020204030204" pitchFamily="49" charset="0"/>
              </a:rPr>
            </a:br>
            <a:r>
              <a:rPr lang="en-US" b="0" dirty="0">
                <a:solidFill>
                  <a:srgbClr val="9399B2"/>
                </a:solidFill>
                <a:effectLst/>
                <a:latin typeface="Consolas" panose="020B0609020204030204" pitchFamily="49" charset="0"/>
              </a:rPr>
              <a:t>}</a:t>
            </a:r>
            <a:endParaRPr lang="en-US" b="0" dirty="0">
              <a:solidFill>
                <a:srgbClr val="CDD6F4"/>
              </a:solidFill>
              <a:effectLst/>
              <a:latin typeface="Consolas" panose="020B0609020204030204" pitchFamily="49" charset="0"/>
            </a:endParaRPr>
          </a:p>
        </p:txBody>
      </p:sp>
    </p:spTree>
    <p:extLst>
      <p:ext uri="{BB962C8B-B14F-4D97-AF65-F5344CB8AC3E}">
        <p14:creationId xmlns:p14="http://schemas.microsoft.com/office/powerpoint/2010/main" val="129481906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538D9D"/>
      </a:hlink>
      <a:folHlink>
        <a:srgbClr val="A5738E"/>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3A418E6B-C5F0-4B95-8D77-61E3EF3B5DF5}"/>
    </a:ext>
  </a:extLst>
</a:theme>
</file>

<file path=docProps/app.xml><?xml version="1.0" encoding="utf-8"?>
<Properties xmlns="http://schemas.openxmlformats.org/officeDocument/2006/extended-properties" xmlns:vt="http://schemas.openxmlformats.org/officeDocument/2006/docPropsVTypes">
  <Template>Office Theme</Template>
  <TotalTime>869</TotalTime>
  <Words>2898</Words>
  <Application>Microsoft Office PowerPoint</Application>
  <PresentationFormat>Widescreen</PresentationFormat>
  <Paragraphs>388</Paragraphs>
  <Slides>36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36</vt:i4>
      </vt:variant>
    </vt:vector>
  </HeadingPairs>
  <TitlesOfParts>
    <vt:vector size="41" baseType="lpstr">
      <vt:lpstr>Aptos</vt:lpstr>
      <vt:lpstr>Aptos Display</vt:lpstr>
      <vt:lpstr>Arial</vt:lpstr>
      <vt:lpstr>Consolas</vt:lpstr>
      <vt:lpstr>Office Theme</vt:lpstr>
      <vt:lpstr>Assignment 1</vt:lpstr>
      <vt:lpstr>Assignment 1: mycoroutine API</vt:lpstr>
      <vt:lpstr>Assignment 1: Initializing and destroying coroutines</vt:lpstr>
      <vt:lpstr>Assignment 1: Initializing the main coroutine and global variables</vt:lpstr>
      <vt:lpstr>Assignment 1: Creating and destroying coroutines</vt:lpstr>
      <vt:lpstr>Assignment 1: Switching coroutines</vt:lpstr>
      <vt:lpstr>Assignment 1: Testing coroutines</vt:lpstr>
      <vt:lpstr>Assignment 1: pipe_write function</vt:lpstr>
      <vt:lpstr>Assignment 1: pipe_read function</vt:lpstr>
      <vt:lpstr>Assignment 2</vt:lpstr>
      <vt:lpstr>Assignment 2: mythreads API</vt:lpstr>
      <vt:lpstr>Assignment 2: mythreads API</vt:lpstr>
      <vt:lpstr>Assignment 2: mythreads internal functions</vt:lpstr>
      <vt:lpstr>Assignment 2: Avoiding race conditions</vt:lpstr>
      <vt:lpstr>Assignment 2: The scheduler</vt:lpstr>
      <vt:lpstr>Assignment 2: The scheduler</vt:lpstr>
      <vt:lpstr>Assignment 2: The scheduler</vt:lpstr>
      <vt:lpstr>Assignment 2: Scheduler related functions</vt:lpstr>
      <vt:lpstr>Assignment 2: Scheduler related functions</vt:lpstr>
      <vt:lpstr>Assignment 2: Scheduler related functions</vt:lpstr>
      <vt:lpstr>Assignment 2: Scheduler related functions</vt:lpstr>
      <vt:lpstr>Assignment 2: Utility functions</vt:lpstr>
      <vt:lpstr>Assignment 2: Utility functions</vt:lpstr>
      <vt:lpstr>Assignment 2: Utility functions</vt:lpstr>
      <vt:lpstr>Assignment 2: API functions</vt:lpstr>
      <vt:lpstr>Assignment 2: API functions</vt:lpstr>
      <vt:lpstr>Assignment 2: API functions</vt:lpstr>
      <vt:lpstr>Assignment 2: API functions</vt:lpstr>
      <vt:lpstr>Assignment 2: API functions</vt:lpstr>
      <vt:lpstr>Assignment 2: API functions</vt:lpstr>
      <vt:lpstr>Assignment 3</vt:lpstr>
      <vt:lpstr>Assignment 3: Variables</vt:lpstr>
      <vt:lpstr>Assignment 3: Reader function</vt:lpstr>
      <vt:lpstr>Assignment 3: Reader function</vt:lpstr>
      <vt:lpstr>Assignment 3: Writer function</vt:lpstr>
      <vt:lpstr>Assignment 3: Writer function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Assignment 1</dc:title>
  <dc:creator>Faidra Nika</dc:creator>
  <cp:lastModifiedBy>Jason Nikas</cp:lastModifiedBy>
  <cp:revision>38</cp:revision>
  <dcterms:created xsi:type="dcterms:W3CDTF">2024-11-30T16:59:36Z</dcterms:created>
  <dcterms:modified xsi:type="dcterms:W3CDTF">2024-12-21T21:59:30Z</dcterms:modified>
</cp:coreProperties>
</file>