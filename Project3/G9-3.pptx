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2" r:id="rId4"/>
    <p:sldId id="258" r:id="rId5"/>
    <p:sldId id="260" r:id="rId6"/>
    <p:sldId id="292" r:id="rId7"/>
    <p:sldId id="293" r:id="rId8"/>
    <p:sldId id="294" r:id="rId9"/>
    <p:sldId id="298" r:id="rId10"/>
    <p:sldId id="299" r:id="rId11"/>
    <p:sldId id="300" r:id="rId12"/>
    <p:sldId id="301" r:id="rId13"/>
    <p:sldId id="259" r:id="rId14"/>
    <p:sldId id="261" r:id="rId15"/>
    <p:sldId id="263" r:id="rId16"/>
    <p:sldId id="264" r:id="rId17"/>
    <p:sldId id="285" r:id="rId18"/>
    <p:sldId id="286" r:id="rId19"/>
    <p:sldId id="287" r:id="rId20"/>
    <p:sldId id="265" r:id="rId21"/>
    <p:sldId id="266" r:id="rId22"/>
    <p:sldId id="267" r:id="rId23"/>
    <p:sldId id="268" r:id="rId24"/>
    <p:sldId id="270" r:id="rId25"/>
    <p:sldId id="271" r:id="rId26"/>
    <p:sldId id="272" r:id="rId27"/>
    <p:sldId id="273" r:id="rId28"/>
    <p:sldId id="274" r:id="rId29"/>
    <p:sldId id="275" r:id="rId30"/>
    <p:sldId id="276" r:id="rId31"/>
    <p:sldId id="277" r:id="rId32"/>
    <p:sldId id="278" r:id="rId33"/>
    <p:sldId id="280" r:id="rId34"/>
    <p:sldId id="281" r:id="rId35"/>
    <p:sldId id="282" r:id="rId36"/>
    <p:sldId id="283" r:id="rId37"/>
    <p:sldId id="288" r:id="rId38"/>
    <p:sldId id="290" r:id="rId39"/>
    <p:sldId id="291" r:id="rId40"/>
    <p:sldId id="295" r:id="rId41"/>
    <p:sldId id="296" r:id="rId42"/>
    <p:sldId id="297" r:id="rId4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62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94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26EAC-0EB7-423B-BF89-84126560B6A3}" type="datetimeFigureOut">
              <a:rPr lang="en-US" smtClean="0"/>
              <a:t>11/30/2024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296FB-853A-4DD6-B517-AD8AB6992D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4688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26EAC-0EB7-423B-BF89-84126560B6A3}" type="datetimeFigureOut">
              <a:rPr lang="en-US" smtClean="0"/>
              <a:t>11/30/2024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296FB-853A-4DD6-B517-AD8AB6992D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507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26EAC-0EB7-423B-BF89-84126560B6A3}" type="datetimeFigureOut">
              <a:rPr lang="en-US" smtClean="0"/>
              <a:t>11/30/2024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296FB-853A-4DD6-B517-AD8AB6992D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78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26EAC-0EB7-423B-BF89-84126560B6A3}" type="datetimeFigureOut">
              <a:rPr lang="en-US" smtClean="0"/>
              <a:t>11/30/2024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296FB-853A-4DD6-B517-AD8AB6992D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0370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26EAC-0EB7-423B-BF89-84126560B6A3}" type="datetimeFigureOut">
              <a:rPr lang="en-US" smtClean="0"/>
              <a:t>11/30/2024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296FB-853A-4DD6-B517-AD8AB6992D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1240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26EAC-0EB7-423B-BF89-84126560B6A3}" type="datetimeFigureOut">
              <a:rPr lang="en-US" smtClean="0"/>
              <a:t>11/30/2024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296FB-853A-4DD6-B517-AD8AB6992D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709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26EAC-0EB7-423B-BF89-84126560B6A3}" type="datetimeFigureOut">
              <a:rPr lang="en-US" smtClean="0"/>
              <a:t>11/30/2024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296FB-853A-4DD6-B517-AD8AB6992D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3050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26EAC-0EB7-423B-BF89-84126560B6A3}" type="datetimeFigureOut">
              <a:rPr lang="en-US" smtClean="0"/>
              <a:t>11/30/2024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296FB-853A-4DD6-B517-AD8AB6992D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1486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26EAC-0EB7-423B-BF89-84126560B6A3}" type="datetimeFigureOut">
              <a:rPr lang="en-US" smtClean="0"/>
              <a:t>11/30/2024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296FB-853A-4DD6-B517-AD8AB6992D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7736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26EAC-0EB7-423B-BF89-84126560B6A3}" type="datetimeFigureOut">
              <a:rPr lang="en-US" smtClean="0"/>
              <a:t>11/30/2024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296FB-853A-4DD6-B517-AD8AB6992D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6455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26EAC-0EB7-423B-BF89-84126560B6A3}" type="datetimeFigureOut">
              <a:rPr lang="en-US" smtClean="0"/>
              <a:t>11/30/2024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296FB-853A-4DD6-B517-AD8AB6992D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1366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77826EAC-0EB7-423B-BF89-84126560B6A3}" type="datetimeFigureOut">
              <a:rPr lang="en-US" smtClean="0"/>
              <a:t>11/30/2024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8DC296FB-853A-4DD6-B517-AD8AB6992D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5594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7A0FB-26FB-A62F-F5B3-76AD27185E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945034"/>
            <a:ext cx="9144000" cy="967931"/>
          </a:xfrm>
        </p:spPr>
        <p:txBody>
          <a:bodyPr/>
          <a:lstStyle/>
          <a:p>
            <a:r>
              <a:rPr lang="en-US" dirty="0"/>
              <a:t>Assignment 1</a:t>
            </a:r>
          </a:p>
        </p:txBody>
      </p:sp>
    </p:spTree>
    <p:extLst>
      <p:ext uri="{BB962C8B-B14F-4D97-AF65-F5344CB8AC3E}">
        <p14:creationId xmlns:p14="http://schemas.microsoft.com/office/powerpoint/2010/main" val="13116061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FCC78-91AB-00E1-23BE-837571F81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Assignment 1: Monitor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F2622D-3968-315B-19A3-75F05479EE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3858491" cy="408026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CBA6F7"/>
                </a:solidFill>
                <a:latin typeface="Consolas" panose="020B0609020204030204" pitchFamily="49" charset="0"/>
              </a:rPr>
              <a:t>monitor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semaphore 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b="0" dirty="0">
              <a:solidFill>
                <a:srgbClr val="CDD6F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CBA6F7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b="0" dirty="0">
              <a:solidFill>
                <a:srgbClr val="CDD6F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dirty="0" err="1">
                <a:solidFill>
                  <a:srgbClr val="CBA6F7"/>
                </a:solidFill>
                <a:latin typeface="Consolas" panose="020B0609020204030204" pitchFamily="49" charset="0"/>
              </a:rPr>
              <a:t>cond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q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b="0" dirty="0">
              <a:solidFill>
                <a:srgbClr val="CDD6F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CBA6F7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1" dirty="0">
                <a:solidFill>
                  <a:srgbClr val="89B4FA"/>
                </a:solidFill>
                <a:effectLst/>
                <a:latin typeface="Consolas" panose="020B0609020204030204" pitchFamily="49" charset="0"/>
              </a:rPr>
              <a:t>down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dirty="0">
                <a:solidFill>
                  <a:srgbClr val="CDD6F4"/>
                </a:solidFill>
                <a:latin typeface="Consolas" panose="020B0609020204030204" pitchFamily="49" charset="0"/>
              </a:rPr>
              <a:t>;</a:t>
            </a:r>
            <a:endParaRPr lang="en-US" b="0" dirty="0">
              <a:solidFill>
                <a:srgbClr val="9399B2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b="0" dirty="0">
              <a:solidFill>
                <a:srgbClr val="CDD6F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CBA6F7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1" dirty="0">
                <a:solidFill>
                  <a:srgbClr val="89B4FA"/>
                </a:solidFill>
                <a:effectLst/>
                <a:latin typeface="Consolas" panose="020B0609020204030204" pitchFamily="49" charset="0"/>
              </a:rPr>
              <a:t>up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b="0" dirty="0">
              <a:solidFill>
                <a:srgbClr val="CDD6F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D616D0-8D7E-14E7-B161-5580C37EB3AB}"/>
              </a:ext>
            </a:extLst>
          </p:cNvPr>
          <p:cNvSpPr txBox="1"/>
          <p:nvPr/>
        </p:nvSpPr>
        <p:spPr>
          <a:xfrm>
            <a:off x="5284448" y="1825623"/>
            <a:ext cx="279552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dirty="0">
                <a:solidFill>
                  <a:srgbClr val="CBA6F7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1" dirty="0">
                <a:solidFill>
                  <a:srgbClr val="89B4FA"/>
                </a:solidFill>
                <a:effectLst/>
                <a:latin typeface="Consolas" panose="020B0609020204030204" pitchFamily="49" charset="0"/>
              </a:rPr>
              <a:t>down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b="0" dirty="0">
              <a:solidFill>
                <a:srgbClr val="CDD6F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CDD6F4"/>
                </a:solidFill>
                <a:latin typeface="Consolas" panose="020B0609020204030204" pitchFamily="49" charset="0"/>
              </a:rPr>
              <a:t>  decrement </a:t>
            </a:r>
            <a:r>
              <a:rPr lang="en-US" dirty="0" err="1">
                <a:solidFill>
                  <a:srgbClr val="CDD6F4"/>
                </a:solidFill>
                <a:latin typeface="Consolas" panose="020B0609020204030204" pitchFamily="49" charset="0"/>
              </a:rPr>
              <a:t>val</a:t>
            </a:r>
            <a:r>
              <a:rPr lang="en-US" dirty="0">
                <a:solidFill>
                  <a:srgbClr val="CDD6F4"/>
                </a:solidFill>
                <a:latin typeface="Consolas" panose="020B0609020204030204" pitchFamily="49" charset="0"/>
              </a:rPr>
              <a:t> by 1</a:t>
            </a:r>
            <a:endParaRPr lang="en-US" b="0" dirty="0">
              <a:solidFill>
                <a:srgbClr val="CDD6F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CBA6F7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4E2D5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AB387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b="0" dirty="0">
              <a:solidFill>
                <a:srgbClr val="CDD6F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0" i="1" dirty="0">
                <a:solidFill>
                  <a:srgbClr val="89B4FA"/>
                </a:solidFill>
                <a:effectLst/>
                <a:latin typeface="Consolas" panose="020B0609020204030204" pitchFamily="49" charset="0"/>
              </a:rPr>
              <a:t>wait</a:t>
            </a:r>
            <a:r>
              <a:rPr lang="en-US" i="1" dirty="0">
                <a:solidFill>
                  <a:srgbClr val="9399B2"/>
                </a:solidFill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q</a:t>
            </a:r>
          </a:p>
          <a:p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CBA6F7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AB387"/>
                </a:solidFill>
                <a:effectLst/>
                <a:latin typeface="Consolas" panose="020B0609020204030204" pitchFamily="49" charset="0"/>
              </a:rPr>
              <a:t>1</a:t>
            </a:r>
            <a:endParaRPr lang="en-US" b="0" dirty="0">
              <a:solidFill>
                <a:srgbClr val="CDD6F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9D3A14-9824-E1DB-1B6F-CB6656EEAB11}"/>
              </a:ext>
            </a:extLst>
          </p:cNvPr>
          <p:cNvSpPr txBox="1"/>
          <p:nvPr/>
        </p:nvSpPr>
        <p:spPr>
          <a:xfrm>
            <a:off x="8688508" y="1825623"/>
            <a:ext cx="322778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dirty="0">
                <a:solidFill>
                  <a:srgbClr val="CBA6F7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1" dirty="0">
                <a:solidFill>
                  <a:srgbClr val="89B4FA"/>
                </a:solidFill>
                <a:effectLst/>
                <a:latin typeface="Consolas" panose="020B0609020204030204" pitchFamily="49" charset="0"/>
              </a:rPr>
              <a:t>up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b="0" dirty="0">
              <a:solidFill>
                <a:srgbClr val="CDD6F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i="1" dirty="0">
                <a:solidFill>
                  <a:srgbClr val="6C7086"/>
                </a:solidFill>
                <a:effectLst/>
                <a:latin typeface="Consolas" panose="020B0609020204030204" pitchFamily="49" charset="0"/>
              </a:rPr>
              <a:t>  // Lost up call</a:t>
            </a:r>
            <a:endParaRPr lang="en-US" b="0" dirty="0">
              <a:solidFill>
                <a:srgbClr val="CDD6F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CBA6F7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US" dirty="0">
                <a:solidFill>
                  <a:srgbClr val="CDD6F4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94E2D5"/>
                </a:solidFill>
                <a:latin typeface="Consolas" panose="020B0609020204030204" pitchFamily="49" charset="0"/>
              </a:rPr>
              <a:t>==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AB387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b="0" dirty="0">
              <a:solidFill>
                <a:srgbClr val="CDD6F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CBA6F7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AB387"/>
                </a:solidFill>
                <a:effectLst/>
                <a:latin typeface="Consolas" panose="020B0609020204030204" pitchFamily="49" charset="0"/>
              </a:rPr>
              <a:t>0</a:t>
            </a:r>
            <a:endParaRPr lang="en-US" b="0" dirty="0">
              <a:solidFill>
                <a:srgbClr val="CDD6F4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  increment </a:t>
            </a:r>
            <a:r>
              <a:rPr lang="en-US" b="0" dirty="0" err="1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by 1</a:t>
            </a:r>
          </a:p>
          <a:p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CBA6F7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4E2D5"/>
                </a:solidFill>
                <a:effectLst/>
                <a:latin typeface="Consolas" panose="020B0609020204030204" pitchFamily="49" charset="0"/>
              </a:rPr>
              <a:t>&lt;=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AB387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b="0" dirty="0">
              <a:solidFill>
                <a:srgbClr val="CDD6F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i="1" dirty="0">
                <a:solidFill>
                  <a:srgbClr val="89B4FA"/>
                </a:solidFill>
                <a:effectLst/>
                <a:latin typeface="Consolas" panose="020B0609020204030204" pitchFamily="49" charset="0"/>
              </a:rPr>
              <a:t>signal</a:t>
            </a:r>
            <a:r>
              <a:rPr lang="en-US" i="1" dirty="0">
                <a:solidFill>
                  <a:srgbClr val="9399B2"/>
                </a:solidFill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q</a:t>
            </a:r>
          </a:p>
          <a:p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CBA6F7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AB387"/>
                </a:solidFill>
                <a:effectLst/>
                <a:latin typeface="Consolas" panose="020B0609020204030204" pitchFamily="49" charset="0"/>
              </a:rPr>
              <a:t>1</a:t>
            </a:r>
            <a:endParaRPr lang="en-US" b="0" dirty="0">
              <a:solidFill>
                <a:srgbClr val="CDD6F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b="0" dirty="0">
              <a:solidFill>
                <a:srgbClr val="CDD6F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0A8AFA-27DF-830A-533E-FDE6AF42D36C}"/>
              </a:ext>
            </a:extLst>
          </p:cNvPr>
          <p:cNvSpPr txBox="1"/>
          <p:nvPr/>
        </p:nvSpPr>
        <p:spPr>
          <a:xfrm>
            <a:off x="5323241" y="3764615"/>
            <a:ext cx="279552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/>
              <a:t>Αν αφού μειωθεί το </a:t>
            </a:r>
            <a:r>
              <a:rPr lang="en-US" dirty="0" err="1"/>
              <a:t>val</a:t>
            </a:r>
            <a:r>
              <a:rPr lang="el-GR" dirty="0"/>
              <a:t> και εξακολουθεί να είναι αρνητικό πρέπει να περιμένουμε καθώς είτε η τιμή του σηματοφόρου ήταν 0 ή υπήρχαν άλλα νήματα που ήδη περίμεναν.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6CDBE2-48F5-971E-63E5-B9F805A06F64}"/>
              </a:ext>
            </a:extLst>
          </p:cNvPr>
          <p:cNvSpPr txBox="1"/>
          <p:nvPr/>
        </p:nvSpPr>
        <p:spPr>
          <a:xfrm>
            <a:off x="8688508" y="4822880"/>
            <a:ext cx="322778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/>
              <a:t>Αν αφού αυξήσουμε την τιμή του σηματοφόρου εξακολουθεί να είναι μικρότερη ή ίση με το 0, σημαίνει ότι υπάρχουν νήματα που περιμένουν και πρέπει να ξυπνίσει το επόμενο.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92494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85F95-A115-3EE6-9F6B-23555D780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Assignment 1: </a:t>
            </a:r>
            <a:r>
              <a:rPr lang="el-GR" sz="4000" b="1" dirty="0"/>
              <a:t>Διαφορετικά μοντέλα </a:t>
            </a:r>
            <a:r>
              <a:rPr lang="en-US" sz="4000" b="1" dirty="0"/>
              <a:t>monitors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D212BB-7D70-25B0-D0DF-FD338855AE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l-GR" dirty="0"/>
              <a:t>Η λύση αυτή λειτουργεί για </a:t>
            </a:r>
            <a:r>
              <a:rPr lang="en-US" u="sng" dirty="0"/>
              <a:t>open</a:t>
            </a:r>
            <a:r>
              <a:rPr lang="el-GR" dirty="0"/>
              <a:t> και για </a:t>
            </a:r>
            <a:r>
              <a:rPr lang="en-US" u="sng" dirty="0"/>
              <a:t>eggshell</a:t>
            </a:r>
            <a:r>
              <a:rPr lang="en-US" dirty="0"/>
              <a:t> monitors. </a:t>
            </a:r>
            <a:r>
              <a:rPr lang="el-GR" dirty="0"/>
              <a:t>Στην χειρότερη περίπτωση του </a:t>
            </a:r>
            <a:r>
              <a:rPr lang="en-US" u="sng" dirty="0"/>
              <a:t>open</a:t>
            </a:r>
            <a:r>
              <a:rPr lang="en-US" dirty="0"/>
              <a:t> monitor </a:t>
            </a:r>
            <a:r>
              <a:rPr lang="el-GR" dirty="0"/>
              <a:t>δεν υπάρχουν προβλήματα με προσπεράσεις καθώς τα </a:t>
            </a:r>
            <a:r>
              <a:rPr lang="en-US" dirty="0"/>
              <a:t>logistics </a:t>
            </a:r>
            <a:r>
              <a:rPr lang="el-GR" dirty="0"/>
              <a:t>λειτουργούν με βάση την </a:t>
            </a:r>
            <a:r>
              <a:rPr lang="en-US" dirty="0" err="1">
                <a:latin typeface="Consolas" panose="020B0609020204030204" pitchFamily="49" charset="0"/>
              </a:rPr>
              <a:t>val</a:t>
            </a:r>
            <a:r>
              <a:rPr lang="en-US" dirty="0"/>
              <a:t> </a:t>
            </a:r>
            <a:r>
              <a:rPr lang="el-GR" dirty="0"/>
              <a:t>και επιπλέον η </a:t>
            </a:r>
            <a:r>
              <a:rPr lang="en-US" dirty="0"/>
              <a:t>wait </a:t>
            </a:r>
            <a:r>
              <a:rPr lang="el-GR" dirty="0"/>
              <a:t>είναι τελευταία εντολή στην συνάρτηση </a:t>
            </a:r>
            <a:r>
              <a:rPr lang="en-US" dirty="0">
                <a:latin typeface="Consolas" panose="020B0609020204030204" pitchFamily="49" charset="0"/>
              </a:rPr>
              <a:t>down</a:t>
            </a:r>
            <a:r>
              <a:rPr lang="en-US" dirty="0"/>
              <a:t>.</a:t>
            </a:r>
          </a:p>
          <a:p>
            <a:r>
              <a:rPr lang="el-GR" dirty="0"/>
              <a:t>Η λύση λειτουργεί για</a:t>
            </a:r>
            <a:r>
              <a:rPr lang="en-US" dirty="0"/>
              <a:t> signal-block </a:t>
            </a:r>
            <a:r>
              <a:rPr lang="el-GR" dirty="0"/>
              <a:t>και </a:t>
            </a:r>
            <a:r>
              <a:rPr lang="en-US" dirty="0"/>
              <a:t>signal-continue </a:t>
            </a:r>
            <a:r>
              <a:rPr lang="el-GR" dirty="0"/>
              <a:t>αφού όλες η μοναδική κλήση </a:t>
            </a:r>
            <a:r>
              <a:rPr lang="en-US" dirty="0">
                <a:latin typeface="Consolas" panose="020B0609020204030204" pitchFamily="49" charset="0"/>
              </a:rPr>
              <a:t>signal</a:t>
            </a:r>
            <a:r>
              <a:rPr lang="el-GR" dirty="0"/>
              <a:t> στην συνάρτηση </a:t>
            </a:r>
            <a:r>
              <a:rPr lang="en-US" dirty="0">
                <a:latin typeface="Consolas" panose="020B0609020204030204" pitchFamily="49" charset="0"/>
              </a:rPr>
              <a:t>up</a:t>
            </a:r>
            <a:r>
              <a:rPr lang="en-US" dirty="0"/>
              <a:t> </a:t>
            </a:r>
            <a:r>
              <a:rPr lang="el-GR" dirty="0"/>
              <a:t>γίνεται στο τέλος.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97843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63780-74E1-59CA-34FE-6985D876A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Assignment 2</a:t>
            </a:r>
          </a:p>
        </p:txBody>
      </p:sp>
    </p:spTree>
    <p:extLst>
      <p:ext uri="{BB962C8B-B14F-4D97-AF65-F5344CB8AC3E}">
        <p14:creationId xmlns:p14="http://schemas.microsoft.com/office/powerpoint/2010/main" val="12992572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2D2E9-C366-4296-3152-7DF76877E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Assignment 2: Monitor structure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7A9B90-D7FE-0223-D3A3-41A048DE8075}"/>
              </a:ext>
            </a:extLst>
          </p:cNvPr>
          <p:cNvSpPr txBox="1"/>
          <p:nvPr/>
        </p:nvSpPr>
        <p:spPr>
          <a:xfrm>
            <a:off x="3047238" y="1859340"/>
            <a:ext cx="609447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CBA6F7"/>
                </a:solidFill>
                <a:latin typeface="Consolas" panose="020B0609020204030204" pitchFamily="49" charset="0"/>
              </a:rPr>
              <a:t>monitor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b="0" dirty="0">
              <a:solidFill>
                <a:srgbClr val="CDD6F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CBA6F7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blocked_workers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4E2D5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AB387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b="0" dirty="0">
              <a:solidFill>
                <a:srgbClr val="CDD6F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CBA6F7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working_workers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4E2D5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N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b="0" dirty="0">
              <a:solidFill>
                <a:srgbClr val="CDD6F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CBA6F7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main_sleeping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4E2D5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AB387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b="0" dirty="0">
              <a:solidFill>
                <a:srgbClr val="CDD6F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CBA6F7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main_waiting_worker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4E2D5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AB387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b="0" dirty="0">
              <a:solidFill>
                <a:srgbClr val="CDD6F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dirty="0" err="1">
                <a:solidFill>
                  <a:srgbClr val="CBA6F7"/>
                </a:solidFill>
                <a:latin typeface="Consolas" panose="020B0609020204030204" pitchFamily="49" charset="0"/>
              </a:rPr>
              <a:t>cond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main_sleep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b="0" dirty="0">
              <a:solidFill>
                <a:srgbClr val="CDD6F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dirty="0" err="1">
                <a:solidFill>
                  <a:srgbClr val="CBA6F7"/>
                </a:solidFill>
                <a:latin typeface="Consolas" panose="020B0609020204030204" pitchFamily="49" charset="0"/>
              </a:rPr>
              <a:t>cond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worker_q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b="0" dirty="0">
              <a:solidFill>
                <a:srgbClr val="CDD6F4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  command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value </a:t>
            </a:r>
            <a:r>
              <a:rPr lang="en-US" b="0" i="1" dirty="0" err="1">
                <a:solidFill>
                  <a:srgbClr val="89B4FA"/>
                </a:solidFill>
                <a:effectLst/>
                <a:latin typeface="Consolas" panose="020B0609020204030204" pitchFamily="49" charset="0"/>
              </a:rPr>
              <a:t>get_job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();</a:t>
            </a:r>
            <a:endParaRPr lang="en-US" b="0" dirty="0">
              <a:solidFill>
                <a:srgbClr val="CDD6F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CBA6F7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1" dirty="0" err="1">
                <a:solidFill>
                  <a:srgbClr val="89B4FA"/>
                </a:solidFill>
                <a:effectLst/>
                <a:latin typeface="Consolas" panose="020B0609020204030204" pitchFamily="49" charset="0"/>
              </a:rPr>
              <a:t>set_job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();</a:t>
            </a:r>
            <a:endParaRPr lang="en-US" b="0" dirty="0">
              <a:solidFill>
                <a:srgbClr val="CDD6F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b="0" dirty="0">
              <a:solidFill>
                <a:srgbClr val="CDD6F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19909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ACB3A2-0B54-6031-754B-8E4ECD572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30D41-2865-AC58-66CA-18854DA18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Assignment 2: Master</a:t>
            </a:r>
            <a:r>
              <a:rPr lang="el-GR" b="1" dirty="0"/>
              <a:t> και </a:t>
            </a:r>
            <a:r>
              <a:rPr lang="en-US" b="1" dirty="0"/>
              <a:t>worker threads</a:t>
            </a:r>
          </a:p>
        </p:txBody>
      </p:sp>
      <p:sp>
        <p:nvSpPr>
          <p:cNvPr id="3" name="Θέση κειμένου 2">
            <a:extLst>
              <a:ext uri="{FF2B5EF4-FFF2-40B4-BE49-F238E27FC236}">
                <a16:creationId xmlns:a16="http://schemas.microsoft.com/office/drawing/2014/main" id="{84FD887A-EB12-7652-1426-EFEE810584E6}"/>
              </a:ext>
            </a:extLst>
          </p:cNvPr>
          <p:cNvSpPr txBox="1">
            <a:spLocks/>
          </p:cNvSpPr>
          <p:nvPr/>
        </p:nvSpPr>
        <p:spPr>
          <a:xfrm>
            <a:off x="839788" y="1681163"/>
            <a:ext cx="5157787" cy="5499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Main thread</a:t>
            </a:r>
            <a:endParaRPr lang="el-GR" dirty="0"/>
          </a:p>
        </p:txBody>
      </p:sp>
      <p:sp>
        <p:nvSpPr>
          <p:cNvPr id="4" name="Θέση περιεχομένου 3">
            <a:extLst>
              <a:ext uri="{FF2B5EF4-FFF2-40B4-BE49-F238E27FC236}">
                <a16:creationId xmlns:a16="http://schemas.microsoft.com/office/drawing/2014/main" id="{A2E06CA9-C72B-5355-A4CE-2C88DFC61BC4}"/>
              </a:ext>
            </a:extLst>
          </p:cNvPr>
          <p:cNvSpPr txBox="1">
            <a:spLocks/>
          </p:cNvSpPr>
          <p:nvPr/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command </a:t>
            </a:r>
            <a:r>
              <a:rPr lang="en-US" b="0" dirty="0">
                <a:solidFill>
                  <a:srgbClr val="94E2D5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PROCESS_VALUE</a:t>
            </a:r>
          </a:p>
          <a:p>
            <a:pPr marL="0" indent="0">
              <a:buNone/>
            </a:pPr>
            <a:r>
              <a:rPr lang="en-US" b="0" i="1" dirty="0">
                <a:solidFill>
                  <a:srgbClr val="89B4F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EOF is </a:t>
            </a:r>
            <a:r>
              <a:rPr lang="en-US" b="0" dirty="0">
                <a:solidFill>
                  <a:srgbClr val="94E2D5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reached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b="0" dirty="0">
              <a:solidFill>
                <a:srgbClr val="CDD6F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  Read next value input</a:t>
            </a:r>
          </a:p>
          <a:p>
            <a:pPr marL="0" indent="0">
              <a:buNone/>
            </a:pP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i="1" dirty="0" err="1">
                <a:solidFill>
                  <a:srgbClr val="89B4FA"/>
                </a:solidFill>
                <a:effectLst/>
                <a:latin typeface="Consolas" panose="020B0609020204030204" pitchFamily="49" charset="0"/>
              </a:rPr>
              <a:t>set_job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();</a:t>
            </a:r>
            <a:endParaRPr lang="en-US" b="0" dirty="0">
              <a:solidFill>
                <a:srgbClr val="CDD6F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b="0" dirty="0">
              <a:solidFill>
                <a:srgbClr val="CDD6F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command </a:t>
            </a:r>
            <a:r>
              <a:rPr lang="en-US" b="0" dirty="0">
                <a:solidFill>
                  <a:srgbClr val="94E2D5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TERMINATE</a:t>
            </a:r>
          </a:p>
          <a:p>
            <a:pPr marL="0" indent="0">
              <a:buNone/>
            </a:pP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FOR every worker I</a:t>
            </a:r>
          </a:p>
          <a:p>
            <a:pPr marL="0" indent="0">
              <a:buNone/>
            </a:pP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i="1" dirty="0" err="1">
                <a:solidFill>
                  <a:srgbClr val="89B4FA"/>
                </a:solidFill>
                <a:latin typeface="Consolas" panose="020B0609020204030204" pitchFamily="49" charset="0"/>
              </a:rPr>
              <a:t>set</a:t>
            </a:r>
            <a:r>
              <a:rPr lang="en-US" b="0" i="1" dirty="0" err="1">
                <a:solidFill>
                  <a:srgbClr val="89B4FA"/>
                </a:solidFill>
                <a:effectLst/>
                <a:latin typeface="Consolas" panose="020B0609020204030204" pitchFamily="49" charset="0"/>
              </a:rPr>
              <a:t>_job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();</a:t>
            </a:r>
            <a:endParaRPr lang="en-US" b="0" dirty="0">
              <a:solidFill>
                <a:srgbClr val="CDD6F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</a:br>
            <a:b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CDD6F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Θέση κειμένου 4">
            <a:extLst>
              <a:ext uri="{FF2B5EF4-FFF2-40B4-BE49-F238E27FC236}">
                <a16:creationId xmlns:a16="http://schemas.microsoft.com/office/drawing/2014/main" id="{51CA13E7-1322-9D60-1B01-6F07B3EC2009}"/>
              </a:ext>
            </a:extLst>
          </p:cNvPr>
          <p:cNvSpPr txBox="1">
            <a:spLocks/>
          </p:cNvSpPr>
          <p:nvPr/>
        </p:nvSpPr>
        <p:spPr>
          <a:xfrm>
            <a:off x="6172200" y="1681163"/>
            <a:ext cx="5183188" cy="54997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Worker thread</a:t>
            </a:r>
            <a:endParaRPr lang="el-GR" dirty="0"/>
          </a:p>
        </p:txBody>
      </p:sp>
      <p:sp>
        <p:nvSpPr>
          <p:cNvPr id="7" name="Θέση περιεχομένου 5">
            <a:extLst>
              <a:ext uri="{FF2B5EF4-FFF2-40B4-BE49-F238E27FC236}">
                <a16:creationId xmlns:a16="http://schemas.microsoft.com/office/drawing/2014/main" id="{A0EF5D19-EF74-143F-2A67-7A63F67CDBCA}"/>
              </a:ext>
            </a:extLst>
          </p:cNvPr>
          <p:cNvSpPr txBox="1">
            <a:spLocks/>
          </p:cNvSpPr>
          <p:nvPr/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0" i="1" dirty="0">
                <a:solidFill>
                  <a:srgbClr val="89B4F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000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FAB387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000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000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sz="2000" b="0" dirty="0">
              <a:solidFill>
                <a:srgbClr val="CDD6F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  command, value = </a:t>
            </a:r>
            <a:r>
              <a:rPr lang="en-US" sz="2000" b="0" i="1" dirty="0" err="1">
                <a:solidFill>
                  <a:srgbClr val="89B4FA"/>
                </a:solidFill>
                <a:effectLst/>
                <a:latin typeface="Consolas" panose="020B0609020204030204" pitchFamily="49" charset="0"/>
              </a:rPr>
              <a:t>get_value</a:t>
            </a:r>
            <a:r>
              <a:rPr lang="en-US" sz="2000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();</a:t>
            </a:r>
            <a:endParaRPr lang="en-US" sz="2000" b="0" dirty="0">
              <a:solidFill>
                <a:srgbClr val="CDD6F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  IF command </a:t>
            </a:r>
            <a:r>
              <a:rPr lang="en-US" sz="2000" b="0" dirty="0">
                <a:solidFill>
                  <a:srgbClr val="94E2D5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2000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TERMINATE</a:t>
            </a:r>
          </a:p>
          <a:p>
            <a:pPr marL="0" indent="0">
              <a:buNone/>
            </a:pPr>
            <a:r>
              <a:rPr lang="en-US" sz="2000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    Break</a:t>
            </a:r>
            <a:r>
              <a:rPr lang="en-US" sz="2000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000" b="0" dirty="0">
              <a:solidFill>
                <a:srgbClr val="CDD6F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2000" b="0" i="1" dirty="0" err="1">
                <a:solidFill>
                  <a:srgbClr val="89B4FA"/>
                </a:solidFill>
                <a:effectLst/>
                <a:latin typeface="Consolas" panose="020B0609020204030204" pitchFamily="49" charset="0"/>
              </a:rPr>
              <a:t>is_prime</a:t>
            </a:r>
            <a:r>
              <a:rPr lang="en-US" sz="2000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rgbClr val="CDD6F4"/>
                </a:solidFill>
                <a:latin typeface="Consolas" panose="020B0609020204030204" pitchFamily="49" charset="0"/>
              </a:rPr>
              <a:t>value</a:t>
            </a:r>
            <a:r>
              <a:rPr lang="en-US" sz="2000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sz="2000" b="0" dirty="0">
              <a:solidFill>
                <a:srgbClr val="CDD6F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000" b="0" dirty="0">
              <a:solidFill>
                <a:srgbClr val="CDD6F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81246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BDBE73-E3CF-E166-CC50-370B188CC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D43D4-3328-9B7C-5875-71CBF796C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Assignment 2: Set job function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7FD3CA-5DC2-A1DB-F1DB-AF05EE5ED9D0}"/>
              </a:ext>
            </a:extLst>
          </p:cNvPr>
          <p:cNvSpPr txBox="1"/>
          <p:nvPr/>
        </p:nvSpPr>
        <p:spPr>
          <a:xfrm>
            <a:off x="2587752" y="1690688"/>
            <a:ext cx="6009979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i="1" dirty="0" err="1">
                <a:solidFill>
                  <a:srgbClr val="89B4FA"/>
                </a:solidFill>
                <a:effectLst/>
                <a:latin typeface="Consolas" panose="020B0609020204030204" pitchFamily="49" charset="0"/>
              </a:rPr>
              <a:t>set_job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i="1" dirty="0">
                <a:solidFill>
                  <a:srgbClr val="89B4F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blocked_workers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4E2D5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AB387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blocked_workers</a:t>
            </a:r>
            <a:r>
              <a:rPr lang="en-US" b="0" dirty="0">
                <a:solidFill>
                  <a:srgbClr val="94E2D5"/>
                </a:solidFill>
                <a:effectLst/>
                <a:latin typeface="Consolas" panose="020B0609020204030204" pitchFamily="49" charset="0"/>
              </a:rPr>
              <a:t>--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i="1" dirty="0">
                <a:solidFill>
                  <a:srgbClr val="89B4FA"/>
                </a:solidFill>
                <a:effectLst/>
                <a:latin typeface="Consolas" panose="020B0609020204030204" pitchFamily="49" charset="0"/>
              </a:rPr>
              <a:t>signal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worker_q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b="0" dirty="0">
              <a:solidFill>
                <a:srgbClr val="CDD6F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  ELSE 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main_sleeping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4E2D5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True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i="1" dirty="0">
                <a:solidFill>
                  <a:srgbClr val="89B4FA"/>
                </a:solidFill>
                <a:effectLst/>
                <a:latin typeface="Consolas" panose="020B0609020204030204" pitchFamily="49" charset="0"/>
              </a:rPr>
              <a:t>wait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main_q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b="0" dirty="0">
              <a:solidFill>
                <a:srgbClr val="CDD6F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i="1" dirty="0">
                <a:solidFill>
                  <a:srgbClr val="89B4F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blocked_workers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4E2D5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working_workers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4E2D5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N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main_waiting_worker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4E2D5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True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  </a:t>
            </a:r>
          </a:p>
          <a:p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i="1" dirty="0">
                <a:solidFill>
                  <a:srgbClr val="89B4FA"/>
                </a:solidFill>
                <a:effectLst/>
                <a:latin typeface="Consolas" panose="020B0609020204030204" pitchFamily="49" charset="0"/>
              </a:rPr>
              <a:t>Wait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main_q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  } </a:t>
            </a:r>
          </a:p>
          <a:p>
            <a:b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CDD6F4"/>
              </a:solidFill>
              <a:effectLst/>
              <a:latin typeface="Consolas" panose="020B0609020204030204" pitchFamily="49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87195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7DD8BA-F65E-384D-F3CF-1E6E52A203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1527E-E070-1FC2-7CEB-969B8DD6C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Assignment 2: Get job function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B1E740-2683-E91A-8E72-3D7B884FCBE5}"/>
              </a:ext>
            </a:extLst>
          </p:cNvPr>
          <p:cNvSpPr txBox="1"/>
          <p:nvPr/>
        </p:nvSpPr>
        <p:spPr>
          <a:xfrm>
            <a:off x="2587752" y="1690688"/>
            <a:ext cx="5250155" cy="4801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command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value </a:t>
            </a:r>
            <a:r>
              <a:rPr lang="en-US" b="0" i="1" dirty="0" err="1">
                <a:solidFill>
                  <a:srgbClr val="89B4FA"/>
                </a:solidFill>
                <a:effectLst/>
                <a:latin typeface="Consolas" panose="020B0609020204030204" pitchFamily="49" charset="0"/>
              </a:rPr>
              <a:t>get_job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 err="1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working_workers</a:t>
            </a:r>
            <a:r>
              <a:rPr lang="en-US" b="0" dirty="0">
                <a:solidFill>
                  <a:srgbClr val="94E2D5"/>
                </a:solidFill>
                <a:effectLst/>
                <a:latin typeface="Consolas" panose="020B0609020204030204" pitchFamily="49" charset="0"/>
              </a:rPr>
              <a:t>--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b="0" dirty="0">
              <a:solidFill>
                <a:srgbClr val="CDD6F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i="1" dirty="0">
                <a:solidFill>
                  <a:srgbClr val="89B4F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main_sleeping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b="0" dirty="0">
              <a:solidFill>
                <a:srgbClr val="CDD6F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main_sleeping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4E2D5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False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i="1" dirty="0">
                <a:solidFill>
                  <a:srgbClr val="89B4FA"/>
                </a:solidFill>
                <a:effectLst/>
                <a:latin typeface="Consolas" panose="020B0609020204030204" pitchFamily="49" charset="0"/>
              </a:rPr>
              <a:t>signal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main_q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b="0" dirty="0">
              <a:solidFill>
                <a:srgbClr val="CDD6F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b="0" dirty="0">
              <a:solidFill>
                <a:srgbClr val="CDD6F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  ELSE 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b="0" dirty="0">
              <a:solidFill>
                <a:srgbClr val="CDD6F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blocked_workers</a:t>
            </a:r>
            <a:r>
              <a:rPr lang="en-US" b="0" dirty="0">
                <a:solidFill>
                  <a:srgbClr val="94E2D5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i="1" dirty="0">
                <a:solidFill>
                  <a:srgbClr val="89B4FA"/>
                </a:solidFill>
                <a:effectLst/>
                <a:latin typeface="Consolas" panose="020B0609020204030204" pitchFamily="49" charset="0"/>
              </a:rPr>
              <a:t>wait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worker_q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b="0" dirty="0">
              <a:solidFill>
                <a:srgbClr val="CDD6F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b="0" dirty="0">
              <a:solidFill>
                <a:srgbClr val="CDD6F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  copy value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command to local variables</a:t>
            </a:r>
          </a:p>
          <a:p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 err="1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working_workers</a:t>
            </a:r>
            <a:r>
              <a:rPr lang="en-US" b="0" dirty="0">
                <a:solidFill>
                  <a:srgbClr val="94E2D5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b="0" dirty="0">
              <a:solidFill>
                <a:srgbClr val="CDD6F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i="1" dirty="0">
                <a:solidFill>
                  <a:srgbClr val="89B4F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main_waiting_worker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main_waiting_worker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4E2D5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False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b="0" dirty="0">
              <a:solidFill>
                <a:srgbClr val="CDD6F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i="1" dirty="0">
                <a:solidFill>
                  <a:srgbClr val="89B4FA"/>
                </a:solidFill>
                <a:latin typeface="Consolas" panose="020B0609020204030204" pitchFamily="49" charset="0"/>
              </a:rPr>
              <a:t>s</a:t>
            </a:r>
            <a:r>
              <a:rPr lang="en-US" b="0" i="1" dirty="0">
                <a:solidFill>
                  <a:srgbClr val="89B4FA"/>
                </a:solidFill>
                <a:effectLst/>
                <a:latin typeface="Consolas" panose="020B0609020204030204" pitchFamily="49" charset="0"/>
              </a:rPr>
              <a:t>ignal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main_sleep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b="0" dirty="0">
              <a:solidFill>
                <a:srgbClr val="CDD6F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i="1" dirty="0">
                <a:solidFill>
                  <a:srgbClr val="89B4FA"/>
                </a:solidFill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CDD6F4"/>
                </a:solidFill>
                <a:latin typeface="Consolas" panose="020B0609020204030204" pitchFamily="49" charset="0"/>
              </a:rPr>
              <a:t>local copy of value, command</a:t>
            </a:r>
          </a:p>
        </p:txBody>
      </p:sp>
    </p:spTree>
    <p:extLst>
      <p:ext uri="{BB962C8B-B14F-4D97-AF65-F5344CB8AC3E}">
        <p14:creationId xmlns:p14="http://schemas.microsoft.com/office/powerpoint/2010/main" val="9154611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4B2784-9CE3-FA76-F076-1F8C6D244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0852A-9494-EEE4-F4B5-76D631C61E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Assignment 2: Get job function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67A8EB38-D3B4-B4B0-BEB5-4DA222EFB5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1296" y="1278956"/>
            <a:ext cx="4928616" cy="5449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9761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EF1DEE-CF7B-01CA-1B6D-17201CF24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14EE1-DEE4-3501-9ED7-9C939AC80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Assignment 2: Get job function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DE60DA3A-5DCF-D514-1DA8-43544B15BF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8144" y="1269552"/>
            <a:ext cx="4204272" cy="5588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7263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3052E6-E1B1-A9A6-CC8F-A3EFE612F3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C3D16-6F98-9E10-34A8-22340108E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Assignment 2: Get job function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83BF63A2-CBB1-193D-90FC-35E7CE16DA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7755" y="1335024"/>
            <a:ext cx="4146660" cy="54498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309564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418B16-0192-D8FA-0288-8F7B8F66A6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B1B15-FDED-BD49-E2E2-ABE9464C8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Assignment 2: Get job function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F369A11D-8D76-F802-3DD5-FC5E9ECDEE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1571" y="1362456"/>
            <a:ext cx="3848858" cy="5358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51747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F8613-1740-E683-E516-BF71D87ACB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101" y="365125"/>
            <a:ext cx="10515600" cy="1325563"/>
          </a:xfrm>
        </p:spPr>
        <p:txBody>
          <a:bodyPr>
            <a:normAutofit/>
          </a:bodyPr>
          <a:lstStyle/>
          <a:p>
            <a:r>
              <a:rPr lang="el-GR" sz="3600" b="1" dirty="0"/>
              <a:t>Εναλλακτική προσέγγιση</a:t>
            </a:r>
            <a:r>
              <a:rPr lang="en-US" sz="3600" b="1" dirty="0"/>
              <a:t>: </a:t>
            </a:r>
            <a:r>
              <a:rPr lang="el-GR" sz="3600" b="1" dirty="0"/>
              <a:t>Χρήση ουράς για τα </a:t>
            </a:r>
            <a:r>
              <a:rPr lang="en-US" sz="3600" b="1" dirty="0"/>
              <a:t>jobs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8D81FF-62EE-823D-A603-20A18ECA32ED}"/>
              </a:ext>
            </a:extLst>
          </p:cNvPr>
          <p:cNvSpPr txBox="1"/>
          <p:nvPr/>
        </p:nvSpPr>
        <p:spPr>
          <a:xfrm>
            <a:off x="676101" y="1690688"/>
            <a:ext cx="3198311" cy="33547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+mj-lt"/>
                <a:ea typeface="+mj-ea"/>
                <a:cs typeface="+mj-cs"/>
              </a:rPr>
              <a:t>Monitor</a:t>
            </a:r>
            <a:r>
              <a:rPr lang="en-US" sz="3200" dirty="0">
                <a:solidFill>
                  <a:srgbClr val="CBA6F7"/>
                </a:solidFill>
                <a:latin typeface="Consolas" panose="020B0609020204030204" pitchFamily="49" charset="0"/>
              </a:rPr>
              <a:t> </a:t>
            </a:r>
            <a:r>
              <a:rPr lang="en-US" sz="3200" dirty="0">
                <a:latin typeface="+mj-lt"/>
                <a:ea typeface="+mj-ea"/>
                <a:cs typeface="+mj-cs"/>
              </a:rPr>
              <a:t>structure</a:t>
            </a:r>
          </a:p>
          <a:p>
            <a:endParaRPr lang="en-US" dirty="0">
              <a:solidFill>
                <a:srgbClr val="CBA6F7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CBA6F7"/>
                </a:solidFill>
                <a:latin typeface="Consolas" panose="020B0609020204030204" pitchFamily="49" charset="0"/>
              </a:rPr>
              <a:t>monitor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b="0" dirty="0">
              <a:solidFill>
                <a:srgbClr val="CDD6F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CBA6F7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waiting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b="0" dirty="0">
              <a:solidFill>
                <a:srgbClr val="CDD6F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i="1" dirty="0">
                <a:solidFill>
                  <a:srgbClr val="F9E2AF"/>
                </a:solidFill>
                <a:latin typeface="Consolas" panose="020B0609020204030204" pitchFamily="49" charset="0"/>
              </a:rPr>
              <a:t>Queue</a:t>
            </a:r>
            <a:r>
              <a:rPr lang="en-US" b="0" dirty="0">
                <a:solidFill>
                  <a:srgbClr val="94E2D5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i="1" dirty="0">
                <a:solidFill>
                  <a:srgbClr val="F9E2AF"/>
                </a:solidFill>
                <a:latin typeface="Consolas" panose="020B0609020204030204" pitchFamily="49" charset="0"/>
              </a:rPr>
              <a:t>Job</a:t>
            </a:r>
            <a:r>
              <a:rPr lang="en-US" b="0" dirty="0">
                <a:solidFill>
                  <a:srgbClr val="94E2D5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job_queue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b="0" dirty="0">
              <a:solidFill>
                <a:srgbClr val="CDD6F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dirty="0" err="1">
                <a:solidFill>
                  <a:srgbClr val="CBA6F7"/>
                </a:solidFill>
                <a:latin typeface="Consolas" panose="020B0609020204030204" pitchFamily="49" charset="0"/>
              </a:rPr>
              <a:t>cond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workers_queue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b="0" dirty="0">
              <a:solidFill>
                <a:srgbClr val="CDD6F4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CBA6F7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1" dirty="0">
                <a:solidFill>
                  <a:srgbClr val="89B4FA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i="1" dirty="0">
                <a:solidFill>
                  <a:srgbClr val="F9E2AF"/>
                </a:solidFill>
                <a:latin typeface="Consolas" panose="020B0609020204030204" pitchFamily="49" charset="0"/>
              </a:rPr>
              <a:t>Job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job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i="1" dirty="0">
                <a:solidFill>
                  <a:srgbClr val="F9E2AF"/>
                </a:solidFill>
                <a:latin typeface="Consolas" panose="020B0609020204030204" pitchFamily="49" charset="0"/>
              </a:rPr>
              <a:t>Job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1" dirty="0">
                <a:solidFill>
                  <a:srgbClr val="89B4FA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dirty="0">
                <a:solidFill>
                  <a:srgbClr val="CDD6F4"/>
                </a:solidFill>
                <a:latin typeface="Consolas" panose="020B0609020204030204" pitchFamily="49" charset="0"/>
              </a:rPr>
              <a:t>;</a:t>
            </a:r>
            <a:endParaRPr lang="en-US" b="0" dirty="0">
              <a:solidFill>
                <a:srgbClr val="CDD6F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b="0" dirty="0">
              <a:solidFill>
                <a:srgbClr val="CDD6F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BE7F7A-729C-B143-5FC7-9B0FB6D5E379}"/>
              </a:ext>
            </a:extLst>
          </p:cNvPr>
          <p:cNvSpPr txBox="1"/>
          <p:nvPr/>
        </p:nvSpPr>
        <p:spPr>
          <a:xfrm>
            <a:off x="4529583" y="1856798"/>
            <a:ext cx="395581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CBA6F7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1" dirty="0">
                <a:solidFill>
                  <a:srgbClr val="89B4FA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i="1" dirty="0">
                <a:solidFill>
                  <a:srgbClr val="F9E2AF"/>
                </a:solidFill>
                <a:latin typeface="Consolas" panose="020B0609020204030204" pitchFamily="49" charset="0"/>
              </a:rPr>
              <a:t>Job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job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b="0" dirty="0">
              <a:solidFill>
                <a:srgbClr val="CDD6F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  add job to </a:t>
            </a:r>
            <a:r>
              <a:rPr lang="en-US" b="0" dirty="0" err="1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job_queue</a:t>
            </a:r>
            <a:endParaRPr lang="en-US" b="0" dirty="0">
              <a:solidFill>
                <a:srgbClr val="CDD6F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BA6F7"/>
                </a:solidFill>
                <a:effectLst/>
                <a:latin typeface="Consolas" panose="020B0609020204030204" pitchFamily="49" charset="0"/>
              </a:rPr>
              <a:t>  if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there are workers waiting</a:t>
            </a:r>
          </a:p>
          <a:p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    </a:t>
            </a:r>
            <a:r>
              <a:rPr lang="en-US" b="0" i="1" dirty="0">
                <a:solidFill>
                  <a:srgbClr val="89B4FA"/>
                </a:solidFill>
                <a:effectLst/>
                <a:latin typeface="Consolas" panose="020B0609020204030204" pitchFamily="49" charset="0"/>
              </a:rPr>
              <a:t>signal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workers_queue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b="0" dirty="0">
              <a:solidFill>
                <a:srgbClr val="CDD6F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b="0" dirty="0">
              <a:solidFill>
                <a:srgbClr val="CDD6F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5B33BC-5C3D-A7F2-B366-D1C98EB9D9B9}"/>
              </a:ext>
            </a:extLst>
          </p:cNvPr>
          <p:cNvSpPr txBox="1"/>
          <p:nvPr/>
        </p:nvSpPr>
        <p:spPr>
          <a:xfrm>
            <a:off x="4529584" y="3523874"/>
            <a:ext cx="772753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>
                <a:solidFill>
                  <a:srgbClr val="F9E2AF"/>
                </a:solidFill>
                <a:latin typeface="Consolas" panose="020B0609020204030204" pitchFamily="49" charset="0"/>
              </a:rPr>
              <a:t>Job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1" dirty="0">
                <a:solidFill>
                  <a:srgbClr val="89B4FA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b="0" dirty="0">
              <a:solidFill>
                <a:srgbClr val="CDD6F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CBA6F7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job_queue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is empty </a:t>
            </a:r>
            <a:r>
              <a:rPr lang="en-US" b="0" dirty="0">
                <a:solidFill>
                  <a:srgbClr val="94E2D5"/>
                </a:solidFill>
                <a:effectLst/>
                <a:latin typeface="Consolas" panose="020B0609020204030204" pitchFamily="49" charset="0"/>
              </a:rPr>
              <a:t>or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there are other workers waiting 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b="0" dirty="0">
              <a:solidFill>
                <a:srgbClr val="CDD6F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    increment waiting by </a:t>
            </a:r>
            <a:r>
              <a:rPr lang="en-US" b="0" dirty="0">
                <a:solidFill>
                  <a:srgbClr val="FAB387"/>
                </a:solidFill>
                <a:effectLst/>
                <a:latin typeface="Consolas" panose="020B0609020204030204" pitchFamily="49" charset="0"/>
              </a:rPr>
              <a:t>1</a:t>
            </a:r>
            <a:endParaRPr lang="en-US" b="0" dirty="0">
              <a:solidFill>
                <a:srgbClr val="CDD6F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i="1" dirty="0">
                <a:solidFill>
                  <a:srgbClr val="89B4FA"/>
                </a:solidFill>
                <a:effectLst/>
                <a:latin typeface="Consolas" panose="020B0609020204030204" pitchFamily="49" charset="0"/>
              </a:rPr>
              <a:t>wait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workers_queue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b="0" dirty="0">
              <a:solidFill>
                <a:srgbClr val="CDD6F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    decrement waiting by </a:t>
            </a:r>
            <a:r>
              <a:rPr lang="en-US" b="0" dirty="0">
                <a:solidFill>
                  <a:srgbClr val="FAB387"/>
                </a:solidFill>
                <a:effectLst/>
                <a:latin typeface="Consolas" panose="020B0609020204030204" pitchFamily="49" charset="0"/>
              </a:rPr>
              <a:t>1</a:t>
            </a:r>
            <a:endParaRPr lang="en-US" b="0" dirty="0">
              <a:solidFill>
                <a:srgbClr val="CDD6F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b="0" dirty="0">
              <a:solidFill>
                <a:srgbClr val="CDD6F4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CBA6F7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first item from </a:t>
            </a:r>
            <a:r>
              <a:rPr lang="en-US" b="0" dirty="0" err="1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job_queue</a:t>
            </a:r>
            <a:endParaRPr lang="en-US" b="0" dirty="0">
              <a:solidFill>
                <a:srgbClr val="CDD6F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b="0" dirty="0">
              <a:solidFill>
                <a:srgbClr val="CDD6F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04253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1F1DC-7AFF-FAB8-9FAB-9F7503C1D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l-GR" sz="3600" b="1" dirty="0"/>
              <a:t>Εναλλακτική προσέγγιση</a:t>
            </a:r>
            <a:r>
              <a:rPr lang="en-US" sz="3600" b="1" dirty="0"/>
              <a:t>: </a:t>
            </a:r>
            <a:r>
              <a:rPr lang="el-GR" sz="3600" b="1" dirty="0"/>
              <a:t>Χρήση ουράς για τα </a:t>
            </a:r>
            <a:r>
              <a:rPr lang="en-US" sz="3600" b="1" dirty="0"/>
              <a:t>jobs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FAF543-6D8F-48A5-39DC-E4A9149D74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Using a queue for the jobs allows the master to not wait for any acknowledgement from the workers.</a:t>
            </a:r>
          </a:p>
          <a:p>
            <a:r>
              <a:rPr lang="en-US" dirty="0"/>
              <a:t>The worker just puts the next job in a queue and wakes up the next worker if there is one waiting.</a:t>
            </a:r>
          </a:p>
          <a:p>
            <a:r>
              <a:rPr lang="en-US" dirty="0"/>
              <a:t>This solution works for both </a:t>
            </a:r>
            <a:r>
              <a:rPr lang="en-US" u="sng" dirty="0"/>
              <a:t>signal-block</a:t>
            </a:r>
            <a:r>
              <a:rPr lang="en-US" dirty="0"/>
              <a:t> and </a:t>
            </a:r>
            <a:r>
              <a:rPr lang="en-US" u="sng" dirty="0"/>
              <a:t>signal-continue</a:t>
            </a:r>
            <a:r>
              <a:rPr lang="en-US" dirty="0"/>
              <a:t> models of monitors because all signal calls happen in the end of each function.</a:t>
            </a:r>
          </a:p>
          <a:p>
            <a:r>
              <a:rPr lang="en-US" dirty="0"/>
              <a:t>It works for both </a:t>
            </a:r>
            <a:r>
              <a:rPr lang="en-US" u="sng" dirty="0"/>
              <a:t>open</a:t>
            </a:r>
            <a:r>
              <a:rPr lang="en-US" dirty="0"/>
              <a:t> and </a:t>
            </a:r>
            <a:r>
              <a:rPr lang="en-US" u="sng" dirty="0"/>
              <a:t>eggshell</a:t>
            </a:r>
            <a:r>
              <a:rPr lang="en-US" dirty="0"/>
              <a:t> models of monitors because the waiting variable prevents unwanted execution order.</a:t>
            </a:r>
            <a:endParaRPr lang="en-US" u="sng" dirty="0"/>
          </a:p>
        </p:txBody>
      </p:sp>
    </p:spTree>
    <p:extLst>
      <p:ext uri="{BB962C8B-B14F-4D97-AF65-F5344CB8AC3E}">
        <p14:creationId xmlns:p14="http://schemas.microsoft.com/office/powerpoint/2010/main" val="6869736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847D6-B602-4796-968B-6505BF40C7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Assignment 3</a:t>
            </a:r>
          </a:p>
        </p:txBody>
      </p:sp>
    </p:spTree>
    <p:extLst>
      <p:ext uri="{BB962C8B-B14F-4D97-AF65-F5344CB8AC3E}">
        <p14:creationId xmlns:p14="http://schemas.microsoft.com/office/powerpoint/2010/main" val="16540755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BB988-122A-BF2F-0F39-9B3EF8556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Assignment 3: Monitor structure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C159A8-ADA2-31BB-E25E-08D8F01053F3}"/>
              </a:ext>
            </a:extLst>
          </p:cNvPr>
          <p:cNvSpPr txBox="1"/>
          <p:nvPr/>
        </p:nvSpPr>
        <p:spPr>
          <a:xfrm>
            <a:off x="4040789" y="1720840"/>
            <a:ext cx="4110421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BA6F7"/>
                </a:solidFill>
                <a:latin typeface="Consolas" panose="020B0609020204030204" pitchFamily="49" charset="0"/>
              </a:rPr>
              <a:t>monitor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b="0" dirty="0">
              <a:solidFill>
                <a:srgbClr val="CDD6F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dirty="0" err="1">
                <a:solidFill>
                  <a:srgbClr val="CBA6F7"/>
                </a:solidFill>
                <a:latin typeface="Consolas" panose="020B0609020204030204" pitchFamily="49" charset="0"/>
              </a:rPr>
              <a:t>cond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red_queue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blue_queue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b="0" dirty="0">
              <a:solidFill>
                <a:srgbClr val="CDD6F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CBA6F7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bridge_color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b="0" dirty="0">
              <a:solidFill>
                <a:srgbClr val="CDD6F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CBA6F7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on_bridge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b="0" dirty="0">
              <a:solidFill>
                <a:srgbClr val="CDD6F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CBA6F7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cars_waiting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FAB387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];</a:t>
            </a:r>
            <a:endParaRPr lang="en-US" b="0" dirty="0">
              <a:solidFill>
                <a:srgbClr val="CDD6F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CBA6F7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total_cars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FAB387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];</a:t>
            </a:r>
            <a:endParaRPr lang="en-US" b="0" dirty="0">
              <a:solidFill>
                <a:srgbClr val="CDD6F4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 </a:t>
            </a:r>
            <a:b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CBA6F7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1" dirty="0" err="1">
                <a:solidFill>
                  <a:srgbClr val="89B4FA"/>
                </a:solidFill>
                <a:effectLst/>
                <a:latin typeface="Consolas" panose="020B0609020204030204" pitchFamily="49" charset="0"/>
              </a:rPr>
              <a:t>enter_bridge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BA6F7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color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b="0" dirty="0">
              <a:solidFill>
                <a:srgbClr val="CDD6F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CBA6F7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1" dirty="0" err="1">
                <a:solidFill>
                  <a:srgbClr val="89B4FA"/>
                </a:solidFill>
                <a:effectLst/>
                <a:latin typeface="Consolas" panose="020B0609020204030204" pitchFamily="49" charset="0"/>
              </a:rPr>
              <a:t>exit_bridge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BA6F7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color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b="0" dirty="0">
              <a:solidFill>
                <a:srgbClr val="CDD6F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b="0" dirty="0">
              <a:solidFill>
                <a:srgbClr val="CDD6F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85270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424BBA-1C22-2E37-FB66-22717A088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1208F-DBE9-5D98-3E4E-C3A36F012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Assignment 3: Enter bridge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6C5DB4-DF1B-57FF-CC0A-C7D3BBE60E46}"/>
              </a:ext>
            </a:extLst>
          </p:cNvPr>
          <p:cNvSpPr txBox="1"/>
          <p:nvPr/>
        </p:nvSpPr>
        <p:spPr>
          <a:xfrm>
            <a:off x="838200" y="1350830"/>
            <a:ext cx="9928098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1" dirty="0">
                <a:solidFill>
                  <a:srgbClr val="F9E2A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1" dirty="0" err="1">
                <a:solidFill>
                  <a:srgbClr val="89B4FA"/>
                </a:solidFill>
                <a:effectLst/>
                <a:latin typeface="Consolas" panose="020B0609020204030204" pitchFamily="49" charset="0"/>
              </a:rPr>
              <a:t>enter_bridge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i="1" dirty="0" err="1">
                <a:solidFill>
                  <a:srgbClr val="F9E2AF"/>
                </a:solidFill>
                <a:effectLst/>
                <a:latin typeface="Consolas" panose="020B0609020204030204" pitchFamily="49" charset="0"/>
              </a:rPr>
              <a:t>myColor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b="0" i="1" dirty="0">
                <a:solidFill>
                  <a:srgbClr val="6C7086"/>
                </a:solidFill>
                <a:effectLst/>
                <a:latin typeface="Consolas" panose="020B0609020204030204" pitchFamily="49" charset="0"/>
              </a:rPr>
              <a:t>    // Decision-making for crossing</a:t>
            </a:r>
            <a:endParaRPr lang="en-US" b="0" dirty="0">
              <a:solidFill>
                <a:srgbClr val="CDD6F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    IF </a:t>
            </a:r>
            <a:r>
              <a:rPr lang="en-US" b="0" dirty="0" err="1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Bridge</a:t>
            </a:r>
            <a:r>
              <a:rPr lang="en-US" b="0" dirty="0" err="1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IS </a:t>
            </a:r>
            <a:r>
              <a:rPr lang="en-US" b="0" dirty="0">
                <a:solidFill>
                  <a:srgbClr val="F38BA8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        SET </a:t>
            </a:r>
            <a:r>
              <a:rPr lang="en-US" b="0" dirty="0" err="1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Bridge</a:t>
            </a:r>
            <a:r>
              <a:rPr lang="en-US" b="0" dirty="0" err="1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4E2D5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myColor</a:t>
            </a:r>
            <a:endParaRPr lang="en-US" b="0" dirty="0">
              <a:solidFill>
                <a:srgbClr val="CDD6F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    ELSE IF </a:t>
            </a:r>
            <a:r>
              <a:rPr lang="en-US" b="0" dirty="0" err="1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Bridge</a:t>
            </a:r>
            <a:r>
              <a:rPr lang="en-US" b="0" dirty="0" err="1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4E2D5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myColor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OR </a:t>
            </a:r>
            <a:r>
              <a:rPr lang="en-US" b="0" dirty="0" err="1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Bridge</a:t>
            </a:r>
            <a:r>
              <a:rPr lang="en-US" b="0" dirty="0" err="1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carsOn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4E2D5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BRIDGE_LIMIT OR </a:t>
            </a:r>
            <a:r>
              <a:rPr lang="en-US" b="0" dirty="0" err="1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waitingInQueue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 err="1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myColor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4E2D5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AB387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        INCREMENT </a:t>
            </a:r>
            <a:r>
              <a:rPr lang="en-US" b="0" dirty="0" err="1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waitingInQueue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 err="1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myColor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]</a:t>
            </a:r>
            <a:endParaRPr lang="en-US" b="0" dirty="0">
              <a:solidFill>
                <a:srgbClr val="CDD6F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i="1" dirty="0">
                <a:solidFill>
                  <a:srgbClr val="89B4FA"/>
                </a:solidFill>
                <a:effectLst/>
                <a:latin typeface="Consolas" panose="020B0609020204030204" pitchFamily="49" charset="0"/>
              </a:rPr>
              <a:t>WAIT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Queue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 err="1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myColor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])</a:t>
            </a:r>
            <a:endParaRPr lang="en-US" b="0" dirty="0">
              <a:solidFill>
                <a:srgbClr val="CDD6F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        DECREMENT </a:t>
            </a:r>
            <a:r>
              <a:rPr lang="en-US" b="0" dirty="0" err="1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waitingInQueue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 err="1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myColor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]</a:t>
            </a:r>
            <a:endParaRPr lang="en-US" b="0" dirty="0">
              <a:solidFill>
                <a:srgbClr val="CDD6F4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</a:br>
            <a:r>
              <a:rPr lang="en-US" b="0" i="1" dirty="0">
                <a:solidFill>
                  <a:srgbClr val="6C7086"/>
                </a:solidFill>
                <a:effectLst/>
                <a:latin typeface="Consolas" panose="020B0609020204030204" pitchFamily="49" charset="0"/>
              </a:rPr>
              <a:t>    // Logistics before entering</a:t>
            </a:r>
            <a:endParaRPr lang="en-US" b="0" dirty="0">
              <a:solidFill>
                <a:srgbClr val="CDD6F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    INCREMENT </a:t>
            </a:r>
            <a:r>
              <a:rPr lang="en-US" b="0" dirty="0" err="1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Bridge</a:t>
            </a:r>
            <a:r>
              <a:rPr lang="en-US" b="0" dirty="0" err="1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carsOn</a:t>
            </a:r>
            <a:endParaRPr lang="en-US" b="0" dirty="0">
              <a:solidFill>
                <a:srgbClr val="CDD6F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    INCREMENT </a:t>
            </a:r>
            <a:r>
              <a:rPr lang="en-US" b="0" dirty="0" err="1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totalCarsPassed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 err="1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myColor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]</a:t>
            </a:r>
            <a:endParaRPr lang="en-US" b="0" dirty="0">
              <a:solidFill>
                <a:srgbClr val="CDD6F4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</a:br>
            <a:r>
              <a:rPr lang="en-US" b="0" i="1" dirty="0">
                <a:solidFill>
                  <a:srgbClr val="6C7086"/>
                </a:solidFill>
                <a:effectLst/>
                <a:latin typeface="Consolas" panose="020B0609020204030204" pitchFamily="49" charset="0"/>
              </a:rPr>
              <a:t>    // Notify next car of the same color</a:t>
            </a:r>
            <a:endParaRPr lang="en-US" b="0" dirty="0">
              <a:solidFill>
                <a:srgbClr val="CDD6F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    IF </a:t>
            </a:r>
            <a:r>
              <a:rPr lang="en-US" b="0" dirty="0" err="1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Bridge</a:t>
            </a:r>
            <a:r>
              <a:rPr lang="en-US" b="0" dirty="0" err="1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carsOn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4E2D5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BRIDGE_LIMIT AND </a:t>
            </a:r>
            <a:r>
              <a:rPr lang="en-US" b="0" dirty="0" err="1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waitingInQueue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 err="1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myColor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4E2D5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AB387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1" dirty="0">
                <a:solidFill>
                  <a:srgbClr val="89B4FA"/>
                </a:solidFill>
                <a:effectLst/>
                <a:latin typeface="Consolas" panose="020B0609020204030204" pitchFamily="49" charset="0"/>
              </a:rPr>
              <a:t>AND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totalCarsPassed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 err="1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myColor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4E2D5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CON_COLOR_LIMIT OR NOT </a:t>
            </a:r>
            <a:r>
              <a:rPr lang="en-US" b="0" dirty="0" err="1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waitingInQueue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94E2D5"/>
                </a:solidFill>
                <a:effectLst/>
                <a:latin typeface="Consolas" panose="020B0609020204030204" pitchFamily="49" charset="0"/>
              </a:rPr>
              <a:t>!</a:t>
            </a:r>
            <a:r>
              <a:rPr lang="en-US" b="0" dirty="0" err="1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myColor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])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i="1" dirty="0">
                <a:solidFill>
                  <a:srgbClr val="89B4FA"/>
                </a:solidFill>
                <a:effectLst/>
                <a:latin typeface="Consolas" panose="020B0609020204030204" pitchFamily="49" charset="0"/>
              </a:rPr>
              <a:t>SIGNAL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Queue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 err="1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myColor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])</a:t>
            </a:r>
            <a:endParaRPr lang="en-US" b="0" dirty="0">
              <a:solidFill>
                <a:srgbClr val="CDD6F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END FUNCTION</a:t>
            </a:r>
          </a:p>
        </p:txBody>
      </p:sp>
    </p:spTree>
    <p:extLst>
      <p:ext uri="{BB962C8B-B14F-4D97-AF65-F5344CB8AC3E}">
        <p14:creationId xmlns:p14="http://schemas.microsoft.com/office/powerpoint/2010/main" val="645385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309B4B-27F5-BFDC-CD16-1E55A1DC6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FDC4E-00ED-934C-5C09-5F2A10B24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Assignment 3: Exit bridge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11D9C5-BF3C-EC2C-8B76-ADBDF296E40D}"/>
              </a:ext>
            </a:extLst>
          </p:cNvPr>
          <p:cNvSpPr txBox="1"/>
          <p:nvPr/>
        </p:nvSpPr>
        <p:spPr>
          <a:xfrm>
            <a:off x="838200" y="1350830"/>
            <a:ext cx="9928098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1" dirty="0">
                <a:solidFill>
                  <a:srgbClr val="F9E2A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1400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i="1" dirty="0" err="1">
                <a:solidFill>
                  <a:srgbClr val="89B4FA"/>
                </a:solidFill>
                <a:effectLst/>
                <a:latin typeface="Consolas" panose="020B0609020204030204" pitchFamily="49" charset="0"/>
              </a:rPr>
              <a:t>exit_bridge</a:t>
            </a:r>
            <a:r>
              <a:rPr lang="en-US" sz="1400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i="1" dirty="0" err="1">
                <a:solidFill>
                  <a:srgbClr val="F9E2AF"/>
                </a:solidFill>
                <a:effectLst/>
                <a:latin typeface="Consolas" panose="020B0609020204030204" pitchFamily="49" charset="0"/>
              </a:rPr>
              <a:t>myColor</a:t>
            </a:r>
            <a:r>
              <a:rPr lang="en-US" sz="1400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1400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sz="1400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    DECREMENT </a:t>
            </a:r>
            <a:r>
              <a:rPr lang="en-US" sz="1400" b="0" dirty="0" err="1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Bridge</a:t>
            </a:r>
            <a:r>
              <a:rPr lang="en-US" sz="1400" b="0" dirty="0" err="1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carsOn</a:t>
            </a:r>
            <a:endParaRPr lang="en-US" sz="1400" b="0" dirty="0">
              <a:solidFill>
                <a:srgbClr val="CDD6F4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1400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i="1" dirty="0">
                <a:solidFill>
                  <a:srgbClr val="6C7086"/>
                </a:solidFill>
                <a:effectLst/>
                <a:latin typeface="Consolas" panose="020B0609020204030204" pitchFamily="49" charset="0"/>
              </a:rPr>
              <a:t>    // If </a:t>
            </a:r>
            <a:r>
              <a:rPr lang="en-US" sz="1400" b="0" i="1" dirty="0" err="1">
                <a:solidFill>
                  <a:srgbClr val="6C7086"/>
                </a:solidFill>
                <a:effectLst/>
                <a:latin typeface="Consolas" panose="020B0609020204030204" pitchFamily="49" charset="0"/>
              </a:rPr>
              <a:t>myColor</a:t>
            </a:r>
            <a:r>
              <a:rPr lang="en-US" sz="1400" b="0" i="1" dirty="0">
                <a:solidFill>
                  <a:srgbClr val="6C708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i="1" dirty="0" err="1">
                <a:solidFill>
                  <a:srgbClr val="6C7086"/>
                </a:solidFill>
                <a:effectLst/>
                <a:latin typeface="Consolas" panose="020B0609020204030204" pitchFamily="49" charset="0"/>
              </a:rPr>
              <a:t>hasnt</a:t>
            </a:r>
            <a:r>
              <a:rPr lang="en-US" sz="1400" b="0" i="1" dirty="0">
                <a:solidFill>
                  <a:srgbClr val="6C7086"/>
                </a:solidFill>
                <a:effectLst/>
                <a:latin typeface="Consolas" panose="020B0609020204030204" pitchFamily="49" charset="0"/>
              </a:rPr>
              <a:t> reached its limit</a:t>
            </a:r>
            <a:endParaRPr lang="en-US" sz="1400" b="0" dirty="0">
              <a:solidFill>
                <a:srgbClr val="CDD6F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    IF </a:t>
            </a:r>
            <a:r>
              <a:rPr lang="en-US" sz="1400" b="0" dirty="0" err="1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totalCarsPassed</a:t>
            </a:r>
            <a:r>
              <a:rPr lang="en-US" sz="1400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400" b="0" dirty="0" err="1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myColor</a:t>
            </a:r>
            <a:r>
              <a:rPr lang="en-US" sz="1400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sz="1400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4E2D5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CON_COLOR_LIMIT:</a:t>
            </a:r>
          </a:p>
          <a:p>
            <a:r>
              <a:rPr lang="en-US" sz="1400" b="0" i="1" dirty="0">
                <a:solidFill>
                  <a:srgbClr val="6C7086"/>
                </a:solidFill>
                <a:effectLst/>
                <a:latin typeface="Consolas" panose="020B0609020204030204" pitchFamily="49" charset="0"/>
              </a:rPr>
              <a:t>        // Decision-making for bridge color</a:t>
            </a:r>
            <a:endParaRPr lang="en-US" sz="1400" b="0" dirty="0">
              <a:solidFill>
                <a:srgbClr val="CDD6F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        IF </a:t>
            </a:r>
            <a:r>
              <a:rPr lang="en-US" sz="1400" b="0" dirty="0" err="1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waitingInQueue</a:t>
            </a:r>
            <a:r>
              <a:rPr lang="en-US" sz="1400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400" b="0" dirty="0" err="1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myColor</a:t>
            </a:r>
            <a:r>
              <a:rPr lang="en-US" sz="1400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sz="1400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4E2D5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400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FAB387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sz="1400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400" b="0" i="1" dirty="0">
                <a:solidFill>
                  <a:srgbClr val="89B4FA"/>
                </a:solidFill>
                <a:effectLst/>
                <a:latin typeface="Consolas" panose="020B0609020204030204" pitchFamily="49" charset="0"/>
              </a:rPr>
              <a:t>SIGNAL</a:t>
            </a:r>
            <a:r>
              <a:rPr lang="en-US" sz="1400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Queue</a:t>
            </a:r>
            <a:r>
              <a:rPr lang="en-US" sz="1400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400" b="0" dirty="0" err="1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myColor</a:t>
            </a:r>
            <a:r>
              <a:rPr lang="en-US" sz="1400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])</a:t>
            </a:r>
            <a:endParaRPr lang="en-US" sz="1400" b="0" dirty="0">
              <a:solidFill>
                <a:srgbClr val="CDD6F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        ELSE IF </a:t>
            </a:r>
            <a:r>
              <a:rPr lang="en-US" sz="1400" b="0" dirty="0" err="1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Bridge</a:t>
            </a:r>
            <a:r>
              <a:rPr lang="en-US" sz="1400" b="0" dirty="0" err="1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carsOn</a:t>
            </a:r>
            <a:r>
              <a:rPr lang="en-US" sz="1400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4E2D5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1400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FAB387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sz="1400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            SET </a:t>
            </a:r>
            <a:r>
              <a:rPr lang="en-US" sz="1400" b="0" dirty="0" err="1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totalCarsPassed</a:t>
            </a:r>
            <a:r>
              <a:rPr lang="en-US" sz="1400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400" b="0" dirty="0" err="1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myColor</a:t>
            </a:r>
            <a:r>
              <a:rPr lang="en-US" sz="1400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sz="1400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4E2D5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FAB387"/>
                </a:solidFill>
                <a:effectLst/>
                <a:latin typeface="Consolas" panose="020B0609020204030204" pitchFamily="49" charset="0"/>
              </a:rPr>
              <a:t>0</a:t>
            </a:r>
            <a:endParaRPr lang="en-US" sz="1400" b="0" dirty="0">
              <a:solidFill>
                <a:srgbClr val="CDD6F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            IF </a:t>
            </a:r>
            <a:r>
              <a:rPr lang="en-US" sz="1400" b="0" dirty="0" err="1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waitingInQueue</a:t>
            </a:r>
            <a:r>
              <a:rPr lang="en-US" sz="1400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400" b="0" dirty="0">
                <a:solidFill>
                  <a:srgbClr val="94E2D5"/>
                </a:solidFill>
                <a:effectLst/>
                <a:latin typeface="Consolas" panose="020B0609020204030204" pitchFamily="49" charset="0"/>
              </a:rPr>
              <a:t>!</a:t>
            </a:r>
            <a:r>
              <a:rPr lang="en-US" sz="1400" b="0" dirty="0" err="1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myColor</a:t>
            </a:r>
            <a:r>
              <a:rPr lang="en-US" sz="1400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sz="1400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4E2D5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400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FAB387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sz="1400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                SET </a:t>
            </a:r>
            <a:r>
              <a:rPr lang="en-US" sz="1400" b="0" dirty="0" err="1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Bridge</a:t>
            </a:r>
            <a:r>
              <a:rPr lang="en-US" sz="1400" b="0" dirty="0" err="1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US" sz="1400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4E2D5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4E2D5"/>
                </a:solidFill>
                <a:effectLst/>
                <a:latin typeface="Consolas" panose="020B0609020204030204" pitchFamily="49" charset="0"/>
              </a:rPr>
              <a:t>!</a:t>
            </a:r>
            <a:r>
              <a:rPr lang="en-US" sz="1400" b="0" dirty="0" err="1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myColor</a:t>
            </a:r>
            <a:endParaRPr lang="en-US" sz="1400" b="0" dirty="0">
              <a:solidFill>
                <a:srgbClr val="CDD6F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sz="1400" b="0" i="1" dirty="0">
                <a:solidFill>
                  <a:srgbClr val="89B4FA"/>
                </a:solidFill>
                <a:effectLst/>
                <a:latin typeface="Consolas" panose="020B0609020204030204" pitchFamily="49" charset="0"/>
              </a:rPr>
              <a:t>SIGNAL</a:t>
            </a:r>
            <a:r>
              <a:rPr lang="en-US" sz="1400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Queue</a:t>
            </a:r>
            <a:r>
              <a:rPr lang="en-US" sz="1400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400" b="0" dirty="0">
                <a:solidFill>
                  <a:srgbClr val="94E2D5"/>
                </a:solidFill>
                <a:effectLst/>
                <a:latin typeface="Consolas" panose="020B0609020204030204" pitchFamily="49" charset="0"/>
              </a:rPr>
              <a:t>!</a:t>
            </a:r>
            <a:r>
              <a:rPr lang="en-US" sz="1400" b="0" dirty="0" err="1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myColor</a:t>
            </a:r>
            <a:r>
              <a:rPr lang="en-US" sz="1400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])</a:t>
            </a:r>
            <a:endParaRPr lang="en-US" sz="1400" b="0" dirty="0">
              <a:solidFill>
                <a:srgbClr val="CDD6F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            ELSE:</a:t>
            </a:r>
          </a:p>
          <a:p>
            <a:r>
              <a:rPr lang="en-US" sz="1400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                SET </a:t>
            </a:r>
            <a:r>
              <a:rPr lang="en-US" sz="1400" b="0" dirty="0" err="1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Bridge</a:t>
            </a:r>
            <a:r>
              <a:rPr lang="en-US" sz="1400" b="0" dirty="0" err="1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US" sz="1400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4E2D5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F38BA8"/>
                </a:solidFill>
                <a:effectLst/>
                <a:latin typeface="Consolas" panose="020B0609020204030204" pitchFamily="49" charset="0"/>
              </a:rPr>
              <a:t>NULL</a:t>
            </a:r>
            <a:endParaRPr lang="en-US" sz="1400" b="0" dirty="0">
              <a:solidFill>
                <a:srgbClr val="CDD6F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i="1" dirty="0">
                <a:solidFill>
                  <a:srgbClr val="6C7086"/>
                </a:solidFill>
                <a:effectLst/>
                <a:latin typeface="Consolas" panose="020B0609020204030204" pitchFamily="49" charset="0"/>
              </a:rPr>
              <a:t>    // If </a:t>
            </a:r>
            <a:r>
              <a:rPr lang="en-US" sz="1400" b="0" i="1" dirty="0" err="1">
                <a:solidFill>
                  <a:srgbClr val="6C7086"/>
                </a:solidFill>
                <a:effectLst/>
                <a:latin typeface="Consolas" panose="020B0609020204030204" pitchFamily="49" charset="0"/>
              </a:rPr>
              <a:t>myColor</a:t>
            </a:r>
            <a:r>
              <a:rPr lang="en-US" sz="1400" b="0" i="1" dirty="0">
                <a:solidFill>
                  <a:srgbClr val="6C7086"/>
                </a:solidFill>
                <a:effectLst/>
                <a:latin typeface="Consolas" panose="020B0609020204030204" pitchFamily="49" charset="0"/>
              </a:rPr>
              <a:t> reached its limit</a:t>
            </a:r>
            <a:endParaRPr lang="en-US" sz="1400" b="0" dirty="0">
              <a:solidFill>
                <a:srgbClr val="CDD6F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    ELSE IF </a:t>
            </a:r>
            <a:r>
              <a:rPr lang="en-US" sz="1400" b="0" dirty="0" err="1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waitingInQueue</a:t>
            </a:r>
            <a:r>
              <a:rPr lang="en-US" sz="1400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400" b="0" dirty="0">
                <a:solidFill>
                  <a:srgbClr val="94E2D5"/>
                </a:solidFill>
                <a:effectLst/>
                <a:latin typeface="Consolas" panose="020B0609020204030204" pitchFamily="49" charset="0"/>
              </a:rPr>
              <a:t>!</a:t>
            </a:r>
            <a:r>
              <a:rPr lang="en-US" sz="1400" b="0" dirty="0" err="1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myColor</a:t>
            </a:r>
            <a:r>
              <a:rPr lang="en-US" sz="1400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sz="1400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4E2D5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400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FAB387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sz="1400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        IF </a:t>
            </a:r>
            <a:r>
              <a:rPr lang="en-US" sz="1400" b="0" dirty="0" err="1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Bridge</a:t>
            </a:r>
            <a:r>
              <a:rPr lang="en-US" sz="1400" b="0" dirty="0" err="1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carsOn</a:t>
            </a:r>
            <a:r>
              <a:rPr lang="en-US" sz="1400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4E2D5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1400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FAB387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sz="1400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            SET </a:t>
            </a:r>
            <a:r>
              <a:rPr lang="en-US" sz="1400" b="0" dirty="0" err="1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totalCarsPassed</a:t>
            </a:r>
            <a:r>
              <a:rPr lang="en-US" sz="1400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400" b="0" dirty="0" err="1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myColor</a:t>
            </a:r>
            <a:r>
              <a:rPr lang="en-US" sz="1400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sz="1400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4E2D5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FAB387"/>
                </a:solidFill>
                <a:effectLst/>
                <a:latin typeface="Consolas" panose="020B0609020204030204" pitchFamily="49" charset="0"/>
              </a:rPr>
              <a:t>0</a:t>
            </a:r>
            <a:endParaRPr lang="en-US" sz="1400" b="0" dirty="0">
              <a:solidFill>
                <a:srgbClr val="CDD6F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            SET </a:t>
            </a:r>
            <a:r>
              <a:rPr lang="en-US" sz="1400" b="0" dirty="0" err="1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Bridge</a:t>
            </a:r>
            <a:r>
              <a:rPr lang="en-US" sz="1400" b="0" dirty="0" err="1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US" sz="1400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4E2D5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4E2D5"/>
                </a:solidFill>
                <a:effectLst/>
                <a:latin typeface="Consolas" panose="020B0609020204030204" pitchFamily="49" charset="0"/>
              </a:rPr>
              <a:t>!</a:t>
            </a:r>
            <a:r>
              <a:rPr lang="en-US" sz="1400" b="0" dirty="0" err="1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myColor</a:t>
            </a:r>
            <a:endParaRPr lang="en-US" sz="1400" b="0" dirty="0">
              <a:solidFill>
                <a:srgbClr val="CDD6F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400" b="0" i="1" dirty="0">
                <a:solidFill>
                  <a:srgbClr val="89B4FA"/>
                </a:solidFill>
                <a:effectLst/>
                <a:latin typeface="Consolas" panose="020B0609020204030204" pitchFamily="49" charset="0"/>
              </a:rPr>
              <a:t>SIGNAL</a:t>
            </a:r>
            <a:r>
              <a:rPr lang="en-US" sz="1400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Queue</a:t>
            </a:r>
            <a:r>
              <a:rPr lang="en-US" sz="1400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400" b="0" dirty="0">
                <a:solidFill>
                  <a:srgbClr val="94E2D5"/>
                </a:solidFill>
                <a:effectLst/>
                <a:latin typeface="Consolas" panose="020B0609020204030204" pitchFamily="49" charset="0"/>
              </a:rPr>
              <a:t>!</a:t>
            </a:r>
            <a:r>
              <a:rPr lang="en-US" sz="1400" b="0" dirty="0" err="1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myColor</a:t>
            </a:r>
            <a:r>
              <a:rPr lang="en-US" sz="1400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])</a:t>
            </a:r>
            <a:endParaRPr lang="en-US" sz="1400" b="0" dirty="0">
              <a:solidFill>
                <a:srgbClr val="CDD6F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i="1" dirty="0">
                <a:solidFill>
                  <a:srgbClr val="6C7086"/>
                </a:solidFill>
                <a:effectLst/>
                <a:latin typeface="Consolas" panose="020B0609020204030204" pitchFamily="49" charset="0"/>
              </a:rPr>
              <a:t>   </a:t>
            </a:r>
            <a:endParaRPr lang="en-US" sz="1400" b="0" dirty="0">
              <a:solidFill>
                <a:srgbClr val="CDD6F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48025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62E12-A0FF-639E-075B-591446181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D2537-034D-7F8E-37BA-A2EB1C590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Assignment 3: Exit bridge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BDD598-9CEA-EC14-B1C2-337FC5830D14}"/>
              </a:ext>
            </a:extLst>
          </p:cNvPr>
          <p:cNvSpPr txBox="1"/>
          <p:nvPr/>
        </p:nvSpPr>
        <p:spPr>
          <a:xfrm>
            <a:off x="838200" y="1350830"/>
            <a:ext cx="9928098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1" dirty="0">
                <a:solidFill>
                  <a:srgbClr val="6C7086"/>
                </a:solidFill>
                <a:effectLst/>
                <a:latin typeface="Consolas" panose="020B0609020204030204" pitchFamily="49" charset="0"/>
              </a:rPr>
              <a:t>    // But Opposite color </a:t>
            </a:r>
            <a:r>
              <a:rPr lang="en-US" sz="1400" b="0" i="1" dirty="0" err="1">
                <a:solidFill>
                  <a:srgbClr val="6C7086"/>
                </a:solidFill>
                <a:effectLst/>
                <a:latin typeface="Consolas" panose="020B0609020204030204" pitchFamily="49" charset="0"/>
              </a:rPr>
              <a:t>isnt</a:t>
            </a:r>
            <a:r>
              <a:rPr lang="en-US" sz="1400" b="0" i="1" dirty="0">
                <a:solidFill>
                  <a:srgbClr val="6C7086"/>
                </a:solidFill>
                <a:effectLst/>
                <a:latin typeface="Consolas" panose="020B0609020204030204" pitchFamily="49" charset="0"/>
              </a:rPr>
              <a:t> waiting</a:t>
            </a:r>
            <a:endParaRPr lang="en-US" sz="1400" b="0" dirty="0">
              <a:solidFill>
                <a:srgbClr val="CDD6F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    ELSE IF </a:t>
            </a:r>
            <a:r>
              <a:rPr lang="en-US" sz="1400" b="0" dirty="0" err="1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waitingInQueue</a:t>
            </a:r>
            <a:r>
              <a:rPr lang="en-US" sz="1400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400" b="0" dirty="0" err="1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myColor</a:t>
            </a:r>
            <a:r>
              <a:rPr lang="en-US" sz="1400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sz="1400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4E2D5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400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FAB387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sz="1400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i="1" dirty="0">
                <a:solidFill>
                  <a:srgbClr val="89B4FA"/>
                </a:solidFill>
                <a:effectLst/>
                <a:latin typeface="Consolas" panose="020B0609020204030204" pitchFamily="49" charset="0"/>
              </a:rPr>
              <a:t>SIGNAL</a:t>
            </a:r>
            <a:r>
              <a:rPr lang="en-US" sz="1400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Queue</a:t>
            </a:r>
            <a:r>
              <a:rPr lang="en-US" sz="1400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400" b="0" dirty="0" err="1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myColor</a:t>
            </a:r>
            <a:r>
              <a:rPr lang="en-US" sz="1400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])</a:t>
            </a:r>
            <a:endParaRPr lang="en-US" sz="1400" b="0" dirty="0">
              <a:solidFill>
                <a:srgbClr val="CDD6F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i="1" dirty="0">
                <a:solidFill>
                  <a:srgbClr val="6C7086"/>
                </a:solidFill>
                <a:effectLst/>
                <a:latin typeface="Consolas" panose="020B0609020204030204" pitchFamily="49" charset="0"/>
              </a:rPr>
              <a:t>    // Neither is waiting</a:t>
            </a:r>
            <a:endParaRPr lang="en-US" sz="1400" b="0" dirty="0">
              <a:solidFill>
                <a:srgbClr val="CDD6F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    ELSE IF </a:t>
            </a:r>
            <a:r>
              <a:rPr lang="en-US" sz="1400" b="0" dirty="0" err="1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Bridge</a:t>
            </a:r>
            <a:r>
              <a:rPr lang="en-US" sz="1400" b="0" dirty="0" err="1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carsOn</a:t>
            </a:r>
            <a:r>
              <a:rPr lang="en-US" sz="1400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4E2D5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1400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FAB387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sz="1400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        SET </a:t>
            </a:r>
            <a:r>
              <a:rPr lang="en-US" sz="1400" b="0" dirty="0" err="1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Bridge</a:t>
            </a:r>
            <a:r>
              <a:rPr lang="en-US" sz="1400" b="0" dirty="0" err="1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US" sz="1400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4E2D5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F38BA8"/>
                </a:solidFill>
                <a:effectLst/>
                <a:latin typeface="Consolas" panose="020B0609020204030204" pitchFamily="49" charset="0"/>
              </a:rPr>
              <a:t>NULL</a:t>
            </a:r>
            <a:endParaRPr lang="en-US" sz="1400" b="0" dirty="0">
              <a:solidFill>
                <a:srgbClr val="CDD6F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        SET </a:t>
            </a:r>
            <a:r>
              <a:rPr lang="en-US" sz="1400" b="0" dirty="0" err="1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totalCarsPassed</a:t>
            </a:r>
            <a:r>
              <a:rPr lang="en-US" sz="1400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400" b="0" dirty="0" err="1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myColor</a:t>
            </a:r>
            <a:r>
              <a:rPr lang="en-US" sz="1400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sz="1400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4E2D5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FAB387"/>
                </a:solidFill>
                <a:effectLst/>
                <a:latin typeface="Consolas" panose="020B0609020204030204" pitchFamily="49" charset="0"/>
              </a:rPr>
              <a:t>0</a:t>
            </a:r>
            <a:endParaRPr lang="en-US" sz="1400" b="0" dirty="0">
              <a:solidFill>
                <a:srgbClr val="CDD6F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END FUNCTION</a:t>
            </a:r>
          </a:p>
        </p:txBody>
      </p:sp>
    </p:spTree>
    <p:extLst>
      <p:ext uri="{BB962C8B-B14F-4D97-AF65-F5344CB8AC3E}">
        <p14:creationId xmlns:p14="http://schemas.microsoft.com/office/powerpoint/2010/main" val="26432272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F7EAC-C754-204F-0273-4209132AB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Assignment 3: </a:t>
            </a:r>
            <a:r>
              <a:rPr lang="el-GR" b="1" dirty="0"/>
              <a:t>Παράδειγμα εκτέλεσης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4E3D105D-A5ED-1260-2AFB-EE88537F7B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8200" y="1692935"/>
            <a:ext cx="8453437" cy="479993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409C620-AD74-A5C6-9BD5-E4BCBEFA89A4}"/>
              </a:ext>
            </a:extLst>
          </p:cNvPr>
          <p:cNvSpPr txBox="1"/>
          <p:nvPr/>
        </p:nvSpPr>
        <p:spPr>
          <a:xfrm>
            <a:off x="9483365" y="1690688"/>
            <a:ext cx="258294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Red #1 is first and therefore claims the bridge for the red color, does logistics and immediately starts. </a:t>
            </a:r>
          </a:p>
          <a:p>
            <a:endParaRPr lang="en-US" dirty="0"/>
          </a:p>
          <a:p>
            <a:r>
              <a:rPr lang="en-US" dirty="0"/>
              <a:t>There’s no need to wake someone up from the red queue since it is empty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40781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8AC10-F20B-DC53-5F0B-3F10DF44C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58BA4-0A6A-C711-FFC0-8293E973CE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Assignment 3: </a:t>
            </a:r>
            <a:r>
              <a:rPr lang="el-GR" b="1" dirty="0"/>
              <a:t>Παράδειγμα εκτέλεσης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F938133-4B92-3D0E-0171-36B878419C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1191" y="1692935"/>
            <a:ext cx="8327454" cy="47999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F427EFD-161F-9E00-CA3A-3C9B3E08D204}"/>
              </a:ext>
            </a:extLst>
          </p:cNvPr>
          <p:cNvSpPr txBox="1"/>
          <p:nvPr/>
        </p:nvSpPr>
        <p:spPr>
          <a:xfrm>
            <a:off x="9483365" y="1690688"/>
            <a:ext cx="258294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Red #2 checks the bridge’s color, checks if there’s space on the bridge, does logistics and starts crossing. </a:t>
            </a:r>
          </a:p>
          <a:p>
            <a:endParaRPr lang="en-US" dirty="0"/>
          </a:p>
          <a:p>
            <a:r>
              <a:rPr lang="en-US" dirty="0"/>
              <a:t>He can’t wake someone from the queue since the bridge is full.</a:t>
            </a:r>
          </a:p>
        </p:txBody>
      </p:sp>
    </p:spTree>
    <p:extLst>
      <p:ext uri="{BB962C8B-B14F-4D97-AF65-F5344CB8AC3E}">
        <p14:creationId xmlns:p14="http://schemas.microsoft.com/office/powerpoint/2010/main" val="20873661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61C926-E9DE-C1B7-9DC1-3ECAFD045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1AC2B-648B-B3A0-76DA-C9FDF0C64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Assignment 3: </a:t>
            </a:r>
            <a:r>
              <a:rPr lang="el-GR" b="1" dirty="0"/>
              <a:t>Παράδειγμα εκτέλεσης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2A2A5F51-FF9B-F7F5-7118-CFABC22971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64182" y="1692935"/>
            <a:ext cx="8201472" cy="47999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F268416-44C5-9784-7868-C0BDB70D189B}"/>
              </a:ext>
            </a:extLst>
          </p:cNvPr>
          <p:cNvSpPr txBox="1"/>
          <p:nvPr/>
        </p:nvSpPr>
        <p:spPr>
          <a:xfrm>
            <a:off x="9483365" y="1690688"/>
            <a:ext cx="258294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Blue #1 checks the color of the bridge and sees that it isn’t his color so he sleeps in the queue</a:t>
            </a:r>
          </a:p>
        </p:txBody>
      </p:sp>
    </p:spTree>
    <p:extLst>
      <p:ext uri="{BB962C8B-B14F-4D97-AF65-F5344CB8AC3E}">
        <p14:creationId xmlns:p14="http://schemas.microsoft.com/office/powerpoint/2010/main" val="39183741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89357B-6C07-01B2-0261-1578C94AB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9EF76-36B9-65FE-07A3-62C661235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Assignment 3: </a:t>
            </a:r>
            <a:r>
              <a:rPr lang="el-GR" b="1" dirty="0"/>
              <a:t>Παράδειγμα εκτέλεσης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B6A2F42-BA29-0548-4142-EAFB102428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64182" y="1692935"/>
            <a:ext cx="8201472" cy="479993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5843349-3CD5-36AB-98DC-AA4A19527F72}"/>
              </a:ext>
            </a:extLst>
          </p:cNvPr>
          <p:cNvSpPr txBox="1"/>
          <p:nvPr/>
        </p:nvSpPr>
        <p:spPr>
          <a:xfrm>
            <a:off x="9483365" y="1690688"/>
            <a:ext cx="258294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Red #3 sees the bridge is his color but there’s no space so he waits in the queue</a:t>
            </a:r>
          </a:p>
        </p:txBody>
      </p:sp>
    </p:spTree>
    <p:extLst>
      <p:ext uri="{BB962C8B-B14F-4D97-AF65-F5344CB8AC3E}">
        <p14:creationId xmlns:p14="http://schemas.microsoft.com/office/powerpoint/2010/main" val="4030352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B5727F-93BD-7297-D4D8-9C21BCA1F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2C11A-059A-3C8D-44AD-6A20AB94F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Assignment 3: </a:t>
            </a:r>
            <a:r>
              <a:rPr lang="el-GR" b="1" dirty="0"/>
              <a:t>Παράδειγμα εκτέλεσης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25E29770-3B08-722E-279D-0B1B2F7B34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64183" y="1692935"/>
            <a:ext cx="8201470" cy="479993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65E4692-BF05-E9F7-AD7A-9FA8228A1067}"/>
              </a:ext>
            </a:extLst>
          </p:cNvPr>
          <p:cNvSpPr txBox="1"/>
          <p:nvPr/>
        </p:nvSpPr>
        <p:spPr>
          <a:xfrm>
            <a:off x="9483365" y="1690688"/>
            <a:ext cx="258294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Blue #2 and #3 check the color of the bridge and because it isn’t their color they wait in the queue</a:t>
            </a:r>
          </a:p>
        </p:txBody>
      </p:sp>
    </p:spTree>
    <p:extLst>
      <p:ext uri="{BB962C8B-B14F-4D97-AF65-F5344CB8AC3E}">
        <p14:creationId xmlns:p14="http://schemas.microsoft.com/office/powerpoint/2010/main" val="2205492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C2B888-C32C-9E10-821D-1BE8F6FA1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7EEE2-942E-9685-1A22-D8C4F4594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Assignment 3: </a:t>
            </a:r>
            <a:r>
              <a:rPr lang="el-GR" b="1" dirty="0"/>
              <a:t>Παράδειγμα εκτέλεσης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4CBFF71E-90C4-135B-3B9C-46468A4C40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64183" y="1692935"/>
            <a:ext cx="8201470" cy="47999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B131D63-E3D6-5178-4FE5-695E00A7145D}"/>
              </a:ext>
            </a:extLst>
          </p:cNvPr>
          <p:cNvSpPr txBox="1"/>
          <p:nvPr/>
        </p:nvSpPr>
        <p:spPr>
          <a:xfrm>
            <a:off x="9483365" y="1690688"/>
            <a:ext cx="258294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Red #1 is done crossing and thinks: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Red has reached its limit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Someone is waiting from the other color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 am not last</a:t>
            </a:r>
          </a:p>
          <a:p>
            <a:endParaRPr lang="en-US" dirty="0"/>
          </a:p>
          <a:p>
            <a:r>
              <a:rPr lang="en-US" dirty="0"/>
              <a:t>Because of those he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Does nothing</a:t>
            </a:r>
          </a:p>
        </p:txBody>
      </p:sp>
    </p:spTree>
    <p:extLst>
      <p:ext uri="{BB962C8B-B14F-4D97-AF65-F5344CB8AC3E}">
        <p14:creationId xmlns:p14="http://schemas.microsoft.com/office/powerpoint/2010/main" val="36188147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EFB9BC-1A67-B3B4-B4F0-C8C35BBE3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EA5B3-9B91-D03A-ABD4-D31B5C1E1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Assignment 3: </a:t>
            </a:r>
            <a:r>
              <a:rPr lang="el-GR" b="1" dirty="0"/>
              <a:t>Παράδειγμα εκτέλεσης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475F875C-F706-C9E0-33BA-451851C173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64184" y="1692935"/>
            <a:ext cx="8201468" cy="47999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B71EE7E-DAB6-2818-3F9F-B522315827C0}"/>
              </a:ext>
            </a:extLst>
          </p:cNvPr>
          <p:cNvSpPr txBox="1"/>
          <p:nvPr/>
        </p:nvSpPr>
        <p:spPr>
          <a:xfrm>
            <a:off x="9483365" y="1690688"/>
            <a:ext cx="258294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Red #2 is done crossing and thinks: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Red has reached its limit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Someone is waiting from the other color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 am last</a:t>
            </a:r>
          </a:p>
          <a:p>
            <a:endParaRPr lang="en-US" dirty="0"/>
          </a:p>
          <a:p>
            <a:r>
              <a:rPr lang="en-US" dirty="0"/>
              <a:t>Because of those he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Change the bridge color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Wake up a blue car</a:t>
            </a:r>
          </a:p>
        </p:txBody>
      </p:sp>
    </p:spTree>
    <p:extLst>
      <p:ext uri="{BB962C8B-B14F-4D97-AF65-F5344CB8AC3E}">
        <p14:creationId xmlns:p14="http://schemas.microsoft.com/office/powerpoint/2010/main" val="35940156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BF7804-B4CF-3304-F249-06425B082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68A73-2D26-AD31-816F-7E9ED5A69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Assignment 3: </a:t>
            </a:r>
            <a:r>
              <a:rPr lang="el-GR" b="1" dirty="0"/>
              <a:t>Παράδειγμα εκτέλεσης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4947A13D-194D-4142-45C3-13E3ECDDEE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64184" y="1692935"/>
            <a:ext cx="8201468" cy="479993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F9CB1C8-B229-A3A5-53B0-140A8E80816F}"/>
              </a:ext>
            </a:extLst>
          </p:cNvPr>
          <p:cNvSpPr txBox="1"/>
          <p:nvPr/>
        </p:nvSpPr>
        <p:spPr>
          <a:xfrm>
            <a:off x="9483365" y="1690688"/>
            <a:ext cx="258294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Blue #1 wakes up and does logistics, wakes up another blue car because there is space for another one and starts crossing.</a:t>
            </a:r>
          </a:p>
        </p:txBody>
      </p:sp>
    </p:spTree>
    <p:extLst>
      <p:ext uri="{BB962C8B-B14F-4D97-AF65-F5344CB8AC3E}">
        <p14:creationId xmlns:p14="http://schemas.microsoft.com/office/powerpoint/2010/main" val="41066525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B26108-A5DC-A72A-12C3-F42ED609F3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DE56E-4CEF-4A5A-DC98-F5A9457D4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Assignment 3: </a:t>
            </a:r>
            <a:r>
              <a:rPr lang="el-GR" b="1" dirty="0"/>
              <a:t>Παράδειγμα εκτέλεσης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093DC4A2-0110-6169-2B13-13291BE86A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64184" y="1692935"/>
            <a:ext cx="8201467" cy="479993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C01398B-44B6-157E-CAA4-411C58F09A9E}"/>
              </a:ext>
            </a:extLst>
          </p:cNvPr>
          <p:cNvSpPr txBox="1"/>
          <p:nvPr/>
        </p:nvSpPr>
        <p:spPr>
          <a:xfrm>
            <a:off x="9483365" y="1690688"/>
            <a:ext cx="258294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Blue #2 wakes up and does logistics, doesn’t wake up another blue car because there isn’t space for another one and then starts crossing.</a:t>
            </a:r>
          </a:p>
        </p:txBody>
      </p:sp>
    </p:spTree>
    <p:extLst>
      <p:ext uri="{BB962C8B-B14F-4D97-AF65-F5344CB8AC3E}">
        <p14:creationId xmlns:p14="http://schemas.microsoft.com/office/powerpoint/2010/main" val="33668598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615BD-1C12-0A20-E967-50977E3D1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8F31C-1ED5-5B8A-95E8-CF36835EA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Assignment 3: </a:t>
            </a:r>
            <a:r>
              <a:rPr lang="el-GR" b="1" dirty="0"/>
              <a:t>Παράδειγμα εκτέλεσης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BB5F42B-21F9-CBB9-70DD-E34BA33FC3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64184" y="1692935"/>
            <a:ext cx="8201467" cy="479993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9673821-73E9-95D7-6FA9-EAB8CDBD63C6}"/>
              </a:ext>
            </a:extLst>
          </p:cNvPr>
          <p:cNvSpPr txBox="1"/>
          <p:nvPr/>
        </p:nvSpPr>
        <p:spPr>
          <a:xfrm>
            <a:off x="9372600" y="1603213"/>
            <a:ext cx="269371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Blue #1 is done crossing and does logistics, he thinks: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Blue has reached its limit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Someone waiting of the opposite color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 am not last</a:t>
            </a:r>
          </a:p>
          <a:p>
            <a:r>
              <a:rPr lang="en-US" sz="1600" dirty="0"/>
              <a:t>He decides: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 do nothing</a:t>
            </a:r>
          </a:p>
          <a:p>
            <a:endParaRPr lang="en-US" sz="1600" dirty="0"/>
          </a:p>
          <a:p>
            <a:r>
              <a:rPr lang="en-US" sz="1600" dirty="0"/>
              <a:t>Blue#2 is done crossing and</a:t>
            </a:r>
          </a:p>
          <a:p>
            <a:r>
              <a:rPr lang="en-US" sz="1600" dirty="0"/>
              <a:t>does logistics, he thinks: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Blue has reached its limit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Someone waiting of the opposite color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 am last</a:t>
            </a:r>
          </a:p>
          <a:p>
            <a:r>
              <a:rPr lang="en-US" sz="1600" dirty="0"/>
              <a:t>He decides: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 change the bridge color and wake up a red car</a:t>
            </a:r>
          </a:p>
        </p:txBody>
      </p:sp>
    </p:spTree>
    <p:extLst>
      <p:ext uri="{BB962C8B-B14F-4D97-AF65-F5344CB8AC3E}">
        <p14:creationId xmlns:p14="http://schemas.microsoft.com/office/powerpoint/2010/main" val="196141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C41322-18E8-AA92-8D01-B5ED9BDA3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7A651-C10E-B7AB-DA9B-857498AC9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Assignment 3: </a:t>
            </a:r>
            <a:r>
              <a:rPr lang="el-GR" b="1" dirty="0"/>
              <a:t>Παράδειγμα εκτέλεσης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D7C4A474-0B7D-E965-8119-9E9D95604F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64185" y="1692935"/>
            <a:ext cx="8201465" cy="4799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66323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4B7D49-5112-D5C6-A876-334789C0F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EA260-FCEB-9066-6F67-B2C567EB8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Assignment 3: </a:t>
            </a:r>
            <a:r>
              <a:rPr lang="el-GR" b="1" dirty="0"/>
              <a:t>Παράδειγμα εκτέλεσης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E098CCCD-6CEE-F450-A234-7F1F5B075B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64185" y="1692935"/>
            <a:ext cx="8201465" cy="479993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3B2FF1D-09FD-AB56-D14E-2BA472D470B9}"/>
              </a:ext>
            </a:extLst>
          </p:cNvPr>
          <p:cNvSpPr txBox="1"/>
          <p:nvPr/>
        </p:nvSpPr>
        <p:spPr>
          <a:xfrm>
            <a:off x="9372600" y="1603213"/>
            <a:ext cx="269371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Blue #5 and #6 see there’s someone in the queue so they also wait in the queue</a:t>
            </a:r>
          </a:p>
        </p:txBody>
      </p:sp>
    </p:spTree>
    <p:extLst>
      <p:ext uri="{BB962C8B-B14F-4D97-AF65-F5344CB8AC3E}">
        <p14:creationId xmlns:p14="http://schemas.microsoft.com/office/powerpoint/2010/main" val="302537040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A2227C-840D-E6F4-D2BD-1EA19912F9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4C796-8788-DFF4-C3B3-3E66497C8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Assignment 3: </a:t>
            </a:r>
            <a:r>
              <a:rPr lang="el-GR" b="1" dirty="0"/>
              <a:t>Παράδειγμα εκτέλεσης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50F8644-8987-0440-7472-BD1D69D96B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64186" y="1692935"/>
            <a:ext cx="8201463" cy="479993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FB0BF47-DD97-FEC6-EA92-C2028B4C7D01}"/>
              </a:ext>
            </a:extLst>
          </p:cNvPr>
          <p:cNvSpPr txBox="1"/>
          <p:nvPr/>
        </p:nvSpPr>
        <p:spPr>
          <a:xfrm>
            <a:off x="9372600" y="1603213"/>
            <a:ext cx="269371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Blue #4 is awoken and does logistics and doesn’t wake someone from the queue because there is no space and starts crossing.</a:t>
            </a:r>
          </a:p>
        </p:txBody>
      </p:sp>
    </p:spTree>
    <p:extLst>
      <p:ext uri="{BB962C8B-B14F-4D97-AF65-F5344CB8AC3E}">
        <p14:creationId xmlns:p14="http://schemas.microsoft.com/office/powerpoint/2010/main" val="414386212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22CEB-4FBA-EFA7-1693-9AAEA7ABB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65DC1-0C32-A4AA-DA49-56E04EB25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Assignment 3: </a:t>
            </a:r>
            <a:r>
              <a:rPr lang="el-GR" b="1" dirty="0"/>
              <a:t>Παράδειγμα εκτέλεσης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E9CA6544-2621-7A1F-745B-FA33C72719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64186" y="1692935"/>
            <a:ext cx="8201463" cy="479993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7404730-DF3A-D2BD-9C70-5EC57352AC91}"/>
              </a:ext>
            </a:extLst>
          </p:cNvPr>
          <p:cNvSpPr txBox="1"/>
          <p:nvPr/>
        </p:nvSpPr>
        <p:spPr>
          <a:xfrm>
            <a:off x="9372600" y="1603213"/>
            <a:ext cx="269371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Blue #3 done crossing</a:t>
            </a:r>
          </a:p>
          <a:p>
            <a:r>
              <a:rPr lang="en-US" sz="1600" dirty="0"/>
              <a:t>Does logistics</a:t>
            </a:r>
          </a:p>
          <a:p>
            <a:r>
              <a:rPr lang="en-US" sz="1600" dirty="0"/>
              <a:t>Thinks: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Blue has reached its limit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But no one is waiting of the opposite color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Yet there is someone waiting of my color</a:t>
            </a:r>
          </a:p>
          <a:p>
            <a:r>
              <a:rPr lang="en-US" sz="1600" dirty="0"/>
              <a:t>Decides: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 wake up someone of my color</a:t>
            </a:r>
          </a:p>
          <a:p>
            <a:endParaRPr lang="en-US" sz="1600" dirty="0"/>
          </a:p>
          <a:p>
            <a:r>
              <a:rPr lang="en-US" sz="1600" dirty="0"/>
              <a:t>Blue #5 awoken</a:t>
            </a:r>
          </a:p>
          <a:p>
            <a:r>
              <a:rPr lang="en-US" sz="1600" dirty="0"/>
              <a:t>Does logistics</a:t>
            </a:r>
          </a:p>
          <a:p>
            <a:r>
              <a:rPr lang="en-US" sz="1600" dirty="0"/>
              <a:t>Doesn’t wake up someone as there is no space</a:t>
            </a:r>
          </a:p>
          <a:p>
            <a:r>
              <a:rPr lang="en-US" sz="1600" dirty="0"/>
              <a:t>Starts crossing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92392521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2B17EA-C232-A1BA-10B1-FD3CBAFB46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82AF2-214B-579D-BE9D-3DC032738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Assignment 3: </a:t>
            </a:r>
            <a:r>
              <a:rPr lang="el-GR" b="1" dirty="0"/>
              <a:t>Παράδειγμα εκτέλεσης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08B6D36-9D08-3A3C-096A-D19940CF4E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64186" y="1692935"/>
            <a:ext cx="8201463" cy="479993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FA79934-DB4C-185A-DC64-202F73759639}"/>
              </a:ext>
            </a:extLst>
          </p:cNvPr>
          <p:cNvSpPr txBox="1"/>
          <p:nvPr/>
        </p:nvSpPr>
        <p:spPr>
          <a:xfrm>
            <a:off x="9372600" y="1603213"/>
            <a:ext cx="2693711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Blue #4 done crossing</a:t>
            </a:r>
          </a:p>
          <a:p>
            <a:r>
              <a:rPr lang="en-US" sz="1600" dirty="0"/>
              <a:t>Does logistics</a:t>
            </a:r>
          </a:p>
          <a:p>
            <a:r>
              <a:rPr lang="en-US" sz="1600" dirty="0"/>
              <a:t>Thinks: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Blue has reached its limit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But no one is waiting of the opposite color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Yet there is someone waiting of my color</a:t>
            </a:r>
          </a:p>
          <a:p>
            <a:r>
              <a:rPr lang="en-US" sz="1600" dirty="0"/>
              <a:t>Decides: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 wake up someone of my color</a:t>
            </a:r>
          </a:p>
          <a:p>
            <a:endParaRPr lang="en-US" sz="1600" dirty="0"/>
          </a:p>
          <a:p>
            <a:r>
              <a:rPr lang="en-US" sz="1600" dirty="0"/>
              <a:t>Blue #6 awoken</a:t>
            </a:r>
          </a:p>
          <a:p>
            <a:r>
              <a:rPr lang="en-US" sz="1600" dirty="0"/>
              <a:t>Does logistics</a:t>
            </a:r>
          </a:p>
          <a:p>
            <a:r>
              <a:rPr lang="en-US" sz="1600" dirty="0"/>
              <a:t>Doesn’t wake up someone as there is no space and Queue is empty</a:t>
            </a:r>
          </a:p>
          <a:p>
            <a:r>
              <a:rPr lang="en-US" sz="1600" dirty="0"/>
              <a:t>Starts crossing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01995530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F977D6-79A2-925E-3B04-1C07FF3B9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8368E-68C1-E10F-5DA9-EF1562CFD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Assignment 3: </a:t>
            </a:r>
            <a:r>
              <a:rPr lang="el-GR" b="1" dirty="0"/>
              <a:t>Παράδειγμα εκτέλεσης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70AC8ED-0C3D-5802-6925-CA775D6F7A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64186" y="1692935"/>
            <a:ext cx="8201463" cy="479993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0E6ED8B-C548-0148-CBED-B391860DC623}"/>
              </a:ext>
            </a:extLst>
          </p:cNvPr>
          <p:cNvSpPr txBox="1"/>
          <p:nvPr/>
        </p:nvSpPr>
        <p:spPr>
          <a:xfrm>
            <a:off x="9372600" y="1603213"/>
            <a:ext cx="2693711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Blue #6 done crossing</a:t>
            </a:r>
          </a:p>
          <a:p>
            <a:r>
              <a:rPr lang="en-US" sz="1600" dirty="0"/>
              <a:t>Does logistics</a:t>
            </a:r>
          </a:p>
          <a:p>
            <a:r>
              <a:rPr lang="en-US" sz="1600" dirty="0"/>
              <a:t>Thinks: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Blue has reached its limit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But no one is waiting of the opposite color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But no one is waiting of my color either</a:t>
            </a:r>
          </a:p>
          <a:p>
            <a:r>
              <a:rPr lang="en-US" sz="1600" dirty="0"/>
              <a:t>Decides: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 set the bridge to unassigned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57837275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0958AE-DB38-3C54-741F-56BE757FC1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8D938-0C97-24DA-D0CA-574C8A55E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Assignment 3: </a:t>
            </a:r>
            <a:r>
              <a:rPr lang="el-GR" b="1" dirty="0"/>
              <a:t>Παράδειγμα εκτέλεσης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8E1F84D-F6BB-DE4F-91D2-079DB743CF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64186" y="1692935"/>
            <a:ext cx="8201462" cy="479993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6E7BC34-B0F6-06FB-CFB0-E59A769C9887}"/>
              </a:ext>
            </a:extLst>
          </p:cNvPr>
          <p:cNvSpPr txBox="1"/>
          <p:nvPr/>
        </p:nvSpPr>
        <p:spPr>
          <a:xfrm>
            <a:off x="9372600" y="1603213"/>
            <a:ext cx="26937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Empty bridge state</a:t>
            </a:r>
          </a:p>
        </p:txBody>
      </p:sp>
    </p:spTree>
    <p:extLst>
      <p:ext uri="{BB962C8B-B14F-4D97-AF65-F5344CB8AC3E}">
        <p14:creationId xmlns:p14="http://schemas.microsoft.com/office/powerpoint/2010/main" val="22259194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A2DA7D-BBBE-31FD-7E09-DD4894ABD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63D95-37BE-DB53-8EBA-C12AE37F3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Assignment 4</a:t>
            </a:r>
          </a:p>
        </p:txBody>
      </p:sp>
    </p:spTree>
    <p:extLst>
      <p:ext uri="{BB962C8B-B14F-4D97-AF65-F5344CB8AC3E}">
        <p14:creationId xmlns:p14="http://schemas.microsoft.com/office/powerpoint/2010/main" val="261140750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F12CF5-1A4C-F3B3-4D4F-18A5549B1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1F1B1-173A-70C5-0539-4A04BE0BC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Assignment 4: Monitor structure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A5931E-313F-CCCC-FD01-6B4C48595C3C}"/>
              </a:ext>
            </a:extLst>
          </p:cNvPr>
          <p:cNvSpPr txBox="1"/>
          <p:nvPr/>
        </p:nvSpPr>
        <p:spPr>
          <a:xfrm>
            <a:off x="3047238" y="1859340"/>
            <a:ext cx="609447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CBA6F7"/>
                </a:solidFill>
                <a:latin typeface="Consolas" panose="020B0609020204030204" pitchFamily="49" charset="0"/>
              </a:rPr>
              <a:t>monitor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b="0" dirty="0">
              <a:solidFill>
                <a:srgbClr val="CDD6F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CBA6F7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park_closed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b="0" dirty="0">
              <a:solidFill>
                <a:srgbClr val="CDD6F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CBA6F7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train_running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b="0" dirty="0">
              <a:solidFill>
                <a:srgbClr val="CDD6F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CBA6F7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passengers_waiting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b="0" dirty="0">
              <a:solidFill>
                <a:srgbClr val="CDD6F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CBA6F7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passengers_onboard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b="0" dirty="0">
              <a:solidFill>
                <a:srgbClr val="CDD6F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CBA6F7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max_passengers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b="0" dirty="0">
              <a:solidFill>
                <a:srgbClr val="CDD6F4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cond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train_wait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b="0" dirty="0">
              <a:solidFill>
                <a:srgbClr val="CDD6F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cond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boarding_queue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b="0" dirty="0">
              <a:solidFill>
                <a:srgbClr val="CDD6F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cond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ride_queue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b="0" dirty="0">
              <a:solidFill>
                <a:srgbClr val="CDD6F4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CBA6F7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1" dirty="0" err="1">
                <a:solidFill>
                  <a:srgbClr val="89B4FA"/>
                </a:solidFill>
                <a:effectLst/>
                <a:latin typeface="Consolas" panose="020B0609020204030204" pitchFamily="49" charset="0"/>
              </a:rPr>
              <a:t>passenger_board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();</a:t>
            </a:r>
            <a:endParaRPr lang="en-US" b="0" dirty="0">
              <a:solidFill>
                <a:srgbClr val="CDD6F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CBA6F7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1" dirty="0" err="1">
                <a:solidFill>
                  <a:srgbClr val="89B4FA"/>
                </a:solidFill>
                <a:effectLst/>
                <a:latin typeface="Consolas" panose="020B0609020204030204" pitchFamily="49" charset="0"/>
              </a:rPr>
              <a:t>passenger_unboard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();</a:t>
            </a:r>
            <a:endParaRPr lang="en-US" b="0" dirty="0">
              <a:solidFill>
                <a:srgbClr val="CDD6F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CBA6F7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1" dirty="0" err="1">
                <a:solidFill>
                  <a:srgbClr val="89B4FA"/>
                </a:solidFill>
                <a:effectLst/>
                <a:latin typeface="Consolas" panose="020B0609020204030204" pitchFamily="49" charset="0"/>
              </a:rPr>
              <a:t>train_fill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();</a:t>
            </a:r>
            <a:endParaRPr lang="en-US" b="0" dirty="0">
              <a:solidFill>
                <a:srgbClr val="CDD6F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CBA6F7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1" dirty="0" err="1">
                <a:solidFill>
                  <a:srgbClr val="89B4FA"/>
                </a:solidFill>
                <a:effectLst/>
                <a:latin typeface="Consolas" panose="020B0609020204030204" pitchFamily="49" charset="0"/>
              </a:rPr>
              <a:t>train_empty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();</a:t>
            </a:r>
            <a:endParaRPr lang="en-US" b="0" dirty="0">
              <a:solidFill>
                <a:srgbClr val="CDD6F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b="0" dirty="0">
              <a:solidFill>
                <a:srgbClr val="CDD6F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890143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C677CB-B548-F2C6-C206-22ACE8003F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730F87-629E-32EE-D606-04F5CC4C3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Assignment 4: Passenger board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8E02A3-4538-7A47-911F-21C8B75D1025}"/>
              </a:ext>
            </a:extLst>
          </p:cNvPr>
          <p:cNvSpPr txBox="1"/>
          <p:nvPr/>
        </p:nvSpPr>
        <p:spPr>
          <a:xfrm>
            <a:off x="1942719" y="1859340"/>
            <a:ext cx="830656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1" dirty="0">
                <a:solidFill>
                  <a:srgbClr val="F9E2A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1" dirty="0" err="1">
                <a:solidFill>
                  <a:srgbClr val="89B4FA"/>
                </a:solidFill>
                <a:effectLst/>
                <a:latin typeface="Consolas" panose="020B0609020204030204" pitchFamily="49" charset="0"/>
              </a:rPr>
              <a:t>passengers_board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b="0" dirty="0">
              <a:solidFill>
                <a:srgbClr val="CDD6F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 err="1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Passengers_waiting</a:t>
            </a:r>
            <a:r>
              <a:rPr lang="en-US" b="0" dirty="0">
                <a:solidFill>
                  <a:srgbClr val="94E2D5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b="0" dirty="0">
              <a:solidFill>
                <a:srgbClr val="CDD6F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i="1" dirty="0">
                <a:solidFill>
                  <a:srgbClr val="89B4F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train_running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4E2D5"/>
                </a:solidFill>
                <a:effectLst/>
                <a:latin typeface="Consolas" panose="020B0609020204030204" pitchFamily="49" charset="0"/>
              </a:rPr>
              <a:t>or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passengers_waiting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4E2D5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max_passengers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b="0" dirty="0">
              <a:solidFill>
                <a:srgbClr val="CDD6F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i="1" dirty="0">
                <a:solidFill>
                  <a:srgbClr val="89B4FA"/>
                </a:solidFill>
                <a:effectLst/>
                <a:latin typeface="Consolas" panose="020B0609020204030204" pitchFamily="49" charset="0"/>
              </a:rPr>
              <a:t>wait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boarding_queue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passengers_onboard</a:t>
            </a:r>
            <a:r>
              <a:rPr lang="en-US" b="0" dirty="0">
                <a:solidFill>
                  <a:srgbClr val="94E2D5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b="0" dirty="0">
              <a:solidFill>
                <a:srgbClr val="CDD6F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b="0" dirty="0">
              <a:solidFill>
                <a:srgbClr val="CDD6F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  ELSE 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Passengers_onboard</a:t>
            </a:r>
            <a:r>
              <a:rPr lang="en-US" b="0" dirty="0">
                <a:solidFill>
                  <a:srgbClr val="94E2D5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b="0" dirty="0">
              <a:solidFill>
                <a:srgbClr val="CDD6F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train_running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4E2D5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AB387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b="0" dirty="0">
              <a:solidFill>
                <a:srgbClr val="CDD6F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i="1" dirty="0">
                <a:solidFill>
                  <a:srgbClr val="89B4FA"/>
                </a:solidFill>
                <a:effectLst/>
                <a:latin typeface="Consolas" panose="020B0609020204030204" pitchFamily="49" charset="0"/>
              </a:rPr>
              <a:t>signal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train_wait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b="0" dirty="0">
              <a:solidFill>
                <a:srgbClr val="CDD6F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b="0" dirty="0">
              <a:solidFill>
                <a:srgbClr val="CDD6F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33670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306FC-0193-41E3-B484-86BFA6826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913D5-EA6A-7AF3-D4F9-2E6159A0C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Assignment 4: Passenger </a:t>
            </a:r>
            <a:r>
              <a:rPr lang="en-US" b="1" dirty="0" err="1"/>
              <a:t>unboard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D449A7-CC27-D443-80C4-A9DAB9B37E16}"/>
              </a:ext>
            </a:extLst>
          </p:cNvPr>
          <p:cNvSpPr txBox="1"/>
          <p:nvPr/>
        </p:nvSpPr>
        <p:spPr>
          <a:xfrm>
            <a:off x="2421255" y="2690336"/>
            <a:ext cx="734949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1" dirty="0">
                <a:solidFill>
                  <a:srgbClr val="F9E2A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1" dirty="0" err="1">
                <a:solidFill>
                  <a:srgbClr val="89B4FA"/>
                </a:solidFill>
                <a:effectLst/>
                <a:latin typeface="Consolas" panose="020B0609020204030204" pitchFamily="49" charset="0"/>
              </a:rPr>
              <a:t>passenger_unboard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b="0" dirty="0">
              <a:solidFill>
                <a:srgbClr val="CDD6F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i="1" dirty="0">
                <a:solidFill>
                  <a:srgbClr val="89B4F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train_running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1" dirty="0">
                <a:solidFill>
                  <a:srgbClr val="89B4FA"/>
                </a:solidFill>
                <a:effectLst/>
                <a:latin typeface="Consolas" panose="020B0609020204030204" pitchFamily="49" charset="0"/>
              </a:rPr>
              <a:t>wait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ride_queue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b="0" dirty="0">
              <a:solidFill>
                <a:srgbClr val="CDD6F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Passenger_onboard</a:t>
            </a:r>
            <a:r>
              <a:rPr lang="en-US" b="0" dirty="0">
                <a:solidFill>
                  <a:srgbClr val="94E2D5"/>
                </a:solidFill>
                <a:effectLst/>
                <a:latin typeface="Consolas" panose="020B0609020204030204" pitchFamily="49" charset="0"/>
              </a:rPr>
              <a:t>--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b="0" dirty="0">
              <a:solidFill>
                <a:srgbClr val="CDD6F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i="1" dirty="0">
                <a:solidFill>
                  <a:srgbClr val="89B4F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passengers_onboard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4E2D5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AB387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1" dirty="0">
                <a:solidFill>
                  <a:srgbClr val="89B4FA"/>
                </a:solidFill>
                <a:effectLst/>
                <a:latin typeface="Consolas" panose="020B0609020204030204" pitchFamily="49" charset="0"/>
              </a:rPr>
              <a:t>signal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train_wait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b="0" dirty="0">
              <a:solidFill>
                <a:srgbClr val="CDD6F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b="0" dirty="0">
              <a:solidFill>
                <a:srgbClr val="CDD6F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891079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5F7945-DB05-2E53-975A-7D91E9982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D763E-9C94-2C36-0084-FAD7D709E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Assignment 4: Train fill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D1E181-E2BC-B4AC-BD84-1E25E558E8C3}"/>
              </a:ext>
            </a:extLst>
          </p:cNvPr>
          <p:cNvSpPr txBox="1"/>
          <p:nvPr/>
        </p:nvSpPr>
        <p:spPr>
          <a:xfrm>
            <a:off x="1481328" y="2828835"/>
            <a:ext cx="922934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1" dirty="0">
                <a:solidFill>
                  <a:srgbClr val="F9E2A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1" dirty="0" err="1">
                <a:solidFill>
                  <a:srgbClr val="89B4FA"/>
                </a:solidFill>
                <a:effectLst/>
                <a:latin typeface="Consolas" panose="020B0609020204030204" pitchFamily="49" charset="0"/>
              </a:rPr>
              <a:t>train_fill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b="0" dirty="0">
              <a:solidFill>
                <a:srgbClr val="CDD6F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i="1" dirty="0">
                <a:solidFill>
                  <a:srgbClr val="89B4F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passengers_waiting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4E2D5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max_passengers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1" dirty="0">
                <a:solidFill>
                  <a:srgbClr val="89B4FA"/>
                </a:solidFill>
                <a:effectLst/>
                <a:latin typeface="Consolas" panose="020B0609020204030204" pitchFamily="49" charset="0"/>
              </a:rPr>
              <a:t>wait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train_wait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b="0" dirty="0">
              <a:solidFill>
                <a:srgbClr val="CDD6F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    FOR N</a:t>
            </a:r>
            <a:r>
              <a:rPr lang="en-US" b="0" dirty="0">
                <a:solidFill>
                  <a:srgbClr val="94E2D5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 dirty="0">
                <a:solidFill>
                  <a:srgbClr val="FAB387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passengers 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1" dirty="0">
                <a:solidFill>
                  <a:srgbClr val="89B4FA"/>
                </a:solidFill>
                <a:effectLst/>
                <a:latin typeface="Consolas" panose="020B0609020204030204" pitchFamily="49" charset="0"/>
              </a:rPr>
              <a:t>signal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boarding_queue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b="0" dirty="0">
              <a:solidFill>
                <a:srgbClr val="CDD6F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b="0" dirty="0">
              <a:solidFill>
                <a:srgbClr val="CDD6F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675603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846EC7-3275-EC1D-C12A-B91BF5938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CB4FD-1F00-D829-EF68-656A5CA2B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Assignment 4: Train empty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BA58B1-97EC-8601-A28E-C0FEAC15BB0C}"/>
              </a:ext>
            </a:extLst>
          </p:cNvPr>
          <p:cNvSpPr txBox="1"/>
          <p:nvPr/>
        </p:nvSpPr>
        <p:spPr>
          <a:xfrm>
            <a:off x="1781175" y="2551837"/>
            <a:ext cx="862965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1" dirty="0">
                <a:solidFill>
                  <a:srgbClr val="F9E2A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1" dirty="0" err="1">
                <a:solidFill>
                  <a:srgbClr val="89B4FA"/>
                </a:solidFill>
                <a:effectLst/>
                <a:latin typeface="Consolas" panose="020B0609020204030204" pitchFamily="49" charset="0"/>
              </a:rPr>
              <a:t>train_empty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b="0" dirty="0">
              <a:solidFill>
                <a:srgbClr val="CDD6F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train_running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4E2D5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AB387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b="0" dirty="0">
              <a:solidFill>
                <a:srgbClr val="CDD6F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passengers_waiting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4E2D5"/>
                </a:solidFill>
                <a:effectLst/>
                <a:latin typeface="Consolas" panose="020B0609020204030204" pitchFamily="49" charset="0"/>
              </a:rPr>
              <a:t>-=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max_passengers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b="0" dirty="0">
              <a:solidFill>
                <a:srgbClr val="CDD6F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    FOR every passenger onboard 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1" dirty="0">
                <a:solidFill>
                  <a:srgbClr val="89B4FA"/>
                </a:solidFill>
                <a:effectLst/>
                <a:latin typeface="Consolas" panose="020B0609020204030204" pitchFamily="49" charset="0"/>
              </a:rPr>
              <a:t>signal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ride_queue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b="0" dirty="0">
              <a:solidFill>
                <a:srgbClr val="CDD6F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i="1" dirty="0">
                <a:solidFill>
                  <a:srgbClr val="89B4F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passengers_onboard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4E2D5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AB387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1" dirty="0">
                <a:solidFill>
                  <a:srgbClr val="89B4FA"/>
                </a:solidFill>
                <a:effectLst/>
                <a:latin typeface="Consolas" panose="020B0609020204030204" pitchFamily="49" charset="0"/>
              </a:rPr>
              <a:t>wait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train_wait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b="0" dirty="0">
                <a:solidFill>
                  <a:srgbClr val="CDD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b="0" dirty="0">
              <a:solidFill>
                <a:srgbClr val="CDD6F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9399B2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b="0" dirty="0">
              <a:solidFill>
                <a:srgbClr val="CDD6F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34689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293</TotalTime>
  <Words>2153</Words>
  <Application>Microsoft Office PowerPoint</Application>
  <PresentationFormat>Widescreen</PresentationFormat>
  <Paragraphs>323</Paragraphs>
  <Slides>42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7" baseType="lpstr">
      <vt:lpstr>Aptos</vt:lpstr>
      <vt:lpstr>Aptos Display</vt:lpstr>
      <vt:lpstr>Arial</vt:lpstr>
      <vt:lpstr>Consolas</vt:lpstr>
      <vt:lpstr>Office Theme</vt:lpstr>
      <vt:lpstr>Assignment 1</vt:lpstr>
      <vt:lpstr>Assignment 1: Monitor structure</vt:lpstr>
      <vt:lpstr>Assignment 1: Διαφορετικά μοντέλα monitors</vt:lpstr>
      <vt:lpstr>Assignment 2</vt:lpstr>
      <vt:lpstr>Assignment 2: Monitor structure</vt:lpstr>
      <vt:lpstr>Assignment 2: Master και worker threads</vt:lpstr>
      <vt:lpstr>Assignment 2: Set job function</vt:lpstr>
      <vt:lpstr>Assignment 2: Get job function</vt:lpstr>
      <vt:lpstr>Assignment 2: Get job function</vt:lpstr>
      <vt:lpstr>Assignment 2: Get job function</vt:lpstr>
      <vt:lpstr>Assignment 2: Get job function</vt:lpstr>
      <vt:lpstr>Assignment 2: Get job function</vt:lpstr>
      <vt:lpstr>Εναλλακτική προσέγγιση: Χρήση ουράς για τα jobs</vt:lpstr>
      <vt:lpstr>Εναλλακτική προσέγγιση: Χρήση ουράς για τα jobs</vt:lpstr>
      <vt:lpstr>Assignment 3</vt:lpstr>
      <vt:lpstr>Assignment 3: Monitor structure</vt:lpstr>
      <vt:lpstr>Assignment 3: Enter bridge</vt:lpstr>
      <vt:lpstr>Assignment 3: Exit bridge</vt:lpstr>
      <vt:lpstr>Assignment 3: Exit bridge</vt:lpstr>
      <vt:lpstr>Assignment 3: Παράδειγμα εκτέλεσης</vt:lpstr>
      <vt:lpstr>Assignment 3: Παράδειγμα εκτέλεσης</vt:lpstr>
      <vt:lpstr>Assignment 3: Παράδειγμα εκτέλεσης</vt:lpstr>
      <vt:lpstr>Assignment 3: Παράδειγμα εκτέλεσης</vt:lpstr>
      <vt:lpstr>Assignment 3: Παράδειγμα εκτέλεσης</vt:lpstr>
      <vt:lpstr>Assignment 3: Παράδειγμα εκτέλεσης</vt:lpstr>
      <vt:lpstr>Assignment 3: Παράδειγμα εκτέλεσης</vt:lpstr>
      <vt:lpstr>Assignment 3: Παράδειγμα εκτέλεσης</vt:lpstr>
      <vt:lpstr>Assignment 3: Παράδειγμα εκτέλεσης</vt:lpstr>
      <vt:lpstr>Assignment 3: Παράδειγμα εκτέλεσης</vt:lpstr>
      <vt:lpstr>Assignment 3: Παράδειγμα εκτέλεσης</vt:lpstr>
      <vt:lpstr>Assignment 3: Παράδειγμα εκτέλεσης</vt:lpstr>
      <vt:lpstr>Assignment 3: Παράδειγμα εκτέλεσης</vt:lpstr>
      <vt:lpstr>Assignment 3: Παράδειγμα εκτέλεσης</vt:lpstr>
      <vt:lpstr>Assignment 3: Παράδειγμα εκτέλεσης</vt:lpstr>
      <vt:lpstr>Assignment 3: Παράδειγμα εκτέλεσης</vt:lpstr>
      <vt:lpstr>Assignment 3: Παράδειγμα εκτέλεσης</vt:lpstr>
      <vt:lpstr>Assignment 4</vt:lpstr>
      <vt:lpstr>Assignment 4: Monitor structure</vt:lpstr>
      <vt:lpstr>Assignment 4: Passenger board</vt:lpstr>
      <vt:lpstr>Assignment 4: Passenger unboard</vt:lpstr>
      <vt:lpstr>Assignment 4: Train fill</vt:lpstr>
      <vt:lpstr>Assignment 4: Train empty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Assignment 1</dc:title>
  <dc:creator>Faidra Nika</dc:creator>
  <cp:lastModifiedBy>Faidra Nika</cp:lastModifiedBy>
  <cp:revision>15</cp:revision>
  <dcterms:created xsi:type="dcterms:W3CDTF">2024-11-30T16:59:36Z</dcterms:created>
  <dcterms:modified xsi:type="dcterms:W3CDTF">2024-11-30T21:57:05Z</dcterms:modified>
</cp:coreProperties>
</file>